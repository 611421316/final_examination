
<file path=[Content_Types].xml><?xml version="1.0" encoding="utf-8"?>
<Types xmlns="http://schemas.openxmlformats.org/package/2006/content-types">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82" r:id="rId5"/>
    <p:sldId id="283" r:id="rId6"/>
    <p:sldId id="284" r:id="rId7"/>
    <p:sldId id="286" r:id="rId8"/>
    <p:sldId id="287" r:id="rId9"/>
    <p:sldId id="318" r:id="rId10"/>
    <p:sldId id="337" r:id="rId11"/>
    <p:sldId id="289" r:id="rId12"/>
    <p:sldId id="328" r:id="rId13"/>
    <p:sldId id="320" r:id="rId14"/>
    <p:sldId id="321" r:id="rId15"/>
    <p:sldId id="322" r:id="rId16"/>
    <p:sldId id="323" r:id="rId17"/>
    <p:sldId id="324" r:id="rId18"/>
    <p:sldId id="325" r:id="rId19"/>
    <p:sldId id="326" r:id="rId20"/>
    <p:sldId id="327" r:id="rId21"/>
    <p:sldId id="338" r:id="rId22"/>
    <p:sldId id="290" r:id="rId23"/>
    <p:sldId id="296" r:id="rId24"/>
    <p:sldId id="293" r:id="rId25"/>
    <p:sldId id="297" r:id="rId26"/>
    <p:sldId id="330" r:id="rId27"/>
    <p:sldId id="294" r:id="rId28"/>
    <p:sldId id="298" r:id="rId29"/>
    <p:sldId id="331" r:id="rId30"/>
    <p:sldId id="295" r:id="rId31"/>
    <p:sldId id="332" r:id="rId32"/>
    <p:sldId id="300" r:id="rId33"/>
    <p:sldId id="302" r:id="rId34"/>
    <p:sldId id="305" r:id="rId35"/>
    <p:sldId id="333" r:id="rId36"/>
    <p:sldId id="303" r:id="rId37"/>
    <p:sldId id="306" r:id="rId38"/>
    <p:sldId id="334" r:id="rId39"/>
    <p:sldId id="304" r:id="rId40"/>
    <p:sldId id="307" r:id="rId41"/>
    <p:sldId id="308" r:id="rId42"/>
    <p:sldId id="336" r:id="rId43"/>
    <p:sldId id="291" r:id="rId44"/>
    <p:sldId id="309" r:id="rId45"/>
    <p:sldId id="311" r:id="rId46"/>
    <p:sldId id="317"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tableStyles" Target="tableStyles.xml"/><Relationship Id="rId5" Type="http://schemas.openxmlformats.org/officeDocument/2006/relationships/slide" Target="slides/slide2.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stating the final result first: best combined_score 0.8785 from Round 2 Agent Evolution. Then explain the main idea: the project is not just prompt tuning; it uses a rating-scoring mechanism and layer-wise OpenEvolve across agents, tasks, and eval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shows the sequential crew roles and boundaries. The retriever is the only agent allowed to use lookup tools and it builds prediction_context with predicted_stars. The case analyst routes evidence. The user analyst controls voice. The item analyst controls grounded content. The final simulator writes JSON and copies predicted_stars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case-routing table shows how the crew handles missing evidence. Detect case does not recalculate rating. It reads evidence flags and routes later agents so the model only uses available evidence. Missing weights are removed and remaining evidence is rescaled.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methodology. Round 1 evolves agents, tasks, and the evaluation policy separately, then composes the best components. Round 2 starts from the composed-best baseline and refines the layers again to reveal cross-layer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24" y="6356350"/>
            <a:ext cx="2133711" cy="365125"/>
          </a:xfrm>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a:xfrm>
            <a:off x="3124363" y="6356350"/>
            <a:ext cx="2895751" cy="365125"/>
          </a:xfrm>
        </p:spPr>
        <p:txBody>
          <a:bodyPr/>
          <a:lstStyle/>
          <a:p>
            <a:endParaRPr lang="en-US"/>
          </a:p>
        </p:txBody>
      </p:sp>
      <p:sp>
        <p:nvSpPr>
          <p:cNvPr id="4" name="Slide Number Placeholder 3"/>
          <p:cNvSpPr>
            <a:spLocks noGrp="1"/>
          </p:cNvSpPr>
          <p:nvPr>
            <p:ph type="sldNum" sz="quarter" idx="12"/>
          </p:nvPr>
        </p:nvSpPr>
        <p:spPr>
          <a:xfrm>
            <a:off x="6553541" y="6356350"/>
            <a:ext cx="2133711" cy="365125"/>
          </a:xfrm>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HIT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2" Type="http://schemas.openxmlformats.org/officeDocument/2006/relationships/notesSlide" Target="../notesSlides/notesSlide2.xml"/><Relationship Id="rId31" Type="http://schemas.openxmlformats.org/officeDocument/2006/relationships/slideLayout" Target="../slideLayouts/slideLayout1.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3.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3.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3.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26.GI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09728" cy="6858000"/>
          </a:xfrm>
          <a:prstGeom prst="rect">
            <a:avLst/>
          </a:prstGeom>
          <a:solidFill>
            <a:srgbClr val="2563EB"/>
          </a:solidFill>
          <a:ln w="12700">
            <a:solidFill>
              <a:srgbClr val="2563EB"/>
            </a:solidFill>
            <a:prstDash val="solid"/>
          </a:ln>
        </p:spPr>
      </p:sp>
      <p:sp>
        <p:nvSpPr>
          <p:cNvPr id="4" name="Text 2"/>
          <p:cNvSpPr/>
          <p:nvPr/>
        </p:nvSpPr>
        <p:spPr>
          <a:xfrm>
            <a:off x="658495" y="502920"/>
            <a:ext cx="4230370" cy="274320"/>
          </a:xfrm>
          <a:prstGeom prst="rect">
            <a:avLst/>
          </a:prstGeom>
          <a:noFill/>
        </p:spPr>
        <p:txBody>
          <a:bodyPr wrap="square" lIns="0" tIns="0" rIns="0" bIns="0" rtlCol="0" anchor="ctr"/>
          <a:lstStyle/>
          <a:p>
            <a:pPr marL="0" indent="0">
              <a:buNone/>
            </a:pPr>
            <a:r>
              <a:rPr lang="en-US" sz="2800" b="1" dirty="0">
                <a:solidFill>
                  <a:srgbClr val="2563EB"/>
                </a:solidFill>
                <a:latin typeface="Aptos" pitchFamily="34" charset="0"/>
                <a:ea typeface="Aptos" pitchFamily="34" charset="-122"/>
                <a:cs typeface="Aptos" pitchFamily="34" charset="-120"/>
              </a:rPr>
              <a:t>FINAL PRESENTATION</a:t>
            </a:r>
            <a:endParaRPr lang="en-US" sz="2800" b="1" dirty="0">
              <a:solidFill>
                <a:srgbClr val="2563EB"/>
              </a:solidFill>
              <a:latin typeface="Aptos" pitchFamily="34" charset="0"/>
              <a:ea typeface="Aptos" pitchFamily="34" charset="-122"/>
              <a:cs typeface="Aptos" pitchFamily="34" charset="-120"/>
            </a:endParaRPr>
          </a:p>
        </p:txBody>
      </p:sp>
      <p:sp>
        <p:nvSpPr>
          <p:cNvPr id="5" name="Text 3"/>
          <p:cNvSpPr/>
          <p:nvPr/>
        </p:nvSpPr>
        <p:spPr>
          <a:xfrm>
            <a:off x="658368" y="960120"/>
            <a:ext cx="6629400" cy="1508760"/>
          </a:xfrm>
          <a:prstGeom prst="rect">
            <a:avLst/>
          </a:prstGeom>
          <a:noFill/>
        </p:spPr>
        <p:txBody>
          <a:bodyPr wrap="square" lIns="0" tIns="0" rIns="0" bIns="0" rtlCol="0" anchor="ctr">
            <a:noAutofit/>
          </a:bodyPr>
          <a:lstStyle/>
          <a:p>
            <a:pPr marL="0" indent="0">
              <a:buNone/>
            </a:pPr>
            <a:r>
              <a:rPr lang="en-US" sz="2800" b="1" dirty="0">
                <a:solidFill>
                  <a:srgbClr val="0B1F3A"/>
                </a:solidFill>
                <a:latin typeface="Aptos Display" pitchFamily="34" charset="0"/>
                <a:ea typeface="Aptos Display" pitchFamily="34" charset="-122"/>
                <a:cs typeface="Aptos Display" pitchFamily="34" charset="-120"/>
              </a:rPr>
              <a:t>OpenEvolve-based Optimization for Yelp Review Agent Crew</a:t>
            </a:r>
            <a:endParaRPr lang="en-US" sz="2800" b="1" dirty="0">
              <a:solidFill>
                <a:srgbClr val="0B1F3A"/>
              </a:solidFill>
              <a:latin typeface="Aptos Display" pitchFamily="34" charset="0"/>
              <a:ea typeface="Aptos Display" pitchFamily="34" charset="-122"/>
              <a:cs typeface="Aptos Display" pitchFamily="34" charset="-120"/>
            </a:endParaRPr>
          </a:p>
        </p:txBody>
      </p:sp>
      <p:sp>
        <p:nvSpPr>
          <p:cNvPr id="6" name="Text 4"/>
          <p:cNvSpPr/>
          <p:nvPr/>
        </p:nvSpPr>
        <p:spPr>
          <a:xfrm>
            <a:off x="694944" y="2633472"/>
            <a:ext cx="6217920" cy="512064"/>
          </a:xfrm>
          <a:prstGeom prst="rect">
            <a:avLst/>
          </a:prstGeom>
          <a:noFill/>
        </p:spPr>
        <p:txBody>
          <a:bodyPr wrap="square" lIns="254" tIns="254" rIns="254" bIns="254" rtlCol="0" anchor="ctr">
            <a:normAutofit/>
          </a:bodyPr>
          <a:lstStyle/>
          <a:p>
            <a:pPr marL="0" indent="0">
              <a:buNone/>
            </a:pPr>
            <a:r>
              <a:rPr lang="en-US" sz="1550" dirty="0">
                <a:solidFill>
                  <a:srgbClr val="475569"/>
                </a:solidFill>
                <a:latin typeface="Aptos" pitchFamily="34" charset="0"/>
                <a:ea typeface="Aptos" pitchFamily="34" charset="-122"/>
                <a:cs typeface="Aptos" pitchFamily="34" charset="-120"/>
              </a:rPr>
              <a:t>A sequential CrewAI pipeline with a deterministic rating-scoring engine and layer-wise OpenEvolve optimization.</a:t>
            </a:r>
            <a:endParaRPr lang="en-US" sz="1550" dirty="0"/>
          </a:p>
        </p:txBody>
      </p:sp>
      <p:sp>
        <p:nvSpPr>
          <p:cNvPr id="7" name="Shape 5"/>
          <p:cNvSpPr/>
          <p:nvPr/>
        </p:nvSpPr>
        <p:spPr>
          <a:xfrm>
            <a:off x="713232" y="3474720"/>
            <a:ext cx="1481328" cy="804672"/>
          </a:xfrm>
          <a:prstGeom prst="roundRect">
            <a:avLst>
              <a:gd name="adj" fmla="val 9091"/>
            </a:avLst>
          </a:prstGeom>
          <a:solidFill>
            <a:srgbClr val="2563EB"/>
          </a:solidFill>
          <a:ln w="7620">
            <a:solidFill>
              <a:srgbClr val="2563EB"/>
            </a:solidFill>
            <a:prstDash val="solid"/>
          </a:ln>
        </p:spPr>
      </p:sp>
      <p:sp>
        <p:nvSpPr>
          <p:cNvPr id="8" name="Text 6"/>
          <p:cNvSpPr/>
          <p:nvPr/>
        </p:nvSpPr>
        <p:spPr>
          <a:xfrm>
            <a:off x="804672" y="3602736"/>
            <a:ext cx="1298448" cy="274320"/>
          </a:xfrm>
          <a:prstGeom prst="rect">
            <a:avLst/>
          </a:prstGeom>
          <a:noFill/>
        </p:spPr>
        <p:txBody>
          <a:bodyPr wrap="square" lIns="0" tIns="0" rIns="0" bIns="0" rtlCol="0" anchor="ctr"/>
          <a:lstStyle/>
          <a:p>
            <a:pPr marL="0" indent="0" algn="ctr">
              <a:buNone/>
            </a:pPr>
            <a:r>
              <a:rPr lang="en-US" sz="2200" b="1" dirty="0">
                <a:solidFill>
                  <a:srgbClr val="FFFFFF"/>
                </a:solidFill>
                <a:latin typeface="Aptos Display" pitchFamily="34" charset="0"/>
                <a:ea typeface="Aptos Display" pitchFamily="34" charset="-122"/>
                <a:cs typeface="Aptos Display" pitchFamily="34" charset="-120"/>
              </a:rPr>
              <a:t>0.8785</a:t>
            </a:r>
            <a:endParaRPr lang="en-US" sz="2200" dirty="0"/>
          </a:p>
        </p:txBody>
      </p:sp>
      <p:sp>
        <p:nvSpPr>
          <p:cNvPr id="9" name="Text 7"/>
          <p:cNvSpPr/>
          <p:nvPr/>
        </p:nvSpPr>
        <p:spPr>
          <a:xfrm>
            <a:off x="804672" y="3931920"/>
            <a:ext cx="1298448" cy="146304"/>
          </a:xfrm>
          <a:prstGeom prst="rect">
            <a:avLst/>
          </a:prstGeom>
          <a:noFill/>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best combined</a:t>
            </a:r>
            <a:endParaRPr lang="en-US" sz="850" dirty="0"/>
          </a:p>
        </p:txBody>
      </p:sp>
      <p:sp>
        <p:nvSpPr>
          <p:cNvPr id="10" name="Shape 8"/>
          <p:cNvSpPr/>
          <p:nvPr/>
        </p:nvSpPr>
        <p:spPr>
          <a:xfrm>
            <a:off x="2633472" y="3474720"/>
            <a:ext cx="1481328" cy="804672"/>
          </a:xfrm>
          <a:prstGeom prst="roundRect">
            <a:avLst>
              <a:gd name="adj" fmla="val 9091"/>
            </a:avLst>
          </a:prstGeom>
          <a:solidFill>
            <a:srgbClr val="F8FAFC"/>
          </a:solidFill>
          <a:ln w="7620">
            <a:solidFill>
              <a:srgbClr val="CBD5E1"/>
            </a:solidFill>
            <a:prstDash val="solid"/>
          </a:ln>
        </p:spPr>
      </p:sp>
      <p:sp>
        <p:nvSpPr>
          <p:cNvPr id="11" name="Text 9"/>
          <p:cNvSpPr/>
          <p:nvPr/>
        </p:nvSpPr>
        <p:spPr>
          <a:xfrm>
            <a:off x="2724912" y="3602736"/>
            <a:ext cx="1298448" cy="274320"/>
          </a:xfrm>
          <a:prstGeom prst="rect">
            <a:avLst/>
          </a:prstGeom>
          <a:noFill/>
        </p:spPr>
        <p:txBody>
          <a:bodyPr wrap="square" lIns="0" tIns="0" rIns="0" bIns="0" rtlCol="0" anchor="ctr"/>
          <a:lstStyle/>
          <a:p>
            <a:pPr marL="0" indent="0" algn="ctr">
              <a:buNone/>
            </a:pPr>
            <a:r>
              <a:rPr lang="en-US" sz="2200" b="1" dirty="0">
                <a:solidFill>
                  <a:srgbClr val="0B1F3A"/>
                </a:solidFill>
                <a:latin typeface="Aptos Display" pitchFamily="34" charset="0"/>
                <a:ea typeface="Aptos Display" pitchFamily="34" charset="-122"/>
                <a:cs typeface="Aptos Display" pitchFamily="34" charset="-120"/>
              </a:rPr>
              <a:t>0.8800</a:t>
            </a:r>
            <a:endParaRPr lang="en-US" sz="2200" dirty="0"/>
          </a:p>
        </p:txBody>
      </p:sp>
      <p:sp>
        <p:nvSpPr>
          <p:cNvPr id="12" name="Text 10"/>
          <p:cNvSpPr/>
          <p:nvPr/>
        </p:nvSpPr>
        <p:spPr>
          <a:xfrm>
            <a:off x="2724912" y="3931920"/>
            <a:ext cx="1298448" cy="146304"/>
          </a:xfrm>
          <a:prstGeom prst="rect">
            <a:avLst/>
          </a:prstGeom>
          <a:noFill/>
        </p:spPr>
        <p:txBody>
          <a:bodyPr wrap="square" lIns="0" tIns="0" rIns="0" bIns="0" rtlCol="0" anchor="ctr"/>
          <a:lstStyle/>
          <a:p>
            <a:pPr marL="0" indent="0" algn="ctr">
              <a:buNone/>
            </a:pPr>
            <a:r>
              <a:rPr lang="en-US" sz="850" dirty="0">
                <a:solidFill>
                  <a:srgbClr val="64748B"/>
                </a:solidFill>
                <a:latin typeface="Aptos" pitchFamily="34" charset="0"/>
                <a:ea typeface="Aptos" pitchFamily="34" charset="-122"/>
                <a:cs typeface="Aptos" pitchFamily="34" charset="-120"/>
              </a:rPr>
              <a:t>preference</a:t>
            </a:r>
            <a:endParaRPr lang="en-US" sz="850" dirty="0"/>
          </a:p>
        </p:txBody>
      </p:sp>
      <p:sp>
        <p:nvSpPr>
          <p:cNvPr id="13" name="Shape 11"/>
          <p:cNvSpPr/>
          <p:nvPr/>
        </p:nvSpPr>
        <p:spPr>
          <a:xfrm>
            <a:off x="4553712" y="3474720"/>
            <a:ext cx="1481328" cy="804672"/>
          </a:xfrm>
          <a:prstGeom prst="roundRect">
            <a:avLst>
              <a:gd name="adj" fmla="val 9091"/>
            </a:avLst>
          </a:prstGeom>
          <a:solidFill>
            <a:srgbClr val="F8FAFC"/>
          </a:solidFill>
          <a:ln w="7620">
            <a:solidFill>
              <a:srgbClr val="CBD5E1"/>
            </a:solidFill>
            <a:prstDash val="solid"/>
          </a:ln>
        </p:spPr>
      </p:sp>
      <p:sp>
        <p:nvSpPr>
          <p:cNvPr id="14" name="Text 12"/>
          <p:cNvSpPr/>
          <p:nvPr/>
        </p:nvSpPr>
        <p:spPr>
          <a:xfrm>
            <a:off x="4645152" y="3602736"/>
            <a:ext cx="1298448" cy="274320"/>
          </a:xfrm>
          <a:prstGeom prst="rect">
            <a:avLst/>
          </a:prstGeom>
          <a:noFill/>
        </p:spPr>
        <p:txBody>
          <a:bodyPr wrap="square" lIns="0" tIns="0" rIns="0" bIns="0" rtlCol="0" anchor="ctr"/>
          <a:lstStyle/>
          <a:p>
            <a:pPr marL="0" indent="0" algn="ctr">
              <a:buNone/>
            </a:pPr>
            <a:r>
              <a:rPr lang="en-US" sz="2200" b="1" dirty="0">
                <a:solidFill>
                  <a:srgbClr val="0B1F3A"/>
                </a:solidFill>
                <a:latin typeface="Aptos Display" pitchFamily="34" charset="0"/>
                <a:ea typeface="Aptos Display" pitchFamily="34" charset="-122"/>
                <a:cs typeface="Aptos Display" pitchFamily="34" charset="-120"/>
              </a:rPr>
              <a:t>0.8769</a:t>
            </a:r>
            <a:endParaRPr lang="en-US" sz="2200" dirty="0"/>
          </a:p>
        </p:txBody>
      </p:sp>
      <p:sp>
        <p:nvSpPr>
          <p:cNvPr id="15" name="Text 13"/>
          <p:cNvSpPr/>
          <p:nvPr/>
        </p:nvSpPr>
        <p:spPr>
          <a:xfrm>
            <a:off x="4645152" y="3931920"/>
            <a:ext cx="1298448" cy="146304"/>
          </a:xfrm>
          <a:prstGeom prst="rect">
            <a:avLst/>
          </a:prstGeom>
          <a:noFill/>
        </p:spPr>
        <p:txBody>
          <a:bodyPr wrap="square" lIns="0" tIns="0" rIns="0" bIns="0" rtlCol="0" anchor="ctr"/>
          <a:lstStyle/>
          <a:p>
            <a:pPr marL="0" indent="0" algn="ctr">
              <a:buNone/>
            </a:pPr>
            <a:r>
              <a:rPr lang="en-US" sz="850" dirty="0">
                <a:solidFill>
                  <a:srgbClr val="64748B"/>
                </a:solidFill>
                <a:latin typeface="Aptos" pitchFamily="34" charset="0"/>
                <a:ea typeface="Aptos" pitchFamily="34" charset="-122"/>
                <a:cs typeface="Aptos" pitchFamily="34" charset="-120"/>
              </a:rPr>
              <a:t>review gen</a:t>
            </a:r>
            <a:endParaRPr lang="en-US" sz="850" dirty="0"/>
          </a:p>
        </p:txBody>
      </p:sp>
      <p:sp>
        <p:nvSpPr>
          <p:cNvPr id="16" name="Shape 14"/>
          <p:cNvSpPr/>
          <p:nvPr/>
        </p:nvSpPr>
        <p:spPr>
          <a:xfrm>
            <a:off x="7288530" y="777240"/>
            <a:ext cx="4356735" cy="4511040"/>
          </a:xfrm>
          <a:prstGeom prst="roundRect">
            <a:avLst>
              <a:gd name="adj" fmla="val 1839"/>
            </a:avLst>
          </a:prstGeom>
          <a:solidFill>
            <a:srgbClr val="F7F7F7"/>
          </a:solidFill>
          <a:ln w="8890">
            <a:solidFill>
              <a:srgbClr val="CBD5E1"/>
            </a:solidFill>
            <a:prstDash val="solid"/>
          </a:ln>
        </p:spPr>
      </p:sp>
      <p:sp>
        <p:nvSpPr>
          <p:cNvPr id="20" name="Shape 17"/>
          <p:cNvSpPr/>
          <p:nvPr/>
        </p:nvSpPr>
        <p:spPr>
          <a:xfrm>
            <a:off x="713232" y="5943600"/>
            <a:ext cx="10789920" cy="0"/>
          </a:xfrm>
          <a:prstGeom prst="line">
            <a:avLst/>
          </a:prstGeom>
          <a:noFill/>
          <a:ln w="8890">
            <a:solidFill>
              <a:srgbClr val="CBD5E1"/>
            </a:solidFill>
            <a:prstDash val="solid"/>
          </a:ln>
        </p:spPr>
      </p:sp>
      <p:sp>
        <p:nvSpPr>
          <p:cNvPr id="21" name="Text 18"/>
          <p:cNvSpPr/>
          <p:nvPr/>
        </p:nvSpPr>
        <p:spPr>
          <a:xfrm>
            <a:off x="713232" y="6177915"/>
            <a:ext cx="5577840" cy="228600"/>
          </a:xfrm>
          <a:prstGeom prst="rect">
            <a:avLst/>
          </a:prstGeom>
          <a:noFill/>
        </p:spPr>
        <p:txBody>
          <a:bodyPr wrap="square" lIns="0" tIns="0" rIns="0" bIns="0" rtlCol="0" anchor="ctr"/>
          <a:lstStyle/>
          <a:p>
            <a:pPr marL="0" indent="0">
              <a:buNone/>
            </a:pPr>
            <a:r>
              <a:rPr lang="vi-VN" altLang="en-US" sz="1600" dirty="0">
                <a:solidFill>
                  <a:srgbClr val="64748B"/>
                </a:solidFill>
                <a:latin typeface="Aptos" pitchFamily="34" charset="0"/>
                <a:ea typeface="Aptos" pitchFamily="34" charset="-122"/>
                <a:cs typeface="Aptos" pitchFamily="34" charset="-120"/>
              </a:rPr>
              <a:t>Vo Cong Vinh </a:t>
            </a:r>
            <a:r>
              <a:rPr lang="en-US" altLang="vi-VN" sz="1600" dirty="0">
                <a:solidFill>
                  <a:srgbClr val="64748B"/>
                </a:solidFill>
                <a:latin typeface="Aptos" pitchFamily="34" charset="0"/>
                <a:ea typeface="Aptos" pitchFamily="34" charset="-122"/>
                <a:cs typeface="Aptos" pitchFamily="34" charset="-120"/>
              </a:rPr>
              <a:t>      </a:t>
            </a:r>
            <a:r>
              <a:rPr lang="vi-VN" altLang="en-US" sz="1600" dirty="0">
                <a:solidFill>
                  <a:srgbClr val="64748B"/>
                </a:solidFill>
                <a:latin typeface="Aptos" pitchFamily="34" charset="0"/>
                <a:ea typeface="Aptos" pitchFamily="34" charset="-122"/>
                <a:cs typeface="Aptos" pitchFamily="34" charset="-120"/>
              </a:rPr>
              <a:t>611421316</a:t>
            </a:r>
            <a:endParaRPr lang="vi-VN" altLang="en-US" sz="1600" dirty="0">
              <a:solidFill>
                <a:srgbClr val="64748B"/>
              </a:solidFill>
              <a:latin typeface="Aptos" pitchFamily="34" charset="0"/>
              <a:ea typeface="Aptos" pitchFamily="34" charset="-122"/>
              <a:cs typeface="Aptos" pitchFamily="34" charset="-120"/>
            </a:endParaRPr>
          </a:p>
          <a:p>
            <a:pPr marL="0" indent="0">
              <a:buNone/>
            </a:pPr>
            <a:r>
              <a:rPr lang="en-US" altLang="en-US" sz="1600" dirty="0">
                <a:solidFill>
                  <a:srgbClr val="64748B"/>
                </a:solidFill>
                <a:latin typeface="Aptos" pitchFamily="34" charset="0"/>
                <a:ea typeface="Aptos" pitchFamily="34" charset="-122"/>
                <a:cs typeface="Aptos" pitchFamily="34" charset="-120"/>
              </a:rPr>
              <a:t>ERIC                     611321215</a:t>
            </a:r>
            <a:endParaRPr lang="en-US" altLang="en-US" sz="1600" dirty="0">
              <a:solidFill>
                <a:srgbClr val="64748B"/>
              </a:solidFill>
              <a:latin typeface="Aptos" pitchFamily="34" charset="0"/>
              <a:ea typeface="Aptos" pitchFamily="34" charset="-122"/>
              <a:cs typeface="Aptos" pitchFamily="34" charset="-120"/>
            </a:endParaRPr>
          </a:p>
        </p:txBody>
      </p:sp>
      <p:pic>
        <p:nvPicPr>
          <p:cNvPr id="24" name="Picture 23"/>
          <p:cNvPicPr>
            <a:picLocks noChangeAspect="1"/>
          </p:cNvPicPr>
          <p:nvPr/>
        </p:nvPicPr>
        <p:blipFill>
          <a:blip r:embed="rId1"/>
          <a:stretch>
            <a:fillRect/>
          </a:stretch>
        </p:blipFill>
        <p:spPr>
          <a:xfrm>
            <a:off x="7443470" y="1042670"/>
            <a:ext cx="4025900" cy="3721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411798" y="246888"/>
            <a:ext cx="3730625" cy="342900"/>
          </a:xfrm>
          <a:prstGeom prst="rect">
            <a:avLst/>
          </a:prstGeom>
          <a:noFill/>
        </p:spPr>
        <p:txBody>
          <a:bodyPr wrap="none" lIns="18288" tIns="18288" rIns="18288" bIns="18288">
            <a:spAutoFit/>
          </a:bodyPr>
          <a:lstStyle/>
          <a:p>
            <a:pPr algn="l"/>
            <a:r>
              <a:rPr sz="2000" b="1">
                <a:solidFill>
                  <a:srgbClr val="2D70C4"/>
                </a:solidFill>
                <a:latin typeface="Aptos"/>
              </a:rPr>
              <a:t>CREW SEQUENTIAL PIPELINE</a:t>
            </a:r>
            <a:endParaRPr sz="2000" b="1">
              <a:solidFill>
                <a:srgbClr val="2D70C4"/>
              </a:solidFill>
              <a:latin typeface="Aptos"/>
            </a:endParaRPr>
          </a:p>
        </p:txBody>
      </p:sp>
      <p:sp>
        <p:nvSpPr>
          <p:cNvPr id="7" name="Rounded Rectangle 6"/>
          <p:cNvSpPr/>
          <p:nvPr/>
        </p:nvSpPr>
        <p:spPr>
          <a:xfrm>
            <a:off x="304165" y="1325880"/>
            <a:ext cx="1774190" cy="2195830"/>
          </a:xfrm>
          <a:prstGeom prst="roundRect">
            <a:avLst/>
          </a:prstGeom>
          <a:solidFill>
            <a:srgbClr val="F9FBFD"/>
          </a:solidFill>
          <a:ln w="26670">
            <a:solidFill>
              <a:srgbClr val="B9C9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13385" y="1435735"/>
            <a:ext cx="311150" cy="320675"/>
          </a:xfrm>
          <a:prstGeom prst="ellipse">
            <a:avLst/>
          </a:prstGeom>
          <a:solidFill>
            <a:srgbClr val="082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0</a:t>
            </a:r>
            <a:endParaRPr sz="1200" b="1">
              <a:solidFill>
                <a:srgbClr val="FFFFFF"/>
              </a:solidFill>
              <a:latin typeface="Aptos"/>
            </a:endParaRPr>
          </a:p>
        </p:txBody>
      </p:sp>
      <p:sp>
        <p:nvSpPr>
          <p:cNvPr id="9" name="TextBox 8"/>
          <p:cNvSpPr txBox="1"/>
          <p:nvPr/>
        </p:nvSpPr>
        <p:spPr>
          <a:xfrm>
            <a:off x="924560" y="1828800"/>
            <a:ext cx="532765" cy="289560"/>
          </a:xfrm>
          <a:prstGeom prst="rect">
            <a:avLst/>
          </a:prstGeom>
          <a:noFill/>
        </p:spPr>
        <p:txBody>
          <a:bodyPr wrap="none" lIns="18288" tIns="18288" rIns="18288" bIns="18288">
            <a:noAutofit/>
          </a:bodyPr>
          <a:lstStyle/>
          <a:p>
            <a:pPr algn="ctr"/>
            <a:r>
              <a:rPr sz="1600" b="1">
                <a:solidFill>
                  <a:srgbClr val="08243F"/>
                </a:solidFill>
                <a:latin typeface="Aptos"/>
              </a:rPr>
              <a:t>Input</a:t>
            </a:r>
            <a:endParaRPr sz="1600" b="1">
              <a:solidFill>
                <a:srgbClr val="08243F"/>
              </a:solidFill>
              <a:latin typeface="Aptos"/>
            </a:endParaRPr>
          </a:p>
        </p:txBody>
      </p:sp>
      <p:sp>
        <p:nvSpPr>
          <p:cNvPr id="10" name="TextBox 9"/>
          <p:cNvSpPr txBox="1"/>
          <p:nvPr/>
        </p:nvSpPr>
        <p:spPr>
          <a:xfrm>
            <a:off x="678180" y="2158365"/>
            <a:ext cx="1024890" cy="197485"/>
          </a:xfrm>
          <a:prstGeom prst="rect">
            <a:avLst/>
          </a:prstGeom>
          <a:noFill/>
        </p:spPr>
        <p:txBody>
          <a:bodyPr wrap="none" lIns="18288" tIns="18288" rIns="18288" bIns="18288">
            <a:noAutofit/>
          </a:bodyPr>
          <a:lstStyle/>
          <a:p>
            <a:pPr algn="ctr"/>
            <a:r>
              <a:rPr sz="1020" b="0">
                <a:solidFill>
                  <a:srgbClr val="486075"/>
                </a:solidFill>
                <a:latin typeface="Aptos"/>
              </a:rPr>
              <a:t>user_id + item_id</a:t>
            </a:r>
            <a:endParaRPr sz="1020" b="0">
              <a:solidFill>
                <a:srgbClr val="486075"/>
              </a:solidFill>
              <a:latin typeface="Aptos"/>
            </a:endParaRPr>
          </a:p>
        </p:txBody>
      </p:sp>
      <p:sp>
        <p:nvSpPr>
          <p:cNvPr id="11" name="Rectangle 10"/>
          <p:cNvSpPr/>
          <p:nvPr/>
        </p:nvSpPr>
        <p:spPr>
          <a:xfrm>
            <a:off x="487045" y="2409825"/>
            <a:ext cx="1408430" cy="76200"/>
          </a:xfrm>
          <a:prstGeom prst="rect">
            <a:avLst/>
          </a:prstGeom>
          <a:solidFill>
            <a:srgbClr val="B9C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3440" y="2538095"/>
            <a:ext cx="674370" cy="226060"/>
          </a:xfrm>
          <a:prstGeom prst="rect">
            <a:avLst/>
          </a:prstGeom>
          <a:noFill/>
        </p:spPr>
        <p:txBody>
          <a:bodyPr wrap="none" lIns="18288" tIns="18288" rIns="18288" bIns="18288">
            <a:noAutofit/>
          </a:bodyPr>
          <a:lstStyle/>
          <a:p>
            <a:pPr algn="ctr"/>
            <a:r>
              <a:rPr sz="1200" b="0">
                <a:solidFill>
                  <a:srgbClr val="0B2034"/>
                </a:solidFill>
                <a:latin typeface="Aptos"/>
              </a:rPr>
              <a:t>Agent: —</a:t>
            </a:r>
            <a:endParaRPr sz="1200" b="0">
              <a:solidFill>
                <a:srgbClr val="0B2034"/>
              </a:solidFill>
              <a:latin typeface="Aptos"/>
            </a:endParaRPr>
          </a:p>
        </p:txBody>
      </p:sp>
      <p:sp>
        <p:nvSpPr>
          <p:cNvPr id="13" name="TextBox 12"/>
          <p:cNvSpPr txBox="1"/>
          <p:nvPr/>
        </p:nvSpPr>
        <p:spPr>
          <a:xfrm>
            <a:off x="807085" y="2812415"/>
            <a:ext cx="767715" cy="226060"/>
          </a:xfrm>
          <a:prstGeom prst="rect">
            <a:avLst/>
          </a:prstGeom>
          <a:noFill/>
        </p:spPr>
        <p:txBody>
          <a:bodyPr wrap="none" lIns="18288" tIns="18288" rIns="18288" bIns="18288">
            <a:noAutofit/>
          </a:bodyPr>
          <a:lstStyle/>
          <a:p>
            <a:pPr algn="ctr"/>
            <a:r>
              <a:rPr sz="1200" b="0">
                <a:solidFill>
                  <a:srgbClr val="0B2034"/>
                </a:solidFill>
                <a:latin typeface="Aptos"/>
              </a:rPr>
              <a:t>task JSON</a:t>
            </a:r>
            <a:endParaRPr sz="1200" b="0">
              <a:solidFill>
                <a:srgbClr val="0B2034"/>
              </a:solidFill>
              <a:latin typeface="Aptos"/>
            </a:endParaRPr>
          </a:p>
        </p:txBody>
      </p:sp>
      <p:sp>
        <p:nvSpPr>
          <p:cNvPr id="14" name="Right Triangle 13"/>
          <p:cNvSpPr/>
          <p:nvPr/>
        </p:nvSpPr>
        <p:spPr>
          <a:xfrm>
            <a:off x="2114550" y="2277110"/>
            <a:ext cx="146050" cy="235585"/>
          </a:xfrm>
          <a:prstGeom prst="rtTriangle">
            <a:avLst/>
          </a:prstGeom>
          <a:solidFill>
            <a:srgbClr val="2D7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242185" y="1325880"/>
            <a:ext cx="1774190" cy="2195830"/>
          </a:xfrm>
          <a:prstGeom prst="roundRect">
            <a:avLst/>
          </a:prstGeom>
          <a:solidFill>
            <a:srgbClr val="EAF5FF"/>
          </a:solidFill>
          <a:ln w="26670">
            <a:solidFill>
              <a:srgbClr val="8CB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352040" y="1435735"/>
            <a:ext cx="311150" cy="320675"/>
          </a:xfrm>
          <a:prstGeom prst="ellipse">
            <a:avLst/>
          </a:prstGeom>
          <a:solidFill>
            <a:srgbClr val="EE8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1</a:t>
            </a:r>
            <a:endParaRPr sz="1200" b="1">
              <a:solidFill>
                <a:srgbClr val="FFFFFF"/>
              </a:solidFill>
              <a:latin typeface="Aptos"/>
            </a:endParaRPr>
          </a:p>
        </p:txBody>
      </p:sp>
      <p:sp>
        <p:nvSpPr>
          <p:cNvPr id="17" name="TextBox 16"/>
          <p:cNvSpPr txBox="1"/>
          <p:nvPr/>
        </p:nvSpPr>
        <p:spPr>
          <a:xfrm>
            <a:off x="2173605" y="1828800"/>
            <a:ext cx="1842770" cy="289560"/>
          </a:xfrm>
          <a:prstGeom prst="rect">
            <a:avLst/>
          </a:prstGeom>
          <a:noFill/>
        </p:spPr>
        <p:txBody>
          <a:bodyPr wrap="square" lIns="18288" tIns="18288" rIns="18288" bIns="18288">
            <a:noAutofit/>
          </a:bodyPr>
          <a:lstStyle/>
          <a:p>
            <a:pPr algn="ctr"/>
            <a:r>
              <a:rPr sz="1600" b="1">
                <a:solidFill>
                  <a:srgbClr val="08243F"/>
                </a:solidFill>
                <a:latin typeface="Aptos"/>
              </a:rPr>
              <a:t>Retrieve+ Score</a:t>
            </a:r>
            <a:endParaRPr sz="1600" b="1">
              <a:solidFill>
                <a:srgbClr val="08243F"/>
              </a:solidFill>
              <a:latin typeface="Aptos"/>
            </a:endParaRPr>
          </a:p>
        </p:txBody>
      </p:sp>
      <p:sp>
        <p:nvSpPr>
          <p:cNvPr id="18" name="TextBox 17"/>
          <p:cNvSpPr txBox="1"/>
          <p:nvPr/>
        </p:nvSpPr>
        <p:spPr>
          <a:xfrm>
            <a:off x="2463800" y="2158365"/>
            <a:ext cx="1331595" cy="197485"/>
          </a:xfrm>
          <a:prstGeom prst="rect">
            <a:avLst/>
          </a:prstGeom>
          <a:noFill/>
        </p:spPr>
        <p:txBody>
          <a:bodyPr wrap="none" lIns="18288" tIns="18288" rIns="18288" bIns="18288">
            <a:noAutofit/>
          </a:bodyPr>
          <a:lstStyle/>
          <a:p>
            <a:pPr algn="ctr"/>
            <a:r>
              <a:rPr sz="1020" b="0">
                <a:solidFill>
                  <a:srgbClr val="486075"/>
                </a:solidFill>
                <a:latin typeface="Aptos"/>
              </a:rPr>
              <a:t>l</a:t>
            </a:r>
            <a:r>
              <a:rPr lang="en-US" sz="1020" dirty="0">
                <a:solidFill>
                  <a:srgbClr val="405A70"/>
                </a:solidFill>
                <a:sym typeface="+mn-ea"/>
              </a:rPr>
              <a:t>lookup → flags → score</a:t>
            </a:r>
            <a:endParaRPr sz="1020" b="0">
              <a:solidFill>
                <a:srgbClr val="486075"/>
              </a:solidFill>
              <a:latin typeface="Aptos"/>
            </a:endParaRPr>
          </a:p>
        </p:txBody>
      </p:sp>
      <p:sp>
        <p:nvSpPr>
          <p:cNvPr id="19" name="Rectangle 18"/>
          <p:cNvSpPr/>
          <p:nvPr/>
        </p:nvSpPr>
        <p:spPr>
          <a:xfrm>
            <a:off x="2425065" y="2409825"/>
            <a:ext cx="1408430" cy="76200"/>
          </a:xfrm>
          <a:prstGeom prst="rect">
            <a:avLst/>
          </a:prstGeom>
          <a:solidFill>
            <a:srgbClr val="8CB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45055" y="2538095"/>
            <a:ext cx="1569085" cy="226060"/>
          </a:xfrm>
          <a:prstGeom prst="rect">
            <a:avLst/>
          </a:prstGeom>
          <a:noFill/>
        </p:spPr>
        <p:txBody>
          <a:bodyPr wrap="none" lIns="18288" tIns="18288" rIns="18288" bIns="18288">
            <a:noAutofit/>
          </a:bodyPr>
          <a:lstStyle/>
          <a:p>
            <a:pPr algn="ctr"/>
            <a:r>
              <a:rPr sz="1200" b="0">
                <a:solidFill>
                  <a:srgbClr val="0B2034"/>
                </a:solidFill>
                <a:latin typeface="Aptos"/>
              </a:rPr>
              <a:t>Agent: </a:t>
            </a:r>
            <a:r>
              <a:rPr sz="1200" b="1">
                <a:solidFill>
                  <a:srgbClr val="0B2034"/>
                </a:solidFill>
                <a:latin typeface="Aptos"/>
              </a:rPr>
              <a:t>Data Retriever</a:t>
            </a:r>
            <a:endParaRPr sz="1200" b="1">
              <a:solidFill>
                <a:srgbClr val="0B2034"/>
              </a:solidFill>
              <a:latin typeface="Aptos"/>
            </a:endParaRPr>
          </a:p>
        </p:txBody>
      </p:sp>
      <p:sp>
        <p:nvSpPr>
          <p:cNvPr id="21" name="TextBox 20"/>
          <p:cNvSpPr txBox="1"/>
          <p:nvPr/>
        </p:nvSpPr>
        <p:spPr>
          <a:xfrm>
            <a:off x="2308225" y="2790190"/>
            <a:ext cx="1569720" cy="248285"/>
          </a:xfrm>
          <a:prstGeom prst="rect">
            <a:avLst/>
          </a:prstGeom>
          <a:noFill/>
        </p:spPr>
        <p:txBody>
          <a:bodyPr wrap="none" lIns="18288" tIns="18288" rIns="18288" bIns="18288">
            <a:noAutofit/>
          </a:bodyPr>
          <a:lstStyle/>
          <a:p>
            <a:pPr marL="0" indent="0" algn="ctr">
              <a:buNone/>
            </a:pPr>
            <a:r>
              <a:rPr lang="en-US" sz="1200" dirty="0">
                <a:solidFill>
                  <a:srgbClr val="082B49"/>
                </a:solidFill>
                <a:sym typeface="+mn-ea"/>
              </a:rPr>
              <a:t>prediction_context</a:t>
            </a:r>
            <a:endParaRPr lang="en-US" sz="1200" dirty="0"/>
          </a:p>
          <a:p>
            <a:pPr marL="0" indent="0" algn="ctr">
              <a:buNone/>
            </a:pPr>
            <a:r>
              <a:rPr lang="en-US" sz="1200" dirty="0">
                <a:solidFill>
                  <a:srgbClr val="082B49"/>
                </a:solidFill>
                <a:sym typeface="+mn-ea"/>
              </a:rPr>
              <a:t>+ rating trace</a:t>
            </a:r>
            <a:endParaRPr sz="1200" b="0">
              <a:solidFill>
                <a:srgbClr val="0B2034"/>
              </a:solidFill>
              <a:latin typeface="Aptos"/>
            </a:endParaRPr>
          </a:p>
        </p:txBody>
      </p:sp>
      <p:sp>
        <p:nvSpPr>
          <p:cNvPr id="22" name="Rounded Rectangle 21"/>
          <p:cNvSpPr/>
          <p:nvPr/>
        </p:nvSpPr>
        <p:spPr>
          <a:xfrm>
            <a:off x="2388870" y="3311525"/>
            <a:ext cx="1481455" cy="273685"/>
          </a:xfrm>
          <a:prstGeom prst="roundRect">
            <a:avLst/>
          </a:prstGeom>
          <a:solidFill>
            <a:srgbClr val="EE8136"/>
          </a:solidFill>
          <a:ln>
            <a:noFill/>
          </a:ln>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810" b="1">
                <a:solidFill>
                  <a:srgbClr val="FFFFFF"/>
                </a:solidFill>
                <a:latin typeface="Aptos"/>
              </a:rPr>
              <a:t>RATING COMPUTED HERE</a:t>
            </a:r>
            <a:endParaRPr sz="810" b="1">
              <a:solidFill>
                <a:srgbClr val="FFFFFF"/>
              </a:solidFill>
              <a:latin typeface="Aptos"/>
            </a:endParaRPr>
          </a:p>
        </p:txBody>
      </p:sp>
      <p:sp>
        <p:nvSpPr>
          <p:cNvPr id="23" name="Right Triangle 22"/>
          <p:cNvSpPr/>
          <p:nvPr/>
        </p:nvSpPr>
        <p:spPr>
          <a:xfrm>
            <a:off x="4053205" y="2277110"/>
            <a:ext cx="146050" cy="235585"/>
          </a:xfrm>
          <a:prstGeom prst="rtTriangle">
            <a:avLst/>
          </a:prstGeom>
          <a:solidFill>
            <a:srgbClr val="2D7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180840" y="1325880"/>
            <a:ext cx="1774190" cy="2195830"/>
          </a:xfrm>
          <a:prstGeom prst="roundRect">
            <a:avLst/>
          </a:prstGeom>
          <a:solidFill>
            <a:srgbClr val="EAF5FF"/>
          </a:solidFill>
          <a:ln w="26670">
            <a:solidFill>
              <a:srgbClr val="8CB8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290695" y="1435735"/>
            <a:ext cx="311150" cy="320675"/>
          </a:xfrm>
          <a:prstGeom prst="ellipse">
            <a:avLst/>
          </a:prstGeom>
          <a:solidFill>
            <a:srgbClr val="082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2</a:t>
            </a:r>
            <a:endParaRPr sz="1200" b="1">
              <a:solidFill>
                <a:srgbClr val="FFFFFF"/>
              </a:solidFill>
              <a:latin typeface="Aptos"/>
            </a:endParaRPr>
          </a:p>
        </p:txBody>
      </p:sp>
      <p:sp>
        <p:nvSpPr>
          <p:cNvPr id="26" name="TextBox 25"/>
          <p:cNvSpPr txBox="1"/>
          <p:nvPr/>
        </p:nvSpPr>
        <p:spPr>
          <a:xfrm>
            <a:off x="4469765" y="1828800"/>
            <a:ext cx="1196340" cy="289560"/>
          </a:xfrm>
          <a:prstGeom prst="rect">
            <a:avLst/>
          </a:prstGeom>
          <a:noFill/>
        </p:spPr>
        <p:txBody>
          <a:bodyPr wrap="none" lIns="18288" tIns="18288" rIns="18288" bIns="18288">
            <a:noAutofit/>
          </a:bodyPr>
          <a:lstStyle/>
          <a:p>
            <a:pPr algn="ctr"/>
            <a:r>
              <a:rPr lang="vi-VN" sz="1600" b="1">
                <a:solidFill>
                  <a:srgbClr val="08243F"/>
                </a:solidFill>
                <a:latin typeface="Aptos"/>
              </a:rPr>
              <a:t>Expose </a:t>
            </a:r>
            <a:r>
              <a:rPr sz="1600" b="1">
                <a:solidFill>
                  <a:srgbClr val="08243F"/>
                </a:solidFill>
                <a:latin typeface="Aptos"/>
              </a:rPr>
              <a:t>case</a:t>
            </a:r>
            <a:endParaRPr sz="1600" b="1">
              <a:solidFill>
                <a:srgbClr val="08243F"/>
              </a:solidFill>
              <a:latin typeface="Aptos"/>
            </a:endParaRPr>
          </a:p>
        </p:txBody>
      </p:sp>
      <p:sp>
        <p:nvSpPr>
          <p:cNvPr id="27" name="TextBox 26"/>
          <p:cNvSpPr txBox="1"/>
          <p:nvPr/>
        </p:nvSpPr>
        <p:spPr>
          <a:xfrm>
            <a:off x="4633595" y="2158365"/>
            <a:ext cx="868680" cy="197485"/>
          </a:xfrm>
          <a:prstGeom prst="rect">
            <a:avLst/>
          </a:prstGeom>
          <a:noFill/>
        </p:spPr>
        <p:txBody>
          <a:bodyPr wrap="none" lIns="18288" tIns="18288" rIns="18288" bIns="18288">
            <a:noAutofit/>
          </a:bodyPr>
          <a:lstStyle/>
          <a:p>
            <a:pPr algn="ctr"/>
            <a:r>
              <a:rPr lang="en-US" sz="1020" dirty="0">
                <a:solidFill>
                  <a:srgbClr val="405A70"/>
                </a:solidFill>
                <a:sym typeface="+mn-ea"/>
              </a:rPr>
              <a:t>read evidence flags</a:t>
            </a:r>
            <a:endParaRPr sz="1020" b="0">
              <a:solidFill>
                <a:srgbClr val="486075"/>
              </a:solidFill>
              <a:latin typeface="Aptos"/>
            </a:endParaRPr>
          </a:p>
        </p:txBody>
      </p:sp>
      <p:sp>
        <p:nvSpPr>
          <p:cNvPr id="28" name="Rectangle 27"/>
          <p:cNvSpPr/>
          <p:nvPr/>
        </p:nvSpPr>
        <p:spPr>
          <a:xfrm>
            <a:off x="4363720" y="2409825"/>
            <a:ext cx="1408430" cy="76200"/>
          </a:xfrm>
          <a:prstGeom prst="rect">
            <a:avLst/>
          </a:prstGeom>
          <a:solidFill>
            <a:srgbClr val="8CB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32605" y="2538095"/>
            <a:ext cx="1470660" cy="226060"/>
          </a:xfrm>
          <a:prstGeom prst="rect">
            <a:avLst/>
          </a:prstGeom>
          <a:noFill/>
        </p:spPr>
        <p:txBody>
          <a:bodyPr wrap="none" lIns="18288" tIns="18288" rIns="18288" bIns="18288">
            <a:noAutofit/>
          </a:bodyPr>
          <a:lstStyle/>
          <a:p>
            <a:pPr algn="ctr"/>
            <a:r>
              <a:rPr sz="1200" b="0">
                <a:solidFill>
                  <a:srgbClr val="0B2034"/>
                </a:solidFill>
                <a:latin typeface="Aptos"/>
              </a:rPr>
              <a:t>Agent: </a:t>
            </a:r>
            <a:r>
              <a:rPr sz="1200" b="1">
                <a:solidFill>
                  <a:srgbClr val="0B2034"/>
                </a:solidFill>
                <a:latin typeface="Aptos"/>
              </a:rPr>
              <a:t>Case Analyst</a:t>
            </a:r>
            <a:endParaRPr sz="1200" b="1">
              <a:solidFill>
                <a:srgbClr val="0B2034"/>
              </a:solidFill>
              <a:latin typeface="Aptos"/>
            </a:endParaRPr>
          </a:p>
        </p:txBody>
      </p:sp>
      <p:sp>
        <p:nvSpPr>
          <p:cNvPr id="30" name="TextBox 29"/>
          <p:cNvSpPr txBox="1"/>
          <p:nvPr/>
        </p:nvSpPr>
        <p:spPr>
          <a:xfrm>
            <a:off x="4343400" y="2812415"/>
            <a:ext cx="1448435" cy="226060"/>
          </a:xfrm>
          <a:prstGeom prst="rect">
            <a:avLst/>
          </a:prstGeom>
          <a:noFill/>
        </p:spPr>
        <p:txBody>
          <a:bodyPr wrap="none" lIns="18288" tIns="18288" rIns="18288" bIns="18288">
            <a:noAutofit/>
          </a:bodyPr>
          <a:lstStyle/>
          <a:p>
            <a:pPr algn="ctr"/>
            <a:r>
              <a:rPr sz="1200" b="0">
                <a:solidFill>
                  <a:srgbClr val="0B2034"/>
                </a:solidFill>
                <a:latin typeface="Aptos"/>
              </a:rPr>
              <a:t>compact case JSON</a:t>
            </a:r>
            <a:endParaRPr sz="1200" b="0">
              <a:solidFill>
                <a:srgbClr val="0B2034"/>
              </a:solidFill>
              <a:latin typeface="Aptos"/>
            </a:endParaRPr>
          </a:p>
        </p:txBody>
      </p:sp>
      <p:sp>
        <p:nvSpPr>
          <p:cNvPr id="31" name="Right Triangle 30"/>
          <p:cNvSpPr/>
          <p:nvPr/>
        </p:nvSpPr>
        <p:spPr>
          <a:xfrm>
            <a:off x="5991225" y="2277110"/>
            <a:ext cx="146050" cy="235585"/>
          </a:xfrm>
          <a:prstGeom prst="rtTriangle">
            <a:avLst/>
          </a:prstGeom>
          <a:solidFill>
            <a:srgbClr val="2D7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19495" y="1325880"/>
            <a:ext cx="1774190" cy="2195830"/>
          </a:xfrm>
          <a:prstGeom prst="roundRect">
            <a:avLst/>
          </a:prstGeom>
          <a:solidFill>
            <a:srgbClr val="FFF9E0"/>
          </a:solidFill>
          <a:ln w="26670">
            <a:solidFill>
              <a:srgbClr val="E6BE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29350" y="1435735"/>
            <a:ext cx="311150" cy="320675"/>
          </a:xfrm>
          <a:prstGeom prst="ellipse">
            <a:avLst/>
          </a:prstGeom>
          <a:solidFill>
            <a:srgbClr val="082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3</a:t>
            </a:r>
            <a:endParaRPr sz="1200" b="1">
              <a:solidFill>
                <a:srgbClr val="FFFFFF"/>
              </a:solidFill>
              <a:latin typeface="Aptos"/>
            </a:endParaRPr>
          </a:p>
        </p:txBody>
      </p:sp>
      <p:sp>
        <p:nvSpPr>
          <p:cNvPr id="34" name="TextBox 33"/>
          <p:cNvSpPr txBox="1"/>
          <p:nvPr/>
        </p:nvSpPr>
        <p:spPr>
          <a:xfrm>
            <a:off x="6369050" y="1828800"/>
            <a:ext cx="1274445" cy="289560"/>
          </a:xfrm>
          <a:prstGeom prst="rect">
            <a:avLst/>
          </a:prstGeom>
          <a:noFill/>
        </p:spPr>
        <p:txBody>
          <a:bodyPr wrap="none" lIns="18288" tIns="18288" rIns="18288" bIns="18288">
            <a:noAutofit/>
          </a:bodyPr>
          <a:lstStyle/>
          <a:p>
            <a:pPr algn="ctr"/>
            <a:r>
              <a:rPr sz="1600" b="1">
                <a:solidFill>
                  <a:srgbClr val="08243F"/>
                </a:solidFill>
                <a:latin typeface="Aptos"/>
              </a:rPr>
              <a:t>Analyze user</a:t>
            </a:r>
            <a:endParaRPr sz="1600" b="1">
              <a:solidFill>
                <a:srgbClr val="08243F"/>
              </a:solidFill>
              <a:latin typeface="Aptos"/>
            </a:endParaRPr>
          </a:p>
        </p:txBody>
      </p:sp>
      <p:sp>
        <p:nvSpPr>
          <p:cNvPr id="35" name="TextBox 34"/>
          <p:cNvSpPr txBox="1"/>
          <p:nvPr/>
        </p:nvSpPr>
        <p:spPr>
          <a:xfrm>
            <a:off x="6490970" y="2158365"/>
            <a:ext cx="1030605" cy="197485"/>
          </a:xfrm>
          <a:prstGeom prst="rect">
            <a:avLst/>
          </a:prstGeom>
          <a:noFill/>
        </p:spPr>
        <p:txBody>
          <a:bodyPr wrap="none" lIns="18288" tIns="18288" rIns="18288" bIns="18288">
            <a:noAutofit/>
          </a:bodyPr>
          <a:lstStyle/>
          <a:p>
            <a:pPr algn="ctr"/>
            <a:r>
              <a:rPr sz="1020" b="0">
                <a:solidFill>
                  <a:srgbClr val="486075"/>
                </a:solidFill>
                <a:latin typeface="Aptos"/>
              </a:rPr>
              <a:t>Who is this user?</a:t>
            </a:r>
            <a:endParaRPr sz="1020" b="0">
              <a:solidFill>
                <a:srgbClr val="486075"/>
              </a:solidFill>
              <a:latin typeface="Aptos"/>
            </a:endParaRPr>
          </a:p>
        </p:txBody>
      </p:sp>
      <p:sp>
        <p:nvSpPr>
          <p:cNvPr id="36" name="Rectangle 35"/>
          <p:cNvSpPr/>
          <p:nvPr/>
        </p:nvSpPr>
        <p:spPr>
          <a:xfrm>
            <a:off x="6302375" y="2409825"/>
            <a:ext cx="1408430" cy="76200"/>
          </a:xfrm>
          <a:prstGeom prst="rect">
            <a:avLst/>
          </a:prstGeom>
          <a:solidFill>
            <a:srgbClr val="E6B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85230" y="2538095"/>
            <a:ext cx="1442085" cy="226060"/>
          </a:xfrm>
          <a:prstGeom prst="rect">
            <a:avLst/>
          </a:prstGeom>
          <a:noFill/>
        </p:spPr>
        <p:txBody>
          <a:bodyPr wrap="none" lIns="18288" tIns="18288" rIns="18288" bIns="18288">
            <a:noAutofit/>
          </a:bodyPr>
          <a:lstStyle/>
          <a:p>
            <a:pPr algn="ctr"/>
            <a:r>
              <a:rPr sz="1200" b="0">
                <a:solidFill>
                  <a:srgbClr val="0B2034"/>
                </a:solidFill>
                <a:latin typeface="Aptos"/>
              </a:rPr>
              <a:t>Agent: </a:t>
            </a:r>
            <a:r>
              <a:rPr sz="1200" b="1">
                <a:solidFill>
                  <a:srgbClr val="0B2034"/>
                </a:solidFill>
                <a:latin typeface="Aptos"/>
              </a:rPr>
              <a:t>User Analyst</a:t>
            </a:r>
            <a:endParaRPr sz="1200" b="1">
              <a:solidFill>
                <a:srgbClr val="0B2034"/>
              </a:solidFill>
              <a:latin typeface="Aptos"/>
            </a:endParaRPr>
          </a:p>
        </p:txBody>
      </p:sp>
      <p:sp>
        <p:nvSpPr>
          <p:cNvPr id="38" name="TextBox 37"/>
          <p:cNvSpPr txBox="1"/>
          <p:nvPr/>
        </p:nvSpPr>
        <p:spPr>
          <a:xfrm>
            <a:off x="6393815" y="2812415"/>
            <a:ext cx="1225550" cy="226060"/>
          </a:xfrm>
          <a:prstGeom prst="rect">
            <a:avLst/>
          </a:prstGeom>
          <a:noFill/>
        </p:spPr>
        <p:txBody>
          <a:bodyPr wrap="none" lIns="18288" tIns="18288" rIns="18288" bIns="18288">
            <a:noAutofit/>
          </a:bodyPr>
          <a:lstStyle/>
          <a:p>
            <a:pPr algn="ctr"/>
            <a:r>
              <a:rPr sz="1200" b="0">
                <a:solidFill>
                  <a:srgbClr val="0B2034"/>
                </a:solidFill>
                <a:latin typeface="Aptos"/>
              </a:rPr>
              <a:t>user voice + style</a:t>
            </a:r>
            <a:endParaRPr sz="1200" b="0">
              <a:solidFill>
                <a:srgbClr val="0B2034"/>
              </a:solidFill>
              <a:latin typeface="Aptos"/>
            </a:endParaRPr>
          </a:p>
        </p:txBody>
      </p:sp>
      <p:sp>
        <p:nvSpPr>
          <p:cNvPr id="39" name="Rounded Rectangle 38"/>
          <p:cNvSpPr/>
          <p:nvPr/>
        </p:nvSpPr>
        <p:spPr>
          <a:xfrm>
            <a:off x="6265545" y="3311525"/>
            <a:ext cx="1481455" cy="273685"/>
          </a:xfrm>
          <a:prstGeom prst="roundRect">
            <a:avLst/>
          </a:prstGeom>
          <a:solidFill>
            <a:srgbClr val="2D70C4"/>
          </a:solidFill>
          <a:ln>
            <a:noFill/>
          </a:ln>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810" b="1">
                <a:solidFill>
                  <a:srgbClr val="FFFFFF"/>
                </a:solidFill>
                <a:latin typeface="Aptos"/>
              </a:rPr>
              <a:t>VOICE</a:t>
            </a:r>
            <a:endParaRPr sz="810" b="1">
              <a:solidFill>
                <a:srgbClr val="FFFFFF"/>
              </a:solidFill>
              <a:latin typeface="Aptos"/>
            </a:endParaRPr>
          </a:p>
        </p:txBody>
      </p:sp>
      <p:sp>
        <p:nvSpPr>
          <p:cNvPr id="40" name="Right Triangle 39"/>
          <p:cNvSpPr/>
          <p:nvPr/>
        </p:nvSpPr>
        <p:spPr>
          <a:xfrm>
            <a:off x="7929880" y="2277110"/>
            <a:ext cx="146050" cy="235585"/>
          </a:xfrm>
          <a:prstGeom prst="rtTriangle">
            <a:avLst/>
          </a:prstGeom>
          <a:solidFill>
            <a:srgbClr val="2D7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058150" y="1325880"/>
            <a:ext cx="1774190" cy="2195830"/>
          </a:xfrm>
          <a:prstGeom prst="roundRect">
            <a:avLst/>
          </a:prstGeom>
          <a:solidFill>
            <a:srgbClr val="FFF9E0"/>
          </a:solidFill>
          <a:ln w="26670">
            <a:solidFill>
              <a:srgbClr val="E6BE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167370" y="1435735"/>
            <a:ext cx="311150" cy="320675"/>
          </a:xfrm>
          <a:prstGeom prst="ellipse">
            <a:avLst/>
          </a:prstGeom>
          <a:solidFill>
            <a:srgbClr val="0824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4</a:t>
            </a:r>
            <a:endParaRPr sz="1200" b="1">
              <a:solidFill>
                <a:srgbClr val="FFFFFF"/>
              </a:solidFill>
              <a:latin typeface="Aptos"/>
            </a:endParaRPr>
          </a:p>
        </p:txBody>
      </p:sp>
      <p:sp>
        <p:nvSpPr>
          <p:cNvPr id="43" name="TextBox 42"/>
          <p:cNvSpPr txBox="1"/>
          <p:nvPr/>
        </p:nvSpPr>
        <p:spPr>
          <a:xfrm>
            <a:off x="8307705" y="1828800"/>
            <a:ext cx="1274445" cy="289560"/>
          </a:xfrm>
          <a:prstGeom prst="rect">
            <a:avLst/>
          </a:prstGeom>
          <a:noFill/>
        </p:spPr>
        <p:txBody>
          <a:bodyPr wrap="none" lIns="18288" tIns="18288" rIns="18288" bIns="18288">
            <a:noAutofit/>
          </a:bodyPr>
          <a:lstStyle/>
          <a:p>
            <a:pPr algn="ctr"/>
            <a:r>
              <a:rPr sz="1600" b="1">
                <a:solidFill>
                  <a:srgbClr val="08243F"/>
                </a:solidFill>
                <a:latin typeface="Aptos"/>
              </a:rPr>
              <a:t>Analyze item</a:t>
            </a:r>
            <a:endParaRPr sz="1600" b="1">
              <a:solidFill>
                <a:srgbClr val="08243F"/>
              </a:solidFill>
              <a:latin typeface="Aptos"/>
            </a:endParaRPr>
          </a:p>
        </p:txBody>
      </p:sp>
      <p:sp>
        <p:nvSpPr>
          <p:cNvPr id="44" name="TextBox 43"/>
          <p:cNvSpPr txBox="1"/>
          <p:nvPr/>
        </p:nvSpPr>
        <p:spPr>
          <a:xfrm>
            <a:off x="8342630" y="2158365"/>
            <a:ext cx="1204595" cy="197485"/>
          </a:xfrm>
          <a:prstGeom prst="rect">
            <a:avLst/>
          </a:prstGeom>
          <a:noFill/>
        </p:spPr>
        <p:txBody>
          <a:bodyPr wrap="none" lIns="18288" tIns="18288" rIns="18288" bIns="18288">
            <a:noAutofit/>
          </a:bodyPr>
          <a:lstStyle/>
          <a:p>
            <a:pPr algn="ctr"/>
            <a:r>
              <a:rPr sz="1020" b="0">
                <a:solidFill>
                  <a:srgbClr val="486075"/>
                </a:solidFill>
                <a:latin typeface="Aptos"/>
              </a:rPr>
              <a:t>What is safe to say?</a:t>
            </a:r>
            <a:endParaRPr sz="1020" b="0">
              <a:solidFill>
                <a:srgbClr val="486075"/>
              </a:solidFill>
              <a:latin typeface="Aptos"/>
            </a:endParaRPr>
          </a:p>
        </p:txBody>
      </p:sp>
      <p:sp>
        <p:nvSpPr>
          <p:cNvPr id="45" name="Rectangle 44"/>
          <p:cNvSpPr/>
          <p:nvPr/>
        </p:nvSpPr>
        <p:spPr>
          <a:xfrm>
            <a:off x="8241030" y="2409825"/>
            <a:ext cx="1408430" cy="76200"/>
          </a:xfrm>
          <a:prstGeom prst="rect">
            <a:avLst/>
          </a:prstGeom>
          <a:solidFill>
            <a:srgbClr val="E6B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32775" y="2538095"/>
            <a:ext cx="1424305" cy="226060"/>
          </a:xfrm>
          <a:prstGeom prst="rect">
            <a:avLst/>
          </a:prstGeom>
          <a:noFill/>
        </p:spPr>
        <p:txBody>
          <a:bodyPr wrap="none" lIns="18288" tIns="18288" rIns="18288" bIns="18288">
            <a:noAutofit/>
          </a:bodyPr>
          <a:lstStyle/>
          <a:p>
            <a:pPr algn="ctr"/>
            <a:r>
              <a:rPr sz="1200" b="0">
                <a:solidFill>
                  <a:srgbClr val="0B2034"/>
                </a:solidFill>
                <a:latin typeface="Aptos"/>
              </a:rPr>
              <a:t>Agent: </a:t>
            </a:r>
            <a:r>
              <a:rPr sz="1200" b="1">
                <a:solidFill>
                  <a:srgbClr val="0B2034"/>
                </a:solidFill>
                <a:latin typeface="Aptos"/>
              </a:rPr>
              <a:t>Item Analyst</a:t>
            </a:r>
            <a:endParaRPr sz="1200" b="1">
              <a:solidFill>
                <a:srgbClr val="0B2034"/>
              </a:solidFill>
              <a:latin typeface="Aptos"/>
            </a:endParaRPr>
          </a:p>
        </p:txBody>
      </p:sp>
      <p:sp>
        <p:nvSpPr>
          <p:cNvPr id="47" name="TextBox 46"/>
          <p:cNvSpPr txBox="1"/>
          <p:nvPr/>
        </p:nvSpPr>
        <p:spPr>
          <a:xfrm>
            <a:off x="8234680" y="2812415"/>
            <a:ext cx="1420495" cy="226060"/>
          </a:xfrm>
          <a:prstGeom prst="rect">
            <a:avLst/>
          </a:prstGeom>
          <a:noFill/>
        </p:spPr>
        <p:txBody>
          <a:bodyPr wrap="none" lIns="18288" tIns="18288" rIns="18288" bIns="18288">
            <a:noAutofit/>
          </a:bodyPr>
          <a:lstStyle/>
          <a:p>
            <a:pPr algn="ctr"/>
            <a:r>
              <a:rPr sz="1200" b="0">
                <a:solidFill>
                  <a:srgbClr val="0B2034"/>
                </a:solidFill>
                <a:latin typeface="Aptos"/>
              </a:rPr>
              <a:t>safe facts + anchors</a:t>
            </a:r>
            <a:endParaRPr sz="1200" b="0">
              <a:solidFill>
                <a:srgbClr val="0B2034"/>
              </a:solidFill>
              <a:latin typeface="Aptos"/>
            </a:endParaRPr>
          </a:p>
        </p:txBody>
      </p:sp>
      <p:sp>
        <p:nvSpPr>
          <p:cNvPr id="48" name="Rounded Rectangle 47"/>
          <p:cNvSpPr/>
          <p:nvPr/>
        </p:nvSpPr>
        <p:spPr>
          <a:xfrm>
            <a:off x="8204200" y="3311525"/>
            <a:ext cx="1481455" cy="273685"/>
          </a:xfrm>
          <a:prstGeom prst="roundRect">
            <a:avLst/>
          </a:prstGeom>
          <a:solidFill>
            <a:srgbClr val="66BE91"/>
          </a:solidFill>
          <a:ln>
            <a:noFill/>
          </a:ln>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810" b="1">
                <a:solidFill>
                  <a:srgbClr val="FFFFFF"/>
                </a:solidFill>
                <a:latin typeface="Aptos"/>
              </a:rPr>
              <a:t>GROUNDED CONTENT</a:t>
            </a:r>
            <a:endParaRPr sz="810" b="1">
              <a:solidFill>
                <a:srgbClr val="FFFFFF"/>
              </a:solidFill>
              <a:latin typeface="Aptos"/>
            </a:endParaRPr>
          </a:p>
        </p:txBody>
      </p:sp>
      <p:sp>
        <p:nvSpPr>
          <p:cNvPr id="49" name="Right Triangle 48"/>
          <p:cNvSpPr/>
          <p:nvPr/>
        </p:nvSpPr>
        <p:spPr>
          <a:xfrm>
            <a:off x="9868535" y="2277110"/>
            <a:ext cx="146050" cy="235585"/>
          </a:xfrm>
          <a:prstGeom prst="rtTriangle">
            <a:avLst/>
          </a:prstGeom>
          <a:solidFill>
            <a:srgbClr val="2D7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996805" y="1325880"/>
            <a:ext cx="1919605" cy="2195830"/>
          </a:xfrm>
          <a:prstGeom prst="roundRect">
            <a:avLst/>
          </a:prstGeom>
          <a:solidFill>
            <a:srgbClr val="E8FAF2"/>
          </a:solidFill>
          <a:ln w="26670">
            <a:solidFill>
              <a:srgbClr val="66BE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106025" y="1435735"/>
            <a:ext cx="311150" cy="320675"/>
          </a:xfrm>
          <a:prstGeom prst="ellipse">
            <a:avLst/>
          </a:prstGeom>
          <a:solidFill>
            <a:srgbClr val="66B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5</a:t>
            </a:r>
            <a:endParaRPr sz="1200" b="1">
              <a:solidFill>
                <a:srgbClr val="FFFFFF"/>
              </a:solidFill>
              <a:latin typeface="Aptos"/>
            </a:endParaRPr>
          </a:p>
        </p:txBody>
      </p:sp>
      <p:sp>
        <p:nvSpPr>
          <p:cNvPr id="52" name="TextBox 51"/>
          <p:cNvSpPr txBox="1"/>
          <p:nvPr/>
        </p:nvSpPr>
        <p:spPr>
          <a:xfrm>
            <a:off x="10222230" y="1828800"/>
            <a:ext cx="1424305" cy="289560"/>
          </a:xfrm>
          <a:prstGeom prst="rect">
            <a:avLst/>
          </a:prstGeom>
          <a:noFill/>
        </p:spPr>
        <p:txBody>
          <a:bodyPr wrap="none" lIns="18288" tIns="18288" rIns="18288" bIns="18288">
            <a:noAutofit/>
          </a:bodyPr>
          <a:lstStyle/>
          <a:p>
            <a:pPr algn="ctr"/>
            <a:r>
              <a:rPr sz="1600" b="1">
                <a:solidFill>
                  <a:srgbClr val="08243F"/>
                </a:solidFill>
                <a:latin typeface="Aptos"/>
              </a:rPr>
              <a:t>Predict review</a:t>
            </a:r>
            <a:endParaRPr sz="1600" b="1">
              <a:solidFill>
                <a:srgbClr val="08243F"/>
              </a:solidFill>
              <a:latin typeface="Aptos"/>
            </a:endParaRPr>
          </a:p>
        </p:txBody>
      </p:sp>
      <p:sp>
        <p:nvSpPr>
          <p:cNvPr id="53" name="TextBox 52"/>
          <p:cNvSpPr txBox="1"/>
          <p:nvPr/>
        </p:nvSpPr>
        <p:spPr>
          <a:xfrm>
            <a:off x="10135870" y="2158365"/>
            <a:ext cx="1495425" cy="197485"/>
          </a:xfrm>
          <a:prstGeom prst="rect">
            <a:avLst/>
          </a:prstGeom>
          <a:noFill/>
        </p:spPr>
        <p:txBody>
          <a:bodyPr wrap="none" lIns="18288" tIns="18288" rIns="18288" bIns="18288">
            <a:noAutofit/>
          </a:bodyPr>
          <a:lstStyle/>
          <a:p>
            <a:pPr algn="ctr"/>
            <a:r>
              <a:rPr sz="1020" b="0">
                <a:solidFill>
                  <a:srgbClr val="486075"/>
                </a:solidFill>
                <a:latin typeface="Aptos"/>
              </a:rPr>
              <a:t>copy rating + write JSON</a:t>
            </a:r>
            <a:endParaRPr sz="1020" b="0">
              <a:solidFill>
                <a:srgbClr val="486075"/>
              </a:solidFill>
              <a:latin typeface="Aptos"/>
            </a:endParaRPr>
          </a:p>
        </p:txBody>
      </p:sp>
      <p:sp>
        <p:nvSpPr>
          <p:cNvPr id="54" name="Rectangle 53"/>
          <p:cNvSpPr/>
          <p:nvPr/>
        </p:nvSpPr>
        <p:spPr>
          <a:xfrm>
            <a:off x="10179685" y="2409825"/>
            <a:ext cx="1408430" cy="76200"/>
          </a:xfrm>
          <a:prstGeom prst="rect">
            <a:avLst/>
          </a:prstGeom>
          <a:solidFill>
            <a:srgbClr val="66B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060305" y="2538095"/>
            <a:ext cx="1791335" cy="226060"/>
          </a:xfrm>
          <a:prstGeom prst="rect">
            <a:avLst/>
          </a:prstGeom>
          <a:noFill/>
        </p:spPr>
        <p:txBody>
          <a:bodyPr wrap="none" lIns="18288" tIns="18288" rIns="18288" bIns="18288">
            <a:noAutofit/>
          </a:bodyPr>
          <a:lstStyle/>
          <a:p>
            <a:pPr algn="ctr"/>
            <a:r>
              <a:rPr sz="1200" b="0">
                <a:solidFill>
                  <a:srgbClr val="0B2034"/>
                </a:solidFill>
                <a:latin typeface="Aptos"/>
              </a:rPr>
              <a:t>Agent: </a:t>
            </a:r>
            <a:r>
              <a:rPr sz="1200" b="1">
                <a:solidFill>
                  <a:srgbClr val="0B2034"/>
                </a:solidFill>
                <a:latin typeface="Aptos"/>
              </a:rPr>
              <a:t>Review Simulator</a:t>
            </a:r>
            <a:endParaRPr sz="1200" b="1">
              <a:solidFill>
                <a:srgbClr val="0B2034"/>
              </a:solidFill>
              <a:latin typeface="Aptos"/>
            </a:endParaRPr>
          </a:p>
        </p:txBody>
      </p:sp>
      <p:sp>
        <p:nvSpPr>
          <p:cNvPr id="56" name="TextBox 55"/>
          <p:cNvSpPr txBox="1"/>
          <p:nvPr/>
        </p:nvSpPr>
        <p:spPr>
          <a:xfrm>
            <a:off x="10081260" y="2812415"/>
            <a:ext cx="1604010" cy="226060"/>
          </a:xfrm>
          <a:prstGeom prst="rect">
            <a:avLst/>
          </a:prstGeom>
          <a:noFill/>
        </p:spPr>
        <p:txBody>
          <a:bodyPr wrap="none" lIns="18288" tIns="18288" rIns="18288" bIns="18288">
            <a:noAutofit/>
          </a:bodyPr>
          <a:lstStyle/>
          <a:p>
            <a:pPr algn="ctr"/>
            <a:r>
              <a:rPr sz="1200" b="0">
                <a:solidFill>
                  <a:srgbClr val="0B2034"/>
                </a:solidFill>
                <a:latin typeface="Aptos"/>
              </a:rPr>
              <a:t>stars = predicted_stars</a:t>
            </a:r>
            <a:endParaRPr sz="1200" b="0">
              <a:solidFill>
                <a:srgbClr val="0B2034"/>
              </a:solidFill>
              <a:latin typeface="Aptos"/>
            </a:endParaRPr>
          </a:p>
        </p:txBody>
      </p:sp>
      <p:sp>
        <p:nvSpPr>
          <p:cNvPr id="57" name="Rounded Rectangle 56"/>
          <p:cNvSpPr/>
          <p:nvPr/>
        </p:nvSpPr>
        <p:spPr>
          <a:xfrm>
            <a:off x="10196830" y="3311525"/>
            <a:ext cx="1481455" cy="273685"/>
          </a:xfrm>
          <a:prstGeom prst="roundRect">
            <a:avLst/>
          </a:prstGeom>
          <a:solidFill>
            <a:srgbClr val="D84A3B"/>
          </a:solidFill>
          <a:ln>
            <a:noFill/>
          </a:ln>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810" b="1">
                <a:solidFill>
                  <a:srgbClr val="FFFFFF"/>
                </a:solidFill>
                <a:latin typeface="Aptos"/>
              </a:rPr>
              <a:t>NO RECALCULATION</a:t>
            </a:r>
            <a:endParaRPr sz="810" b="1">
              <a:solidFill>
                <a:srgbClr val="FFFFFF"/>
              </a:solidFill>
              <a:latin typeface="Aptos"/>
            </a:endParaRPr>
          </a:p>
        </p:txBody>
      </p:sp>
      <p:sp>
        <p:nvSpPr>
          <p:cNvPr id="58" name="Rounded Rectangle 57"/>
          <p:cNvSpPr/>
          <p:nvPr/>
        </p:nvSpPr>
        <p:spPr>
          <a:xfrm>
            <a:off x="406083" y="4001769"/>
            <a:ext cx="3520440" cy="1188720"/>
          </a:xfrm>
          <a:prstGeom prst="roundRect">
            <a:avLst/>
          </a:prstGeom>
          <a:solidFill>
            <a:srgbClr val="F9FBFD"/>
          </a:solidFill>
          <a:ln w="22860">
            <a:solidFill>
              <a:srgbClr val="B9C9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628650" y="4157217"/>
            <a:ext cx="3075305" cy="312420"/>
          </a:xfrm>
          <a:prstGeom prst="rect">
            <a:avLst/>
          </a:prstGeom>
          <a:noFill/>
        </p:spPr>
        <p:txBody>
          <a:bodyPr wrap="none" lIns="18288" tIns="18288" rIns="18288" bIns="18288">
            <a:spAutoFit/>
          </a:bodyPr>
          <a:lstStyle/>
          <a:p>
            <a:pPr algn="ctr"/>
            <a:r>
              <a:rPr b="1">
                <a:solidFill>
                  <a:srgbClr val="08243F"/>
                </a:solidFill>
                <a:latin typeface="Aptos"/>
              </a:rPr>
              <a:t>prediction_context contains</a:t>
            </a:r>
            <a:endParaRPr b="1">
              <a:solidFill>
                <a:srgbClr val="08243F"/>
              </a:solidFill>
              <a:latin typeface="Aptos"/>
            </a:endParaRPr>
          </a:p>
        </p:txBody>
      </p:sp>
      <p:sp>
        <p:nvSpPr>
          <p:cNvPr id="60" name="TextBox 59"/>
          <p:cNvSpPr txBox="1"/>
          <p:nvPr/>
        </p:nvSpPr>
        <p:spPr>
          <a:xfrm>
            <a:off x="668846" y="4486402"/>
            <a:ext cx="2985770" cy="466090"/>
          </a:xfrm>
          <a:prstGeom prst="rect">
            <a:avLst/>
          </a:prstGeom>
          <a:noFill/>
        </p:spPr>
        <p:txBody>
          <a:bodyPr wrap="none" lIns="18288" tIns="18288" rIns="18288" bIns="18288">
            <a:spAutoFit/>
          </a:bodyPr>
          <a:lstStyle/>
          <a:p>
            <a:pPr algn="ctr"/>
            <a:r>
              <a:rPr sz="1400" b="0">
                <a:solidFill>
                  <a:srgbClr val="0B2034"/>
                </a:solidFill>
                <a:latin typeface="Aptos"/>
              </a:rPr>
              <a:t>case • user • item • review_policy</a:t>
            </a:r>
            <a:br>
              <a:rPr sz="1400" b="0">
                <a:solidFill>
                  <a:srgbClr val="0B2034"/>
                </a:solidFill>
                <a:latin typeface="Aptos"/>
              </a:rPr>
            </a:br>
            <a:r>
              <a:rPr sz="1400" b="0">
                <a:solidFill>
                  <a:srgbClr val="0B2034"/>
                </a:solidFill>
                <a:latin typeface="Aptos"/>
              </a:rPr>
              <a:t>predicted_stars • rating_weight_trace</a:t>
            </a:r>
            <a:endParaRPr sz="1400" b="0">
              <a:solidFill>
                <a:srgbClr val="0B2034"/>
              </a:solidFill>
              <a:latin typeface="Aptos"/>
            </a:endParaRPr>
          </a:p>
        </p:txBody>
      </p:sp>
      <p:sp>
        <p:nvSpPr>
          <p:cNvPr id="61" name="Rounded Rectangle 60"/>
          <p:cNvSpPr/>
          <p:nvPr/>
        </p:nvSpPr>
        <p:spPr>
          <a:xfrm>
            <a:off x="4155123" y="4001769"/>
            <a:ext cx="3520440" cy="1188720"/>
          </a:xfrm>
          <a:prstGeom prst="roundRect">
            <a:avLst/>
          </a:prstGeom>
          <a:solidFill>
            <a:srgbClr val="FFF9E0"/>
          </a:solidFill>
          <a:ln w="22860">
            <a:solidFill>
              <a:srgbClr val="E6BE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2" name="TextBox 61"/>
          <p:cNvSpPr txBox="1"/>
          <p:nvPr/>
        </p:nvSpPr>
        <p:spPr>
          <a:xfrm>
            <a:off x="4502468" y="4157217"/>
            <a:ext cx="2825750" cy="312420"/>
          </a:xfrm>
          <a:prstGeom prst="rect">
            <a:avLst/>
          </a:prstGeom>
          <a:noFill/>
        </p:spPr>
        <p:txBody>
          <a:bodyPr wrap="none" lIns="18288" tIns="18288" rIns="18288" bIns="18288">
            <a:spAutoFit/>
          </a:bodyPr>
          <a:lstStyle/>
          <a:p>
            <a:pPr algn="ctr"/>
            <a:r>
              <a:rPr b="1">
                <a:solidFill>
                  <a:srgbClr val="08243F"/>
                </a:solidFill>
                <a:latin typeface="Aptos"/>
              </a:rPr>
              <a:t>analysis tasks do not rate</a:t>
            </a:r>
            <a:endParaRPr b="1">
              <a:solidFill>
                <a:srgbClr val="08243F"/>
              </a:solidFill>
              <a:latin typeface="Aptos"/>
            </a:endParaRPr>
          </a:p>
        </p:txBody>
      </p:sp>
      <p:sp>
        <p:nvSpPr>
          <p:cNvPr id="63" name="TextBox 62"/>
          <p:cNvSpPr txBox="1"/>
          <p:nvPr/>
        </p:nvSpPr>
        <p:spPr>
          <a:xfrm>
            <a:off x="4426903" y="4486402"/>
            <a:ext cx="2976880" cy="466090"/>
          </a:xfrm>
          <a:prstGeom prst="rect">
            <a:avLst/>
          </a:prstGeom>
          <a:noFill/>
        </p:spPr>
        <p:txBody>
          <a:bodyPr wrap="none" lIns="18288" tIns="18288" rIns="18288" bIns="18288">
            <a:spAutoFit/>
          </a:bodyPr>
          <a:lstStyle/>
          <a:p>
            <a:pPr algn="ctr"/>
            <a:r>
              <a:rPr sz="1400" b="0">
                <a:solidFill>
                  <a:srgbClr val="0B2034"/>
                </a:solidFill>
                <a:latin typeface="Aptos"/>
              </a:rPr>
              <a:t>User task controls voice.</a:t>
            </a:r>
            <a:br>
              <a:rPr sz="1400" b="0">
                <a:solidFill>
                  <a:srgbClr val="0B2034"/>
                </a:solidFill>
                <a:latin typeface="Aptos"/>
              </a:rPr>
            </a:br>
            <a:r>
              <a:rPr sz="1400" b="0">
                <a:solidFill>
                  <a:srgbClr val="0B2034"/>
                </a:solidFill>
                <a:latin typeface="Aptos"/>
              </a:rPr>
              <a:t>Item task controls grounded content.</a:t>
            </a:r>
            <a:endParaRPr sz="1400" b="0">
              <a:solidFill>
                <a:srgbClr val="0B2034"/>
              </a:solidFill>
              <a:latin typeface="Aptos"/>
            </a:endParaRPr>
          </a:p>
        </p:txBody>
      </p:sp>
      <p:sp>
        <p:nvSpPr>
          <p:cNvPr id="64" name="Rounded Rectangle 63"/>
          <p:cNvSpPr/>
          <p:nvPr/>
        </p:nvSpPr>
        <p:spPr>
          <a:xfrm>
            <a:off x="7904163" y="4001769"/>
            <a:ext cx="3520440" cy="1188720"/>
          </a:xfrm>
          <a:prstGeom prst="roundRect">
            <a:avLst/>
          </a:prstGeom>
          <a:solidFill>
            <a:srgbClr val="E8FAF2"/>
          </a:solidFill>
          <a:ln w="22860">
            <a:solidFill>
              <a:srgbClr val="66BE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8527098" y="4157217"/>
            <a:ext cx="2274570" cy="312420"/>
          </a:xfrm>
          <a:prstGeom prst="rect">
            <a:avLst/>
          </a:prstGeom>
          <a:noFill/>
        </p:spPr>
        <p:txBody>
          <a:bodyPr wrap="none" lIns="18288" tIns="18288" rIns="18288" bIns="18288">
            <a:spAutoFit/>
          </a:bodyPr>
          <a:lstStyle/>
          <a:p>
            <a:pPr algn="ctr"/>
            <a:r>
              <a:rPr b="1">
                <a:solidFill>
                  <a:srgbClr val="08243F"/>
                </a:solidFill>
                <a:latin typeface="Aptos"/>
              </a:rPr>
              <a:t>final task only writes</a:t>
            </a:r>
            <a:endParaRPr b="1">
              <a:solidFill>
                <a:srgbClr val="08243F"/>
              </a:solidFill>
              <a:latin typeface="Aptos"/>
            </a:endParaRPr>
          </a:p>
        </p:txBody>
      </p:sp>
      <p:sp>
        <p:nvSpPr>
          <p:cNvPr id="66" name="TextBox 65"/>
          <p:cNvSpPr txBox="1"/>
          <p:nvPr/>
        </p:nvSpPr>
        <p:spPr>
          <a:xfrm>
            <a:off x="8503603" y="4486402"/>
            <a:ext cx="2321560" cy="466090"/>
          </a:xfrm>
          <a:prstGeom prst="rect">
            <a:avLst/>
          </a:prstGeom>
          <a:noFill/>
        </p:spPr>
        <p:txBody>
          <a:bodyPr wrap="none" lIns="18288" tIns="18288" rIns="18288" bIns="18288">
            <a:spAutoFit/>
          </a:bodyPr>
          <a:lstStyle/>
          <a:p>
            <a:pPr algn="ctr"/>
            <a:r>
              <a:rPr sz="1400" b="0">
                <a:solidFill>
                  <a:srgbClr val="0B2034"/>
                </a:solidFill>
                <a:latin typeface="Aptos"/>
              </a:rPr>
              <a:t>copy predicted_stars exactly</a:t>
            </a:r>
            <a:br>
              <a:rPr sz="1400" b="0">
                <a:solidFill>
                  <a:srgbClr val="0B2034"/>
                </a:solidFill>
                <a:latin typeface="Aptos"/>
              </a:rPr>
            </a:br>
            <a:r>
              <a:rPr sz="1400" b="0">
                <a:solidFill>
                  <a:srgbClr val="0B2034"/>
                </a:solidFill>
                <a:latin typeface="Aptos"/>
              </a:rPr>
              <a:t>return raw JSON only</a:t>
            </a:r>
            <a:endParaRPr sz="1400" b="0">
              <a:solidFill>
                <a:srgbClr val="0B2034"/>
              </a:solidFill>
              <a:latin typeface="Aptos"/>
            </a:endParaRPr>
          </a:p>
        </p:txBody>
      </p:sp>
      <p:sp>
        <p:nvSpPr>
          <p:cNvPr id="2" name="Shape 3"/>
          <p:cNvSpPr/>
          <p:nvPr/>
        </p:nvSpPr>
        <p:spPr>
          <a:xfrm>
            <a:off x="411480" y="628650"/>
            <a:ext cx="11292840" cy="0"/>
          </a:xfrm>
          <a:prstGeom prst="line">
            <a:avLst/>
          </a:prstGeom>
          <a:noFill/>
          <a:ln w="15240">
            <a:solidFill>
              <a:srgbClr val="CFDDEA"/>
            </a:solidFill>
            <a:prstDash val="solid"/>
          </a:ln>
        </p:spPr>
      </p:sp>
      <p:sp>
        <p:nvSpPr>
          <p:cNvPr id="4"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b="1" dirty="0">
                <a:solidFill>
                  <a:srgbClr val="64748B"/>
                </a:solidFill>
                <a:latin typeface="Aptos" pitchFamily="34" charset="0"/>
                <a:ea typeface="Aptos" pitchFamily="34" charset="-122"/>
                <a:cs typeface="Aptos" pitchFamily="34" charset="-120"/>
              </a:rPr>
              <a:t>01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10185"/>
            <a:ext cx="3632200" cy="310515"/>
          </a:xfrm>
          <a:prstGeom prst="rect">
            <a:avLst/>
          </a:prstGeom>
          <a:noFill/>
        </p:spPr>
        <p:txBody>
          <a:bodyPr wrap="square" lIns="0" tIns="0" rIns="0" bIns="0" rtlCol="0" anchor="ctr">
            <a:noAutofit/>
          </a:bodyPr>
          <a:lstStyle/>
          <a:p>
            <a:pPr marL="0" indent="0">
              <a:buNone/>
            </a:pPr>
            <a:r>
              <a:rPr lang="en-US" sz="2000" b="1" dirty="0">
                <a:solidFill>
                  <a:srgbClr val="2563EB"/>
                </a:solidFill>
                <a:latin typeface="Arial" panose="020B0704020202020204" pitchFamily="34" charset="0"/>
                <a:ea typeface="Arial" panose="020B0704020202020204" pitchFamily="34" charset="-122"/>
                <a:cs typeface="Arial" panose="020B0704020202020204" pitchFamily="34" charset="-120"/>
              </a:rPr>
              <a:t>DATASET</a:t>
            </a:r>
            <a:endParaRPr lang="vi-VN" altLang="en-US" b="1" dirty="0">
              <a:solidFill>
                <a:srgbClr val="2563EB"/>
              </a:solidFill>
              <a:latin typeface="Arial" panose="020B0704020202020204" pitchFamily="34" charset="0"/>
              <a:ea typeface="Arial" panose="020B0704020202020204" pitchFamily="34" charset="-122"/>
              <a:cs typeface="Arial" panose="020B0704020202020204" pitchFamily="34" charset="-120"/>
            </a:endParaRPr>
          </a:p>
        </p:txBody>
      </p:sp>
      <p:sp>
        <p:nvSpPr>
          <p:cNvPr id="5" name="Shape 3"/>
          <p:cNvSpPr/>
          <p:nvPr/>
        </p:nvSpPr>
        <p:spPr>
          <a:xfrm>
            <a:off x="411480" y="628650"/>
            <a:ext cx="11292840" cy="0"/>
          </a:xfrm>
          <a:prstGeom prst="line">
            <a:avLst/>
          </a:prstGeom>
          <a:noFill/>
          <a:ln w="15240">
            <a:solidFill>
              <a:srgbClr val="CFDDEA"/>
            </a:solidFill>
            <a:prstDash val="solid"/>
          </a:ln>
        </p:spPr>
      </p:sp>
      <p:sp>
        <p:nvSpPr>
          <p:cNvPr id="6" name="Shape 4"/>
          <p:cNvSpPr/>
          <p:nvPr>
            <p:custDataLst>
              <p:tags r:id="rId1"/>
            </p:custDataLst>
          </p:nvPr>
        </p:nvSpPr>
        <p:spPr>
          <a:xfrm>
            <a:off x="464820" y="1018540"/>
            <a:ext cx="3632835" cy="2993390"/>
          </a:xfrm>
          <a:prstGeom prst="roundRect">
            <a:avLst>
              <a:gd name="adj" fmla="val 4681"/>
            </a:avLst>
          </a:prstGeom>
          <a:solidFill>
            <a:srgbClr val="EAF4FF"/>
          </a:solidFill>
          <a:ln w="16510">
            <a:solidFill>
              <a:srgbClr val="CFDDEA"/>
            </a:solidFill>
            <a:prstDash val="solid"/>
          </a:ln>
        </p:spPr>
      </p:sp>
      <p:sp>
        <p:nvSpPr>
          <p:cNvPr id="7" name="Shape 5"/>
          <p:cNvSpPr/>
          <p:nvPr>
            <p:custDataLst>
              <p:tags r:id="rId2"/>
            </p:custDataLst>
          </p:nvPr>
        </p:nvSpPr>
        <p:spPr>
          <a:xfrm>
            <a:off x="610870" y="1183005"/>
            <a:ext cx="96520" cy="1875790"/>
          </a:xfrm>
          <a:prstGeom prst="roundRect">
            <a:avLst>
              <a:gd name="adj" fmla="val 50000"/>
            </a:avLst>
          </a:prstGeom>
          <a:solidFill>
            <a:srgbClr val="2563EB"/>
          </a:solidFill>
          <a:ln w="12700">
            <a:solidFill>
              <a:srgbClr val="2563EB">
                <a:alpha val="0"/>
              </a:srgbClr>
            </a:solidFill>
            <a:prstDash val="solid"/>
          </a:ln>
        </p:spPr>
      </p:sp>
      <p:sp>
        <p:nvSpPr>
          <p:cNvPr id="8" name="Text 6"/>
          <p:cNvSpPr/>
          <p:nvPr>
            <p:custDataLst>
              <p:tags r:id="rId3"/>
            </p:custDataLst>
          </p:nvPr>
        </p:nvSpPr>
        <p:spPr>
          <a:xfrm>
            <a:off x="848995" y="1238250"/>
            <a:ext cx="3099435" cy="282575"/>
          </a:xfrm>
          <a:prstGeom prst="rect">
            <a:avLst/>
          </a:prstGeom>
          <a:noFill/>
        </p:spPr>
        <p:txBody>
          <a:bodyPr wrap="square" lIns="0" tIns="0" rIns="0" bIns="0" rtlCol="0" anchor="ctr">
            <a:normAutofit/>
          </a:bodyPr>
          <a:lstStyle/>
          <a:p>
            <a:pPr marL="0" indent="0">
              <a:buNone/>
            </a:pPr>
            <a:r>
              <a:rPr lang="en-US" sz="1600" b="1" dirty="0">
                <a:solidFill>
                  <a:srgbClr val="2563EB"/>
                </a:solidFill>
                <a:latin typeface="Arial" panose="020B0704020202020204" pitchFamily="34" charset="0"/>
                <a:ea typeface="Arial" panose="020B0704020202020204" pitchFamily="34" charset="-122"/>
                <a:cs typeface="Arial" panose="020B0704020202020204" pitchFamily="34" charset="-120"/>
              </a:rPr>
              <a:t>USER.JSON</a:t>
            </a:r>
            <a:endParaRPr lang="en-US" sz="1600" b="1" dirty="0">
              <a:solidFill>
                <a:srgbClr val="2563EB"/>
              </a:solidFill>
              <a:latin typeface="Arial" panose="020B0704020202020204" pitchFamily="34" charset="0"/>
              <a:ea typeface="Arial" panose="020B0704020202020204" pitchFamily="34" charset="-122"/>
              <a:cs typeface="Arial" panose="020B0704020202020204" pitchFamily="34" charset="-120"/>
            </a:endParaRPr>
          </a:p>
        </p:txBody>
      </p:sp>
      <p:sp>
        <p:nvSpPr>
          <p:cNvPr id="9" name="Text 7"/>
          <p:cNvSpPr/>
          <p:nvPr>
            <p:custDataLst>
              <p:tags r:id="rId4"/>
            </p:custDataLst>
          </p:nvPr>
        </p:nvSpPr>
        <p:spPr>
          <a:xfrm>
            <a:off x="848995" y="1583055"/>
            <a:ext cx="1404620" cy="490220"/>
          </a:xfrm>
          <a:prstGeom prst="rect">
            <a:avLst/>
          </a:prstGeom>
          <a:noFill/>
        </p:spPr>
        <p:txBody>
          <a:bodyPr wrap="square" lIns="0" tIns="0" rIns="0" bIns="0" rtlCol="0" anchor="ctr">
            <a:noAutofit/>
          </a:bodyPr>
          <a:lstStyle/>
          <a:p>
            <a:pPr marL="0" indent="0">
              <a:buNone/>
            </a:pPr>
            <a:r>
              <a:rPr lang="en-US" sz="3200" b="1" dirty="0">
                <a:solidFill>
                  <a:srgbClr val="08233F"/>
                </a:solidFill>
                <a:latin typeface="Arial" panose="020B0704020202020204" pitchFamily="34" charset="0"/>
                <a:ea typeface="Arial" panose="020B0704020202020204" pitchFamily="34" charset="-122"/>
                <a:cs typeface="Arial" panose="020B0704020202020204" pitchFamily="34" charset="-120"/>
              </a:rPr>
              <a:t>38</a:t>
            </a:r>
            <a:endParaRPr lang="en-US" sz="3200" b="1" dirty="0">
              <a:solidFill>
                <a:srgbClr val="08233F"/>
              </a:solidFill>
              <a:latin typeface="Arial" panose="020B0704020202020204" pitchFamily="34" charset="0"/>
              <a:ea typeface="Arial" panose="020B0704020202020204" pitchFamily="34" charset="-122"/>
              <a:cs typeface="Arial" panose="020B0704020202020204" pitchFamily="34" charset="-120"/>
            </a:endParaRPr>
          </a:p>
        </p:txBody>
      </p:sp>
      <p:sp>
        <p:nvSpPr>
          <p:cNvPr id="10" name="Text 8"/>
          <p:cNvSpPr/>
          <p:nvPr>
            <p:custDataLst>
              <p:tags r:id="rId5"/>
            </p:custDataLst>
          </p:nvPr>
        </p:nvSpPr>
        <p:spPr>
          <a:xfrm>
            <a:off x="2220595" y="1738630"/>
            <a:ext cx="1598295" cy="235585"/>
          </a:xfrm>
          <a:prstGeom prst="rect">
            <a:avLst/>
          </a:prstGeom>
          <a:noFill/>
        </p:spPr>
        <p:txBody>
          <a:bodyPr wrap="square" lIns="0" tIns="0" rIns="0" bIns="0" rtlCol="0" anchor="ctr">
            <a:noAutofit/>
          </a:bodyPr>
          <a:lstStyle/>
          <a:p>
            <a:pPr marL="0" indent="0">
              <a:buNone/>
            </a:pPr>
            <a:r>
              <a:rPr lang="en-US" sz="1400" b="1" dirty="0">
                <a:solidFill>
                  <a:srgbClr val="5B708B"/>
                </a:solidFill>
                <a:latin typeface="Arial" panose="020B0704020202020204" pitchFamily="34" charset="0"/>
                <a:ea typeface="Arial" panose="020B0704020202020204" pitchFamily="34" charset="-122"/>
                <a:cs typeface="Arial" panose="020B0704020202020204" pitchFamily="34" charset="-120"/>
              </a:rPr>
              <a:t>rows</a:t>
            </a:r>
            <a:endParaRPr lang="en-US" sz="1400" b="1" dirty="0">
              <a:solidFill>
                <a:srgbClr val="5B708B"/>
              </a:solidFill>
              <a:latin typeface="Arial" panose="020B0704020202020204" pitchFamily="34" charset="0"/>
              <a:ea typeface="Arial" panose="020B0704020202020204" pitchFamily="34" charset="-122"/>
              <a:cs typeface="Arial" panose="020B0704020202020204" pitchFamily="34" charset="-120"/>
            </a:endParaRPr>
          </a:p>
        </p:txBody>
      </p:sp>
      <p:sp>
        <p:nvSpPr>
          <p:cNvPr id="11" name="Text 9"/>
          <p:cNvSpPr/>
          <p:nvPr>
            <p:custDataLst>
              <p:tags r:id="rId6"/>
            </p:custDataLst>
          </p:nvPr>
        </p:nvSpPr>
        <p:spPr>
          <a:xfrm>
            <a:off x="848995" y="2404110"/>
            <a:ext cx="3051175" cy="753745"/>
          </a:xfrm>
          <a:prstGeom prst="rect">
            <a:avLst/>
          </a:prstGeom>
          <a:noFill/>
        </p:spPr>
        <p:txBody>
          <a:bodyPr wrap="square" lIns="0" tIns="0" rIns="0" bIns="0" rtlCol="0" anchor="ctr"/>
          <a:lstStyle/>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user_id</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average_stars</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review_count</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yelping_since / elite</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fans / useful / funny / cool</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p:txBody>
      </p:sp>
      <p:sp>
        <p:nvSpPr>
          <p:cNvPr id="12" name="Shape 10"/>
          <p:cNvSpPr/>
          <p:nvPr>
            <p:custDataLst>
              <p:tags r:id="rId7"/>
            </p:custDataLst>
          </p:nvPr>
        </p:nvSpPr>
        <p:spPr>
          <a:xfrm>
            <a:off x="4305300" y="1018540"/>
            <a:ext cx="3632835" cy="2976245"/>
          </a:xfrm>
          <a:prstGeom prst="roundRect">
            <a:avLst>
              <a:gd name="adj" fmla="val 4681"/>
            </a:avLst>
          </a:prstGeom>
          <a:solidFill>
            <a:srgbClr val="E9FAF2"/>
          </a:solidFill>
          <a:ln w="16510">
            <a:solidFill>
              <a:srgbClr val="CFDDEA"/>
            </a:solidFill>
            <a:prstDash val="solid"/>
          </a:ln>
        </p:spPr>
      </p:sp>
      <p:sp>
        <p:nvSpPr>
          <p:cNvPr id="13" name="Shape 11"/>
          <p:cNvSpPr/>
          <p:nvPr>
            <p:custDataLst>
              <p:tags r:id="rId8"/>
            </p:custDataLst>
          </p:nvPr>
        </p:nvSpPr>
        <p:spPr>
          <a:xfrm>
            <a:off x="4451350" y="1183005"/>
            <a:ext cx="96520" cy="1875790"/>
          </a:xfrm>
          <a:prstGeom prst="roundRect">
            <a:avLst>
              <a:gd name="adj" fmla="val 50000"/>
            </a:avLst>
          </a:prstGeom>
          <a:solidFill>
            <a:srgbClr val="10B981"/>
          </a:solidFill>
          <a:ln w="12700">
            <a:solidFill>
              <a:srgbClr val="10B981">
                <a:alpha val="0"/>
              </a:srgbClr>
            </a:solidFill>
            <a:prstDash val="solid"/>
          </a:ln>
        </p:spPr>
      </p:sp>
      <p:sp>
        <p:nvSpPr>
          <p:cNvPr id="14" name="Text 12"/>
          <p:cNvSpPr/>
          <p:nvPr>
            <p:custDataLst>
              <p:tags r:id="rId9"/>
            </p:custDataLst>
          </p:nvPr>
        </p:nvSpPr>
        <p:spPr>
          <a:xfrm>
            <a:off x="4689475" y="1238250"/>
            <a:ext cx="3099435" cy="282575"/>
          </a:xfrm>
          <a:prstGeom prst="rect">
            <a:avLst/>
          </a:prstGeom>
          <a:noFill/>
        </p:spPr>
        <p:txBody>
          <a:bodyPr wrap="square" lIns="0" tIns="0" rIns="0" bIns="0" rtlCol="0" anchor="ctr">
            <a:normAutofit/>
          </a:bodyPr>
          <a:lstStyle/>
          <a:p>
            <a:pPr marL="0" indent="0">
              <a:buNone/>
            </a:pPr>
            <a:r>
              <a:rPr lang="en-US" sz="1600" b="1" dirty="0">
                <a:solidFill>
                  <a:srgbClr val="10B981"/>
                </a:solidFill>
                <a:latin typeface="Arial" panose="020B0704020202020204" pitchFamily="34" charset="0"/>
                <a:ea typeface="Arial" panose="020B0704020202020204" pitchFamily="34" charset="-122"/>
                <a:cs typeface="Arial" panose="020B0704020202020204" pitchFamily="34" charset="-120"/>
              </a:rPr>
              <a:t>ITEM.JSON</a:t>
            </a:r>
            <a:endParaRPr lang="en-US" sz="1600" b="1" dirty="0">
              <a:solidFill>
                <a:srgbClr val="10B981"/>
              </a:solidFill>
              <a:latin typeface="Arial" panose="020B0704020202020204" pitchFamily="34" charset="0"/>
              <a:ea typeface="Arial" panose="020B0704020202020204" pitchFamily="34" charset="-122"/>
              <a:cs typeface="Arial" panose="020B0704020202020204" pitchFamily="34" charset="-120"/>
            </a:endParaRPr>
          </a:p>
        </p:txBody>
      </p:sp>
      <p:sp>
        <p:nvSpPr>
          <p:cNvPr id="15" name="Text 13"/>
          <p:cNvSpPr/>
          <p:nvPr>
            <p:custDataLst>
              <p:tags r:id="rId10"/>
            </p:custDataLst>
          </p:nvPr>
        </p:nvSpPr>
        <p:spPr>
          <a:xfrm>
            <a:off x="4689475" y="1658620"/>
            <a:ext cx="1404620" cy="490220"/>
          </a:xfrm>
          <a:prstGeom prst="rect">
            <a:avLst/>
          </a:prstGeom>
          <a:noFill/>
        </p:spPr>
        <p:txBody>
          <a:bodyPr wrap="square" lIns="0" tIns="0" rIns="0" bIns="0" rtlCol="0" anchor="ctr">
            <a:noAutofit/>
          </a:bodyPr>
          <a:lstStyle/>
          <a:p>
            <a:pPr marL="0" indent="0">
              <a:buNone/>
            </a:pPr>
            <a:r>
              <a:rPr lang="en-US" sz="3200" b="1" dirty="0">
                <a:solidFill>
                  <a:srgbClr val="08233F"/>
                </a:solidFill>
                <a:latin typeface="Arial" panose="020B0704020202020204" pitchFamily="34" charset="0"/>
                <a:ea typeface="Arial" panose="020B0704020202020204" pitchFamily="34" charset="-122"/>
                <a:cs typeface="Arial" panose="020B0704020202020204" pitchFamily="34" charset="-120"/>
              </a:rPr>
              <a:t>432</a:t>
            </a:r>
            <a:endParaRPr lang="en-US" sz="3200" b="1" dirty="0">
              <a:solidFill>
                <a:srgbClr val="08233F"/>
              </a:solidFill>
              <a:latin typeface="Arial" panose="020B0704020202020204" pitchFamily="34" charset="0"/>
              <a:ea typeface="Arial" panose="020B0704020202020204" pitchFamily="34" charset="-122"/>
              <a:cs typeface="Arial" panose="020B0704020202020204" pitchFamily="34" charset="-120"/>
            </a:endParaRPr>
          </a:p>
        </p:txBody>
      </p:sp>
      <p:sp>
        <p:nvSpPr>
          <p:cNvPr id="16" name="Text 14"/>
          <p:cNvSpPr/>
          <p:nvPr>
            <p:custDataLst>
              <p:tags r:id="rId11"/>
            </p:custDataLst>
          </p:nvPr>
        </p:nvSpPr>
        <p:spPr>
          <a:xfrm>
            <a:off x="6061075" y="1814195"/>
            <a:ext cx="1598295" cy="235585"/>
          </a:xfrm>
          <a:prstGeom prst="rect">
            <a:avLst/>
          </a:prstGeom>
          <a:noFill/>
        </p:spPr>
        <p:txBody>
          <a:bodyPr wrap="square" lIns="0" tIns="0" rIns="0" bIns="0" rtlCol="0" anchor="ctr">
            <a:noAutofit/>
          </a:bodyPr>
          <a:lstStyle/>
          <a:p>
            <a:pPr marL="0" indent="0">
              <a:buNone/>
            </a:pPr>
            <a:r>
              <a:rPr lang="en-US" sz="1400" b="1" dirty="0">
                <a:solidFill>
                  <a:srgbClr val="5B708B"/>
                </a:solidFill>
                <a:latin typeface="Arial" panose="020B0704020202020204" pitchFamily="34" charset="0"/>
                <a:ea typeface="Arial" panose="020B0704020202020204" pitchFamily="34" charset="-122"/>
                <a:cs typeface="Arial" panose="020B0704020202020204" pitchFamily="34" charset="-120"/>
              </a:rPr>
              <a:t>rows</a:t>
            </a:r>
            <a:endParaRPr lang="en-US" sz="1400" b="1" dirty="0">
              <a:solidFill>
                <a:srgbClr val="5B708B"/>
              </a:solidFill>
              <a:latin typeface="Arial" panose="020B0704020202020204" pitchFamily="34" charset="0"/>
              <a:ea typeface="Arial" panose="020B0704020202020204" pitchFamily="34" charset="-122"/>
              <a:cs typeface="Arial" panose="020B0704020202020204" pitchFamily="34" charset="-120"/>
            </a:endParaRPr>
          </a:p>
        </p:txBody>
      </p:sp>
      <p:sp>
        <p:nvSpPr>
          <p:cNvPr id="17" name="Text 15"/>
          <p:cNvSpPr/>
          <p:nvPr>
            <p:custDataLst>
              <p:tags r:id="rId12"/>
            </p:custDataLst>
          </p:nvPr>
        </p:nvSpPr>
        <p:spPr>
          <a:xfrm>
            <a:off x="4689475" y="2641600"/>
            <a:ext cx="3051175" cy="753745"/>
          </a:xfrm>
          <a:prstGeom prst="rect">
            <a:avLst/>
          </a:prstGeom>
          <a:noFill/>
        </p:spPr>
        <p:txBody>
          <a:bodyPr wrap="square" lIns="0" tIns="0" rIns="0" bIns="0" rtlCol="0" anchor="ctr"/>
          <a:lstStyle/>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item_id / business_id</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stars</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review_count</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name / categories</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attributes</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city / state / is_open</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p:txBody>
      </p:sp>
      <p:sp>
        <p:nvSpPr>
          <p:cNvPr id="18" name="Shape 16"/>
          <p:cNvSpPr/>
          <p:nvPr>
            <p:custDataLst>
              <p:tags r:id="rId13"/>
            </p:custDataLst>
          </p:nvPr>
        </p:nvSpPr>
        <p:spPr>
          <a:xfrm>
            <a:off x="8145780" y="1018540"/>
            <a:ext cx="3632835" cy="2976245"/>
          </a:xfrm>
          <a:prstGeom prst="roundRect">
            <a:avLst>
              <a:gd name="adj" fmla="val 4681"/>
            </a:avLst>
          </a:prstGeom>
          <a:solidFill>
            <a:srgbClr val="FFF8E6"/>
          </a:solidFill>
          <a:ln w="16510">
            <a:solidFill>
              <a:srgbClr val="CFDDEA"/>
            </a:solidFill>
            <a:prstDash val="solid"/>
          </a:ln>
        </p:spPr>
      </p:sp>
      <p:sp>
        <p:nvSpPr>
          <p:cNvPr id="19" name="Shape 17"/>
          <p:cNvSpPr/>
          <p:nvPr>
            <p:custDataLst>
              <p:tags r:id="rId14"/>
            </p:custDataLst>
          </p:nvPr>
        </p:nvSpPr>
        <p:spPr>
          <a:xfrm>
            <a:off x="8291830" y="1183005"/>
            <a:ext cx="96520" cy="1875790"/>
          </a:xfrm>
          <a:prstGeom prst="roundRect">
            <a:avLst>
              <a:gd name="adj" fmla="val 50000"/>
            </a:avLst>
          </a:prstGeom>
          <a:solidFill>
            <a:srgbClr val="F59E0B"/>
          </a:solidFill>
          <a:ln w="12700">
            <a:solidFill>
              <a:srgbClr val="F59E0B">
                <a:alpha val="0"/>
              </a:srgbClr>
            </a:solidFill>
            <a:prstDash val="solid"/>
          </a:ln>
        </p:spPr>
      </p:sp>
      <p:sp>
        <p:nvSpPr>
          <p:cNvPr id="20" name="Text 18"/>
          <p:cNvSpPr/>
          <p:nvPr>
            <p:custDataLst>
              <p:tags r:id="rId15"/>
            </p:custDataLst>
          </p:nvPr>
        </p:nvSpPr>
        <p:spPr>
          <a:xfrm>
            <a:off x="8529955" y="1238250"/>
            <a:ext cx="3099435" cy="282575"/>
          </a:xfrm>
          <a:prstGeom prst="rect">
            <a:avLst/>
          </a:prstGeom>
          <a:noFill/>
        </p:spPr>
        <p:txBody>
          <a:bodyPr wrap="square" lIns="0" tIns="0" rIns="0" bIns="0" rtlCol="0" anchor="ctr">
            <a:normAutofit/>
          </a:bodyPr>
          <a:lstStyle/>
          <a:p>
            <a:pPr marL="0" indent="0">
              <a:buNone/>
            </a:pPr>
            <a:r>
              <a:rPr lang="en-US" sz="1600" b="1" dirty="0">
                <a:solidFill>
                  <a:srgbClr val="F59E0B"/>
                </a:solidFill>
                <a:latin typeface="Arial" panose="020B0704020202020204" pitchFamily="34" charset="0"/>
                <a:ea typeface="Arial" panose="020B0704020202020204" pitchFamily="34" charset="-122"/>
                <a:cs typeface="Arial" panose="020B0704020202020204" pitchFamily="34" charset="-120"/>
              </a:rPr>
              <a:t>REVIEW.JSON</a:t>
            </a:r>
            <a:endParaRPr lang="en-US" sz="1600" b="1" dirty="0">
              <a:solidFill>
                <a:srgbClr val="F59E0B"/>
              </a:solidFill>
              <a:latin typeface="Arial" panose="020B0704020202020204" pitchFamily="34" charset="0"/>
              <a:ea typeface="Arial" panose="020B0704020202020204" pitchFamily="34" charset="-122"/>
              <a:cs typeface="Arial" panose="020B0704020202020204" pitchFamily="34" charset="-120"/>
            </a:endParaRPr>
          </a:p>
        </p:txBody>
      </p:sp>
      <p:sp>
        <p:nvSpPr>
          <p:cNvPr id="21" name="Text 19"/>
          <p:cNvSpPr/>
          <p:nvPr>
            <p:custDataLst>
              <p:tags r:id="rId16"/>
            </p:custDataLst>
          </p:nvPr>
        </p:nvSpPr>
        <p:spPr>
          <a:xfrm>
            <a:off x="8529955" y="1658620"/>
            <a:ext cx="1404620" cy="490220"/>
          </a:xfrm>
          <a:prstGeom prst="rect">
            <a:avLst/>
          </a:prstGeom>
          <a:noFill/>
        </p:spPr>
        <p:txBody>
          <a:bodyPr wrap="square" lIns="0" tIns="0" rIns="0" bIns="0" rtlCol="0" anchor="ctr">
            <a:noAutofit/>
          </a:bodyPr>
          <a:lstStyle/>
          <a:p>
            <a:pPr marL="0" indent="0">
              <a:buNone/>
            </a:pPr>
            <a:r>
              <a:rPr lang="en-US" sz="3200" b="1" dirty="0">
                <a:solidFill>
                  <a:srgbClr val="08233F"/>
                </a:solidFill>
                <a:latin typeface="Arial" panose="020B0704020202020204" pitchFamily="34" charset="0"/>
                <a:ea typeface="Arial" panose="020B0704020202020204" pitchFamily="34" charset="-122"/>
                <a:cs typeface="Arial" panose="020B0704020202020204" pitchFamily="34" charset="-120"/>
              </a:rPr>
              <a:t>4,164</a:t>
            </a:r>
            <a:endParaRPr lang="en-US" sz="3200" b="1" dirty="0">
              <a:solidFill>
                <a:srgbClr val="08233F"/>
              </a:solidFill>
              <a:latin typeface="Arial" panose="020B0704020202020204" pitchFamily="34" charset="0"/>
              <a:ea typeface="Arial" panose="020B0704020202020204" pitchFamily="34" charset="-122"/>
              <a:cs typeface="Arial" panose="020B0704020202020204" pitchFamily="34" charset="-120"/>
            </a:endParaRPr>
          </a:p>
        </p:txBody>
      </p:sp>
      <p:sp>
        <p:nvSpPr>
          <p:cNvPr id="22" name="Text 20"/>
          <p:cNvSpPr/>
          <p:nvPr>
            <p:custDataLst>
              <p:tags r:id="rId17"/>
            </p:custDataLst>
          </p:nvPr>
        </p:nvSpPr>
        <p:spPr>
          <a:xfrm>
            <a:off x="9901555" y="1814195"/>
            <a:ext cx="1598295" cy="235585"/>
          </a:xfrm>
          <a:prstGeom prst="rect">
            <a:avLst/>
          </a:prstGeom>
          <a:noFill/>
        </p:spPr>
        <p:txBody>
          <a:bodyPr wrap="square" lIns="0" tIns="0" rIns="0" bIns="0" rtlCol="0" anchor="ctr">
            <a:noAutofit/>
          </a:bodyPr>
          <a:lstStyle/>
          <a:p>
            <a:pPr marL="0" indent="0">
              <a:buNone/>
            </a:pPr>
            <a:r>
              <a:rPr lang="en-US" sz="1400" b="1" dirty="0">
                <a:solidFill>
                  <a:srgbClr val="5B708B"/>
                </a:solidFill>
                <a:latin typeface="Arial" panose="020B0704020202020204" pitchFamily="34" charset="0"/>
                <a:ea typeface="Arial" panose="020B0704020202020204" pitchFamily="34" charset="-122"/>
                <a:cs typeface="Arial" panose="020B0704020202020204" pitchFamily="34" charset="-120"/>
              </a:rPr>
              <a:t>rows</a:t>
            </a:r>
            <a:endParaRPr lang="en-US" sz="1400" b="1" dirty="0">
              <a:solidFill>
                <a:srgbClr val="5B708B"/>
              </a:solidFill>
              <a:latin typeface="Arial" panose="020B0704020202020204" pitchFamily="34" charset="0"/>
              <a:ea typeface="Arial" panose="020B0704020202020204" pitchFamily="34" charset="-122"/>
              <a:cs typeface="Arial" panose="020B0704020202020204" pitchFamily="34" charset="-120"/>
            </a:endParaRPr>
          </a:p>
        </p:txBody>
      </p:sp>
      <p:sp>
        <p:nvSpPr>
          <p:cNvPr id="23" name="Text 21"/>
          <p:cNvSpPr/>
          <p:nvPr>
            <p:custDataLst>
              <p:tags r:id="rId18"/>
            </p:custDataLst>
          </p:nvPr>
        </p:nvSpPr>
        <p:spPr>
          <a:xfrm>
            <a:off x="8519160" y="2340610"/>
            <a:ext cx="3051175" cy="753745"/>
          </a:xfrm>
          <a:prstGeom prst="rect">
            <a:avLst/>
          </a:prstGeom>
          <a:noFill/>
        </p:spPr>
        <p:txBody>
          <a:bodyPr wrap="square" lIns="0" tIns="0" rIns="0" bIns="0" rtlCol="0" anchor="ctr"/>
          <a:lstStyle/>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user_id + item_id</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stars</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text</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a:p>
            <a:pPr marL="0" indent="0">
              <a:buNone/>
            </a:pPr>
            <a:r>
              <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rPr>
              <a:t>date</a:t>
            </a:r>
            <a:endParaRPr lang="en-US" alt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p:txBody>
      </p:sp>
      <p:sp>
        <p:nvSpPr>
          <p:cNvPr id="24" name="Shape 22"/>
          <p:cNvSpPr/>
          <p:nvPr>
            <p:custDataLst>
              <p:tags r:id="rId19"/>
            </p:custDataLst>
          </p:nvPr>
        </p:nvSpPr>
        <p:spPr>
          <a:xfrm>
            <a:off x="1607820" y="4229735"/>
            <a:ext cx="3971290" cy="1875155"/>
          </a:xfrm>
          <a:prstGeom prst="roundRect">
            <a:avLst>
              <a:gd name="adj" fmla="val 6395"/>
            </a:avLst>
          </a:prstGeom>
          <a:solidFill>
            <a:srgbClr val="ECFEFF"/>
          </a:solidFill>
          <a:ln w="16510">
            <a:solidFill>
              <a:srgbClr val="CFDDEA"/>
            </a:solidFill>
            <a:prstDash val="solid"/>
          </a:ln>
        </p:spPr>
      </p:sp>
      <p:sp>
        <p:nvSpPr>
          <p:cNvPr id="25" name="Shape 23"/>
          <p:cNvSpPr/>
          <p:nvPr>
            <p:custDataLst>
              <p:tags r:id="rId20"/>
            </p:custDataLst>
          </p:nvPr>
        </p:nvSpPr>
        <p:spPr>
          <a:xfrm>
            <a:off x="1753870" y="4394200"/>
            <a:ext cx="96520" cy="1360805"/>
          </a:xfrm>
          <a:prstGeom prst="roundRect">
            <a:avLst>
              <a:gd name="adj" fmla="val 50000"/>
            </a:avLst>
          </a:prstGeom>
          <a:solidFill>
            <a:srgbClr val="0D9488"/>
          </a:solidFill>
          <a:ln w="12700">
            <a:solidFill>
              <a:srgbClr val="0D9488">
                <a:alpha val="0"/>
              </a:srgbClr>
            </a:solidFill>
            <a:prstDash val="solid"/>
          </a:ln>
        </p:spPr>
      </p:sp>
      <p:sp>
        <p:nvSpPr>
          <p:cNvPr id="26" name="Text 24"/>
          <p:cNvSpPr/>
          <p:nvPr>
            <p:custDataLst>
              <p:tags r:id="rId21"/>
            </p:custDataLst>
          </p:nvPr>
        </p:nvSpPr>
        <p:spPr>
          <a:xfrm>
            <a:off x="1991995" y="4449445"/>
            <a:ext cx="3438525" cy="282575"/>
          </a:xfrm>
          <a:prstGeom prst="rect">
            <a:avLst/>
          </a:prstGeom>
          <a:noFill/>
        </p:spPr>
        <p:txBody>
          <a:bodyPr wrap="square" lIns="0" tIns="0" rIns="0" bIns="0" rtlCol="0" anchor="ctr">
            <a:normAutofit/>
          </a:bodyPr>
          <a:lstStyle/>
          <a:p>
            <a:pPr marL="0" indent="0">
              <a:buNone/>
            </a:pPr>
            <a:r>
              <a:rPr lang="en-US" sz="1600" b="1" dirty="0">
                <a:solidFill>
                  <a:srgbClr val="0D9488"/>
                </a:solidFill>
                <a:latin typeface="Arial" panose="020B0704020202020204" pitchFamily="34" charset="0"/>
                <a:ea typeface="Arial" panose="020B0704020202020204" pitchFamily="34" charset="-122"/>
                <a:cs typeface="Arial" panose="020B0704020202020204" pitchFamily="34" charset="-120"/>
              </a:rPr>
              <a:t>TASK_I.JSON</a:t>
            </a:r>
            <a:endParaRPr lang="en-US" sz="1600" b="1" dirty="0">
              <a:solidFill>
                <a:srgbClr val="0D9488"/>
              </a:solidFill>
              <a:latin typeface="Arial" panose="020B0704020202020204" pitchFamily="34" charset="0"/>
              <a:ea typeface="Arial" panose="020B0704020202020204" pitchFamily="34" charset="-122"/>
              <a:cs typeface="Arial" panose="020B0704020202020204" pitchFamily="34" charset="-120"/>
            </a:endParaRPr>
          </a:p>
        </p:txBody>
      </p:sp>
      <p:sp>
        <p:nvSpPr>
          <p:cNvPr id="27" name="Text 25"/>
          <p:cNvSpPr/>
          <p:nvPr>
            <p:custDataLst>
              <p:tags r:id="rId22"/>
            </p:custDataLst>
          </p:nvPr>
        </p:nvSpPr>
        <p:spPr>
          <a:xfrm>
            <a:off x="1991995" y="4869815"/>
            <a:ext cx="1404620" cy="490220"/>
          </a:xfrm>
          <a:prstGeom prst="rect">
            <a:avLst/>
          </a:prstGeom>
          <a:noFill/>
        </p:spPr>
        <p:txBody>
          <a:bodyPr wrap="square" lIns="0" tIns="0" rIns="0" bIns="0" rtlCol="0" anchor="ctr">
            <a:noAutofit/>
          </a:bodyPr>
          <a:lstStyle/>
          <a:p>
            <a:pPr marL="0" indent="0">
              <a:buNone/>
            </a:pPr>
            <a:r>
              <a:rPr lang="en-US" sz="3200" b="1" dirty="0">
                <a:solidFill>
                  <a:srgbClr val="08233F"/>
                </a:solidFill>
                <a:latin typeface="Arial" panose="020B0704020202020204" pitchFamily="34" charset="0"/>
                <a:ea typeface="Arial" panose="020B0704020202020204" pitchFamily="34" charset="-122"/>
                <a:cs typeface="Arial" panose="020B0704020202020204" pitchFamily="34" charset="-120"/>
              </a:rPr>
              <a:t>5</a:t>
            </a:r>
            <a:endParaRPr lang="en-US" sz="3200" b="1" dirty="0">
              <a:solidFill>
                <a:srgbClr val="08233F"/>
              </a:solidFill>
              <a:latin typeface="Arial" panose="020B0704020202020204" pitchFamily="34" charset="0"/>
              <a:ea typeface="Arial" panose="020B0704020202020204" pitchFamily="34" charset="-122"/>
              <a:cs typeface="Arial" panose="020B0704020202020204" pitchFamily="34" charset="-120"/>
            </a:endParaRPr>
          </a:p>
        </p:txBody>
      </p:sp>
      <p:sp>
        <p:nvSpPr>
          <p:cNvPr id="28" name="Text 26"/>
          <p:cNvSpPr/>
          <p:nvPr>
            <p:custDataLst>
              <p:tags r:id="rId23"/>
            </p:custDataLst>
          </p:nvPr>
        </p:nvSpPr>
        <p:spPr>
          <a:xfrm>
            <a:off x="3363595" y="5025390"/>
            <a:ext cx="1937385" cy="235585"/>
          </a:xfrm>
          <a:prstGeom prst="rect">
            <a:avLst/>
          </a:prstGeom>
          <a:noFill/>
        </p:spPr>
        <p:txBody>
          <a:bodyPr wrap="square" lIns="0" tIns="0" rIns="0" bIns="0" rtlCol="0" anchor="ctr">
            <a:noAutofit/>
          </a:bodyPr>
          <a:lstStyle/>
          <a:p>
            <a:pPr marL="0" indent="0">
              <a:buNone/>
            </a:pPr>
            <a:r>
              <a:rPr lang="en-US" sz="1400" b="1" dirty="0">
                <a:solidFill>
                  <a:srgbClr val="5B708B"/>
                </a:solidFill>
                <a:latin typeface="Arial" panose="020B0704020202020204" pitchFamily="34" charset="0"/>
                <a:ea typeface="Arial" panose="020B0704020202020204" pitchFamily="34" charset="-122"/>
                <a:cs typeface="Arial" panose="020B0704020202020204" pitchFamily="34" charset="-120"/>
              </a:rPr>
              <a:t>task files / pairs</a:t>
            </a:r>
            <a:endParaRPr lang="en-US" sz="1400" b="1" dirty="0">
              <a:solidFill>
                <a:srgbClr val="5B708B"/>
              </a:solidFill>
              <a:latin typeface="Arial" panose="020B0704020202020204" pitchFamily="34" charset="0"/>
              <a:ea typeface="Arial" panose="020B0704020202020204" pitchFamily="34" charset="-122"/>
              <a:cs typeface="Arial" panose="020B0704020202020204" pitchFamily="34" charset="-120"/>
            </a:endParaRPr>
          </a:p>
        </p:txBody>
      </p:sp>
      <p:sp>
        <p:nvSpPr>
          <p:cNvPr id="29" name="Text 27"/>
          <p:cNvSpPr/>
          <p:nvPr>
            <p:custDataLst>
              <p:tags r:id="rId24"/>
            </p:custDataLst>
          </p:nvPr>
        </p:nvSpPr>
        <p:spPr>
          <a:xfrm>
            <a:off x="1991995" y="5565775"/>
            <a:ext cx="3390265" cy="160020"/>
          </a:xfrm>
          <a:prstGeom prst="rect">
            <a:avLst/>
          </a:prstGeom>
          <a:noFill/>
        </p:spPr>
        <p:txBody>
          <a:bodyPr wrap="square" lIns="0" tIns="0" rIns="0" bIns="0" rtlCol="0" anchor="ctr"/>
          <a:lstStyle/>
          <a:p>
            <a:pPr marL="0" indent="0">
              <a:buNone/>
            </a:pPr>
            <a:r>
              <a:rPr lang="en-US" dirty="0">
                <a:solidFill>
                  <a:schemeClr val="tx2"/>
                </a:solidFill>
                <a:latin typeface="Arial" panose="020B0704020202020204" pitchFamily="34" charset="0"/>
                <a:ea typeface="Arial" panose="020B0704020202020204" pitchFamily="34" charset="-122"/>
                <a:cs typeface="Arial" panose="020B0704020202020204" pitchFamily="34" charset="-120"/>
              </a:rPr>
              <a:t>input: user_id + item_id</a:t>
            </a:r>
            <a:endParaRPr lang="en-US" dirty="0">
              <a:solidFill>
                <a:schemeClr val="tx2"/>
              </a:solidFill>
            </a:endParaRPr>
          </a:p>
          <a:p>
            <a:pPr marL="0" indent="0">
              <a:buNone/>
            </a:pPr>
            <a:r>
              <a:rPr lang="en-US" dirty="0">
                <a:solidFill>
                  <a:schemeClr val="tx2"/>
                </a:solidFill>
                <a:latin typeface="Arial" panose="020B0704020202020204" pitchFamily="34" charset="0"/>
                <a:ea typeface="Arial" panose="020B0704020202020204" pitchFamily="34" charset="-122"/>
                <a:cs typeface="Arial" panose="020B0704020202020204" pitchFamily="34" charset="-120"/>
              </a:rPr>
              <a:t>selects one user-item case</a:t>
            </a:r>
            <a:endParaRPr 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p:txBody>
      </p:sp>
      <p:sp>
        <p:nvSpPr>
          <p:cNvPr id="30" name="Shape 28"/>
          <p:cNvSpPr/>
          <p:nvPr>
            <p:custDataLst>
              <p:tags r:id="rId25"/>
            </p:custDataLst>
          </p:nvPr>
        </p:nvSpPr>
        <p:spPr>
          <a:xfrm>
            <a:off x="6591300" y="4229735"/>
            <a:ext cx="3971290" cy="1874520"/>
          </a:xfrm>
          <a:prstGeom prst="roundRect">
            <a:avLst>
              <a:gd name="adj" fmla="val 6395"/>
            </a:avLst>
          </a:prstGeom>
          <a:solidFill>
            <a:srgbClr val="F4F0FF"/>
          </a:solidFill>
          <a:ln w="16510">
            <a:solidFill>
              <a:srgbClr val="CFDDEA"/>
            </a:solidFill>
            <a:prstDash val="solid"/>
          </a:ln>
        </p:spPr>
      </p:sp>
      <p:sp>
        <p:nvSpPr>
          <p:cNvPr id="31" name="Shape 29"/>
          <p:cNvSpPr/>
          <p:nvPr>
            <p:custDataLst>
              <p:tags r:id="rId26"/>
            </p:custDataLst>
          </p:nvPr>
        </p:nvSpPr>
        <p:spPr>
          <a:xfrm>
            <a:off x="6737350" y="4394200"/>
            <a:ext cx="96520" cy="1360805"/>
          </a:xfrm>
          <a:prstGeom prst="roundRect">
            <a:avLst>
              <a:gd name="adj" fmla="val 50000"/>
            </a:avLst>
          </a:prstGeom>
          <a:solidFill>
            <a:srgbClr val="7C3AED"/>
          </a:solidFill>
          <a:ln w="12700">
            <a:solidFill>
              <a:srgbClr val="7C3AED">
                <a:alpha val="0"/>
              </a:srgbClr>
            </a:solidFill>
            <a:prstDash val="solid"/>
          </a:ln>
        </p:spPr>
      </p:sp>
      <p:sp>
        <p:nvSpPr>
          <p:cNvPr id="32" name="Text 30"/>
          <p:cNvSpPr/>
          <p:nvPr>
            <p:custDataLst>
              <p:tags r:id="rId27"/>
            </p:custDataLst>
          </p:nvPr>
        </p:nvSpPr>
        <p:spPr>
          <a:xfrm>
            <a:off x="6975475" y="4449445"/>
            <a:ext cx="3438525" cy="282575"/>
          </a:xfrm>
          <a:prstGeom prst="rect">
            <a:avLst/>
          </a:prstGeom>
          <a:noFill/>
        </p:spPr>
        <p:txBody>
          <a:bodyPr wrap="square" lIns="0" tIns="0" rIns="0" bIns="0" rtlCol="0" anchor="ctr">
            <a:normAutofit/>
          </a:bodyPr>
          <a:lstStyle/>
          <a:p>
            <a:pPr marL="0" indent="0">
              <a:buNone/>
            </a:pPr>
            <a:r>
              <a:rPr lang="en-US" sz="1600" b="1" dirty="0">
                <a:solidFill>
                  <a:srgbClr val="7C3AED"/>
                </a:solidFill>
                <a:latin typeface="Arial" panose="020B0704020202020204" pitchFamily="34" charset="0"/>
                <a:ea typeface="Arial" panose="020B0704020202020204" pitchFamily="34" charset="-122"/>
                <a:cs typeface="Arial" panose="020B0704020202020204" pitchFamily="34" charset="-120"/>
              </a:rPr>
              <a:t>GROUNDTRUTH_I.JSON</a:t>
            </a:r>
            <a:endParaRPr lang="en-US" sz="1600" b="1" dirty="0">
              <a:solidFill>
                <a:srgbClr val="7C3AED"/>
              </a:solidFill>
              <a:latin typeface="Arial" panose="020B0704020202020204" pitchFamily="34" charset="0"/>
              <a:ea typeface="Arial" panose="020B0704020202020204" pitchFamily="34" charset="-122"/>
              <a:cs typeface="Arial" panose="020B0704020202020204" pitchFamily="34" charset="-120"/>
            </a:endParaRPr>
          </a:p>
        </p:txBody>
      </p:sp>
      <p:sp>
        <p:nvSpPr>
          <p:cNvPr id="33" name="Text 31"/>
          <p:cNvSpPr/>
          <p:nvPr>
            <p:custDataLst>
              <p:tags r:id="rId28"/>
            </p:custDataLst>
          </p:nvPr>
        </p:nvSpPr>
        <p:spPr>
          <a:xfrm>
            <a:off x="6975475" y="4869815"/>
            <a:ext cx="1404620" cy="490220"/>
          </a:xfrm>
          <a:prstGeom prst="rect">
            <a:avLst/>
          </a:prstGeom>
          <a:noFill/>
        </p:spPr>
        <p:txBody>
          <a:bodyPr wrap="square" lIns="0" tIns="0" rIns="0" bIns="0" rtlCol="0" anchor="ctr">
            <a:noAutofit/>
          </a:bodyPr>
          <a:lstStyle/>
          <a:p>
            <a:pPr marL="0" indent="0">
              <a:buNone/>
            </a:pPr>
            <a:r>
              <a:rPr lang="en-US" sz="3200" b="1" dirty="0">
                <a:solidFill>
                  <a:srgbClr val="08233F"/>
                </a:solidFill>
                <a:latin typeface="Arial" panose="020B0704020202020204" pitchFamily="34" charset="0"/>
                <a:ea typeface="Arial" panose="020B0704020202020204" pitchFamily="34" charset="-122"/>
                <a:cs typeface="Arial" panose="020B0704020202020204" pitchFamily="34" charset="-120"/>
              </a:rPr>
              <a:t>5</a:t>
            </a:r>
            <a:endParaRPr lang="en-US" sz="3200" b="1" dirty="0">
              <a:solidFill>
                <a:srgbClr val="08233F"/>
              </a:solidFill>
              <a:latin typeface="Arial" panose="020B0704020202020204" pitchFamily="34" charset="0"/>
              <a:ea typeface="Arial" panose="020B0704020202020204" pitchFamily="34" charset="-122"/>
              <a:cs typeface="Arial" panose="020B0704020202020204" pitchFamily="34" charset="-120"/>
            </a:endParaRPr>
          </a:p>
        </p:txBody>
      </p:sp>
      <p:sp>
        <p:nvSpPr>
          <p:cNvPr id="34" name="Text 32"/>
          <p:cNvSpPr/>
          <p:nvPr>
            <p:custDataLst>
              <p:tags r:id="rId29"/>
            </p:custDataLst>
          </p:nvPr>
        </p:nvSpPr>
        <p:spPr>
          <a:xfrm>
            <a:off x="8347075" y="5025390"/>
            <a:ext cx="1937385" cy="235585"/>
          </a:xfrm>
          <a:prstGeom prst="rect">
            <a:avLst/>
          </a:prstGeom>
          <a:noFill/>
        </p:spPr>
        <p:txBody>
          <a:bodyPr wrap="square" lIns="0" tIns="0" rIns="0" bIns="0" rtlCol="0" anchor="ctr">
            <a:noAutofit/>
          </a:bodyPr>
          <a:lstStyle/>
          <a:p>
            <a:pPr marL="0" indent="0">
              <a:buNone/>
            </a:pPr>
            <a:r>
              <a:rPr lang="en-US" sz="1400" b="1" dirty="0">
                <a:solidFill>
                  <a:srgbClr val="5B708B"/>
                </a:solidFill>
                <a:latin typeface="Arial" panose="020B0704020202020204" pitchFamily="34" charset="0"/>
                <a:ea typeface="Arial" panose="020B0704020202020204" pitchFamily="34" charset="-122"/>
                <a:cs typeface="Arial" panose="020B0704020202020204" pitchFamily="34" charset="-120"/>
              </a:rPr>
              <a:t>target files / pairs</a:t>
            </a:r>
            <a:endParaRPr lang="en-US" sz="1400" b="1" dirty="0">
              <a:solidFill>
                <a:srgbClr val="5B708B"/>
              </a:solidFill>
              <a:latin typeface="Arial" panose="020B0704020202020204" pitchFamily="34" charset="0"/>
              <a:ea typeface="Arial" panose="020B0704020202020204" pitchFamily="34" charset="-122"/>
              <a:cs typeface="Arial" panose="020B0704020202020204" pitchFamily="34" charset="-120"/>
            </a:endParaRPr>
          </a:p>
        </p:txBody>
      </p:sp>
      <p:sp>
        <p:nvSpPr>
          <p:cNvPr id="35" name="Text 33"/>
          <p:cNvSpPr/>
          <p:nvPr>
            <p:custDataLst>
              <p:tags r:id="rId30"/>
            </p:custDataLst>
          </p:nvPr>
        </p:nvSpPr>
        <p:spPr>
          <a:xfrm>
            <a:off x="6975475" y="5565775"/>
            <a:ext cx="3390265" cy="160020"/>
          </a:xfrm>
          <a:prstGeom prst="rect">
            <a:avLst/>
          </a:prstGeom>
          <a:noFill/>
        </p:spPr>
        <p:txBody>
          <a:bodyPr wrap="square" lIns="0" tIns="0" rIns="0" bIns="0" rtlCol="0" anchor="ctr"/>
          <a:lstStyle/>
          <a:p>
            <a:pPr marL="0" indent="0">
              <a:buNone/>
            </a:pPr>
            <a:r>
              <a:rPr lang="en-US" dirty="0">
                <a:solidFill>
                  <a:schemeClr val="tx2"/>
                </a:solidFill>
                <a:latin typeface="Arial" panose="020B0704020202020204" pitchFamily="34" charset="0"/>
                <a:ea typeface="Arial" panose="020B0704020202020204" pitchFamily="34" charset="-122"/>
                <a:cs typeface="Arial" panose="020B0704020202020204" pitchFamily="34" charset="-120"/>
              </a:rPr>
              <a:t>target stars</a:t>
            </a:r>
            <a:endParaRPr lang="en-US" dirty="0">
              <a:solidFill>
                <a:schemeClr val="tx2"/>
              </a:solidFill>
            </a:endParaRPr>
          </a:p>
          <a:p>
            <a:pPr marL="0" indent="0">
              <a:buNone/>
            </a:pPr>
            <a:r>
              <a:rPr lang="en-US" dirty="0">
                <a:solidFill>
                  <a:schemeClr val="tx2"/>
                </a:solidFill>
                <a:latin typeface="Arial" panose="020B0704020202020204" pitchFamily="34" charset="0"/>
                <a:ea typeface="Arial" panose="020B0704020202020204" pitchFamily="34" charset="-122"/>
                <a:cs typeface="Arial" panose="020B0704020202020204" pitchFamily="34" charset="-120"/>
              </a:rPr>
              <a:t>reference review for evaluator</a:t>
            </a:r>
            <a:endParaRPr lang="en-US" dirty="0">
              <a:solidFill>
                <a:schemeClr val="tx2"/>
              </a:solidFill>
              <a:latin typeface="Arial" panose="020B0704020202020204" pitchFamily="34" charset="0"/>
              <a:ea typeface="Arial" panose="020B0704020202020204" pitchFamily="34" charset="-122"/>
              <a:cs typeface="Arial" panose="020B0704020202020204" pitchFamily="34" charset="-120"/>
            </a:endParaRPr>
          </a:p>
        </p:txBody>
      </p:sp>
      <p:sp>
        <p:nvSpPr>
          <p:cNvPr id="36"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b="1" dirty="0">
                <a:solidFill>
                  <a:srgbClr val="64748B"/>
                </a:solidFill>
                <a:latin typeface="Aptos" pitchFamily="34" charset="0"/>
                <a:ea typeface="Aptos" pitchFamily="34" charset="-122"/>
                <a:cs typeface="Aptos" pitchFamily="34" charset="-120"/>
              </a:rPr>
              <a:t>0</a:t>
            </a:r>
            <a:r>
              <a:rPr lang="vi-VN" altLang="en-US" sz="1000" b="1" dirty="0">
                <a:solidFill>
                  <a:srgbClr val="64748B"/>
                </a:solidFill>
                <a:latin typeface="Aptos" pitchFamily="34" charset="0"/>
                <a:ea typeface="Aptos" pitchFamily="34" charset="-122"/>
                <a:cs typeface="Aptos" pitchFamily="34" charset="-120"/>
              </a:rPr>
              <a:t>2</a:t>
            </a:r>
            <a:endParaRPr lang="vi-VN" altLang="en-US"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5"/>
          <p:cNvSpPr/>
          <p:nvPr/>
        </p:nvSpPr>
        <p:spPr>
          <a:xfrm>
            <a:off x="567373" y="1033145"/>
            <a:ext cx="4272280" cy="3282950"/>
          </a:xfrm>
          <a:prstGeom prst="roundRect">
            <a:avLst>
              <a:gd name="adj" fmla="val 4839"/>
            </a:avLst>
          </a:prstGeom>
          <a:solidFill>
            <a:srgbClr val="0B1220"/>
          </a:solidFill>
          <a:ln w="15240">
            <a:solidFill>
              <a:srgbClr val="0B1220"/>
            </a:solidFill>
            <a:prstDash val="solid"/>
          </a:ln>
        </p:spPr>
      </p:sp>
      <p:sp>
        <p:nvSpPr>
          <p:cNvPr id="8" name="Text 6"/>
          <p:cNvSpPr/>
          <p:nvPr/>
        </p:nvSpPr>
        <p:spPr>
          <a:xfrm>
            <a:off x="868998" y="1234313"/>
            <a:ext cx="1645920" cy="237744"/>
          </a:xfrm>
          <a:prstGeom prst="rect">
            <a:avLst/>
          </a:prstGeom>
          <a:noFill/>
        </p:spPr>
        <p:txBody>
          <a:bodyPr wrap="square" lIns="0" tIns="0" rIns="0" bIns="0" rtlCol="0" anchor="ctr">
            <a:normAutofit/>
          </a:bodyPr>
          <a:lstStyle/>
          <a:p>
            <a:pPr marL="0" indent="0" algn="l">
              <a:buNone/>
            </a:pPr>
            <a:r>
              <a:rPr lang="en-US" sz="1200" b="1" dirty="0">
                <a:solidFill>
                  <a:srgbClr val="93C5FD"/>
                </a:solidFill>
                <a:latin typeface="Aptos" pitchFamily="34" charset="0"/>
                <a:ea typeface="Aptos" pitchFamily="34" charset="-122"/>
                <a:cs typeface="Aptos" pitchFamily="34" charset="-120"/>
              </a:rPr>
              <a:t>RUN COMMANDS</a:t>
            </a:r>
            <a:endParaRPr lang="en-US" sz="1200" dirty="0"/>
          </a:p>
        </p:txBody>
      </p:sp>
      <p:sp>
        <p:nvSpPr>
          <p:cNvPr id="9" name="Text 7"/>
          <p:cNvSpPr/>
          <p:nvPr/>
        </p:nvSpPr>
        <p:spPr>
          <a:xfrm>
            <a:off x="722948" y="1627505"/>
            <a:ext cx="4434840" cy="2331720"/>
          </a:xfrm>
          <a:prstGeom prst="rect">
            <a:avLst/>
          </a:prstGeom>
          <a:noFill/>
        </p:spPr>
        <p:txBody>
          <a:bodyPr wrap="square" lIns="0" tIns="0" rIns="0" bIns="0" rtlCol="0" anchor="t">
            <a:normAutofit/>
          </a:bodyPr>
          <a:lstStyle/>
          <a:p>
            <a:pPr marL="0" indent="0" algn="l">
              <a:buNone/>
            </a:pPr>
            <a:r>
              <a:rPr lang="en-US" sz="1680" dirty="0">
                <a:solidFill>
                  <a:srgbClr val="E6EDF7"/>
                </a:solidFill>
                <a:latin typeface="Aptos Mono" pitchFamily="34" charset="0"/>
                <a:ea typeface="Aptos Mono" pitchFamily="34" charset="-122"/>
                <a:cs typeface="Aptos Mono" pitchFamily="34" charset="-120"/>
              </a:rPr>
              <a:t># Agent layer</a:t>
            </a:r>
            <a:endParaRPr lang="en-US" sz="1680" dirty="0"/>
          </a:p>
          <a:p>
            <a:pPr marL="0" indent="0" algn="l">
              <a:buNone/>
            </a:pPr>
            <a:r>
              <a:rPr lang="en-US" sz="1680" dirty="0">
                <a:solidFill>
                  <a:srgbClr val="E6EDF7"/>
                </a:solidFill>
                <a:latin typeface="Aptos Mono" pitchFamily="34" charset="0"/>
                <a:ea typeface="Aptos Mono" pitchFamily="34" charset="-122"/>
                <a:cs typeface="Aptos Mono" pitchFamily="34" charset="-120"/>
              </a:rPr>
              <a:t>make evolve-agent ITERS=50 TASKS=1</a:t>
            </a:r>
            <a:endParaRPr lang="en-US" sz="1680" dirty="0"/>
          </a:p>
          <a:p>
            <a:pPr marL="0" indent="0" algn="l">
              <a:buNone/>
            </a:pPr>
            <a:endParaRPr lang="en-US" sz="1680" dirty="0"/>
          </a:p>
          <a:p>
            <a:pPr marL="0" indent="0" algn="l">
              <a:buNone/>
            </a:pPr>
            <a:r>
              <a:rPr lang="en-US" sz="1680" dirty="0">
                <a:solidFill>
                  <a:srgbClr val="E6EDF7"/>
                </a:solidFill>
                <a:latin typeface="Aptos Mono" pitchFamily="34" charset="0"/>
                <a:ea typeface="Aptos Mono" pitchFamily="34" charset="-122"/>
                <a:cs typeface="Aptos Mono" pitchFamily="34" charset="-120"/>
              </a:rPr>
              <a:t># Task layer</a:t>
            </a:r>
            <a:endParaRPr lang="en-US" sz="1680" dirty="0"/>
          </a:p>
          <a:p>
            <a:pPr marL="0" indent="0" algn="l">
              <a:buNone/>
            </a:pPr>
            <a:r>
              <a:rPr lang="en-US" sz="1680" dirty="0">
                <a:solidFill>
                  <a:srgbClr val="E6EDF7"/>
                </a:solidFill>
                <a:latin typeface="Aptos Mono" pitchFamily="34" charset="0"/>
                <a:ea typeface="Aptos Mono" pitchFamily="34" charset="-122"/>
                <a:cs typeface="Aptos Mono" pitchFamily="34" charset="-120"/>
              </a:rPr>
              <a:t>make evolve-task  ITERS=50 TASKS=1</a:t>
            </a:r>
            <a:endParaRPr lang="en-US" sz="1680" dirty="0"/>
          </a:p>
          <a:p>
            <a:pPr marL="0" indent="0" algn="l">
              <a:buNone/>
            </a:pPr>
            <a:endParaRPr lang="en-US" sz="1680" dirty="0"/>
          </a:p>
          <a:p>
            <a:pPr marL="0" indent="0" algn="l">
              <a:buNone/>
            </a:pPr>
            <a:r>
              <a:rPr lang="en-US" sz="1680" dirty="0">
                <a:solidFill>
                  <a:srgbClr val="E6EDF7"/>
                </a:solidFill>
                <a:latin typeface="Aptos Mono" pitchFamily="34" charset="0"/>
                <a:ea typeface="Aptos Mono" pitchFamily="34" charset="-122"/>
                <a:cs typeface="Aptos Mono" pitchFamily="34" charset="-120"/>
              </a:rPr>
              <a:t># Eval-policy layer</a:t>
            </a:r>
            <a:endParaRPr lang="en-US" sz="1680" dirty="0"/>
          </a:p>
          <a:p>
            <a:pPr marL="0" indent="0" algn="l">
              <a:buNone/>
            </a:pPr>
            <a:r>
              <a:rPr lang="en-US" sz="1680" dirty="0">
                <a:solidFill>
                  <a:srgbClr val="E6EDF7"/>
                </a:solidFill>
                <a:latin typeface="Aptos Mono" pitchFamily="34" charset="0"/>
                <a:ea typeface="Aptos Mono" pitchFamily="34" charset="-122"/>
                <a:cs typeface="Aptos Mono" pitchFamily="34" charset="-120"/>
              </a:rPr>
              <a:t>make evolve-eval  ITERS=50 TASKS=1</a:t>
            </a:r>
            <a:endParaRPr lang="en-US" sz="1680" dirty="0"/>
          </a:p>
        </p:txBody>
      </p:sp>
      <p:sp>
        <p:nvSpPr>
          <p:cNvPr id="10" name="Shape 8"/>
          <p:cNvSpPr/>
          <p:nvPr/>
        </p:nvSpPr>
        <p:spPr>
          <a:xfrm>
            <a:off x="5329238" y="1033145"/>
            <a:ext cx="3180715" cy="749935"/>
          </a:xfrm>
          <a:prstGeom prst="roundRect">
            <a:avLst>
              <a:gd name="adj" fmla="val 19512"/>
            </a:avLst>
          </a:prstGeom>
          <a:solidFill>
            <a:srgbClr val="EAF4FF"/>
          </a:solidFill>
          <a:ln w="15240">
            <a:solidFill>
              <a:srgbClr val="C6D6E6"/>
            </a:solidFill>
            <a:prstDash val="solid"/>
          </a:ln>
        </p:spPr>
      </p:sp>
      <p:sp>
        <p:nvSpPr>
          <p:cNvPr id="11" name="Shape 9"/>
          <p:cNvSpPr/>
          <p:nvPr/>
        </p:nvSpPr>
        <p:spPr>
          <a:xfrm>
            <a:off x="5329238" y="1033145"/>
            <a:ext cx="83820" cy="749935"/>
          </a:xfrm>
          <a:prstGeom prst="rect">
            <a:avLst/>
          </a:prstGeom>
          <a:solidFill>
            <a:srgbClr val="1264E0"/>
          </a:solidFill>
          <a:ln w="12700">
            <a:solidFill>
              <a:srgbClr val="1264E0"/>
            </a:solidFill>
            <a:prstDash val="solid"/>
          </a:ln>
        </p:spPr>
      </p:sp>
      <p:sp>
        <p:nvSpPr>
          <p:cNvPr id="12" name="Text 10"/>
          <p:cNvSpPr/>
          <p:nvPr/>
        </p:nvSpPr>
        <p:spPr>
          <a:xfrm>
            <a:off x="5539423" y="1143000"/>
            <a:ext cx="2756535" cy="191770"/>
          </a:xfrm>
          <a:prstGeom prst="rect">
            <a:avLst/>
          </a:prstGeom>
          <a:noFill/>
        </p:spPr>
        <p:txBody>
          <a:bodyPr wrap="square" lIns="0" tIns="0" rIns="0" bIns="0" rtlCol="0" anchor="ctr">
            <a:normAutofit/>
          </a:bodyPr>
          <a:lstStyle/>
          <a:p>
            <a:pPr marL="0" indent="0" algn="l">
              <a:buNone/>
            </a:pPr>
            <a:r>
              <a:rPr lang="en-US" sz="1050" b="1" dirty="0">
                <a:solidFill>
                  <a:srgbClr val="1264E0"/>
                </a:solidFill>
                <a:latin typeface="Aptos" pitchFamily="34" charset="0"/>
                <a:ea typeface="Aptos" pitchFamily="34" charset="-122"/>
                <a:cs typeface="Aptos" pitchFamily="34" charset="-120"/>
              </a:rPr>
              <a:t>MODEL</a:t>
            </a:r>
            <a:endParaRPr lang="en-US" sz="1050" dirty="0"/>
          </a:p>
        </p:txBody>
      </p:sp>
      <p:sp>
        <p:nvSpPr>
          <p:cNvPr id="13" name="Text 11"/>
          <p:cNvSpPr/>
          <p:nvPr/>
        </p:nvSpPr>
        <p:spPr>
          <a:xfrm>
            <a:off x="5539423" y="1390015"/>
            <a:ext cx="2734945" cy="255905"/>
          </a:xfrm>
          <a:prstGeom prst="rect">
            <a:avLst/>
          </a:prstGeom>
          <a:noFill/>
        </p:spPr>
        <p:txBody>
          <a:bodyPr wrap="square" lIns="0" tIns="0" rIns="0" bIns="0" rtlCol="0" anchor="ctr">
            <a:normAutofit/>
          </a:bodyPr>
          <a:lstStyle/>
          <a:p>
            <a:pPr marL="0" indent="0" algn="l">
              <a:buNone/>
            </a:pPr>
            <a:r>
              <a:rPr lang="en-US" sz="1550" b="1" dirty="0">
                <a:solidFill>
                  <a:srgbClr val="08233F"/>
                </a:solidFill>
                <a:latin typeface="Aptos" pitchFamily="34" charset="0"/>
                <a:ea typeface="Aptos" pitchFamily="34" charset="-122"/>
                <a:cs typeface="Aptos" pitchFamily="34" charset="-120"/>
              </a:rPr>
              <a:t>minimaxai/minimax-m2.7</a:t>
            </a:r>
            <a:endParaRPr lang="en-US" sz="1550" dirty="0"/>
          </a:p>
        </p:txBody>
      </p:sp>
      <p:sp>
        <p:nvSpPr>
          <p:cNvPr id="14" name="Shape 12"/>
          <p:cNvSpPr/>
          <p:nvPr/>
        </p:nvSpPr>
        <p:spPr>
          <a:xfrm>
            <a:off x="8668703" y="1033145"/>
            <a:ext cx="2990215" cy="749935"/>
          </a:xfrm>
          <a:prstGeom prst="roundRect">
            <a:avLst>
              <a:gd name="adj" fmla="val 19512"/>
            </a:avLst>
          </a:prstGeom>
          <a:solidFill>
            <a:srgbClr val="F2F8FF"/>
          </a:solidFill>
          <a:ln w="15240">
            <a:solidFill>
              <a:srgbClr val="C6D6E6"/>
            </a:solidFill>
            <a:prstDash val="solid"/>
          </a:ln>
        </p:spPr>
      </p:sp>
      <p:sp>
        <p:nvSpPr>
          <p:cNvPr id="15" name="Shape 13"/>
          <p:cNvSpPr/>
          <p:nvPr/>
        </p:nvSpPr>
        <p:spPr>
          <a:xfrm>
            <a:off x="8668703" y="1033145"/>
            <a:ext cx="79375" cy="749935"/>
          </a:xfrm>
          <a:prstGeom prst="rect">
            <a:avLst/>
          </a:prstGeom>
          <a:solidFill>
            <a:srgbClr val="1264E0"/>
          </a:solidFill>
          <a:ln w="12700">
            <a:solidFill>
              <a:srgbClr val="1264E0"/>
            </a:solidFill>
            <a:prstDash val="solid"/>
          </a:ln>
        </p:spPr>
      </p:sp>
      <p:sp>
        <p:nvSpPr>
          <p:cNvPr id="16" name="Text 14"/>
          <p:cNvSpPr/>
          <p:nvPr/>
        </p:nvSpPr>
        <p:spPr>
          <a:xfrm>
            <a:off x="8878888" y="1143000"/>
            <a:ext cx="2591435" cy="191770"/>
          </a:xfrm>
          <a:prstGeom prst="rect">
            <a:avLst/>
          </a:prstGeom>
          <a:noFill/>
        </p:spPr>
        <p:txBody>
          <a:bodyPr wrap="square" lIns="0" tIns="0" rIns="0" bIns="0" rtlCol="0" anchor="ctr">
            <a:normAutofit/>
          </a:bodyPr>
          <a:lstStyle/>
          <a:p>
            <a:pPr marL="0" indent="0" algn="l">
              <a:buNone/>
            </a:pPr>
            <a:r>
              <a:rPr lang="en-US" sz="1050" b="1" dirty="0">
                <a:solidFill>
                  <a:srgbClr val="1264E0"/>
                </a:solidFill>
                <a:latin typeface="Aptos" pitchFamily="34" charset="0"/>
                <a:ea typeface="Aptos" pitchFamily="34" charset="-122"/>
                <a:cs typeface="Aptos" pitchFamily="34" charset="-120"/>
              </a:rPr>
              <a:t>ITERATIONS</a:t>
            </a:r>
            <a:endParaRPr lang="en-US" sz="1050" dirty="0"/>
          </a:p>
        </p:txBody>
      </p:sp>
      <p:sp>
        <p:nvSpPr>
          <p:cNvPr id="17" name="Text 15"/>
          <p:cNvSpPr/>
          <p:nvPr/>
        </p:nvSpPr>
        <p:spPr>
          <a:xfrm>
            <a:off x="8878888" y="1390015"/>
            <a:ext cx="2571750" cy="255905"/>
          </a:xfrm>
          <a:prstGeom prst="rect">
            <a:avLst/>
          </a:prstGeom>
          <a:noFill/>
        </p:spPr>
        <p:txBody>
          <a:bodyPr wrap="square" lIns="0" tIns="0" rIns="0" bIns="0" rtlCol="0" anchor="ctr">
            <a:normAutofit/>
          </a:bodyPr>
          <a:lstStyle/>
          <a:p>
            <a:pPr marL="0" indent="0" algn="l">
              <a:buNone/>
            </a:pPr>
            <a:r>
              <a:rPr lang="en-US" sz="1550" b="1" dirty="0">
                <a:solidFill>
                  <a:srgbClr val="08233F"/>
                </a:solidFill>
                <a:latin typeface="Aptos" pitchFamily="34" charset="0"/>
                <a:ea typeface="Aptos" pitchFamily="34" charset="-122"/>
                <a:cs typeface="Aptos" pitchFamily="34" charset="-120"/>
              </a:rPr>
              <a:t>50 per run</a:t>
            </a:r>
            <a:endParaRPr lang="en-US" sz="1550" dirty="0"/>
          </a:p>
        </p:txBody>
      </p:sp>
      <p:sp>
        <p:nvSpPr>
          <p:cNvPr id="18" name="Shape 16"/>
          <p:cNvSpPr/>
          <p:nvPr/>
        </p:nvSpPr>
        <p:spPr>
          <a:xfrm>
            <a:off x="5329238" y="1984375"/>
            <a:ext cx="3180715" cy="749935"/>
          </a:xfrm>
          <a:prstGeom prst="roundRect">
            <a:avLst>
              <a:gd name="adj" fmla="val 19512"/>
            </a:avLst>
          </a:prstGeom>
          <a:solidFill>
            <a:srgbClr val="FFF4DB"/>
          </a:solidFill>
          <a:ln w="15240">
            <a:solidFill>
              <a:srgbClr val="C6D6E6"/>
            </a:solidFill>
            <a:prstDash val="solid"/>
          </a:ln>
        </p:spPr>
      </p:sp>
      <p:sp>
        <p:nvSpPr>
          <p:cNvPr id="19" name="Shape 17"/>
          <p:cNvSpPr/>
          <p:nvPr/>
        </p:nvSpPr>
        <p:spPr>
          <a:xfrm>
            <a:off x="5329238" y="1984375"/>
            <a:ext cx="83820" cy="749935"/>
          </a:xfrm>
          <a:prstGeom prst="rect">
            <a:avLst/>
          </a:prstGeom>
          <a:solidFill>
            <a:srgbClr val="F59E0B"/>
          </a:solidFill>
          <a:ln w="12700">
            <a:solidFill>
              <a:srgbClr val="F59E0B"/>
            </a:solidFill>
            <a:prstDash val="solid"/>
          </a:ln>
        </p:spPr>
      </p:sp>
      <p:sp>
        <p:nvSpPr>
          <p:cNvPr id="20" name="Text 18"/>
          <p:cNvSpPr/>
          <p:nvPr/>
        </p:nvSpPr>
        <p:spPr>
          <a:xfrm>
            <a:off x="5539423" y="2093595"/>
            <a:ext cx="2756535" cy="191770"/>
          </a:xfrm>
          <a:prstGeom prst="rect">
            <a:avLst/>
          </a:prstGeom>
          <a:noFill/>
        </p:spPr>
        <p:txBody>
          <a:bodyPr wrap="square" lIns="0" tIns="0" rIns="0" bIns="0" rtlCol="0" anchor="ctr">
            <a:normAutofit/>
          </a:bodyPr>
          <a:lstStyle/>
          <a:p>
            <a:pPr marL="0" indent="0" algn="l">
              <a:buNone/>
            </a:pPr>
            <a:r>
              <a:rPr lang="en-US" sz="1050" b="1" dirty="0">
                <a:solidFill>
                  <a:srgbClr val="F59E0B"/>
                </a:solidFill>
                <a:latin typeface="Aptos" pitchFamily="34" charset="0"/>
                <a:ea typeface="Aptos" pitchFamily="34" charset="-122"/>
                <a:cs typeface="Aptos" pitchFamily="34" charset="-120"/>
              </a:rPr>
              <a:t>TASKS</a:t>
            </a:r>
            <a:endParaRPr lang="en-US" sz="1050" dirty="0"/>
          </a:p>
        </p:txBody>
      </p:sp>
      <p:sp>
        <p:nvSpPr>
          <p:cNvPr id="21" name="Text 19"/>
          <p:cNvSpPr/>
          <p:nvPr/>
        </p:nvSpPr>
        <p:spPr>
          <a:xfrm>
            <a:off x="5539423" y="2340610"/>
            <a:ext cx="2734945" cy="255905"/>
          </a:xfrm>
          <a:prstGeom prst="rect">
            <a:avLst/>
          </a:prstGeom>
          <a:noFill/>
        </p:spPr>
        <p:txBody>
          <a:bodyPr wrap="square" lIns="0" tIns="0" rIns="0" bIns="0" rtlCol="0" anchor="ctr">
            <a:normAutofit/>
          </a:bodyPr>
          <a:lstStyle/>
          <a:p>
            <a:pPr marL="0" indent="0" algn="l">
              <a:buNone/>
            </a:pPr>
            <a:r>
              <a:rPr lang="en-US" sz="1550" b="1" dirty="0">
                <a:solidFill>
                  <a:srgbClr val="08233F"/>
                </a:solidFill>
                <a:latin typeface="Aptos" pitchFamily="34" charset="0"/>
                <a:ea typeface="Aptos" pitchFamily="34" charset="-122"/>
                <a:cs typeface="Aptos" pitchFamily="34" charset="-120"/>
              </a:rPr>
              <a:t>1 sampled pair</a:t>
            </a:r>
            <a:endParaRPr lang="en-US" sz="1550" dirty="0"/>
          </a:p>
        </p:txBody>
      </p:sp>
      <p:sp>
        <p:nvSpPr>
          <p:cNvPr id="22" name="Shape 20"/>
          <p:cNvSpPr/>
          <p:nvPr/>
        </p:nvSpPr>
        <p:spPr>
          <a:xfrm>
            <a:off x="8668703" y="1984375"/>
            <a:ext cx="2990215" cy="749935"/>
          </a:xfrm>
          <a:prstGeom prst="roundRect">
            <a:avLst>
              <a:gd name="adj" fmla="val 19512"/>
            </a:avLst>
          </a:prstGeom>
          <a:solidFill>
            <a:srgbClr val="F7F9FC"/>
          </a:solidFill>
          <a:ln w="15240">
            <a:solidFill>
              <a:srgbClr val="C6D6E6"/>
            </a:solidFill>
            <a:prstDash val="solid"/>
          </a:ln>
        </p:spPr>
      </p:sp>
      <p:sp>
        <p:nvSpPr>
          <p:cNvPr id="23" name="Shape 21"/>
          <p:cNvSpPr/>
          <p:nvPr/>
        </p:nvSpPr>
        <p:spPr>
          <a:xfrm>
            <a:off x="8668703" y="1984375"/>
            <a:ext cx="79375" cy="749935"/>
          </a:xfrm>
          <a:prstGeom prst="rect">
            <a:avLst/>
          </a:prstGeom>
          <a:solidFill>
            <a:srgbClr val="5B6B80"/>
          </a:solidFill>
          <a:ln w="12700">
            <a:solidFill>
              <a:srgbClr val="5B6B80"/>
            </a:solidFill>
            <a:prstDash val="solid"/>
          </a:ln>
        </p:spPr>
      </p:sp>
      <p:sp>
        <p:nvSpPr>
          <p:cNvPr id="24" name="Text 22"/>
          <p:cNvSpPr/>
          <p:nvPr/>
        </p:nvSpPr>
        <p:spPr>
          <a:xfrm>
            <a:off x="8878888" y="2093595"/>
            <a:ext cx="2591435" cy="191770"/>
          </a:xfrm>
          <a:prstGeom prst="rect">
            <a:avLst/>
          </a:prstGeom>
          <a:noFill/>
        </p:spPr>
        <p:txBody>
          <a:bodyPr wrap="square" lIns="0" tIns="0" rIns="0" bIns="0" rtlCol="0" anchor="ctr">
            <a:normAutofit/>
          </a:bodyPr>
          <a:lstStyle/>
          <a:p>
            <a:pPr marL="0" indent="0" algn="l">
              <a:buNone/>
            </a:pPr>
            <a:r>
              <a:rPr lang="en-US" sz="1050" b="1" dirty="0">
                <a:solidFill>
                  <a:srgbClr val="5B6B80"/>
                </a:solidFill>
                <a:latin typeface="Aptos" pitchFamily="34" charset="0"/>
                <a:ea typeface="Aptos" pitchFamily="34" charset="-122"/>
                <a:cs typeface="Aptos" pitchFamily="34" charset="-120"/>
              </a:rPr>
              <a:t>TIMEOUT</a:t>
            </a:r>
            <a:endParaRPr lang="en-US" sz="1050" dirty="0"/>
          </a:p>
        </p:txBody>
      </p:sp>
      <p:sp>
        <p:nvSpPr>
          <p:cNvPr id="25" name="Text 23"/>
          <p:cNvSpPr/>
          <p:nvPr/>
        </p:nvSpPr>
        <p:spPr>
          <a:xfrm>
            <a:off x="8878888" y="2340610"/>
            <a:ext cx="2571750" cy="255905"/>
          </a:xfrm>
          <a:prstGeom prst="rect">
            <a:avLst/>
          </a:prstGeom>
          <a:noFill/>
        </p:spPr>
        <p:txBody>
          <a:bodyPr wrap="square" lIns="0" tIns="0" rIns="0" bIns="0" rtlCol="0" anchor="ctr">
            <a:normAutofit/>
          </a:bodyPr>
          <a:lstStyle/>
          <a:p>
            <a:pPr marL="0" indent="0" algn="l">
              <a:buNone/>
            </a:pPr>
            <a:r>
              <a:rPr lang="en-US" sz="1550" b="1" dirty="0">
                <a:solidFill>
                  <a:srgbClr val="08233F"/>
                </a:solidFill>
                <a:latin typeface="Aptos" pitchFamily="34" charset="0"/>
                <a:ea typeface="Aptos" pitchFamily="34" charset="-122"/>
                <a:cs typeface="Aptos" pitchFamily="34" charset="-120"/>
              </a:rPr>
              <a:t>2000 seconds</a:t>
            </a:r>
            <a:endParaRPr lang="en-US" sz="1550" dirty="0"/>
          </a:p>
        </p:txBody>
      </p:sp>
      <p:sp>
        <p:nvSpPr>
          <p:cNvPr id="26" name="Shape 24"/>
          <p:cNvSpPr/>
          <p:nvPr/>
        </p:nvSpPr>
        <p:spPr>
          <a:xfrm>
            <a:off x="5329238" y="2934970"/>
            <a:ext cx="3180715" cy="749935"/>
          </a:xfrm>
          <a:prstGeom prst="roundRect">
            <a:avLst>
              <a:gd name="adj" fmla="val 19512"/>
            </a:avLst>
          </a:prstGeom>
          <a:solidFill>
            <a:srgbClr val="E8F7F2"/>
          </a:solidFill>
          <a:ln w="15240">
            <a:solidFill>
              <a:srgbClr val="C6D6E6"/>
            </a:solidFill>
            <a:prstDash val="solid"/>
          </a:ln>
        </p:spPr>
      </p:sp>
      <p:sp>
        <p:nvSpPr>
          <p:cNvPr id="27" name="Shape 25"/>
          <p:cNvSpPr/>
          <p:nvPr/>
        </p:nvSpPr>
        <p:spPr>
          <a:xfrm>
            <a:off x="5329238" y="2934970"/>
            <a:ext cx="83820" cy="749935"/>
          </a:xfrm>
          <a:prstGeom prst="rect">
            <a:avLst/>
          </a:prstGeom>
          <a:solidFill>
            <a:srgbClr val="0D8B82"/>
          </a:solidFill>
          <a:ln w="12700">
            <a:solidFill>
              <a:srgbClr val="0D8B82"/>
            </a:solidFill>
            <a:prstDash val="solid"/>
          </a:ln>
        </p:spPr>
      </p:sp>
      <p:sp>
        <p:nvSpPr>
          <p:cNvPr id="28" name="Text 26"/>
          <p:cNvSpPr/>
          <p:nvPr/>
        </p:nvSpPr>
        <p:spPr>
          <a:xfrm>
            <a:off x="5539423" y="3044825"/>
            <a:ext cx="2756535" cy="191770"/>
          </a:xfrm>
          <a:prstGeom prst="rect">
            <a:avLst/>
          </a:prstGeom>
          <a:noFill/>
        </p:spPr>
        <p:txBody>
          <a:bodyPr wrap="square" lIns="0" tIns="0" rIns="0" bIns="0" rtlCol="0" anchor="ctr">
            <a:normAutofit/>
          </a:bodyPr>
          <a:lstStyle/>
          <a:p>
            <a:pPr marL="0" indent="0" algn="l">
              <a:buNone/>
            </a:pPr>
            <a:r>
              <a:rPr lang="en-US" sz="1050" b="1" dirty="0">
                <a:solidFill>
                  <a:srgbClr val="0D8B82"/>
                </a:solidFill>
                <a:latin typeface="Aptos" pitchFamily="34" charset="0"/>
                <a:ea typeface="Aptos" pitchFamily="34" charset="-122"/>
                <a:cs typeface="Aptos" pitchFamily="34" charset="-120"/>
              </a:rPr>
              <a:t>TARGETS</a:t>
            </a:r>
            <a:endParaRPr lang="en-US" sz="1050" dirty="0"/>
          </a:p>
        </p:txBody>
      </p:sp>
      <p:sp>
        <p:nvSpPr>
          <p:cNvPr id="29" name="Text 27"/>
          <p:cNvSpPr/>
          <p:nvPr/>
        </p:nvSpPr>
        <p:spPr>
          <a:xfrm>
            <a:off x="5539423" y="3291840"/>
            <a:ext cx="2734945" cy="255905"/>
          </a:xfrm>
          <a:prstGeom prst="rect">
            <a:avLst/>
          </a:prstGeom>
          <a:noFill/>
        </p:spPr>
        <p:txBody>
          <a:bodyPr wrap="square" lIns="0" tIns="0" rIns="0" bIns="0" rtlCol="0" anchor="ctr">
            <a:normAutofit/>
          </a:bodyPr>
          <a:lstStyle/>
          <a:p>
            <a:pPr marL="0" indent="0" algn="l">
              <a:buNone/>
            </a:pPr>
            <a:r>
              <a:rPr lang="en-US" sz="1550" b="1" dirty="0">
                <a:solidFill>
                  <a:srgbClr val="08233F"/>
                </a:solidFill>
                <a:latin typeface="Aptos" pitchFamily="34" charset="0"/>
                <a:ea typeface="Aptos" pitchFamily="34" charset="-122"/>
                <a:cs typeface="Aptos" pitchFamily="34" charset="-120"/>
              </a:rPr>
              <a:t>agent / task / eval YAML</a:t>
            </a:r>
            <a:endParaRPr lang="en-US" sz="1550" dirty="0"/>
          </a:p>
        </p:txBody>
      </p:sp>
      <p:sp>
        <p:nvSpPr>
          <p:cNvPr id="30" name="Shape 28"/>
          <p:cNvSpPr/>
          <p:nvPr/>
        </p:nvSpPr>
        <p:spPr>
          <a:xfrm>
            <a:off x="8668703" y="2934970"/>
            <a:ext cx="2990215" cy="749935"/>
          </a:xfrm>
          <a:prstGeom prst="roundRect">
            <a:avLst>
              <a:gd name="adj" fmla="val 19512"/>
            </a:avLst>
          </a:prstGeom>
          <a:solidFill>
            <a:srgbClr val="F7F9FC"/>
          </a:solidFill>
          <a:ln w="15240">
            <a:solidFill>
              <a:srgbClr val="C6D6E6"/>
            </a:solidFill>
            <a:prstDash val="solid"/>
          </a:ln>
        </p:spPr>
      </p:sp>
      <p:sp>
        <p:nvSpPr>
          <p:cNvPr id="31" name="Shape 29"/>
          <p:cNvSpPr/>
          <p:nvPr/>
        </p:nvSpPr>
        <p:spPr>
          <a:xfrm>
            <a:off x="8668703" y="2934970"/>
            <a:ext cx="79375" cy="749935"/>
          </a:xfrm>
          <a:prstGeom prst="rect">
            <a:avLst/>
          </a:prstGeom>
          <a:solidFill>
            <a:srgbClr val="5B6B80"/>
          </a:solidFill>
          <a:ln w="12700">
            <a:solidFill>
              <a:srgbClr val="5B6B80"/>
            </a:solidFill>
            <a:prstDash val="solid"/>
          </a:ln>
        </p:spPr>
      </p:sp>
      <p:sp>
        <p:nvSpPr>
          <p:cNvPr id="32" name="Text 30"/>
          <p:cNvSpPr/>
          <p:nvPr/>
        </p:nvSpPr>
        <p:spPr>
          <a:xfrm>
            <a:off x="8878888" y="3044825"/>
            <a:ext cx="2591435" cy="191770"/>
          </a:xfrm>
          <a:prstGeom prst="rect">
            <a:avLst/>
          </a:prstGeom>
          <a:noFill/>
        </p:spPr>
        <p:txBody>
          <a:bodyPr wrap="square" lIns="0" tIns="0" rIns="0" bIns="0" rtlCol="0" anchor="ctr">
            <a:normAutofit/>
          </a:bodyPr>
          <a:lstStyle/>
          <a:p>
            <a:pPr marL="0" indent="0" algn="l">
              <a:buNone/>
            </a:pPr>
            <a:r>
              <a:rPr lang="en-US" sz="1050" b="1" dirty="0">
                <a:solidFill>
                  <a:srgbClr val="5B6B80"/>
                </a:solidFill>
                <a:latin typeface="Aptos" pitchFamily="34" charset="0"/>
                <a:ea typeface="Aptos" pitchFamily="34" charset="-122"/>
                <a:cs typeface="Aptos" pitchFamily="34" charset="-120"/>
              </a:rPr>
              <a:t>METRICS</a:t>
            </a:r>
            <a:endParaRPr lang="en-US" sz="1050" dirty="0"/>
          </a:p>
        </p:txBody>
      </p:sp>
      <p:sp>
        <p:nvSpPr>
          <p:cNvPr id="33" name="Text 31"/>
          <p:cNvSpPr/>
          <p:nvPr/>
        </p:nvSpPr>
        <p:spPr>
          <a:xfrm>
            <a:off x="8878888" y="3291840"/>
            <a:ext cx="2571750" cy="255905"/>
          </a:xfrm>
          <a:prstGeom prst="rect">
            <a:avLst/>
          </a:prstGeom>
          <a:noFill/>
        </p:spPr>
        <p:txBody>
          <a:bodyPr wrap="square" lIns="0" tIns="0" rIns="0" bIns="0" rtlCol="0" anchor="ctr">
            <a:normAutofit fontScale="80000"/>
          </a:bodyPr>
          <a:lstStyle/>
          <a:p>
            <a:pPr marL="0" indent="0" algn="l">
              <a:buNone/>
            </a:pPr>
            <a:r>
              <a:rPr lang="en-US" sz="1550" b="1" dirty="0">
                <a:solidFill>
                  <a:srgbClr val="08233F"/>
                </a:solidFill>
                <a:latin typeface="Aptos" pitchFamily="34" charset="0"/>
                <a:ea typeface="Aptos" pitchFamily="34" charset="-122"/>
                <a:cs typeface="Aptos" pitchFamily="34" charset="-120"/>
              </a:rPr>
              <a:t>preference + review + combined</a:t>
            </a:r>
            <a:endParaRPr lang="en-US" sz="1550" dirty="0"/>
          </a:p>
        </p:txBody>
      </p:sp>
      <p:sp>
        <p:nvSpPr>
          <p:cNvPr id="34" name="Shape 32"/>
          <p:cNvSpPr/>
          <p:nvPr/>
        </p:nvSpPr>
        <p:spPr>
          <a:xfrm>
            <a:off x="5329238" y="3895090"/>
            <a:ext cx="6329680" cy="427990"/>
          </a:xfrm>
          <a:prstGeom prst="roundRect">
            <a:avLst>
              <a:gd name="adj" fmla="val 23333"/>
            </a:avLst>
          </a:prstGeom>
          <a:solidFill>
            <a:srgbClr val="FFFFFF"/>
          </a:solidFill>
          <a:ln w="15240">
            <a:solidFill>
              <a:srgbClr val="B7D0EA"/>
            </a:solidFill>
            <a:prstDash val="solid"/>
          </a:ln>
        </p:spPr>
      </p:sp>
      <p:sp>
        <p:nvSpPr>
          <p:cNvPr id="35" name="Text 33"/>
          <p:cNvSpPr/>
          <p:nvPr/>
        </p:nvSpPr>
        <p:spPr>
          <a:xfrm>
            <a:off x="5539423" y="4004945"/>
            <a:ext cx="5872480" cy="236855"/>
          </a:xfrm>
          <a:prstGeom prst="rect">
            <a:avLst/>
          </a:prstGeom>
          <a:noFill/>
        </p:spPr>
        <p:txBody>
          <a:bodyPr wrap="square" lIns="0" tIns="0" rIns="0" bIns="0" rtlCol="0" anchor="ctr">
            <a:normAutofit fontScale="90000" lnSpcReduction="20000"/>
          </a:bodyPr>
          <a:lstStyle/>
          <a:p>
            <a:pPr marL="0" indent="0" algn="ctr">
              <a:buNone/>
            </a:pPr>
            <a:r>
              <a:rPr lang="en-US" sz="1800" b="1" dirty="0">
                <a:solidFill>
                  <a:srgbClr val="08233F"/>
                </a:solidFill>
                <a:latin typeface="Aptos" pitchFamily="34" charset="0"/>
                <a:ea typeface="Aptos" pitchFamily="34" charset="-122"/>
                <a:cs typeface="Aptos" pitchFamily="34" charset="-120"/>
              </a:rPr>
              <a:t>Every run = 50 iterations on 1 task-groundtruth pair</a:t>
            </a:r>
            <a:endParaRPr lang="en-US" sz="1800" dirty="0"/>
          </a:p>
        </p:txBody>
      </p:sp>
      <p:sp>
        <p:nvSpPr>
          <p:cNvPr id="36" name="Shape 34"/>
          <p:cNvSpPr/>
          <p:nvPr/>
        </p:nvSpPr>
        <p:spPr>
          <a:xfrm>
            <a:off x="613410" y="4700270"/>
            <a:ext cx="11045825" cy="1677670"/>
          </a:xfrm>
          <a:prstGeom prst="roundRect">
            <a:avLst>
              <a:gd name="adj" fmla="val 17391"/>
            </a:avLst>
          </a:prstGeom>
          <a:solidFill>
            <a:srgbClr val="FFFFFF"/>
          </a:solidFill>
          <a:ln w="15240">
            <a:solidFill>
              <a:srgbClr val="B7D0EA"/>
            </a:solidFill>
            <a:prstDash val="solid"/>
          </a:ln>
        </p:spPr>
      </p:sp>
      <p:sp>
        <p:nvSpPr>
          <p:cNvPr id="37" name="Text 35"/>
          <p:cNvSpPr/>
          <p:nvPr/>
        </p:nvSpPr>
        <p:spPr>
          <a:xfrm>
            <a:off x="5002848" y="4893310"/>
            <a:ext cx="2186940" cy="274320"/>
          </a:xfrm>
          <a:prstGeom prst="rect">
            <a:avLst/>
          </a:prstGeom>
          <a:noFill/>
        </p:spPr>
        <p:txBody>
          <a:bodyPr wrap="square" lIns="0" tIns="0" rIns="0" bIns="0" rtlCol="0" anchor="ctr">
            <a:noAutofit/>
          </a:bodyPr>
          <a:lstStyle/>
          <a:p>
            <a:pPr marL="0" indent="0" algn="ctr">
              <a:buNone/>
            </a:pPr>
            <a:r>
              <a:rPr lang="en-US" sz="2000" b="1" dirty="0">
                <a:solidFill>
                  <a:srgbClr val="1264E0"/>
                </a:solidFill>
                <a:latin typeface="Aptos" pitchFamily="34" charset="0"/>
                <a:ea typeface="Aptos" pitchFamily="34" charset="-122"/>
                <a:cs typeface="Aptos" pitchFamily="34" charset="-120"/>
              </a:rPr>
              <a:t>Evaluation</a:t>
            </a:r>
            <a:endParaRPr lang="en-US" sz="2000" b="1" dirty="0">
              <a:solidFill>
                <a:srgbClr val="1264E0"/>
              </a:solidFill>
              <a:latin typeface="Aptos" pitchFamily="34" charset="0"/>
              <a:ea typeface="Aptos" pitchFamily="34" charset="-122"/>
              <a:cs typeface="Aptos" pitchFamily="34" charset="-120"/>
            </a:endParaRPr>
          </a:p>
        </p:txBody>
      </p:sp>
      <p:sp>
        <p:nvSpPr>
          <p:cNvPr id="38" name="Shape 36"/>
          <p:cNvSpPr/>
          <p:nvPr/>
        </p:nvSpPr>
        <p:spPr>
          <a:xfrm>
            <a:off x="3420110" y="5793740"/>
            <a:ext cx="609600" cy="1270"/>
          </a:xfrm>
          <a:prstGeom prst="line">
            <a:avLst/>
          </a:prstGeom>
          <a:noFill/>
          <a:ln w="21590">
            <a:solidFill>
              <a:srgbClr val="9DB8D8"/>
            </a:solidFill>
            <a:prstDash val="solid"/>
            <a:headEnd type="none"/>
            <a:tailEnd type="triangle"/>
          </a:ln>
        </p:spPr>
      </p:sp>
      <p:sp>
        <p:nvSpPr>
          <p:cNvPr id="39" name="Shape 37"/>
          <p:cNvSpPr/>
          <p:nvPr/>
        </p:nvSpPr>
        <p:spPr>
          <a:xfrm>
            <a:off x="5842000" y="5793740"/>
            <a:ext cx="748030" cy="1270"/>
          </a:xfrm>
          <a:prstGeom prst="line">
            <a:avLst/>
          </a:prstGeom>
          <a:noFill/>
          <a:ln w="21590">
            <a:solidFill>
              <a:srgbClr val="9DB8D8"/>
            </a:solidFill>
            <a:prstDash val="solid"/>
            <a:headEnd type="none"/>
            <a:tailEnd type="triangle"/>
          </a:ln>
        </p:spPr>
      </p:sp>
      <p:sp>
        <p:nvSpPr>
          <p:cNvPr id="40" name="Shape 38"/>
          <p:cNvSpPr/>
          <p:nvPr/>
        </p:nvSpPr>
        <p:spPr>
          <a:xfrm>
            <a:off x="8443595" y="5793740"/>
            <a:ext cx="682625" cy="1270"/>
          </a:xfrm>
          <a:prstGeom prst="line">
            <a:avLst/>
          </a:prstGeom>
          <a:noFill/>
          <a:ln w="21590">
            <a:solidFill>
              <a:srgbClr val="9DB8D8"/>
            </a:solidFill>
            <a:prstDash val="solid"/>
            <a:headEnd type="none"/>
            <a:tailEnd type="triangle"/>
          </a:ln>
        </p:spPr>
      </p:sp>
      <p:sp>
        <p:nvSpPr>
          <p:cNvPr id="41" name="Shape 39"/>
          <p:cNvSpPr/>
          <p:nvPr/>
        </p:nvSpPr>
        <p:spPr>
          <a:xfrm>
            <a:off x="1469390" y="5344795"/>
            <a:ext cx="1961515" cy="794385"/>
          </a:xfrm>
          <a:prstGeom prst="roundRect">
            <a:avLst>
              <a:gd name="adj" fmla="val 24074"/>
            </a:avLst>
          </a:prstGeom>
          <a:solidFill>
            <a:srgbClr val="EAF4FF"/>
          </a:solidFill>
          <a:ln w="15240">
            <a:solidFill>
              <a:srgbClr val="AFC7E0"/>
            </a:solidFill>
            <a:prstDash val="solid"/>
          </a:ln>
        </p:spPr>
      </p:sp>
      <p:sp>
        <p:nvSpPr>
          <p:cNvPr id="42" name="Text 40"/>
          <p:cNvSpPr/>
          <p:nvPr/>
        </p:nvSpPr>
        <p:spPr>
          <a:xfrm>
            <a:off x="1531620" y="5478780"/>
            <a:ext cx="1900555" cy="224155"/>
          </a:xfrm>
          <a:prstGeom prst="rect">
            <a:avLst/>
          </a:prstGeom>
          <a:noFill/>
        </p:spPr>
        <p:txBody>
          <a:bodyPr wrap="square" lIns="0" tIns="0" rIns="0" bIns="0" rtlCol="0" anchor="ctr"/>
          <a:lstStyle/>
          <a:p>
            <a:pPr marL="0" indent="0" algn="ctr">
              <a:buNone/>
            </a:pPr>
            <a:r>
              <a:rPr lang="en-US" sz="1600" b="1" dirty="0">
                <a:solidFill>
                  <a:srgbClr val="08233F"/>
                </a:solidFill>
                <a:latin typeface="Aptos" pitchFamily="34" charset="0"/>
                <a:ea typeface="Aptos" pitchFamily="34" charset="-122"/>
                <a:cs typeface="Aptos" pitchFamily="34" charset="-120"/>
              </a:rPr>
              <a:t>Candidate YAML</a:t>
            </a:r>
            <a:endParaRPr lang="en-US" sz="1600" b="1" dirty="0">
              <a:solidFill>
                <a:srgbClr val="08233F"/>
              </a:solidFill>
              <a:latin typeface="Aptos" pitchFamily="34" charset="0"/>
              <a:ea typeface="Aptos" pitchFamily="34" charset="-122"/>
              <a:cs typeface="Aptos" pitchFamily="34" charset="-120"/>
            </a:endParaRPr>
          </a:p>
        </p:txBody>
      </p:sp>
      <p:sp>
        <p:nvSpPr>
          <p:cNvPr id="43" name="Text 41"/>
          <p:cNvSpPr/>
          <p:nvPr/>
        </p:nvSpPr>
        <p:spPr>
          <a:xfrm>
            <a:off x="1628775" y="5749290"/>
            <a:ext cx="1598930" cy="288925"/>
          </a:xfrm>
          <a:prstGeom prst="rect">
            <a:avLst/>
          </a:prstGeom>
          <a:noFill/>
        </p:spPr>
        <p:txBody>
          <a:bodyPr wrap="square" lIns="0" tIns="0" rIns="0" bIns="0" rtlCol="0" anchor="ctr">
            <a:normAutofit/>
          </a:bodyPr>
          <a:lstStyle/>
          <a:p>
            <a:pPr marL="0" indent="0" algn="ctr">
              <a:buNone/>
            </a:pPr>
            <a:r>
              <a:rPr lang="en-US" sz="1400" b="1" dirty="0">
                <a:solidFill>
                  <a:srgbClr val="1264E0"/>
                </a:solidFill>
                <a:latin typeface="Aptos" pitchFamily="34" charset="0"/>
                <a:ea typeface="Aptos" pitchFamily="34" charset="-122"/>
                <a:cs typeface="Aptos" pitchFamily="34" charset="-120"/>
              </a:rPr>
              <a:t>agent / task / eval</a:t>
            </a:r>
            <a:endParaRPr lang="en-US" sz="1400" b="1" dirty="0">
              <a:solidFill>
                <a:srgbClr val="1264E0"/>
              </a:solidFill>
              <a:latin typeface="Aptos" pitchFamily="34" charset="0"/>
              <a:ea typeface="Aptos" pitchFamily="34" charset="-122"/>
              <a:cs typeface="Aptos" pitchFamily="34" charset="-120"/>
            </a:endParaRPr>
          </a:p>
        </p:txBody>
      </p:sp>
      <p:sp>
        <p:nvSpPr>
          <p:cNvPr id="44" name="Shape 42"/>
          <p:cNvSpPr/>
          <p:nvPr/>
        </p:nvSpPr>
        <p:spPr>
          <a:xfrm>
            <a:off x="4029710" y="5344795"/>
            <a:ext cx="1812290" cy="794385"/>
          </a:xfrm>
          <a:prstGeom prst="roundRect">
            <a:avLst>
              <a:gd name="adj" fmla="val 24074"/>
            </a:avLst>
          </a:prstGeom>
          <a:solidFill>
            <a:srgbClr val="FFF4DB"/>
          </a:solidFill>
          <a:ln w="15240">
            <a:solidFill>
              <a:srgbClr val="AFC7E0"/>
            </a:solidFill>
            <a:prstDash val="solid"/>
          </a:ln>
        </p:spPr>
      </p:sp>
      <p:sp>
        <p:nvSpPr>
          <p:cNvPr id="45" name="Text 43"/>
          <p:cNvSpPr/>
          <p:nvPr/>
        </p:nvSpPr>
        <p:spPr>
          <a:xfrm>
            <a:off x="4145915" y="5452110"/>
            <a:ext cx="1613535" cy="288925"/>
          </a:xfrm>
          <a:prstGeom prst="rect">
            <a:avLst/>
          </a:prstGeom>
          <a:noFill/>
        </p:spPr>
        <p:txBody>
          <a:bodyPr wrap="square" lIns="0" tIns="0" rIns="0" bIns="0" rtlCol="0" anchor="ctr">
            <a:noAutofit/>
          </a:bodyPr>
          <a:lstStyle/>
          <a:p>
            <a:pPr marL="0" indent="0" algn="ctr">
              <a:buNone/>
            </a:pPr>
            <a:r>
              <a:rPr lang="en-US" b="1" dirty="0">
                <a:solidFill>
                  <a:srgbClr val="08233F"/>
                </a:solidFill>
                <a:latin typeface="Aptos" pitchFamily="34" charset="0"/>
                <a:ea typeface="Aptos" pitchFamily="34" charset="-122"/>
                <a:cs typeface="Aptos" pitchFamily="34" charset="-120"/>
              </a:rPr>
              <a:t>Sampled task</a:t>
            </a:r>
            <a:endParaRPr lang="en-US" b="1" dirty="0">
              <a:solidFill>
                <a:srgbClr val="08233F"/>
              </a:solidFill>
              <a:latin typeface="Aptos" pitchFamily="34" charset="0"/>
              <a:ea typeface="Aptos" pitchFamily="34" charset="-122"/>
              <a:cs typeface="Aptos" pitchFamily="34" charset="-120"/>
            </a:endParaRPr>
          </a:p>
        </p:txBody>
      </p:sp>
      <p:sp>
        <p:nvSpPr>
          <p:cNvPr id="46" name="Text 44"/>
          <p:cNvSpPr/>
          <p:nvPr/>
        </p:nvSpPr>
        <p:spPr>
          <a:xfrm>
            <a:off x="4277995" y="5796915"/>
            <a:ext cx="1264285" cy="220345"/>
          </a:xfrm>
          <a:prstGeom prst="rect">
            <a:avLst/>
          </a:prstGeom>
          <a:noFill/>
        </p:spPr>
        <p:txBody>
          <a:bodyPr wrap="square" lIns="0" tIns="0" rIns="0" bIns="0" rtlCol="0" anchor="ctr">
            <a:noAutofit/>
          </a:bodyPr>
          <a:lstStyle/>
          <a:p>
            <a:pPr marL="0" indent="0" algn="ctr">
              <a:buNone/>
            </a:pPr>
            <a:r>
              <a:rPr lang="en-US" sz="1400" b="1" dirty="0">
                <a:solidFill>
                  <a:srgbClr val="F59E0B"/>
                </a:solidFill>
                <a:latin typeface="Aptos" pitchFamily="34" charset="0"/>
                <a:ea typeface="Aptos" pitchFamily="34" charset="-122"/>
                <a:cs typeface="Aptos" pitchFamily="34" charset="-120"/>
              </a:rPr>
              <a:t>TASKS = 1</a:t>
            </a:r>
            <a:endParaRPr lang="en-US" sz="1400" b="1" dirty="0">
              <a:solidFill>
                <a:srgbClr val="F59E0B"/>
              </a:solidFill>
              <a:latin typeface="Aptos" pitchFamily="34" charset="0"/>
              <a:ea typeface="Aptos" pitchFamily="34" charset="-122"/>
              <a:cs typeface="Aptos" pitchFamily="34" charset="-120"/>
            </a:endParaRPr>
          </a:p>
        </p:txBody>
      </p:sp>
      <p:sp>
        <p:nvSpPr>
          <p:cNvPr id="47" name="Shape 45"/>
          <p:cNvSpPr/>
          <p:nvPr/>
        </p:nvSpPr>
        <p:spPr>
          <a:xfrm>
            <a:off x="6590030" y="5344795"/>
            <a:ext cx="1853565" cy="794385"/>
          </a:xfrm>
          <a:prstGeom prst="roundRect">
            <a:avLst>
              <a:gd name="adj" fmla="val 24074"/>
            </a:avLst>
          </a:prstGeom>
          <a:solidFill>
            <a:srgbClr val="E8F7F2"/>
          </a:solidFill>
          <a:ln w="15240">
            <a:solidFill>
              <a:srgbClr val="AFC7E0"/>
            </a:solidFill>
            <a:prstDash val="solid"/>
          </a:ln>
        </p:spPr>
      </p:sp>
      <p:sp>
        <p:nvSpPr>
          <p:cNvPr id="48" name="Text 46"/>
          <p:cNvSpPr/>
          <p:nvPr/>
        </p:nvSpPr>
        <p:spPr>
          <a:xfrm>
            <a:off x="6652260" y="5447665"/>
            <a:ext cx="1671320" cy="321310"/>
          </a:xfrm>
          <a:prstGeom prst="rect">
            <a:avLst/>
          </a:prstGeom>
          <a:noFill/>
        </p:spPr>
        <p:txBody>
          <a:bodyPr wrap="square" lIns="0" tIns="0" rIns="0" bIns="0" rtlCol="0" anchor="ctr">
            <a:noAutofit/>
          </a:bodyPr>
          <a:lstStyle/>
          <a:p>
            <a:pPr marL="0" indent="0" algn="ctr">
              <a:buNone/>
            </a:pPr>
            <a:r>
              <a:rPr lang="en-US" b="1" dirty="0">
                <a:solidFill>
                  <a:srgbClr val="08233F"/>
                </a:solidFill>
                <a:latin typeface="Aptos" pitchFamily="34" charset="0"/>
                <a:ea typeface="Aptos" pitchFamily="34" charset="-122"/>
                <a:cs typeface="Aptos" pitchFamily="34" charset="-120"/>
              </a:rPr>
              <a:t>Evaluator</a:t>
            </a:r>
            <a:endParaRPr lang="en-US" b="1" dirty="0">
              <a:solidFill>
                <a:srgbClr val="08233F"/>
              </a:solidFill>
              <a:latin typeface="Aptos" pitchFamily="34" charset="0"/>
              <a:ea typeface="Aptos" pitchFamily="34" charset="-122"/>
              <a:cs typeface="Aptos" pitchFamily="34" charset="-120"/>
            </a:endParaRPr>
          </a:p>
        </p:txBody>
      </p:sp>
      <p:sp>
        <p:nvSpPr>
          <p:cNvPr id="49" name="Text 47"/>
          <p:cNvSpPr/>
          <p:nvPr/>
        </p:nvSpPr>
        <p:spPr>
          <a:xfrm>
            <a:off x="6663055" y="5795645"/>
            <a:ext cx="1699895" cy="248920"/>
          </a:xfrm>
          <a:prstGeom prst="rect">
            <a:avLst/>
          </a:prstGeom>
          <a:noFill/>
        </p:spPr>
        <p:txBody>
          <a:bodyPr wrap="square" lIns="0" tIns="0" rIns="0" bIns="0" rtlCol="0" anchor="ctr">
            <a:noAutofit/>
          </a:bodyPr>
          <a:lstStyle/>
          <a:p>
            <a:pPr marL="0" indent="0" algn="ctr">
              <a:buNone/>
            </a:pPr>
            <a:r>
              <a:rPr lang="en-US" sz="1400" b="1" dirty="0">
                <a:solidFill>
                  <a:srgbClr val="0D8B82"/>
                </a:solidFill>
                <a:latin typeface="Aptos" pitchFamily="34" charset="0"/>
                <a:ea typeface="Aptos" pitchFamily="34" charset="-122"/>
                <a:cs typeface="Aptos" pitchFamily="34" charset="-120"/>
              </a:rPr>
              <a:t>preference + review</a:t>
            </a:r>
            <a:endParaRPr lang="en-US" sz="1400" b="1" dirty="0">
              <a:solidFill>
                <a:srgbClr val="0D8B82"/>
              </a:solidFill>
              <a:latin typeface="Aptos" pitchFamily="34" charset="0"/>
              <a:ea typeface="Aptos" pitchFamily="34" charset="-122"/>
              <a:cs typeface="Aptos" pitchFamily="34" charset="-120"/>
            </a:endParaRPr>
          </a:p>
        </p:txBody>
      </p:sp>
      <p:sp>
        <p:nvSpPr>
          <p:cNvPr id="50" name="Shape 48"/>
          <p:cNvSpPr/>
          <p:nvPr/>
        </p:nvSpPr>
        <p:spPr>
          <a:xfrm>
            <a:off x="9123045" y="5344795"/>
            <a:ext cx="2087245" cy="794385"/>
          </a:xfrm>
          <a:prstGeom prst="roundRect">
            <a:avLst>
              <a:gd name="adj" fmla="val 24074"/>
            </a:avLst>
          </a:prstGeom>
          <a:solidFill>
            <a:srgbClr val="EEF2F7"/>
          </a:solidFill>
          <a:ln w="15240">
            <a:solidFill>
              <a:srgbClr val="AFC7E0"/>
            </a:solidFill>
            <a:prstDash val="solid"/>
          </a:ln>
        </p:spPr>
      </p:sp>
      <p:sp>
        <p:nvSpPr>
          <p:cNvPr id="51" name="Text 49"/>
          <p:cNvSpPr/>
          <p:nvPr/>
        </p:nvSpPr>
        <p:spPr>
          <a:xfrm>
            <a:off x="9185275" y="5418455"/>
            <a:ext cx="2083435" cy="347345"/>
          </a:xfrm>
          <a:prstGeom prst="rect">
            <a:avLst/>
          </a:prstGeom>
          <a:noFill/>
        </p:spPr>
        <p:txBody>
          <a:bodyPr wrap="square" lIns="0" tIns="0" rIns="0" bIns="0" rtlCol="0" anchor="ctr">
            <a:noAutofit/>
          </a:bodyPr>
          <a:lstStyle/>
          <a:p>
            <a:pPr marL="0" indent="0" algn="ctr">
              <a:buNone/>
            </a:pPr>
            <a:r>
              <a:rPr lang="en-US" b="1" dirty="0">
                <a:solidFill>
                  <a:srgbClr val="08233F"/>
                </a:solidFill>
                <a:latin typeface="Aptos" pitchFamily="34" charset="0"/>
                <a:ea typeface="Aptos" pitchFamily="34" charset="-122"/>
                <a:cs typeface="Aptos" pitchFamily="34" charset="-120"/>
              </a:rPr>
              <a:t>Checkpoint DB</a:t>
            </a:r>
            <a:endParaRPr lang="en-US" b="1" dirty="0">
              <a:solidFill>
                <a:srgbClr val="08233F"/>
              </a:solidFill>
              <a:latin typeface="Aptos" pitchFamily="34" charset="0"/>
              <a:ea typeface="Aptos" pitchFamily="34" charset="-122"/>
              <a:cs typeface="Aptos" pitchFamily="34" charset="-120"/>
            </a:endParaRPr>
          </a:p>
        </p:txBody>
      </p:sp>
      <p:sp>
        <p:nvSpPr>
          <p:cNvPr id="52" name="Text 50"/>
          <p:cNvSpPr/>
          <p:nvPr/>
        </p:nvSpPr>
        <p:spPr>
          <a:xfrm>
            <a:off x="9260840" y="5807710"/>
            <a:ext cx="1882775" cy="248920"/>
          </a:xfrm>
          <a:prstGeom prst="rect">
            <a:avLst/>
          </a:prstGeom>
          <a:noFill/>
        </p:spPr>
        <p:txBody>
          <a:bodyPr wrap="square" lIns="0" tIns="0" rIns="0" bIns="0" rtlCol="0" anchor="ctr">
            <a:noAutofit/>
          </a:bodyPr>
          <a:lstStyle/>
          <a:p>
            <a:pPr marL="0" indent="0" algn="ctr">
              <a:buNone/>
            </a:pPr>
            <a:r>
              <a:rPr lang="en-US" sz="1400" b="1" dirty="0">
                <a:solidFill>
                  <a:srgbClr val="5B6B80"/>
                </a:solidFill>
                <a:latin typeface="Aptos" pitchFamily="34" charset="0"/>
                <a:ea typeface="Aptos" pitchFamily="34" charset="-122"/>
                <a:cs typeface="Aptos" pitchFamily="34" charset="-120"/>
              </a:rPr>
              <a:t>visualizer output</a:t>
            </a:r>
            <a:endParaRPr lang="en-US" sz="1400" b="1" dirty="0">
              <a:solidFill>
                <a:srgbClr val="5B6B80"/>
              </a:solidFill>
              <a:latin typeface="Aptos" pitchFamily="34" charset="0"/>
              <a:ea typeface="Aptos" pitchFamily="34" charset="-122"/>
              <a:cs typeface="Aptos" pitchFamily="34" charset="-120"/>
            </a:endParaRPr>
          </a:p>
        </p:txBody>
      </p:sp>
      <p:sp>
        <p:nvSpPr>
          <p:cNvPr id="5" name="Text 0"/>
          <p:cNvSpPr/>
          <p:nvPr/>
        </p:nvSpPr>
        <p:spPr>
          <a:xfrm>
            <a:off x="411480" y="210185"/>
            <a:ext cx="3632200" cy="310515"/>
          </a:xfrm>
          <a:prstGeom prst="rect">
            <a:avLst/>
          </a:prstGeom>
          <a:noFill/>
        </p:spPr>
        <p:txBody>
          <a:bodyPr wrap="square" lIns="0" tIns="0" rIns="0" bIns="0" rtlCol="0" anchor="ctr">
            <a:noAutofit/>
          </a:bodyPr>
          <a:lstStyle/>
          <a:p>
            <a:pPr marL="0" indent="0">
              <a:buNone/>
            </a:pPr>
            <a:r>
              <a:rPr lang="vi-VN" altLang="en-US" sz="2000" b="1" dirty="0">
                <a:solidFill>
                  <a:srgbClr val="2563EB"/>
                </a:solidFill>
                <a:latin typeface="Arial" panose="020B0704020202020204" pitchFamily="34" charset="0"/>
                <a:ea typeface="Arial" panose="020B0704020202020204" pitchFamily="34" charset="-122"/>
                <a:cs typeface="Arial" panose="020B0704020202020204" pitchFamily="34" charset="-120"/>
              </a:rPr>
              <a:t>PARAMETER </a:t>
            </a:r>
            <a:r>
              <a:rPr lang="vi-VN" altLang="en-US" sz="2000" b="1" dirty="0">
                <a:solidFill>
                  <a:srgbClr val="2563EB"/>
                </a:solidFill>
                <a:latin typeface="Arial" panose="020B0704020202020204" pitchFamily="34" charset="0"/>
                <a:ea typeface="Arial" panose="020B0704020202020204" pitchFamily="34" charset="-122"/>
                <a:cs typeface="Arial" panose="020B0704020202020204" pitchFamily="34" charset="-120"/>
              </a:rPr>
              <a:t>SETTINGS</a:t>
            </a:r>
            <a:endParaRPr lang="vi-VN" altLang="en-US" sz="2000" b="1" dirty="0">
              <a:solidFill>
                <a:srgbClr val="2563EB"/>
              </a:solidFill>
              <a:latin typeface="Arial" panose="020B0704020202020204" pitchFamily="34" charset="0"/>
              <a:ea typeface="Arial" panose="020B0704020202020204" pitchFamily="34" charset="-122"/>
              <a:cs typeface="Arial" panose="020B0704020202020204" pitchFamily="34" charset="-120"/>
            </a:endParaRPr>
          </a:p>
        </p:txBody>
      </p:sp>
      <p:sp>
        <p:nvSpPr>
          <p:cNvPr id="54" name="Shape 3"/>
          <p:cNvSpPr/>
          <p:nvPr/>
        </p:nvSpPr>
        <p:spPr>
          <a:xfrm>
            <a:off x="411480" y="628650"/>
            <a:ext cx="11292840" cy="0"/>
          </a:xfrm>
          <a:prstGeom prst="line">
            <a:avLst/>
          </a:prstGeom>
          <a:noFill/>
          <a:ln w="15240">
            <a:solidFill>
              <a:srgbClr val="CFDDEA"/>
            </a:solidFill>
            <a:prstDash val="solid"/>
          </a:ln>
        </p:spPr>
      </p:sp>
      <p:sp>
        <p:nvSpPr>
          <p:cNvPr id="55"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b="1" dirty="0">
                <a:solidFill>
                  <a:srgbClr val="64748B"/>
                </a:solidFill>
                <a:latin typeface="Aptos" pitchFamily="34" charset="0"/>
                <a:ea typeface="Aptos" pitchFamily="34" charset="-122"/>
                <a:cs typeface="Aptos" pitchFamily="34" charset="-120"/>
              </a:rPr>
              <a:t>0</a:t>
            </a:r>
            <a:r>
              <a:rPr lang="vi-VN" altLang="en-US" sz="1000" b="1" dirty="0">
                <a:solidFill>
                  <a:srgbClr val="64748B"/>
                </a:solidFill>
                <a:latin typeface="Aptos" pitchFamily="34" charset="0"/>
                <a:ea typeface="Aptos" pitchFamily="34" charset="-122"/>
                <a:cs typeface="Aptos" pitchFamily="34" charset="-120"/>
              </a:rPr>
              <a:t>3</a:t>
            </a:r>
            <a:endParaRPr lang="vi-VN" altLang="en-US"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1920240" cy="201168"/>
          </a:xfrm>
          <a:prstGeom prst="rect">
            <a:avLst/>
          </a:prstGeom>
          <a:noFill/>
        </p:spPr>
        <p:txBody>
          <a:bodyPr wrap="square" lIns="0" tIns="0" rIns="0" bIns="0" rtlCol="0" anchor="ctr">
            <a:noAutofit/>
          </a:bodyPr>
          <a:lstStyle/>
          <a:p>
            <a:pPr marL="0" indent="0" algn="l">
              <a:buNone/>
            </a:pPr>
            <a:r>
              <a:rPr lang="en-US" sz="2000" b="1" dirty="0">
                <a:solidFill>
                  <a:srgbClr val="0969DA"/>
                </a:solidFill>
                <a:latin typeface="Aptos" pitchFamily="34" charset="0"/>
                <a:ea typeface="Aptos" pitchFamily="34" charset="-122"/>
                <a:cs typeface="Aptos" pitchFamily="34" charset="-120"/>
              </a:rPr>
              <a:t>AGENTS</a:t>
            </a:r>
            <a:endParaRPr lang="vi-VN" altLang="en-US" sz="1000" b="1" dirty="0">
              <a:solidFill>
                <a:srgbClr val="0969DA"/>
              </a:solidFill>
              <a:latin typeface="Aptos" pitchFamily="34" charset="0"/>
              <a:ea typeface="Aptos" pitchFamily="34" charset="-122"/>
              <a:cs typeface="Aptos" pitchFamily="34" charset="-120"/>
            </a:endParaRPr>
          </a:p>
        </p:txBody>
      </p:sp>
      <p:sp>
        <p:nvSpPr>
          <p:cNvPr id="4" name="Shape 2"/>
          <p:cNvSpPr/>
          <p:nvPr/>
        </p:nvSpPr>
        <p:spPr>
          <a:xfrm>
            <a:off x="502920" y="565658"/>
            <a:ext cx="11109960" cy="0"/>
          </a:xfrm>
          <a:prstGeom prst="line">
            <a:avLst/>
          </a:prstGeom>
          <a:noFill/>
          <a:ln w="12700">
            <a:solidFill>
              <a:srgbClr val="CBD8E6"/>
            </a:solidFill>
            <a:prstDash val="solid"/>
          </a:ln>
        </p:spPr>
      </p:sp>
      <p:sp>
        <p:nvSpPr>
          <p:cNvPr id="5" name="Shape 3"/>
          <p:cNvSpPr/>
          <p:nvPr/>
        </p:nvSpPr>
        <p:spPr>
          <a:xfrm>
            <a:off x="530352" y="1089152"/>
            <a:ext cx="11109960" cy="2916936"/>
          </a:xfrm>
          <a:prstGeom prst="roundRect">
            <a:avLst>
              <a:gd name="adj" fmla="val 3762"/>
            </a:avLst>
          </a:prstGeom>
          <a:solidFill>
            <a:srgbClr val="FFFFFF"/>
          </a:solidFill>
          <a:ln w="12700">
            <a:solidFill>
              <a:srgbClr val="CBD8E6"/>
            </a:solidFill>
            <a:prstDash val="solid"/>
          </a:ln>
        </p:spPr>
      </p:sp>
      <p:sp>
        <p:nvSpPr>
          <p:cNvPr id="6" name="Shape 4"/>
          <p:cNvSpPr/>
          <p:nvPr/>
        </p:nvSpPr>
        <p:spPr>
          <a:xfrm>
            <a:off x="530352" y="1089152"/>
            <a:ext cx="2944368" cy="411480"/>
          </a:xfrm>
          <a:prstGeom prst="rect">
            <a:avLst/>
          </a:prstGeom>
          <a:solidFill>
            <a:srgbClr val="072541"/>
          </a:solidFill>
          <a:ln w="8890">
            <a:solidFill>
              <a:srgbClr val="CBD8E6"/>
            </a:solidFill>
            <a:prstDash val="solid"/>
          </a:ln>
        </p:spPr>
      </p:sp>
      <p:sp>
        <p:nvSpPr>
          <p:cNvPr id="7" name="Text 5"/>
          <p:cNvSpPr/>
          <p:nvPr/>
        </p:nvSpPr>
        <p:spPr>
          <a:xfrm>
            <a:off x="594360" y="1134872"/>
            <a:ext cx="2816352" cy="320040"/>
          </a:xfrm>
          <a:prstGeom prst="rect">
            <a:avLst/>
          </a:prstGeom>
          <a:noFill/>
        </p:spPr>
        <p:txBody>
          <a:bodyPr wrap="square" lIns="0" tIns="0" rIns="0" bIns="0" rtlCol="0" anchor="ctr">
            <a:normAutofit/>
          </a:bodyPr>
          <a:lstStyle/>
          <a:p>
            <a:pPr marL="0" indent="0" algn="l">
              <a:buNone/>
            </a:pPr>
            <a:r>
              <a:rPr lang="en-US" sz="1320" b="1" dirty="0">
                <a:solidFill>
                  <a:srgbClr val="FFFFFF"/>
                </a:solidFill>
                <a:latin typeface="Aptos" pitchFamily="34" charset="0"/>
                <a:ea typeface="Aptos" pitchFamily="34" charset="-122"/>
                <a:cs typeface="Aptos" pitchFamily="34" charset="-120"/>
              </a:rPr>
              <a:t>Agent</a:t>
            </a:r>
            <a:endParaRPr lang="en-US" sz="1320" dirty="0"/>
          </a:p>
        </p:txBody>
      </p:sp>
      <p:sp>
        <p:nvSpPr>
          <p:cNvPr id="8" name="Shape 6"/>
          <p:cNvSpPr/>
          <p:nvPr/>
        </p:nvSpPr>
        <p:spPr>
          <a:xfrm>
            <a:off x="3474720" y="1089152"/>
            <a:ext cx="5614416" cy="411480"/>
          </a:xfrm>
          <a:prstGeom prst="rect">
            <a:avLst/>
          </a:prstGeom>
          <a:solidFill>
            <a:srgbClr val="072541"/>
          </a:solidFill>
          <a:ln w="8890">
            <a:solidFill>
              <a:srgbClr val="CBD8E6"/>
            </a:solidFill>
            <a:prstDash val="solid"/>
          </a:ln>
        </p:spPr>
      </p:sp>
      <p:sp>
        <p:nvSpPr>
          <p:cNvPr id="9" name="Text 7"/>
          <p:cNvSpPr/>
          <p:nvPr/>
        </p:nvSpPr>
        <p:spPr>
          <a:xfrm>
            <a:off x="3538728" y="1134872"/>
            <a:ext cx="5486400" cy="320040"/>
          </a:xfrm>
          <a:prstGeom prst="rect">
            <a:avLst/>
          </a:prstGeom>
          <a:noFill/>
        </p:spPr>
        <p:txBody>
          <a:bodyPr wrap="square" lIns="0" tIns="0" rIns="0" bIns="0" rtlCol="0" anchor="ctr">
            <a:normAutofit/>
          </a:bodyPr>
          <a:lstStyle/>
          <a:p>
            <a:pPr marL="0" indent="0" algn="l">
              <a:buNone/>
            </a:pPr>
            <a:r>
              <a:rPr lang="en-US" sz="1320" b="1" dirty="0">
                <a:solidFill>
                  <a:srgbClr val="FFFFFF"/>
                </a:solidFill>
                <a:latin typeface="Aptos" pitchFamily="34" charset="0"/>
                <a:ea typeface="Aptos" pitchFamily="34" charset="-122"/>
                <a:cs typeface="Aptos" pitchFamily="34" charset="-120"/>
              </a:rPr>
              <a:t>Role / goal</a:t>
            </a:r>
            <a:endParaRPr lang="en-US" sz="1320" dirty="0"/>
          </a:p>
        </p:txBody>
      </p:sp>
      <p:sp>
        <p:nvSpPr>
          <p:cNvPr id="10" name="Shape 8"/>
          <p:cNvSpPr/>
          <p:nvPr/>
        </p:nvSpPr>
        <p:spPr>
          <a:xfrm>
            <a:off x="9089136" y="1089152"/>
            <a:ext cx="2551176" cy="411480"/>
          </a:xfrm>
          <a:prstGeom prst="rect">
            <a:avLst/>
          </a:prstGeom>
          <a:solidFill>
            <a:srgbClr val="072541"/>
          </a:solidFill>
          <a:ln w="8890">
            <a:solidFill>
              <a:srgbClr val="CBD8E6"/>
            </a:solidFill>
            <a:prstDash val="solid"/>
          </a:ln>
        </p:spPr>
      </p:sp>
      <p:sp>
        <p:nvSpPr>
          <p:cNvPr id="11" name="Text 9"/>
          <p:cNvSpPr/>
          <p:nvPr/>
        </p:nvSpPr>
        <p:spPr>
          <a:xfrm>
            <a:off x="9153144" y="1134872"/>
            <a:ext cx="2423160" cy="320040"/>
          </a:xfrm>
          <a:prstGeom prst="rect">
            <a:avLst/>
          </a:prstGeom>
          <a:noFill/>
        </p:spPr>
        <p:txBody>
          <a:bodyPr wrap="square" lIns="0" tIns="0" rIns="0" bIns="0" rtlCol="0" anchor="ctr">
            <a:normAutofit/>
          </a:bodyPr>
          <a:lstStyle/>
          <a:p>
            <a:pPr marL="0" indent="0" algn="l">
              <a:buNone/>
            </a:pPr>
            <a:r>
              <a:rPr lang="en-US" sz="1320" b="1" dirty="0">
                <a:solidFill>
                  <a:srgbClr val="FFFFFF"/>
                </a:solidFill>
                <a:latin typeface="Aptos" pitchFamily="34" charset="0"/>
                <a:ea typeface="Aptos" pitchFamily="34" charset="-122"/>
                <a:cs typeface="Aptos" pitchFamily="34" charset="-120"/>
              </a:rPr>
              <a:t>Tool use / constraint</a:t>
            </a:r>
            <a:endParaRPr lang="en-US" sz="1320" dirty="0"/>
          </a:p>
        </p:txBody>
      </p:sp>
      <p:sp>
        <p:nvSpPr>
          <p:cNvPr id="12" name="Shape 10"/>
          <p:cNvSpPr/>
          <p:nvPr/>
        </p:nvSpPr>
        <p:spPr>
          <a:xfrm>
            <a:off x="530352" y="1500632"/>
            <a:ext cx="2944368" cy="530352"/>
          </a:xfrm>
          <a:prstGeom prst="rect">
            <a:avLst/>
          </a:prstGeom>
          <a:solidFill>
            <a:srgbClr val="FFFFFF"/>
          </a:solidFill>
          <a:ln w="8890">
            <a:solidFill>
              <a:srgbClr val="CBD8E6"/>
            </a:solidFill>
            <a:prstDash val="solid"/>
          </a:ln>
        </p:spPr>
      </p:sp>
      <p:sp>
        <p:nvSpPr>
          <p:cNvPr id="13" name="Text 11"/>
          <p:cNvSpPr/>
          <p:nvPr/>
        </p:nvSpPr>
        <p:spPr>
          <a:xfrm>
            <a:off x="594360" y="1546352"/>
            <a:ext cx="2816352" cy="438912"/>
          </a:xfrm>
          <a:prstGeom prst="rect">
            <a:avLst/>
          </a:prstGeom>
          <a:noFill/>
        </p:spPr>
        <p:txBody>
          <a:bodyPr wrap="square" lIns="0" tIns="0" rIns="0" bIns="0" rtlCol="0" anchor="ctr">
            <a:normAutofit/>
          </a:bodyPr>
          <a:lstStyle/>
          <a:p>
            <a:pPr marL="0" indent="0" algn="l">
              <a:buNone/>
            </a:pPr>
            <a:r>
              <a:rPr lang="en-US" sz="1240" b="1" dirty="0">
                <a:solidFill>
                  <a:srgbClr val="072541"/>
                </a:solidFill>
                <a:latin typeface="Aptos" pitchFamily="34" charset="0"/>
                <a:ea typeface="Aptos" pitchFamily="34" charset="-122"/>
                <a:cs typeface="Aptos" pitchFamily="34" charset="-120"/>
              </a:rPr>
              <a:t>1. Exact Yelp Data Retriever</a:t>
            </a:r>
            <a:endParaRPr lang="en-US" sz="1240" dirty="0"/>
          </a:p>
        </p:txBody>
      </p:sp>
      <p:sp>
        <p:nvSpPr>
          <p:cNvPr id="14" name="Shape 12"/>
          <p:cNvSpPr/>
          <p:nvPr/>
        </p:nvSpPr>
        <p:spPr>
          <a:xfrm>
            <a:off x="3474720" y="1500632"/>
            <a:ext cx="5614416" cy="530352"/>
          </a:xfrm>
          <a:prstGeom prst="rect">
            <a:avLst/>
          </a:prstGeom>
          <a:solidFill>
            <a:srgbClr val="FFFFFF"/>
          </a:solidFill>
          <a:ln w="8890">
            <a:solidFill>
              <a:srgbClr val="CBD8E6"/>
            </a:solidFill>
            <a:prstDash val="solid"/>
          </a:ln>
        </p:spPr>
      </p:sp>
      <p:sp>
        <p:nvSpPr>
          <p:cNvPr id="15" name="Text 13"/>
          <p:cNvSpPr/>
          <p:nvPr/>
        </p:nvSpPr>
        <p:spPr>
          <a:xfrm>
            <a:off x="3538728" y="1546352"/>
            <a:ext cx="5486400" cy="438912"/>
          </a:xfrm>
          <a:prstGeom prst="rect">
            <a:avLst/>
          </a:prstGeom>
          <a:noFill/>
        </p:spPr>
        <p:txBody>
          <a:bodyPr wrap="square" lIns="0" tIns="0" rIns="0" bIns="0" rtlCol="0" anchor="ctr">
            <a:normAutofit/>
          </a:bodyPr>
          <a:lstStyle/>
          <a:p>
            <a:pPr marL="0" indent="0" algn="l">
              <a:buNone/>
            </a:pPr>
            <a:r>
              <a:rPr lang="en-US" sz="1210" dirty="0">
                <a:solidFill>
                  <a:srgbClr val="0B1F33"/>
                </a:solidFill>
                <a:latin typeface="Aptos" pitchFamily="34" charset="0"/>
                <a:ea typeface="Aptos" pitchFamily="34" charset="-122"/>
                <a:cs typeface="Aptos" pitchFamily="34" charset="-120"/>
              </a:rPr>
              <a:t>Lookup user, item, and direct-review evidence; build prediction_context with predicted_stars + trace.</a:t>
            </a:r>
            <a:endParaRPr lang="en-US" sz="1210" dirty="0"/>
          </a:p>
        </p:txBody>
      </p:sp>
      <p:sp>
        <p:nvSpPr>
          <p:cNvPr id="16" name="Shape 14"/>
          <p:cNvSpPr/>
          <p:nvPr/>
        </p:nvSpPr>
        <p:spPr>
          <a:xfrm>
            <a:off x="9089136" y="1500632"/>
            <a:ext cx="2551176" cy="530352"/>
          </a:xfrm>
          <a:prstGeom prst="rect">
            <a:avLst/>
          </a:prstGeom>
          <a:solidFill>
            <a:srgbClr val="FFFFFF"/>
          </a:solidFill>
          <a:ln w="8890">
            <a:solidFill>
              <a:srgbClr val="CBD8E6"/>
            </a:solidFill>
            <a:prstDash val="solid"/>
          </a:ln>
        </p:spPr>
      </p:sp>
      <p:sp>
        <p:nvSpPr>
          <p:cNvPr id="17" name="Text 15"/>
          <p:cNvSpPr/>
          <p:nvPr/>
        </p:nvSpPr>
        <p:spPr>
          <a:xfrm>
            <a:off x="9153144" y="1546352"/>
            <a:ext cx="2423160" cy="438912"/>
          </a:xfrm>
          <a:prstGeom prst="rect">
            <a:avLst/>
          </a:prstGeom>
          <a:noFill/>
        </p:spPr>
        <p:txBody>
          <a:bodyPr wrap="square" lIns="0" tIns="0" rIns="0" bIns="0" rtlCol="0" anchor="ctr">
            <a:normAutofit/>
          </a:bodyPr>
          <a:lstStyle/>
          <a:p>
            <a:pPr marL="0" indent="0" algn="l">
              <a:buNone/>
            </a:pPr>
            <a:r>
              <a:rPr lang="en-US" sz="1210" i="1" dirty="0">
                <a:solidFill>
                  <a:srgbClr val="0B1F33"/>
                </a:solidFill>
                <a:latin typeface="Aptos" pitchFamily="34" charset="0"/>
                <a:ea typeface="Aptos" pitchFamily="34" charset="-122"/>
                <a:cs typeface="Aptos" pitchFamily="34" charset="-120"/>
              </a:rPr>
              <a:t>Lookup tools allowed only here</a:t>
            </a:r>
            <a:endParaRPr lang="en-US" sz="1210" dirty="0"/>
          </a:p>
        </p:txBody>
      </p:sp>
      <p:sp>
        <p:nvSpPr>
          <p:cNvPr id="18" name="Shape 16"/>
          <p:cNvSpPr/>
          <p:nvPr/>
        </p:nvSpPr>
        <p:spPr>
          <a:xfrm>
            <a:off x="530352" y="2030984"/>
            <a:ext cx="2944368" cy="475488"/>
          </a:xfrm>
          <a:prstGeom prst="rect">
            <a:avLst/>
          </a:prstGeom>
          <a:solidFill>
            <a:srgbClr val="F6F8FB"/>
          </a:solidFill>
          <a:ln w="8890">
            <a:solidFill>
              <a:srgbClr val="CBD8E6"/>
            </a:solidFill>
            <a:prstDash val="solid"/>
          </a:ln>
        </p:spPr>
      </p:sp>
      <p:sp>
        <p:nvSpPr>
          <p:cNvPr id="19" name="Text 17"/>
          <p:cNvSpPr/>
          <p:nvPr/>
        </p:nvSpPr>
        <p:spPr>
          <a:xfrm>
            <a:off x="594360" y="2076704"/>
            <a:ext cx="2816352" cy="384048"/>
          </a:xfrm>
          <a:prstGeom prst="rect">
            <a:avLst/>
          </a:prstGeom>
          <a:noFill/>
        </p:spPr>
        <p:txBody>
          <a:bodyPr wrap="square" lIns="0" tIns="0" rIns="0" bIns="0" rtlCol="0" anchor="ctr">
            <a:normAutofit/>
          </a:bodyPr>
          <a:lstStyle/>
          <a:p>
            <a:pPr marL="0" indent="0" algn="l">
              <a:buNone/>
            </a:pPr>
            <a:r>
              <a:rPr lang="en-US" sz="1240" b="1" dirty="0">
                <a:solidFill>
                  <a:srgbClr val="072541"/>
                </a:solidFill>
                <a:latin typeface="Aptos" pitchFamily="34" charset="0"/>
                <a:ea typeface="Aptos" pitchFamily="34" charset="-122"/>
                <a:cs typeface="Aptos" pitchFamily="34" charset="-120"/>
              </a:rPr>
              <a:t>2. Yelp Case Detection Analyst</a:t>
            </a:r>
            <a:endParaRPr lang="en-US" sz="1240" dirty="0"/>
          </a:p>
        </p:txBody>
      </p:sp>
      <p:sp>
        <p:nvSpPr>
          <p:cNvPr id="20" name="Shape 18"/>
          <p:cNvSpPr/>
          <p:nvPr/>
        </p:nvSpPr>
        <p:spPr>
          <a:xfrm>
            <a:off x="3474720" y="2030984"/>
            <a:ext cx="5614416" cy="475488"/>
          </a:xfrm>
          <a:prstGeom prst="rect">
            <a:avLst/>
          </a:prstGeom>
          <a:solidFill>
            <a:srgbClr val="F6F8FB"/>
          </a:solidFill>
          <a:ln w="8890">
            <a:solidFill>
              <a:srgbClr val="CBD8E6"/>
            </a:solidFill>
            <a:prstDash val="solid"/>
          </a:ln>
        </p:spPr>
      </p:sp>
      <p:sp>
        <p:nvSpPr>
          <p:cNvPr id="21" name="Text 19"/>
          <p:cNvSpPr/>
          <p:nvPr/>
        </p:nvSpPr>
        <p:spPr>
          <a:xfrm>
            <a:off x="3538728" y="2076704"/>
            <a:ext cx="5486400" cy="384048"/>
          </a:xfrm>
          <a:prstGeom prst="rect">
            <a:avLst/>
          </a:prstGeom>
          <a:noFill/>
        </p:spPr>
        <p:txBody>
          <a:bodyPr wrap="square" lIns="0" tIns="0" rIns="0" bIns="0" rtlCol="0" anchor="ctr">
            <a:normAutofit/>
          </a:bodyPr>
          <a:lstStyle/>
          <a:p>
            <a:pPr marL="0" indent="0" algn="l">
              <a:buNone/>
            </a:pPr>
            <a:r>
              <a:rPr lang="en-US" sz="1210" dirty="0">
                <a:solidFill>
                  <a:srgbClr val="0B1F33"/>
                </a:solidFill>
                <a:latin typeface="Aptos" pitchFamily="34" charset="0"/>
                <a:ea typeface="Aptos" pitchFamily="34" charset="-122"/>
                <a:cs typeface="Aptos" pitchFamily="34" charset="-120"/>
              </a:rPr>
              <a:t>Classify evidence availability and route what later agents may use.</a:t>
            </a:r>
            <a:endParaRPr lang="en-US" sz="1210" dirty="0"/>
          </a:p>
        </p:txBody>
      </p:sp>
      <p:sp>
        <p:nvSpPr>
          <p:cNvPr id="22" name="Shape 20"/>
          <p:cNvSpPr/>
          <p:nvPr/>
        </p:nvSpPr>
        <p:spPr>
          <a:xfrm>
            <a:off x="9089136" y="2030984"/>
            <a:ext cx="2551176" cy="475488"/>
          </a:xfrm>
          <a:prstGeom prst="rect">
            <a:avLst/>
          </a:prstGeom>
          <a:solidFill>
            <a:srgbClr val="F6F8FB"/>
          </a:solidFill>
          <a:ln w="8890">
            <a:solidFill>
              <a:srgbClr val="CBD8E6"/>
            </a:solidFill>
            <a:prstDash val="solid"/>
          </a:ln>
        </p:spPr>
      </p:sp>
      <p:sp>
        <p:nvSpPr>
          <p:cNvPr id="23" name="Text 21"/>
          <p:cNvSpPr/>
          <p:nvPr/>
        </p:nvSpPr>
        <p:spPr>
          <a:xfrm>
            <a:off x="9153144" y="2076704"/>
            <a:ext cx="2423160" cy="384048"/>
          </a:xfrm>
          <a:prstGeom prst="rect">
            <a:avLst/>
          </a:prstGeom>
          <a:noFill/>
        </p:spPr>
        <p:txBody>
          <a:bodyPr wrap="square" lIns="0" tIns="0" rIns="0" bIns="0" rtlCol="0" anchor="ctr">
            <a:normAutofit/>
          </a:bodyPr>
          <a:lstStyle/>
          <a:p>
            <a:pPr marL="0" indent="0" algn="l">
              <a:buNone/>
            </a:pPr>
            <a:r>
              <a:rPr lang="en-US" sz="1210" dirty="0">
                <a:solidFill>
                  <a:srgbClr val="0B1F33"/>
                </a:solidFill>
                <a:latin typeface="Aptos" pitchFamily="34" charset="0"/>
                <a:ea typeface="Aptos" pitchFamily="34" charset="-122"/>
                <a:cs typeface="Aptos" pitchFamily="34" charset="-120"/>
              </a:rPr>
              <a:t>No extra tools</a:t>
            </a:r>
            <a:endParaRPr lang="en-US" sz="1210" dirty="0"/>
          </a:p>
        </p:txBody>
      </p:sp>
      <p:sp>
        <p:nvSpPr>
          <p:cNvPr id="24" name="Shape 22"/>
          <p:cNvSpPr/>
          <p:nvPr/>
        </p:nvSpPr>
        <p:spPr>
          <a:xfrm>
            <a:off x="530352" y="2506472"/>
            <a:ext cx="2944368" cy="512064"/>
          </a:xfrm>
          <a:prstGeom prst="rect">
            <a:avLst/>
          </a:prstGeom>
          <a:solidFill>
            <a:srgbClr val="FFFFFF"/>
          </a:solidFill>
          <a:ln w="8890">
            <a:solidFill>
              <a:srgbClr val="CBD8E6"/>
            </a:solidFill>
            <a:prstDash val="solid"/>
          </a:ln>
        </p:spPr>
      </p:sp>
      <p:sp>
        <p:nvSpPr>
          <p:cNvPr id="25" name="Text 23"/>
          <p:cNvSpPr/>
          <p:nvPr/>
        </p:nvSpPr>
        <p:spPr>
          <a:xfrm>
            <a:off x="594360" y="2552192"/>
            <a:ext cx="2816352" cy="420624"/>
          </a:xfrm>
          <a:prstGeom prst="rect">
            <a:avLst/>
          </a:prstGeom>
          <a:noFill/>
        </p:spPr>
        <p:txBody>
          <a:bodyPr wrap="square" lIns="0" tIns="0" rIns="0" bIns="0" rtlCol="0" anchor="ctr">
            <a:normAutofit/>
          </a:bodyPr>
          <a:lstStyle/>
          <a:p>
            <a:pPr marL="0" indent="0" algn="l">
              <a:buNone/>
            </a:pPr>
            <a:r>
              <a:rPr lang="en-US" sz="1240" b="1" dirty="0">
                <a:solidFill>
                  <a:srgbClr val="072541"/>
                </a:solidFill>
                <a:latin typeface="Aptos" pitchFamily="34" charset="0"/>
                <a:ea typeface="Aptos" pitchFamily="34" charset="-122"/>
                <a:cs typeface="Aptos" pitchFamily="34" charset="-120"/>
              </a:rPr>
              <a:t>3. Yelp User Behavior Analyst</a:t>
            </a:r>
            <a:endParaRPr lang="en-US" sz="1240" dirty="0"/>
          </a:p>
        </p:txBody>
      </p:sp>
      <p:sp>
        <p:nvSpPr>
          <p:cNvPr id="26" name="Shape 24"/>
          <p:cNvSpPr/>
          <p:nvPr/>
        </p:nvSpPr>
        <p:spPr>
          <a:xfrm>
            <a:off x="3474720" y="2506472"/>
            <a:ext cx="5614416" cy="512064"/>
          </a:xfrm>
          <a:prstGeom prst="rect">
            <a:avLst/>
          </a:prstGeom>
          <a:solidFill>
            <a:srgbClr val="FFFFFF"/>
          </a:solidFill>
          <a:ln w="8890">
            <a:solidFill>
              <a:srgbClr val="CBD8E6"/>
            </a:solidFill>
            <a:prstDash val="solid"/>
          </a:ln>
        </p:spPr>
      </p:sp>
      <p:sp>
        <p:nvSpPr>
          <p:cNvPr id="27" name="Text 25"/>
          <p:cNvSpPr/>
          <p:nvPr/>
        </p:nvSpPr>
        <p:spPr>
          <a:xfrm>
            <a:off x="3538728" y="2552192"/>
            <a:ext cx="5486400" cy="420624"/>
          </a:xfrm>
          <a:prstGeom prst="rect">
            <a:avLst/>
          </a:prstGeom>
          <a:noFill/>
        </p:spPr>
        <p:txBody>
          <a:bodyPr wrap="square" lIns="0" tIns="0" rIns="0" bIns="0" rtlCol="0" anchor="ctr">
            <a:normAutofit/>
          </a:bodyPr>
          <a:lstStyle/>
          <a:p>
            <a:pPr marL="0" indent="0" algn="l">
              <a:buNone/>
            </a:pPr>
            <a:r>
              <a:rPr lang="en-US" sz="1210" dirty="0">
                <a:solidFill>
                  <a:srgbClr val="0B1F33"/>
                </a:solidFill>
                <a:latin typeface="Aptos" pitchFamily="34" charset="0"/>
                <a:ea typeface="Aptos" pitchFamily="34" charset="-122"/>
                <a:cs typeface="Aptos" pitchFamily="34" charset="-120"/>
              </a:rPr>
              <a:t>Turn user history into voice: rating tendency, writing style, vocabulary, length.</a:t>
            </a:r>
            <a:endParaRPr lang="en-US" sz="1210" dirty="0"/>
          </a:p>
        </p:txBody>
      </p:sp>
      <p:sp>
        <p:nvSpPr>
          <p:cNvPr id="28" name="Shape 26"/>
          <p:cNvSpPr/>
          <p:nvPr/>
        </p:nvSpPr>
        <p:spPr>
          <a:xfrm>
            <a:off x="9089136" y="2506472"/>
            <a:ext cx="2551176" cy="512064"/>
          </a:xfrm>
          <a:prstGeom prst="rect">
            <a:avLst/>
          </a:prstGeom>
          <a:solidFill>
            <a:srgbClr val="FFFFFF"/>
          </a:solidFill>
          <a:ln w="8890">
            <a:solidFill>
              <a:srgbClr val="CBD8E6"/>
            </a:solidFill>
            <a:prstDash val="solid"/>
          </a:ln>
        </p:spPr>
      </p:sp>
      <p:sp>
        <p:nvSpPr>
          <p:cNvPr id="29" name="Text 27"/>
          <p:cNvSpPr/>
          <p:nvPr/>
        </p:nvSpPr>
        <p:spPr>
          <a:xfrm>
            <a:off x="9153144" y="2552192"/>
            <a:ext cx="2423160" cy="420624"/>
          </a:xfrm>
          <a:prstGeom prst="rect">
            <a:avLst/>
          </a:prstGeom>
          <a:noFill/>
        </p:spPr>
        <p:txBody>
          <a:bodyPr wrap="square" lIns="0" tIns="0" rIns="0" bIns="0" rtlCol="0" anchor="ctr">
            <a:normAutofit/>
          </a:bodyPr>
          <a:lstStyle/>
          <a:p>
            <a:pPr marL="0" indent="0" algn="l">
              <a:buNone/>
            </a:pPr>
            <a:r>
              <a:rPr lang="en-US" sz="1210" i="1" dirty="0">
                <a:solidFill>
                  <a:srgbClr val="0B1F33"/>
                </a:solidFill>
                <a:latin typeface="Aptos" pitchFamily="34" charset="0"/>
                <a:ea typeface="Aptos" pitchFamily="34" charset="-122"/>
                <a:cs typeface="Aptos" pitchFamily="34" charset="-120"/>
              </a:rPr>
              <a:t>No tools; no star recalculation</a:t>
            </a:r>
            <a:endParaRPr lang="en-US" sz="1210" dirty="0"/>
          </a:p>
        </p:txBody>
      </p:sp>
      <p:sp>
        <p:nvSpPr>
          <p:cNvPr id="30" name="Shape 28"/>
          <p:cNvSpPr/>
          <p:nvPr/>
        </p:nvSpPr>
        <p:spPr>
          <a:xfrm>
            <a:off x="530352" y="3018536"/>
            <a:ext cx="2944368" cy="512064"/>
          </a:xfrm>
          <a:prstGeom prst="rect">
            <a:avLst/>
          </a:prstGeom>
          <a:solidFill>
            <a:srgbClr val="F6F8FB"/>
          </a:solidFill>
          <a:ln w="8890">
            <a:solidFill>
              <a:srgbClr val="CBD8E6"/>
            </a:solidFill>
            <a:prstDash val="solid"/>
          </a:ln>
        </p:spPr>
      </p:sp>
      <p:sp>
        <p:nvSpPr>
          <p:cNvPr id="31" name="Text 29"/>
          <p:cNvSpPr/>
          <p:nvPr/>
        </p:nvSpPr>
        <p:spPr>
          <a:xfrm>
            <a:off x="594360" y="3064256"/>
            <a:ext cx="2816352" cy="420624"/>
          </a:xfrm>
          <a:prstGeom prst="rect">
            <a:avLst/>
          </a:prstGeom>
          <a:noFill/>
        </p:spPr>
        <p:txBody>
          <a:bodyPr wrap="square" lIns="0" tIns="0" rIns="0" bIns="0" rtlCol="0" anchor="ctr">
            <a:normAutofit/>
          </a:bodyPr>
          <a:lstStyle/>
          <a:p>
            <a:pPr marL="0" indent="0" algn="l">
              <a:buNone/>
            </a:pPr>
            <a:r>
              <a:rPr lang="en-US" sz="1240" b="1" dirty="0">
                <a:solidFill>
                  <a:srgbClr val="072541"/>
                </a:solidFill>
                <a:latin typeface="Aptos" pitchFamily="34" charset="0"/>
                <a:ea typeface="Aptos" pitchFamily="34" charset="-122"/>
                <a:cs typeface="Aptos" pitchFamily="34" charset="-120"/>
              </a:rPr>
              <a:t>4. Yelp Item Review Context Analyst</a:t>
            </a:r>
            <a:endParaRPr lang="en-US" sz="1240" dirty="0"/>
          </a:p>
        </p:txBody>
      </p:sp>
      <p:sp>
        <p:nvSpPr>
          <p:cNvPr id="32" name="Shape 30"/>
          <p:cNvSpPr/>
          <p:nvPr/>
        </p:nvSpPr>
        <p:spPr>
          <a:xfrm>
            <a:off x="3474720" y="3018536"/>
            <a:ext cx="5614416" cy="512064"/>
          </a:xfrm>
          <a:prstGeom prst="rect">
            <a:avLst/>
          </a:prstGeom>
          <a:solidFill>
            <a:srgbClr val="F6F8FB"/>
          </a:solidFill>
          <a:ln w="8890">
            <a:solidFill>
              <a:srgbClr val="CBD8E6"/>
            </a:solidFill>
            <a:prstDash val="solid"/>
          </a:ln>
        </p:spPr>
      </p:sp>
      <p:sp>
        <p:nvSpPr>
          <p:cNvPr id="33" name="Text 31"/>
          <p:cNvSpPr/>
          <p:nvPr/>
        </p:nvSpPr>
        <p:spPr>
          <a:xfrm>
            <a:off x="3538728" y="3064256"/>
            <a:ext cx="5486400" cy="420624"/>
          </a:xfrm>
          <a:prstGeom prst="rect">
            <a:avLst/>
          </a:prstGeom>
          <a:noFill/>
        </p:spPr>
        <p:txBody>
          <a:bodyPr wrap="square" lIns="0" tIns="0" rIns="0" bIns="0" rtlCol="0" anchor="ctr">
            <a:normAutofit/>
          </a:bodyPr>
          <a:lstStyle/>
          <a:p>
            <a:pPr marL="0" indent="0" algn="l">
              <a:buNone/>
            </a:pPr>
            <a:r>
              <a:rPr lang="en-US" sz="1210" dirty="0">
                <a:solidFill>
                  <a:srgbClr val="0B1F33"/>
                </a:solidFill>
                <a:latin typeface="Aptos" pitchFamily="34" charset="0"/>
                <a:ea typeface="Aptos" pitchFamily="34" charset="-122"/>
                <a:cs typeface="Aptos" pitchFamily="34" charset="-120"/>
              </a:rPr>
              <a:t>Turn item + direct-review evidence into safe facts, anchors, and forbidden claims.</a:t>
            </a:r>
            <a:endParaRPr lang="en-US" sz="1210" dirty="0"/>
          </a:p>
        </p:txBody>
      </p:sp>
      <p:sp>
        <p:nvSpPr>
          <p:cNvPr id="34" name="Shape 32"/>
          <p:cNvSpPr/>
          <p:nvPr/>
        </p:nvSpPr>
        <p:spPr>
          <a:xfrm>
            <a:off x="9089136" y="3018536"/>
            <a:ext cx="2551176" cy="512064"/>
          </a:xfrm>
          <a:prstGeom prst="rect">
            <a:avLst/>
          </a:prstGeom>
          <a:solidFill>
            <a:srgbClr val="F6F8FB"/>
          </a:solidFill>
          <a:ln w="8890">
            <a:solidFill>
              <a:srgbClr val="CBD8E6"/>
            </a:solidFill>
            <a:prstDash val="solid"/>
          </a:ln>
        </p:spPr>
      </p:sp>
      <p:sp>
        <p:nvSpPr>
          <p:cNvPr id="35" name="Text 33"/>
          <p:cNvSpPr/>
          <p:nvPr/>
        </p:nvSpPr>
        <p:spPr>
          <a:xfrm>
            <a:off x="9153144" y="3064256"/>
            <a:ext cx="2423160" cy="420624"/>
          </a:xfrm>
          <a:prstGeom prst="rect">
            <a:avLst/>
          </a:prstGeom>
          <a:noFill/>
        </p:spPr>
        <p:txBody>
          <a:bodyPr wrap="square" lIns="0" tIns="0" rIns="0" bIns="0" rtlCol="0" anchor="ctr">
            <a:normAutofit/>
          </a:bodyPr>
          <a:lstStyle/>
          <a:p>
            <a:pPr marL="0" indent="0" algn="l">
              <a:buNone/>
            </a:pPr>
            <a:r>
              <a:rPr lang="en-US" sz="1210" dirty="0">
                <a:solidFill>
                  <a:srgbClr val="0B1F33"/>
                </a:solidFill>
                <a:latin typeface="Aptos" pitchFamily="34" charset="0"/>
                <a:ea typeface="Aptos" pitchFamily="34" charset="-122"/>
                <a:cs typeface="Aptos" pitchFamily="34" charset="-120"/>
              </a:rPr>
              <a:t>No tools; no invented facts</a:t>
            </a:r>
            <a:endParaRPr lang="en-US" sz="1210" dirty="0"/>
          </a:p>
        </p:txBody>
      </p:sp>
      <p:sp>
        <p:nvSpPr>
          <p:cNvPr id="36" name="Shape 34"/>
          <p:cNvSpPr/>
          <p:nvPr/>
        </p:nvSpPr>
        <p:spPr>
          <a:xfrm>
            <a:off x="530352" y="3530600"/>
            <a:ext cx="2944368" cy="475488"/>
          </a:xfrm>
          <a:prstGeom prst="rect">
            <a:avLst/>
          </a:prstGeom>
          <a:solidFill>
            <a:srgbClr val="FFFFFF"/>
          </a:solidFill>
          <a:ln w="8890">
            <a:solidFill>
              <a:srgbClr val="CBD8E6"/>
            </a:solidFill>
            <a:prstDash val="solid"/>
          </a:ln>
        </p:spPr>
      </p:sp>
      <p:sp>
        <p:nvSpPr>
          <p:cNvPr id="37" name="Text 35"/>
          <p:cNvSpPr/>
          <p:nvPr/>
        </p:nvSpPr>
        <p:spPr>
          <a:xfrm>
            <a:off x="594360" y="3576320"/>
            <a:ext cx="2816352" cy="384048"/>
          </a:xfrm>
          <a:prstGeom prst="rect">
            <a:avLst/>
          </a:prstGeom>
          <a:noFill/>
        </p:spPr>
        <p:txBody>
          <a:bodyPr wrap="square" lIns="0" tIns="0" rIns="0" bIns="0" rtlCol="0" anchor="ctr">
            <a:normAutofit/>
          </a:bodyPr>
          <a:lstStyle/>
          <a:p>
            <a:pPr marL="0" indent="0" algn="l">
              <a:buNone/>
            </a:pPr>
            <a:r>
              <a:rPr lang="en-US" sz="1240" b="1" dirty="0">
                <a:solidFill>
                  <a:srgbClr val="072541"/>
                </a:solidFill>
                <a:latin typeface="Aptos" pitchFamily="34" charset="0"/>
                <a:ea typeface="Aptos" pitchFamily="34" charset="-122"/>
                <a:cs typeface="Aptos" pitchFamily="34" charset="-120"/>
              </a:rPr>
              <a:t>5. Deterministic Review Simulator</a:t>
            </a:r>
            <a:endParaRPr lang="en-US" sz="1240" dirty="0"/>
          </a:p>
        </p:txBody>
      </p:sp>
      <p:sp>
        <p:nvSpPr>
          <p:cNvPr id="38" name="Shape 36"/>
          <p:cNvSpPr/>
          <p:nvPr/>
        </p:nvSpPr>
        <p:spPr>
          <a:xfrm>
            <a:off x="3474720" y="3530600"/>
            <a:ext cx="5614416" cy="475488"/>
          </a:xfrm>
          <a:prstGeom prst="rect">
            <a:avLst/>
          </a:prstGeom>
          <a:solidFill>
            <a:srgbClr val="FFFFFF"/>
          </a:solidFill>
          <a:ln w="8890">
            <a:solidFill>
              <a:srgbClr val="CBD8E6"/>
            </a:solidFill>
            <a:prstDash val="solid"/>
          </a:ln>
        </p:spPr>
      </p:sp>
      <p:sp>
        <p:nvSpPr>
          <p:cNvPr id="39" name="Text 37"/>
          <p:cNvSpPr/>
          <p:nvPr/>
        </p:nvSpPr>
        <p:spPr>
          <a:xfrm>
            <a:off x="3538728" y="3576320"/>
            <a:ext cx="5486400" cy="384048"/>
          </a:xfrm>
          <a:prstGeom prst="rect">
            <a:avLst/>
          </a:prstGeom>
          <a:noFill/>
        </p:spPr>
        <p:txBody>
          <a:bodyPr wrap="square" lIns="0" tIns="0" rIns="0" bIns="0" rtlCol="0" anchor="ctr">
            <a:normAutofit/>
          </a:bodyPr>
          <a:lstStyle/>
          <a:p>
            <a:pPr marL="0" indent="0" algn="l">
              <a:buNone/>
            </a:pPr>
            <a:r>
              <a:rPr lang="en-US" sz="1210" dirty="0">
                <a:solidFill>
                  <a:srgbClr val="0B1F33"/>
                </a:solidFill>
                <a:latin typeface="Aptos" pitchFamily="34" charset="0"/>
                <a:ea typeface="Aptos" pitchFamily="34" charset="-122"/>
                <a:cs typeface="Aptos" pitchFamily="34" charset="-120"/>
              </a:rPr>
              <a:t>Write final JSON review using user voice + grounded content.</a:t>
            </a:r>
            <a:endParaRPr lang="en-US" sz="1210" dirty="0"/>
          </a:p>
        </p:txBody>
      </p:sp>
      <p:sp>
        <p:nvSpPr>
          <p:cNvPr id="40" name="Shape 38"/>
          <p:cNvSpPr/>
          <p:nvPr/>
        </p:nvSpPr>
        <p:spPr>
          <a:xfrm>
            <a:off x="9089136" y="3530600"/>
            <a:ext cx="2551176" cy="475488"/>
          </a:xfrm>
          <a:prstGeom prst="rect">
            <a:avLst/>
          </a:prstGeom>
          <a:solidFill>
            <a:srgbClr val="FFFFFF"/>
          </a:solidFill>
          <a:ln w="8890">
            <a:solidFill>
              <a:srgbClr val="CBD8E6"/>
            </a:solidFill>
            <a:prstDash val="solid"/>
          </a:ln>
        </p:spPr>
      </p:sp>
      <p:sp>
        <p:nvSpPr>
          <p:cNvPr id="41" name="Text 39"/>
          <p:cNvSpPr/>
          <p:nvPr/>
        </p:nvSpPr>
        <p:spPr>
          <a:xfrm>
            <a:off x="9153144" y="3576320"/>
            <a:ext cx="2423160" cy="384048"/>
          </a:xfrm>
          <a:prstGeom prst="rect">
            <a:avLst/>
          </a:prstGeom>
          <a:noFill/>
        </p:spPr>
        <p:txBody>
          <a:bodyPr wrap="square" lIns="0" tIns="0" rIns="0" bIns="0" rtlCol="0" anchor="ctr">
            <a:normAutofit/>
          </a:bodyPr>
          <a:lstStyle/>
          <a:p>
            <a:pPr marL="0" indent="0" algn="l">
              <a:buNone/>
            </a:pPr>
            <a:r>
              <a:rPr lang="en-US" sz="1210" i="1" dirty="0">
                <a:solidFill>
                  <a:srgbClr val="0B1F33"/>
                </a:solidFill>
                <a:latin typeface="Aptos" pitchFamily="34" charset="0"/>
                <a:ea typeface="Aptos" pitchFamily="34" charset="-122"/>
                <a:cs typeface="Aptos" pitchFamily="34" charset="-120"/>
              </a:rPr>
              <a:t>No tools; copy predicted_stars</a:t>
            </a:r>
            <a:endParaRPr lang="en-US" sz="1210" dirty="0"/>
          </a:p>
        </p:txBody>
      </p:sp>
      <p:sp>
        <p:nvSpPr>
          <p:cNvPr id="42" name="Shape 40"/>
          <p:cNvSpPr/>
          <p:nvPr/>
        </p:nvSpPr>
        <p:spPr>
          <a:xfrm>
            <a:off x="868680" y="4490720"/>
            <a:ext cx="3246120" cy="841248"/>
          </a:xfrm>
          <a:prstGeom prst="roundRect">
            <a:avLst>
              <a:gd name="adj" fmla="val 19565"/>
            </a:avLst>
          </a:prstGeom>
          <a:solidFill>
            <a:srgbClr val="EAF4FF"/>
          </a:solidFill>
          <a:ln w="13970">
            <a:solidFill>
              <a:srgbClr val="CBD8E6"/>
            </a:solidFill>
            <a:prstDash val="solid"/>
          </a:ln>
        </p:spPr>
      </p:sp>
      <p:sp>
        <p:nvSpPr>
          <p:cNvPr id="43" name="Text 41"/>
          <p:cNvSpPr/>
          <p:nvPr/>
        </p:nvSpPr>
        <p:spPr>
          <a:xfrm>
            <a:off x="1033272" y="4609592"/>
            <a:ext cx="2916936" cy="182880"/>
          </a:xfrm>
          <a:prstGeom prst="rect">
            <a:avLst/>
          </a:prstGeom>
          <a:noFill/>
        </p:spPr>
        <p:txBody>
          <a:bodyPr wrap="square" lIns="0" tIns="0" rIns="0" bIns="0" rtlCol="0" anchor="ctr">
            <a:normAutofit/>
          </a:bodyPr>
          <a:lstStyle/>
          <a:p>
            <a:pPr marL="0" indent="0" algn="l">
              <a:buNone/>
            </a:pPr>
            <a:r>
              <a:rPr lang="en-US" sz="1040" b="1" dirty="0">
                <a:solidFill>
                  <a:srgbClr val="0969DA"/>
                </a:solidFill>
                <a:latin typeface="Aptos" pitchFamily="34" charset="0"/>
                <a:ea typeface="Aptos" pitchFamily="34" charset="-122"/>
                <a:cs typeface="Aptos" pitchFamily="34" charset="-120"/>
              </a:rPr>
              <a:t>TOOL BOUNDARY</a:t>
            </a:r>
            <a:endParaRPr lang="en-US" sz="1040" b="1" dirty="0">
              <a:solidFill>
                <a:srgbClr val="0969DA"/>
              </a:solidFill>
              <a:latin typeface="Aptos" pitchFamily="34" charset="0"/>
              <a:ea typeface="Aptos" pitchFamily="34" charset="-122"/>
              <a:cs typeface="Aptos" pitchFamily="34" charset="-120"/>
            </a:endParaRPr>
          </a:p>
        </p:txBody>
      </p:sp>
      <p:sp>
        <p:nvSpPr>
          <p:cNvPr id="44" name="Text 42"/>
          <p:cNvSpPr/>
          <p:nvPr/>
        </p:nvSpPr>
        <p:spPr>
          <a:xfrm>
            <a:off x="1033272" y="4874768"/>
            <a:ext cx="2916936" cy="347472"/>
          </a:xfrm>
          <a:prstGeom prst="rect">
            <a:avLst/>
          </a:prstGeom>
          <a:noFill/>
        </p:spPr>
        <p:txBody>
          <a:bodyPr wrap="square" lIns="0" tIns="0" rIns="0" bIns="0" rtlCol="0" anchor="ctr">
            <a:noAutofit/>
          </a:bodyPr>
          <a:lstStyle/>
          <a:p>
            <a:pPr marL="0" indent="0" algn="l">
              <a:buNone/>
            </a:pPr>
            <a:r>
              <a:rPr lang="en-US" sz="1400" dirty="0">
                <a:solidFill>
                  <a:srgbClr val="0B1F33"/>
                </a:solidFill>
                <a:latin typeface="Aptos" pitchFamily="34" charset="0"/>
                <a:ea typeface="Aptos" pitchFamily="34" charset="-122"/>
                <a:cs typeface="Aptos" pitchFamily="34" charset="-120"/>
              </a:rPr>
              <a:t>Only retrieval/scoring uses lookup tools.</a:t>
            </a:r>
            <a:endParaRPr lang="en-US" sz="1400" dirty="0">
              <a:solidFill>
                <a:srgbClr val="0B1F33"/>
              </a:solidFill>
              <a:latin typeface="Aptos" pitchFamily="34" charset="0"/>
              <a:ea typeface="Aptos" pitchFamily="34" charset="-122"/>
              <a:cs typeface="Aptos" pitchFamily="34" charset="-120"/>
            </a:endParaRPr>
          </a:p>
        </p:txBody>
      </p:sp>
      <p:sp>
        <p:nvSpPr>
          <p:cNvPr id="45" name="Shape 43"/>
          <p:cNvSpPr/>
          <p:nvPr/>
        </p:nvSpPr>
        <p:spPr>
          <a:xfrm>
            <a:off x="4498848" y="4490720"/>
            <a:ext cx="3246120" cy="841248"/>
          </a:xfrm>
          <a:prstGeom prst="roundRect">
            <a:avLst>
              <a:gd name="adj" fmla="val 19565"/>
            </a:avLst>
          </a:prstGeom>
          <a:solidFill>
            <a:srgbClr val="EAFBF3"/>
          </a:solidFill>
          <a:ln w="13970">
            <a:solidFill>
              <a:srgbClr val="CBD8E6"/>
            </a:solidFill>
            <a:prstDash val="solid"/>
          </a:ln>
        </p:spPr>
      </p:sp>
      <p:sp>
        <p:nvSpPr>
          <p:cNvPr id="46" name="Text 44"/>
          <p:cNvSpPr/>
          <p:nvPr/>
        </p:nvSpPr>
        <p:spPr>
          <a:xfrm>
            <a:off x="4663440" y="4609592"/>
            <a:ext cx="2916936" cy="182880"/>
          </a:xfrm>
          <a:prstGeom prst="rect">
            <a:avLst/>
          </a:prstGeom>
          <a:noFill/>
        </p:spPr>
        <p:txBody>
          <a:bodyPr wrap="square" lIns="0" tIns="0" rIns="0" bIns="0" rtlCol="0" anchor="ctr">
            <a:normAutofit/>
          </a:bodyPr>
          <a:lstStyle/>
          <a:p>
            <a:pPr marL="0" indent="0" algn="l">
              <a:buNone/>
            </a:pPr>
            <a:r>
              <a:rPr lang="en-US" sz="1040" b="1" dirty="0">
                <a:solidFill>
                  <a:srgbClr val="0EA66B"/>
                </a:solidFill>
                <a:latin typeface="Aptos" pitchFamily="34" charset="0"/>
                <a:ea typeface="Aptos" pitchFamily="34" charset="-122"/>
                <a:cs typeface="Aptos" pitchFamily="34" charset="-120"/>
              </a:rPr>
              <a:t>EVIDENCE BOUNDARY</a:t>
            </a:r>
            <a:endParaRPr lang="en-US" sz="1040" b="1" dirty="0">
              <a:solidFill>
                <a:srgbClr val="0EA66B"/>
              </a:solidFill>
              <a:latin typeface="Aptos" pitchFamily="34" charset="0"/>
              <a:ea typeface="Aptos" pitchFamily="34" charset="-122"/>
              <a:cs typeface="Aptos" pitchFamily="34" charset="-120"/>
            </a:endParaRPr>
          </a:p>
        </p:txBody>
      </p:sp>
      <p:sp>
        <p:nvSpPr>
          <p:cNvPr id="47" name="Text 45"/>
          <p:cNvSpPr/>
          <p:nvPr/>
        </p:nvSpPr>
        <p:spPr>
          <a:xfrm>
            <a:off x="4663440" y="4874768"/>
            <a:ext cx="2916936" cy="347472"/>
          </a:xfrm>
          <a:prstGeom prst="rect">
            <a:avLst/>
          </a:prstGeom>
          <a:noFill/>
        </p:spPr>
        <p:txBody>
          <a:bodyPr wrap="square" lIns="0" tIns="0" rIns="0" bIns="0" rtlCol="0" anchor="ctr">
            <a:noAutofit/>
          </a:bodyPr>
          <a:lstStyle/>
          <a:p>
            <a:pPr marL="0" indent="0" algn="l">
              <a:buNone/>
            </a:pPr>
            <a:r>
              <a:rPr lang="en-US" sz="1400" dirty="0">
                <a:solidFill>
                  <a:srgbClr val="0B1F33"/>
                </a:solidFill>
                <a:latin typeface="Aptos" pitchFamily="34" charset="0"/>
                <a:ea typeface="Aptos" pitchFamily="34" charset="-122"/>
                <a:cs typeface="Aptos" pitchFamily="34" charset="-120"/>
              </a:rPr>
              <a:t>Missing user/item/direct-review evidence cannot be invented.</a:t>
            </a:r>
            <a:endParaRPr lang="en-US" sz="1400" dirty="0">
              <a:solidFill>
                <a:srgbClr val="0B1F33"/>
              </a:solidFill>
              <a:latin typeface="Aptos" pitchFamily="34" charset="0"/>
              <a:ea typeface="Aptos" pitchFamily="34" charset="-122"/>
              <a:cs typeface="Aptos" pitchFamily="34" charset="-120"/>
            </a:endParaRPr>
          </a:p>
        </p:txBody>
      </p:sp>
      <p:sp>
        <p:nvSpPr>
          <p:cNvPr id="48" name="Shape 46"/>
          <p:cNvSpPr/>
          <p:nvPr/>
        </p:nvSpPr>
        <p:spPr>
          <a:xfrm>
            <a:off x="8129016" y="4490720"/>
            <a:ext cx="3246120" cy="841248"/>
          </a:xfrm>
          <a:prstGeom prst="roundRect">
            <a:avLst>
              <a:gd name="adj" fmla="val 19565"/>
            </a:avLst>
          </a:prstGeom>
          <a:solidFill>
            <a:srgbClr val="FFF7E3"/>
          </a:solidFill>
          <a:ln w="13970">
            <a:solidFill>
              <a:srgbClr val="CBD8E6"/>
            </a:solidFill>
            <a:prstDash val="solid"/>
          </a:ln>
        </p:spPr>
      </p:sp>
      <p:sp>
        <p:nvSpPr>
          <p:cNvPr id="49" name="Text 47"/>
          <p:cNvSpPr/>
          <p:nvPr/>
        </p:nvSpPr>
        <p:spPr>
          <a:xfrm>
            <a:off x="8293608" y="4609592"/>
            <a:ext cx="2916936" cy="182880"/>
          </a:xfrm>
          <a:prstGeom prst="rect">
            <a:avLst/>
          </a:prstGeom>
          <a:noFill/>
        </p:spPr>
        <p:txBody>
          <a:bodyPr wrap="square" lIns="0" tIns="0" rIns="0" bIns="0" rtlCol="0" anchor="ctr">
            <a:normAutofit/>
          </a:bodyPr>
          <a:lstStyle/>
          <a:p>
            <a:pPr marL="0" indent="0" algn="l">
              <a:buNone/>
            </a:pPr>
            <a:r>
              <a:rPr lang="en-US" sz="1040" b="1" dirty="0">
                <a:solidFill>
                  <a:srgbClr val="F59E0B"/>
                </a:solidFill>
                <a:latin typeface="Aptos" pitchFamily="34" charset="0"/>
                <a:ea typeface="Aptos" pitchFamily="34" charset="-122"/>
                <a:cs typeface="Aptos" pitchFamily="34" charset="-120"/>
              </a:rPr>
              <a:t>RATING BOUNDARY</a:t>
            </a:r>
            <a:endParaRPr lang="en-US" sz="1040" b="1" dirty="0">
              <a:solidFill>
                <a:srgbClr val="F59E0B"/>
              </a:solidFill>
              <a:latin typeface="Aptos" pitchFamily="34" charset="0"/>
              <a:ea typeface="Aptos" pitchFamily="34" charset="-122"/>
              <a:cs typeface="Aptos" pitchFamily="34" charset="-120"/>
            </a:endParaRPr>
          </a:p>
        </p:txBody>
      </p:sp>
      <p:sp>
        <p:nvSpPr>
          <p:cNvPr id="50" name="Text 48"/>
          <p:cNvSpPr/>
          <p:nvPr/>
        </p:nvSpPr>
        <p:spPr>
          <a:xfrm>
            <a:off x="8293608" y="4874768"/>
            <a:ext cx="2916936" cy="347472"/>
          </a:xfrm>
          <a:prstGeom prst="rect">
            <a:avLst/>
          </a:prstGeom>
          <a:noFill/>
        </p:spPr>
        <p:txBody>
          <a:bodyPr wrap="square" lIns="0" tIns="0" rIns="0" bIns="0" rtlCol="0" anchor="ctr">
            <a:noAutofit/>
          </a:bodyPr>
          <a:lstStyle/>
          <a:p>
            <a:pPr marL="0" indent="0" algn="l">
              <a:buNone/>
            </a:pPr>
            <a:r>
              <a:rPr lang="en-US" sz="1400" dirty="0">
                <a:solidFill>
                  <a:srgbClr val="0B1F33"/>
                </a:solidFill>
                <a:latin typeface="Aptos" pitchFamily="34" charset="0"/>
                <a:ea typeface="Aptos" pitchFamily="34" charset="-122"/>
                <a:cs typeface="Aptos" pitchFamily="34" charset="-120"/>
              </a:rPr>
              <a:t>Final agent writes review, but cannot change predicted_stars.</a:t>
            </a:r>
            <a:endParaRPr lang="en-US" sz="1400" dirty="0">
              <a:solidFill>
                <a:srgbClr val="0B1F33"/>
              </a:solidFill>
              <a:latin typeface="Aptos" pitchFamily="34" charset="0"/>
              <a:ea typeface="Aptos" pitchFamily="34" charset="-122"/>
              <a:cs typeface="Aptos" pitchFamily="34" charset="-120"/>
            </a:endParaRPr>
          </a:p>
        </p:txBody>
      </p:sp>
      <p:sp>
        <p:nvSpPr>
          <p:cNvPr id="51" name="Text 49"/>
          <p:cNvSpPr/>
          <p:nvPr/>
        </p:nvSpPr>
        <p:spPr>
          <a:xfrm>
            <a:off x="777240" y="5624576"/>
            <a:ext cx="10625328" cy="457200"/>
          </a:xfrm>
          <a:prstGeom prst="rect">
            <a:avLst/>
          </a:prstGeom>
          <a:noFill/>
        </p:spPr>
        <p:txBody>
          <a:bodyPr wrap="square" lIns="0" tIns="0" rIns="0" bIns="0" rtlCol="0" anchor="ctr">
            <a:normAutofit lnSpcReduction="10000"/>
          </a:bodyPr>
          <a:lstStyle/>
          <a:p>
            <a:pPr marL="0" indent="0" algn="ctr">
              <a:buNone/>
            </a:pPr>
            <a:r>
              <a:rPr lang="en-US" sz="1600" b="1" dirty="0">
                <a:solidFill>
                  <a:srgbClr val="072541"/>
                </a:solidFill>
                <a:latin typeface="Aptos" pitchFamily="34" charset="0"/>
                <a:ea typeface="Aptos" pitchFamily="34" charset="-122"/>
                <a:cs typeface="Aptos" pitchFamily="34" charset="-120"/>
              </a:rPr>
              <a:t>Agent evolution improves behavior, personalization, grounding, and JSON reliability — while the deterministic scoring layer controls the rating.</a:t>
            </a:r>
            <a:endParaRPr lang="en-US" sz="1600" dirty="0"/>
          </a:p>
        </p:txBody>
      </p:sp>
      <p:sp>
        <p:nvSpPr>
          <p:cNvPr id="3"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b="1" dirty="0">
                <a:solidFill>
                  <a:srgbClr val="64748B"/>
                </a:solidFill>
                <a:latin typeface="Aptos" pitchFamily="34" charset="0"/>
                <a:ea typeface="Aptos" pitchFamily="34" charset="-122"/>
                <a:cs typeface="Aptos" pitchFamily="34" charset="-120"/>
              </a:rPr>
              <a:t>0</a:t>
            </a:r>
            <a:r>
              <a:rPr lang="vi-VN" altLang="en-US" sz="1000" b="1" dirty="0">
                <a:solidFill>
                  <a:srgbClr val="64748B"/>
                </a:solidFill>
                <a:latin typeface="Aptos" pitchFamily="34" charset="0"/>
                <a:ea typeface="Aptos" pitchFamily="34" charset="-122"/>
                <a:cs typeface="Aptos" pitchFamily="34" charset="-120"/>
              </a:rPr>
              <a:t>4</a:t>
            </a:r>
            <a:endParaRPr lang="vi-VN" altLang="en-US"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3238" y="292608"/>
            <a:ext cx="1097280" cy="201168"/>
          </a:xfrm>
          <a:prstGeom prst="rect">
            <a:avLst/>
          </a:prstGeom>
          <a:noFill/>
        </p:spPr>
        <p:txBody>
          <a:bodyPr wrap="square" lIns="508" tIns="508" rIns="508" bIns="508" rtlCol="0" anchor="ctr"/>
          <a:lstStyle/>
          <a:p>
            <a:pPr marL="0" indent="0" algn="l">
              <a:buNone/>
            </a:pPr>
            <a:r>
              <a:rPr lang="en-US" sz="2000" b="1" dirty="0">
                <a:solidFill>
                  <a:srgbClr val="1266D6"/>
                </a:solidFill>
                <a:latin typeface="Aptos" pitchFamily="34" charset="0"/>
                <a:ea typeface="Aptos" pitchFamily="34" charset="-122"/>
                <a:cs typeface="Aptos" pitchFamily="34" charset="-120"/>
              </a:rPr>
              <a:t>TASKS</a:t>
            </a:r>
            <a:endParaRPr lang="en-US" sz="2000" b="1" dirty="0">
              <a:solidFill>
                <a:srgbClr val="1266D6"/>
              </a:solidFill>
              <a:latin typeface="Aptos" pitchFamily="34" charset="0"/>
              <a:ea typeface="Aptos" pitchFamily="34" charset="-122"/>
              <a:cs typeface="Aptos" pitchFamily="34" charset="-120"/>
            </a:endParaRPr>
          </a:p>
        </p:txBody>
      </p:sp>
      <p:sp>
        <p:nvSpPr>
          <p:cNvPr id="4" name="Shape 2"/>
          <p:cNvSpPr/>
          <p:nvPr/>
        </p:nvSpPr>
        <p:spPr>
          <a:xfrm>
            <a:off x="503238" y="685800"/>
            <a:ext cx="11201400" cy="0"/>
          </a:xfrm>
          <a:prstGeom prst="line">
            <a:avLst/>
          </a:prstGeom>
          <a:noFill/>
          <a:ln w="15240">
            <a:solidFill>
              <a:srgbClr val="CBD8E6"/>
            </a:solidFill>
            <a:prstDash val="solid"/>
          </a:ln>
        </p:spPr>
      </p:sp>
      <p:sp>
        <p:nvSpPr>
          <p:cNvPr id="6" name="Shape 4"/>
          <p:cNvSpPr/>
          <p:nvPr/>
        </p:nvSpPr>
        <p:spPr>
          <a:xfrm>
            <a:off x="479361" y="1692656"/>
            <a:ext cx="11411712" cy="3319272"/>
          </a:xfrm>
          <a:prstGeom prst="roundRect">
            <a:avLst>
              <a:gd name="adj" fmla="val 2755"/>
            </a:avLst>
          </a:prstGeom>
          <a:solidFill>
            <a:srgbClr val="FFFFFF"/>
          </a:solidFill>
          <a:ln w="15240">
            <a:solidFill>
              <a:srgbClr val="CBD8E6"/>
            </a:solidFill>
            <a:prstDash val="solid"/>
          </a:ln>
        </p:spPr>
      </p:sp>
      <p:sp>
        <p:nvSpPr>
          <p:cNvPr id="7" name="Shape 5"/>
          <p:cNvSpPr/>
          <p:nvPr/>
        </p:nvSpPr>
        <p:spPr>
          <a:xfrm>
            <a:off x="515938" y="1729232"/>
            <a:ext cx="11338560" cy="420624"/>
          </a:xfrm>
          <a:prstGeom prst="roundRect">
            <a:avLst>
              <a:gd name="adj" fmla="val 17391"/>
            </a:avLst>
          </a:prstGeom>
          <a:solidFill>
            <a:srgbClr val="06233F"/>
          </a:solidFill>
          <a:ln w="12700">
            <a:solidFill>
              <a:srgbClr val="06233F"/>
            </a:solidFill>
            <a:prstDash val="solid"/>
          </a:ln>
        </p:spPr>
      </p:sp>
      <p:sp>
        <p:nvSpPr>
          <p:cNvPr id="8" name="Text 6"/>
          <p:cNvSpPr/>
          <p:nvPr/>
        </p:nvSpPr>
        <p:spPr>
          <a:xfrm>
            <a:off x="589090" y="1793240"/>
            <a:ext cx="2185416" cy="329184"/>
          </a:xfrm>
          <a:prstGeom prst="rect">
            <a:avLst/>
          </a:prstGeom>
          <a:noFill/>
        </p:spPr>
        <p:txBody>
          <a:bodyPr wrap="square" lIns="508" tIns="508" rIns="508" bIns="508"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Task</a:t>
            </a:r>
            <a:endParaRPr lang="en-US" sz="1400" b="1" dirty="0">
              <a:solidFill>
                <a:srgbClr val="FFFFFF"/>
              </a:solidFill>
              <a:latin typeface="Aptos" pitchFamily="34" charset="0"/>
              <a:ea typeface="Aptos" pitchFamily="34" charset="-122"/>
              <a:cs typeface="Aptos" pitchFamily="34" charset="-120"/>
            </a:endParaRPr>
          </a:p>
        </p:txBody>
      </p:sp>
      <p:sp>
        <p:nvSpPr>
          <p:cNvPr id="9" name="Text 7"/>
          <p:cNvSpPr/>
          <p:nvPr/>
        </p:nvSpPr>
        <p:spPr>
          <a:xfrm>
            <a:off x="2920810" y="1793240"/>
            <a:ext cx="2551176" cy="329184"/>
          </a:xfrm>
          <a:prstGeom prst="rect">
            <a:avLst/>
          </a:prstGeom>
          <a:noFill/>
        </p:spPr>
        <p:txBody>
          <a:bodyPr wrap="square" lIns="508" tIns="508" rIns="508" bIns="508"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Purpose</a:t>
            </a:r>
            <a:endParaRPr lang="en-US" sz="1400" b="1" dirty="0">
              <a:solidFill>
                <a:srgbClr val="FFFFFF"/>
              </a:solidFill>
              <a:latin typeface="Aptos" pitchFamily="34" charset="0"/>
              <a:ea typeface="Aptos" pitchFamily="34" charset="-122"/>
              <a:cs typeface="Aptos" pitchFamily="34" charset="-120"/>
            </a:endParaRPr>
          </a:p>
        </p:txBody>
      </p:sp>
      <p:sp>
        <p:nvSpPr>
          <p:cNvPr id="10" name="Text 8"/>
          <p:cNvSpPr/>
          <p:nvPr/>
        </p:nvSpPr>
        <p:spPr>
          <a:xfrm>
            <a:off x="5618290" y="1793240"/>
            <a:ext cx="1728216" cy="329184"/>
          </a:xfrm>
          <a:prstGeom prst="rect">
            <a:avLst/>
          </a:prstGeom>
          <a:noFill/>
        </p:spPr>
        <p:txBody>
          <a:bodyPr wrap="square" lIns="508" tIns="508" rIns="508" bIns="508"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Input</a:t>
            </a:r>
            <a:endParaRPr lang="en-US" sz="1400" b="1" dirty="0">
              <a:solidFill>
                <a:srgbClr val="FFFFFF"/>
              </a:solidFill>
              <a:latin typeface="Aptos" pitchFamily="34" charset="0"/>
              <a:ea typeface="Aptos" pitchFamily="34" charset="-122"/>
              <a:cs typeface="Aptos" pitchFamily="34" charset="-120"/>
            </a:endParaRPr>
          </a:p>
        </p:txBody>
      </p:sp>
      <p:sp>
        <p:nvSpPr>
          <p:cNvPr id="11" name="Text 9"/>
          <p:cNvSpPr/>
          <p:nvPr/>
        </p:nvSpPr>
        <p:spPr>
          <a:xfrm>
            <a:off x="7492810" y="1793240"/>
            <a:ext cx="2779776" cy="329184"/>
          </a:xfrm>
          <a:prstGeom prst="rect">
            <a:avLst/>
          </a:prstGeom>
          <a:noFill/>
        </p:spPr>
        <p:txBody>
          <a:bodyPr wrap="square" lIns="508" tIns="508" rIns="508" bIns="508"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Expected output</a:t>
            </a:r>
            <a:endParaRPr lang="en-US" sz="1400" b="1" dirty="0">
              <a:solidFill>
                <a:srgbClr val="FFFFFF"/>
              </a:solidFill>
              <a:latin typeface="Aptos" pitchFamily="34" charset="0"/>
              <a:ea typeface="Aptos" pitchFamily="34" charset="-122"/>
              <a:cs typeface="Aptos" pitchFamily="34" charset="-120"/>
            </a:endParaRPr>
          </a:p>
        </p:txBody>
      </p:sp>
      <p:sp>
        <p:nvSpPr>
          <p:cNvPr id="12" name="Text 10"/>
          <p:cNvSpPr/>
          <p:nvPr/>
        </p:nvSpPr>
        <p:spPr>
          <a:xfrm>
            <a:off x="10418890" y="1793240"/>
            <a:ext cx="1362456" cy="329184"/>
          </a:xfrm>
          <a:prstGeom prst="rect">
            <a:avLst/>
          </a:prstGeom>
          <a:noFill/>
        </p:spPr>
        <p:txBody>
          <a:bodyPr wrap="square" lIns="508" tIns="508" rIns="508" bIns="508"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Guardrail</a:t>
            </a:r>
            <a:endParaRPr lang="en-US" sz="1400" b="1" dirty="0">
              <a:solidFill>
                <a:srgbClr val="FFFFFF"/>
              </a:solidFill>
              <a:latin typeface="Aptos" pitchFamily="34" charset="0"/>
              <a:ea typeface="Aptos" pitchFamily="34" charset="-122"/>
              <a:cs typeface="Aptos" pitchFamily="34" charset="-120"/>
            </a:endParaRPr>
          </a:p>
        </p:txBody>
      </p:sp>
      <p:sp>
        <p:nvSpPr>
          <p:cNvPr id="13" name="Shape 11"/>
          <p:cNvSpPr/>
          <p:nvPr/>
        </p:nvSpPr>
        <p:spPr>
          <a:xfrm>
            <a:off x="2847658" y="1729232"/>
            <a:ext cx="0" cy="3246120"/>
          </a:xfrm>
          <a:prstGeom prst="line">
            <a:avLst/>
          </a:prstGeom>
          <a:noFill/>
          <a:ln w="12700">
            <a:solidFill>
              <a:srgbClr val="CBD8E6"/>
            </a:solidFill>
            <a:prstDash val="solid"/>
          </a:ln>
        </p:spPr>
      </p:sp>
      <p:sp>
        <p:nvSpPr>
          <p:cNvPr id="14" name="Shape 12"/>
          <p:cNvSpPr/>
          <p:nvPr/>
        </p:nvSpPr>
        <p:spPr>
          <a:xfrm>
            <a:off x="5545138" y="1729232"/>
            <a:ext cx="0" cy="3246120"/>
          </a:xfrm>
          <a:prstGeom prst="line">
            <a:avLst/>
          </a:prstGeom>
          <a:noFill/>
          <a:ln w="12700">
            <a:solidFill>
              <a:srgbClr val="CBD8E6"/>
            </a:solidFill>
            <a:prstDash val="solid"/>
          </a:ln>
        </p:spPr>
      </p:sp>
      <p:sp>
        <p:nvSpPr>
          <p:cNvPr id="15" name="Shape 13"/>
          <p:cNvSpPr/>
          <p:nvPr/>
        </p:nvSpPr>
        <p:spPr>
          <a:xfrm>
            <a:off x="7419658" y="1729232"/>
            <a:ext cx="0" cy="3246120"/>
          </a:xfrm>
          <a:prstGeom prst="line">
            <a:avLst/>
          </a:prstGeom>
          <a:noFill/>
          <a:ln w="12700">
            <a:solidFill>
              <a:srgbClr val="CBD8E6"/>
            </a:solidFill>
            <a:prstDash val="solid"/>
          </a:ln>
        </p:spPr>
      </p:sp>
      <p:sp>
        <p:nvSpPr>
          <p:cNvPr id="16" name="Shape 14"/>
          <p:cNvSpPr/>
          <p:nvPr/>
        </p:nvSpPr>
        <p:spPr>
          <a:xfrm>
            <a:off x="10345738" y="1729232"/>
            <a:ext cx="0" cy="3246120"/>
          </a:xfrm>
          <a:prstGeom prst="line">
            <a:avLst/>
          </a:prstGeom>
          <a:noFill/>
          <a:ln w="12700">
            <a:solidFill>
              <a:srgbClr val="CBD8E6"/>
            </a:solidFill>
            <a:prstDash val="solid"/>
          </a:ln>
        </p:spPr>
      </p:sp>
      <p:sp>
        <p:nvSpPr>
          <p:cNvPr id="17" name="Shape 15"/>
          <p:cNvSpPr/>
          <p:nvPr/>
        </p:nvSpPr>
        <p:spPr>
          <a:xfrm>
            <a:off x="515938" y="2149856"/>
            <a:ext cx="11338560" cy="941832"/>
          </a:xfrm>
          <a:prstGeom prst="rect">
            <a:avLst/>
          </a:prstGeom>
          <a:solidFill>
            <a:srgbClr val="EAF4FF">
              <a:alpha val="78000"/>
            </a:srgbClr>
          </a:solidFill>
          <a:ln w="12700">
            <a:solidFill>
              <a:srgbClr val="FFFFFF"/>
            </a:solidFill>
            <a:prstDash val="solid"/>
          </a:ln>
        </p:spPr>
      </p:sp>
      <p:sp>
        <p:nvSpPr>
          <p:cNvPr id="18" name="Shape 16"/>
          <p:cNvSpPr/>
          <p:nvPr/>
        </p:nvSpPr>
        <p:spPr>
          <a:xfrm>
            <a:off x="515938" y="2149856"/>
            <a:ext cx="11338560" cy="0"/>
          </a:xfrm>
          <a:prstGeom prst="line">
            <a:avLst/>
          </a:prstGeom>
          <a:noFill/>
          <a:ln w="12700">
            <a:solidFill>
              <a:srgbClr val="CBD8E6"/>
            </a:solidFill>
            <a:prstDash val="solid"/>
          </a:ln>
        </p:spPr>
      </p:sp>
      <p:sp>
        <p:nvSpPr>
          <p:cNvPr id="19" name="Shape 17"/>
          <p:cNvSpPr/>
          <p:nvPr/>
        </p:nvSpPr>
        <p:spPr>
          <a:xfrm>
            <a:off x="538290" y="2452624"/>
            <a:ext cx="347472" cy="347472"/>
          </a:xfrm>
          <a:prstGeom prst="roundRect">
            <a:avLst>
              <a:gd name="adj" fmla="val 23684"/>
            </a:avLst>
          </a:prstGeom>
          <a:solidFill>
            <a:srgbClr val="1266D6"/>
          </a:solidFill>
          <a:ln w="12700">
            <a:solidFill>
              <a:srgbClr val="1266D6"/>
            </a:solidFill>
            <a:prstDash val="solid"/>
          </a:ln>
        </p:spPr>
      </p:sp>
      <p:sp>
        <p:nvSpPr>
          <p:cNvPr id="20" name="Text 18"/>
          <p:cNvSpPr/>
          <p:nvPr/>
        </p:nvSpPr>
        <p:spPr>
          <a:xfrm>
            <a:off x="538290" y="2480056"/>
            <a:ext cx="347472" cy="228600"/>
          </a:xfrm>
          <a:prstGeom prst="rect">
            <a:avLst/>
          </a:prstGeom>
          <a:noFill/>
        </p:spPr>
        <p:txBody>
          <a:bodyPr wrap="square" lIns="508" tIns="508" rIns="508" bIns="508" rtlCol="0" anchor="ctr">
            <a:no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1</a:t>
            </a:r>
            <a:endParaRPr lang="en-US" sz="1600" b="1" dirty="0">
              <a:solidFill>
                <a:srgbClr val="FFFFFF"/>
              </a:solidFill>
              <a:latin typeface="Aptos" pitchFamily="34" charset="0"/>
              <a:ea typeface="Aptos" pitchFamily="34" charset="-122"/>
              <a:cs typeface="Aptos" pitchFamily="34" charset="-120"/>
            </a:endParaRPr>
          </a:p>
        </p:txBody>
      </p:sp>
      <p:sp>
        <p:nvSpPr>
          <p:cNvPr id="21" name="Text 19"/>
          <p:cNvSpPr/>
          <p:nvPr/>
        </p:nvSpPr>
        <p:spPr>
          <a:xfrm>
            <a:off x="1009714" y="2296160"/>
            <a:ext cx="1764792" cy="649224"/>
          </a:xfrm>
          <a:prstGeom prst="rect">
            <a:avLst/>
          </a:prstGeom>
          <a:noFill/>
        </p:spPr>
        <p:txBody>
          <a:bodyPr wrap="square" lIns="508" tIns="508" rIns="508" bIns="508" rtlCol="0" anchor="ctr">
            <a:normAutofit/>
          </a:bodyPr>
          <a:lstStyle/>
          <a:p>
            <a:pPr marL="0" indent="0" algn="l">
              <a:buNone/>
            </a:pPr>
            <a:r>
              <a:rPr lang="en-US" sz="1600" b="1" dirty="0">
                <a:solidFill>
                  <a:srgbClr val="06233F"/>
                </a:solidFill>
                <a:latin typeface="Aptos" pitchFamily="34" charset="0"/>
                <a:ea typeface="Aptos" pitchFamily="34" charset="-122"/>
                <a:cs typeface="Aptos" pitchFamily="34" charset="-120"/>
              </a:rPr>
              <a:t>analyze_user</a:t>
            </a:r>
            <a:endParaRPr lang="en-US" sz="1600" dirty="0"/>
          </a:p>
          <a:p>
            <a:pPr marL="0" indent="0" algn="l">
              <a:buNone/>
            </a:pPr>
            <a:r>
              <a:rPr lang="en-US" sz="1600" b="1" dirty="0">
                <a:solidFill>
                  <a:srgbClr val="06233F"/>
                </a:solidFill>
                <a:latin typeface="Aptos" pitchFamily="34" charset="0"/>
                <a:ea typeface="Aptos" pitchFamily="34" charset="-122"/>
                <a:cs typeface="Aptos" pitchFamily="34" charset="-120"/>
              </a:rPr>
              <a:t>_behavior_task</a:t>
            </a:r>
            <a:endParaRPr lang="en-US" sz="1600" b="1" dirty="0">
              <a:solidFill>
                <a:srgbClr val="06233F"/>
              </a:solidFill>
              <a:latin typeface="Aptos" pitchFamily="34" charset="0"/>
              <a:ea typeface="Aptos" pitchFamily="34" charset="-122"/>
              <a:cs typeface="Aptos" pitchFamily="34" charset="-120"/>
            </a:endParaRPr>
          </a:p>
        </p:txBody>
      </p:sp>
      <p:sp>
        <p:nvSpPr>
          <p:cNvPr id="22" name="Text 20"/>
          <p:cNvSpPr/>
          <p:nvPr/>
        </p:nvSpPr>
        <p:spPr>
          <a:xfrm>
            <a:off x="2939098" y="2287016"/>
            <a:ext cx="2514600" cy="667512"/>
          </a:xfrm>
          <a:prstGeom prst="rect">
            <a:avLst/>
          </a:prstGeom>
          <a:noFill/>
        </p:spPr>
        <p:txBody>
          <a:bodyPr wrap="square" lIns="508" tIns="508" rIns="508" bIns="508" rtlCol="0" anchor="ctr">
            <a:noAutofit/>
          </a:bodyPr>
          <a:lstStyle/>
          <a:p>
            <a:pPr marL="0" indent="0" algn="l">
              <a:buNone/>
            </a:pPr>
            <a:r>
              <a:rPr lang="en-US" sz="1400" dirty="0">
                <a:solidFill>
                  <a:srgbClr val="0F172A"/>
                </a:solidFill>
                <a:latin typeface="Aptos" pitchFamily="34" charset="0"/>
                <a:ea typeface="Aptos" pitchFamily="34" charset="-122"/>
                <a:cs typeface="Aptos" pitchFamily="34" charset="-120"/>
              </a:rPr>
              <a:t>Convert user history into voice and personalization signals.</a:t>
            </a:r>
            <a:endParaRPr lang="en-US" sz="1400" dirty="0">
              <a:solidFill>
                <a:srgbClr val="0F172A"/>
              </a:solidFill>
              <a:latin typeface="Aptos" pitchFamily="34" charset="0"/>
              <a:ea typeface="Aptos" pitchFamily="34" charset="-122"/>
              <a:cs typeface="Aptos" pitchFamily="34" charset="-120"/>
            </a:endParaRPr>
          </a:p>
        </p:txBody>
      </p:sp>
      <p:sp>
        <p:nvSpPr>
          <p:cNvPr id="23" name="Text 21"/>
          <p:cNvSpPr/>
          <p:nvPr/>
        </p:nvSpPr>
        <p:spPr>
          <a:xfrm>
            <a:off x="5636578" y="2287016"/>
            <a:ext cx="1691640" cy="667512"/>
          </a:xfrm>
          <a:prstGeom prst="rect">
            <a:avLst/>
          </a:prstGeom>
          <a:noFill/>
        </p:spPr>
        <p:txBody>
          <a:bodyPr wrap="square" lIns="508" tIns="508" rIns="508" bIns="508" rtlCol="0" anchor="ctr">
            <a:normAutofit/>
          </a:bodyPr>
          <a:lstStyle/>
          <a:p>
            <a:pPr marL="0" indent="0" algn="l">
              <a:buNone/>
            </a:pPr>
            <a:r>
              <a:rPr lang="en-US" sz="1400" dirty="0">
                <a:solidFill>
                  <a:srgbClr val="0F172A"/>
                </a:solidFill>
                <a:latin typeface="Aptos" pitchFamily="34" charset="0"/>
                <a:ea typeface="Aptos" pitchFamily="34" charset="-122"/>
                <a:cs typeface="Aptos" pitchFamily="34" charset="-120"/>
              </a:rPr>
              <a:t>user profile / history</a:t>
            </a:r>
            <a:endParaRPr lang="en-US" sz="1400" dirty="0">
              <a:solidFill>
                <a:srgbClr val="0F172A"/>
              </a:solidFill>
              <a:latin typeface="Aptos" pitchFamily="34" charset="0"/>
              <a:ea typeface="Aptos" pitchFamily="34" charset="-122"/>
              <a:cs typeface="Aptos" pitchFamily="34" charset="-120"/>
            </a:endParaRPr>
          </a:p>
        </p:txBody>
      </p:sp>
      <p:sp>
        <p:nvSpPr>
          <p:cNvPr id="24" name="Text 22"/>
          <p:cNvSpPr/>
          <p:nvPr/>
        </p:nvSpPr>
        <p:spPr>
          <a:xfrm>
            <a:off x="7511098" y="2287016"/>
            <a:ext cx="2743200" cy="667512"/>
          </a:xfrm>
          <a:prstGeom prst="rect">
            <a:avLst/>
          </a:prstGeom>
          <a:noFill/>
        </p:spPr>
        <p:txBody>
          <a:bodyPr wrap="square" lIns="508" tIns="508" rIns="508" bIns="508" rtlCol="0" anchor="ctr">
            <a:normAutofit/>
          </a:bodyPr>
          <a:lstStyle/>
          <a:p>
            <a:pPr marL="0" indent="0" algn="l">
              <a:buNone/>
            </a:pPr>
            <a:r>
              <a:rPr lang="en-US" sz="1400" dirty="0">
                <a:solidFill>
                  <a:srgbClr val="0F172A"/>
                </a:solidFill>
                <a:latin typeface="Aptos" pitchFamily="34" charset="0"/>
                <a:ea typeface="Aptos" pitchFamily="34" charset="-122"/>
                <a:cs typeface="Aptos" pitchFamily="34" charset="-120"/>
              </a:rPr>
              <a:t>user_average, bias, sentiment map, writing style</a:t>
            </a:r>
            <a:endParaRPr lang="en-US" sz="1400" dirty="0">
              <a:solidFill>
                <a:srgbClr val="0F172A"/>
              </a:solidFill>
              <a:latin typeface="Aptos" pitchFamily="34" charset="0"/>
              <a:ea typeface="Aptos" pitchFamily="34" charset="-122"/>
              <a:cs typeface="Aptos" pitchFamily="34" charset="-120"/>
            </a:endParaRPr>
          </a:p>
        </p:txBody>
      </p:sp>
      <p:sp>
        <p:nvSpPr>
          <p:cNvPr id="25" name="Text 23"/>
          <p:cNvSpPr/>
          <p:nvPr/>
        </p:nvSpPr>
        <p:spPr>
          <a:xfrm>
            <a:off x="10437178" y="2287016"/>
            <a:ext cx="1325880" cy="667512"/>
          </a:xfrm>
          <a:prstGeom prst="rect">
            <a:avLst/>
          </a:prstGeom>
          <a:noFill/>
        </p:spPr>
        <p:txBody>
          <a:bodyPr wrap="square" lIns="508" tIns="508" rIns="508" bIns="508" rtlCol="0" anchor="ctr">
            <a:normAutofit/>
          </a:bodyPr>
          <a:lstStyle/>
          <a:p>
            <a:pPr marL="0" indent="0" algn="l">
              <a:buNone/>
            </a:pPr>
            <a:r>
              <a:rPr lang="en-US" sz="1400" dirty="0">
                <a:solidFill>
                  <a:srgbClr val="0F172A"/>
                </a:solidFill>
                <a:latin typeface="Aptos" pitchFamily="34" charset="0"/>
                <a:ea typeface="Aptos" pitchFamily="34" charset="-122"/>
                <a:cs typeface="Aptos" pitchFamily="34" charset="-120"/>
              </a:rPr>
              <a:t>No invented preferences</a:t>
            </a:r>
            <a:endParaRPr lang="en-US" sz="1400" dirty="0">
              <a:solidFill>
                <a:srgbClr val="0F172A"/>
              </a:solidFill>
              <a:latin typeface="Aptos" pitchFamily="34" charset="0"/>
              <a:ea typeface="Aptos" pitchFamily="34" charset="-122"/>
              <a:cs typeface="Aptos" pitchFamily="34" charset="-120"/>
            </a:endParaRPr>
          </a:p>
        </p:txBody>
      </p:sp>
      <p:sp>
        <p:nvSpPr>
          <p:cNvPr id="26" name="Shape 24"/>
          <p:cNvSpPr/>
          <p:nvPr/>
        </p:nvSpPr>
        <p:spPr>
          <a:xfrm>
            <a:off x="515938" y="3091688"/>
            <a:ext cx="11338560" cy="941832"/>
          </a:xfrm>
          <a:prstGeom prst="rect">
            <a:avLst/>
          </a:prstGeom>
          <a:solidFill>
            <a:srgbClr val="FFF7E6">
              <a:alpha val="80000"/>
            </a:srgbClr>
          </a:solidFill>
          <a:ln w="12700">
            <a:solidFill>
              <a:srgbClr val="FFFFFF"/>
            </a:solidFill>
            <a:prstDash val="solid"/>
          </a:ln>
        </p:spPr>
      </p:sp>
      <p:sp>
        <p:nvSpPr>
          <p:cNvPr id="27" name="Shape 25"/>
          <p:cNvSpPr/>
          <p:nvPr/>
        </p:nvSpPr>
        <p:spPr>
          <a:xfrm>
            <a:off x="515938" y="3091688"/>
            <a:ext cx="11338560" cy="0"/>
          </a:xfrm>
          <a:prstGeom prst="line">
            <a:avLst/>
          </a:prstGeom>
          <a:noFill/>
          <a:ln w="12700">
            <a:solidFill>
              <a:srgbClr val="CBD8E6"/>
            </a:solidFill>
            <a:prstDash val="solid"/>
          </a:ln>
        </p:spPr>
      </p:sp>
      <p:sp>
        <p:nvSpPr>
          <p:cNvPr id="28" name="Shape 26"/>
          <p:cNvSpPr/>
          <p:nvPr/>
        </p:nvSpPr>
        <p:spPr>
          <a:xfrm>
            <a:off x="538290" y="3394456"/>
            <a:ext cx="347472" cy="347472"/>
          </a:xfrm>
          <a:prstGeom prst="roundRect">
            <a:avLst>
              <a:gd name="adj" fmla="val 23684"/>
            </a:avLst>
          </a:prstGeom>
          <a:solidFill>
            <a:srgbClr val="F59E0B"/>
          </a:solidFill>
          <a:ln w="12700">
            <a:solidFill>
              <a:srgbClr val="F59E0B"/>
            </a:solidFill>
            <a:prstDash val="solid"/>
          </a:ln>
        </p:spPr>
      </p:sp>
      <p:sp>
        <p:nvSpPr>
          <p:cNvPr id="29" name="Text 27"/>
          <p:cNvSpPr/>
          <p:nvPr/>
        </p:nvSpPr>
        <p:spPr>
          <a:xfrm>
            <a:off x="538290" y="3421888"/>
            <a:ext cx="347472" cy="228600"/>
          </a:xfrm>
          <a:prstGeom prst="rect">
            <a:avLst/>
          </a:prstGeom>
          <a:noFill/>
        </p:spPr>
        <p:txBody>
          <a:bodyPr wrap="square" lIns="508" tIns="508" rIns="508" bIns="508" rtlCol="0" anchor="ctr">
            <a:no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2</a:t>
            </a:r>
            <a:endParaRPr lang="en-US" sz="1600" b="1" dirty="0">
              <a:solidFill>
                <a:srgbClr val="FFFFFF"/>
              </a:solidFill>
              <a:latin typeface="Aptos" pitchFamily="34" charset="0"/>
              <a:ea typeface="Aptos" pitchFamily="34" charset="-122"/>
              <a:cs typeface="Aptos" pitchFamily="34" charset="-120"/>
            </a:endParaRPr>
          </a:p>
        </p:txBody>
      </p:sp>
      <p:sp>
        <p:nvSpPr>
          <p:cNvPr id="30" name="Text 28"/>
          <p:cNvSpPr/>
          <p:nvPr/>
        </p:nvSpPr>
        <p:spPr>
          <a:xfrm>
            <a:off x="1009714" y="3237992"/>
            <a:ext cx="1764792" cy="649224"/>
          </a:xfrm>
          <a:prstGeom prst="rect">
            <a:avLst/>
          </a:prstGeom>
          <a:noFill/>
        </p:spPr>
        <p:txBody>
          <a:bodyPr wrap="square" lIns="508" tIns="508" rIns="508" bIns="508" rtlCol="0" anchor="ctr">
            <a:noAutofit/>
          </a:bodyPr>
          <a:lstStyle/>
          <a:p>
            <a:pPr marL="0" indent="0" algn="l">
              <a:buNone/>
            </a:pPr>
            <a:r>
              <a:rPr lang="en-US" sz="1600" b="1" dirty="0">
                <a:solidFill>
                  <a:srgbClr val="06233F"/>
                </a:solidFill>
                <a:latin typeface="Aptos" pitchFamily="34" charset="0"/>
                <a:ea typeface="Aptos" pitchFamily="34" charset="-122"/>
                <a:cs typeface="Aptos" pitchFamily="34" charset="-120"/>
              </a:rPr>
              <a:t>analyze_item_review_context_task</a:t>
            </a:r>
            <a:endParaRPr lang="en-US" sz="1600" b="1" dirty="0">
              <a:solidFill>
                <a:srgbClr val="06233F"/>
              </a:solidFill>
              <a:latin typeface="Aptos" pitchFamily="34" charset="0"/>
              <a:ea typeface="Aptos" pitchFamily="34" charset="-122"/>
              <a:cs typeface="Aptos" pitchFamily="34" charset="-120"/>
            </a:endParaRPr>
          </a:p>
        </p:txBody>
      </p:sp>
      <p:sp>
        <p:nvSpPr>
          <p:cNvPr id="31" name="Text 29"/>
          <p:cNvSpPr/>
          <p:nvPr/>
        </p:nvSpPr>
        <p:spPr>
          <a:xfrm>
            <a:off x="2939098" y="3228848"/>
            <a:ext cx="2514600" cy="667512"/>
          </a:xfrm>
          <a:prstGeom prst="rect">
            <a:avLst/>
          </a:prstGeom>
          <a:noFill/>
        </p:spPr>
        <p:txBody>
          <a:bodyPr wrap="square" lIns="508" tIns="508" rIns="508" bIns="508" rtlCol="0" anchor="ctr">
            <a:noAutofit/>
          </a:bodyPr>
          <a:lstStyle/>
          <a:p>
            <a:pPr marL="0" indent="0" algn="l">
              <a:buNone/>
            </a:pPr>
            <a:r>
              <a:rPr lang="en-US" sz="1400" dirty="0">
                <a:solidFill>
                  <a:srgbClr val="0F172A"/>
                </a:solidFill>
                <a:latin typeface="Aptos" pitchFamily="34" charset="0"/>
                <a:ea typeface="Aptos" pitchFamily="34" charset="-122"/>
                <a:cs typeface="Aptos" pitchFamily="34" charset="-120"/>
              </a:rPr>
              <a:t>Convert item + direct-review evidence into safe review-writing guidance.</a:t>
            </a:r>
            <a:endParaRPr lang="en-US" sz="1400" dirty="0">
              <a:solidFill>
                <a:srgbClr val="0F172A"/>
              </a:solidFill>
              <a:latin typeface="Aptos" pitchFamily="34" charset="0"/>
              <a:ea typeface="Aptos" pitchFamily="34" charset="-122"/>
              <a:cs typeface="Aptos" pitchFamily="34" charset="-120"/>
            </a:endParaRPr>
          </a:p>
        </p:txBody>
      </p:sp>
      <p:sp>
        <p:nvSpPr>
          <p:cNvPr id="32" name="Text 30"/>
          <p:cNvSpPr/>
          <p:nvPr/>
        </p:nvSpPr>
        <p:spPr>
          <a:xfrm>
            <a:off x="5636578" y="3228848"/>
            <a:ext cx="1691640" cy="667512"/>
          </a:xfrm>
          <a:prstGeom prst="rect">
            <a:avLst/>
          </a:prstGeom>
          <a:noFill/>
        </p:spPr>
        <p:txBody>
          <a:bodyPr wrap="square" lIns="508" tIns="508" rIns="508" bIns="508" rtlCol="0" anchor="ctr">
            <a:noAutofit/>
          </a:bodyPr>
          <a:lstStyle/>
          <a:p>
            <a:pPr marL="0" indent="0" algn="l">
              <a:buNone/>
            </a:pPr>
            <a:r>
              <a:rPr lang="en-US" sz="1400" dirty="0">
                <a:solidFill>
                  <a:srgbClr val="0F172A"/>
                </a:solidFill>
                <a:latin typeface="Aptos" pitchFamily="34" charset="0"/>
                <a:ea typeface="Aptos" pitchFamily="34" charset="-122"/>
                <a:cs typeface="Aptos" pitchFamily="34" charset="-120"/>
              </a:rPr>
              <a:t>item + direct review + review_policy</a:t>
            </a:r>
            <a:endParaRPr lang="en-US" sz="1400" dirty="0">
              <a:solidFill>
                <a:srgbClr val="0F172A"/>
              </a:solidFill>
              <a:latin typeface="Aptos" pitchFamily="34" charset="0"/>
              <a:ea typeface="Aptos" pitchFamily="34" charset="-122"/>
              <a:cs typeface="Aptos" pitchFamily="34" charset="-120"/>
            </a:endParaRPr>
          </a:p>
        </p:txBody>
      </p:sp>
      <p:sp>
        <p:nvSpPr>
          <p:cNvPr id="33" name="Text 31"/>
          <p:cNvSpPr/>
          <p:nvPr/>
        </p:nvSpPr>
        <p:spPr>
          <a:xfrm>
            <a:off x="7511098" y="3228848"/>
            <a:ext cx="2743200" cy="667512"/>
          </a:xfrm>
          <a:prstGeom prst="rect">
            <a:avLst/>
          </a:prstGeom>
          <a:noFill/>
        </p:spPr>
        <p:txBody>
          <a:bodyPr wrap="square" lIns="508" tIns="508" rIns="508" bIns="508" rtlCol="0" anchor="ctr">
            <a:normAutofit/>
          </a:bodyPr>
          <a:lstStyle/>
          <a:p>
            <a:pPr marL="0" indent="0" algn="l">
              <a:buNone/>
            </a:pPr>
            <a:r>
              <a:rPr lang="en-US" sz="1400" dirty="0">
                <a:solidFill>
                  <a:srgbClr val="0F172A"/>
                </a:solidFill>
                <a:latin typeface="Aptos" pitchFamily="34" charset="0"/>
                <a:ea typeface="Aptos" pitchFamily="34" charset="-122"/>
                <a:cs typeface="Aptos" pitchFamily="34" charset="-120"/>
              </a:rPr>
              <a:t>safe item evidence, anchors, phrasing constraints</a:t>
            </a:r>
            <a:endParaRPr lang="en-US" sz="1400" dirty="0">
              <a:solidFill>
                <a:srgbClr val="0F172A"/>
              </a:solidFill>
              <a:latin typeface="Aptos" pitchFamily="34" charset="0"/>
              <a:ea typeface="Aptos" pitchFamily="34" charset="-122"/>
              <a:cs typeface="Aptos" pitchFamily="34" charset="-120"/>
            </a:endParaRPr>
          </a:p>
        </p:txBody>
      </p:sp>
      <p:sp>
        <p:nvSpPr>
          <p:cNvPr id="34" name="Text 32"/>
          <p:cNvSpPr/>
          <p:nvPr/>
        </p:nvSpPr>
        <p:spPr>
          <a:xfrm>
            <a:off x="10437178" y="3228848"/>
            <a:ext cx="1325880" cy="667512"/>
          </a:xfrm>
          <a:prstGeom prst="rect">
            <a:avLst/>
          </a:prstGeom>
          <a:noFill/>
        </p:spPr>
        <p:txBody>
          <a:bodyPr wrap="square" lIns="508" tIns="508" rIns="508" bIns="508" rtlCol="0" anchor="ctr">
            <a:noAutofit/>
          </a:bodyPr>
          <a:lstStyle/>
          <a:p>
            <a:pPr marL="0" indent="0" algn="l">
              <a:buNone/>
            </a:pPr>
            <a:r>
              <a:rPr lang="en-US" sz="1400" dirty="0">
                <a:solidFill>
                  <a:srgbClr val="0F172A"/>
                </a:solidFill>
                <a:latin typeface="Aptos" pitchFamily="34" charset="0"/>
                <a:ea typeface="Aptos" pitchFamily="34" charset="-122"/>
                <a:cs typeface="Aptos" pitchFamily="34" charset="-120"/>
              </a:rPr>
              <a:t>Do not change predicted_stars</a:t>
            </a:r>
            <a:endParaRPr lang="en-US" sz="1400" dirty="0">
              <a:solidFill>
                <a:srgbClr val="0F172A"/>
              </a:solidFill>
              <a:latin typeface="Aptos" pitchFamily="34" charset="0"/>
              <a:ea typeface="Aptos" pitchFamily="34" charset="-122"/>
              <a:cs typeface="Aptos" pitchFamily="34" charset="-120"/>
            </a:endParaRPr>
          </a:p>
        </p:txBody>
      </p:sp>
      <p:sp>
        <p:nvSpPr>
          <p:cNvPr id="35" name="Shape 33"/>
          <p:cNvSpPr/>
          <p:nvPr/>
        </p:nvSpPr>
        <p:spPr>
          <a:xfrm>
            <a:off x="515938" y="4033520"/>
            <a:ext cx="11338560" cy="941832"/>
          </a:xfrm>
          <a:prstGeom prst="rect">
            <a:avLst/>
          </a:prstGeom>
          <a:solidFill>
            <a:srgbClr val="E9F8EF">
              <a:alpha val="80000"/>
            </a:srgbClr>
          </a:solidFill>
          <a:ln w="12700">
            <a:solidFill>
              <a:srgbClr val="FFFFFF"/>
            </a:solidFill>
            <a:prstDash val="solid"/>
          </a:ln>
        </p:spPr>
      </p:sp>
      <p:sp>
        <p:nvSpPr>
          <p:cNvPr id="36" name="Shape 34"/>
          <p:cNvSpPr/>
          <p:nvPr/>
        </p:nvSpPr>
        <p:spPr>
          <a:xfrm>
            <a:off x="515938" y="4033520"/>
            <a:ext cx="11338560" cy="0"/>
          </a:xfrm>
          <a:prstGeom prst="line">
            <a:avLst/>
          </a:prstGeom>
          <a:noFill/>
          <a:ln w="12700">
            <a:solidFill>
              <a:srgbClr val="CBD8E6"/>
            </a:solidFill>
            <a:prstDash val="solid"/>
          </a:ln>
        </p:spPr>
      </p:sp>
      <p:sp>
        <p:nvSpPr>
          <p:cNvPr id="37" name="Shape 35"/>
          <p:cNvSpPr/>
          <p:nvPr/>
        </p:nvSpPr>
        <p:spPr>
          <a:xfrm>
            <a:off x="538290" y="4336288"/>
            <a:ext cx="347472" cy="347472"/>
          </a:xfrm>
          <a:prstGeom prst="roundRect">
            <a:avLst>
              <a:gd name="adj" fmla="val 23684"/>
            </a:avLst>
          </a:prstGeom>
          <a:solidFill>
            <a:srgbClr val="16A34A"/>
          </a:solidFill>
          <a:ln w="12700">
            <a:solidFill>
              <a:srgbClr val="16A34A"/>
            </a:solidFill>
            <a:prstDash val="solid"/>
          </a:ln>
        </p:spPr>
      </p:sp>
      <p:sp>
        <p:nvSpPr>
          <p:cNvPr id="38" name="Text 36"/>
          <p:cNvSpPr/>
          <p:nvPr/>
        </p:nvSpPr>
        <p:spPr>
          <a:xfrm>
            <a:off x="538290" y="4363720"/>
            <a:ext cx="347472" cy="228600"/>
          </a:xfrm>
          <a:prstGeom prst="rect">
            <a:avLst/>
          </a:prstGeom>
          <a:noFill/>
        </p:spPr>
        <p:txBody>
          <a:bodyPr wrap="square" lIns="508" tIns="508" rIns="508" bIns="508" rtlCol="0" anchor="ctr">
            <a:no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3</a:t>
            </a:r>
            <a:endParaRPr lang="en-US" sz="1600" b="1" dirty="0">
              <a:solidFill>
                <a:srgbClr val="FFFFFF"/>
              </a:solidFill>
              <a:latin typeface="Aptos" pitchFamily="34" charset="0"/>
              <a:ea typeface="Aptos" pitchFamily="34" charset="-122"/>
              <a:cs typeface="Aptos" pitchFamily="34" charset="-120"/>
            </a:endParaRPr>
          </a:p>
        </p:txBody>
      </p:sp>
      <p:sp>
        <p:nvSpPr>
          <p:cNvPr id="39" name="Text 37"/>
          <p:cNvSpPr/>
          <p:nvPr/>
        </p:nvSpPr>
        <p:spPr>
          <a:xfrm>
            <a:off x="1009714" y="4179824"/>
            <a:ext cx="1764792" cy="649224"/>
          </a:xfrm>
          <a:prstGeom prst="rect">
            <a:avLst/>
          </a:prstGeom>
          <a:noFill/>
        </p:spPr>
        <p:txBody>
          <a:bodyPr wrap="square" lIns="508" tIns="508" rIns="508" bIns="508" rtlCol="0" anchor="ctr">
            <a:normAutofit/>
          </a:bodyPr>
          <a:lstStyle/>
          <a:p>
            <a:pPr marL="0" indent="0" algn="l">
              <a:buNone/>
            </a:pPr>
            <a:r>
              <a:rPr lang="en-US" sz="1600" b="1" dirty="0">
                <a:solidFill>
                  <a:srgbClr val="06233F"/>
                </a:solidFill>
                <a:latin typeface="Aptos" pitchFamily="34" charset="0"/>
                <a:ea typeface="Aptos" pitchFamily="34" charset="-122"/>
                <a:cs typeface="Aptos" pitchFamily="34" charset="-120"/>
              </a:rPr>
              <a:t>predict_review</a:t>
            </a:r>
            <a:endParaRPr lang="en-US" sz="1600" dirty="0"/>
          </a:p>
          <a:p>
            <a:pPr marL="0" indent="0" algn="l">
              <a:buNone/>
            </a:pPr>
            <a:r>
              <a:rPr lang="en-US" sz="1600" b="1" dirty="0">
                <a:solidFill>
                  <a:srgbClr val="06233F"/>
                </a:solidFill>
                <a:latin typeface="Aptos" pitchFamily="34" charset="0"/>
                <a:ea typeface="Aptos" pitchFamily="34" charset="-122"/>
                <a:cs typeface="Aptos" pitchFamily="34" charset="-120"/>
              </a:rPr>
              <a:t>_task</a:t>
            </a:r>
            <a:endParaRPr lang="en-US" sz="1600" b="1" dirty="0">
              <a:solidFill>
                <a:srgbClr val="06233F"/>
              </a:solidFill>
              <a:latin typeface="Aptos" pitchFamily="34" charset="0"/>
              <a:ea typeface="Aptos" pitchFamily="34" charset="-122"/>
              <a:cs typeface="Aptos" pitchFamily="34" charset="-120"/>
            </a:endParaRPr>
          </a:p>
        </p:txBody>
      </p:sp>
      <p:sp>
        <p:nvSpPr>
          <p:cNvPr id="40" name="Text 38"/>
          <p:cNvSpPr/>
          <p:nvPr/>
        </p:nvSpPr>
        <p:spPr>
          <a:xfrm>
            <a:off x="2939098" y="4170680"/>
            <a:ext cx="2514600" cy="667512"/>
          </a:xfrm>
          <a:prstGeom prst="rect">
            <a:avLst/>
          </a:prstGeom>
          <a:noFill/>
        </p:spPr>
        <p:txBody>
          <a:bodyPr wrap="square" lIns="508" tIns="508" rIns="508" bIns="508" rtlCol="0" anchor="ctr">
            <a:normAutofit/>
          </a:bodyPr>
          <a:lstStyle/>
          <a:p>
            <a:pPr marL="0" indent="0" algn="l">
              <a:buNone/>
            </a:pPr>
            <a:r>
              <a:rPr lang="en-US" sz="1400" dirty="0">
                <a:solidFill>
                  <a:srgbClr val="0F172A"/>
                </a:solidFill>
                <a:latin typeface="Aptos" pitchFamily="34" charset="0"/>
                <a:ea typeface="Aptos" pitchFamily="34" charset="-122"/>
                <a:cs typeface="Aptos" pitchFamily="34" charset="-120"/>
              </a:rPr>
              <a:t>Write final JSON review using all analysis outputs.</a:t>
            </a:r>
            <a:endParaRPr lang="en-US" sz="1400" dirty="0">
              <a:solidFill>
                <a:srgbClr val="0F172A"/>
              </a:solidFill>
              <a:latin typeface="Aptos" pitchFamily="34" charset="0"/>
              <a:ea typeface="Aptos" pitchFamily="34" charset="-122"/>
              <a:cs typeface="Aptos" pitchFamily="34" charset="-120"/>
            </a:endParaRPr>
          </a:p>
        </p:txBody>
      </p:sp>
      <p:sp>
        <p:nvSpPr>
          <p:cNvPr id="41" name="Text 39"/>
          <p:cNvSpPr/>
          <p:nvPr/>
        </p:nvSpPr>
        <p:spPr>
          <a:xfrm>
            <a:off x="5636578" y="4170680"/>
            <a:ext cx="1691640" cy="667512"/>
          </a:xfrm>
          <a:prstGeom prst="rect">
            <a:avLst/>
          </a:prstGeom>
          <a:noFill/>
        </p:spPr>
        <p:txBody>
          <a:bodyPr wrap="square" lIns="508" tIns="508" rIns="508" bIns="508" rtlCol="0" anchor="ctr">
            <a:normAutofit/>
          </a:bodyPr>
          <a:lstStyle/>
          <a:p>
            <a:pPr marL="0" indent="0" algn="l">
              <a:buNone/>
            </a:pPr>
            <a:r>
              <a:rPr lang="en-US" sz="1400" dirty="0">
                <a:solidFill>
                  <a:srgbClr val="0F172A"/>
                </a:solidFill>
                <a:latin typeface="Aptos" pitchFamily="34" charset="0"/>
                <a:ea typeface="Aptos" pitchFamily="34" charset="-122"/>
                <a:cs typeface="Aptos" pitchFamily="34" charset="-120"/>
              </a:rPr>
              <a:t>all analyses + predicted_stars</a:t>
            </a:r>
            <a:endParaRPr lang="en-US" sz="1400" dirty="0">
              <a:solidFill>
                <a:srgbClr val="0F172A"/>
              </a:solidFill>
              <a:latin typeface="Aptos" pitchFamily="34" charset="0"/>
              <a:ea typeface="Aptos" pitchFamily="34" charset="-122"/>
              <a:cs typeface="Aptos" pitchFamily="34" charset="-120"/>
            </a:endParaRPr>
          </a:p>
        </p:txBody>
      </p:sp>
      <p:sp>
        <p:nvSpPr>
          <p:cNvPr id="42" name="Text 40"/>
          <p:cNvSpPr/>
          <p:nvPr/>
        </p:nvSpPr>
        <p:spPr>
          <a:xfrm>
            <a:off x="7511098" y="4170680"/>
            <a:ext cx="2743200" cy="667512"/>
          </a:xfrm>
          <a:prstGeom prst="rect">
            <a:avLst/>
          </a:prstGeom>
          <a:noFill/>
        </p:spPr>
        <p:txBody>
          <a:bodyPr wrap="square" lIns="508" tIns="508" rIns="508" bIns="508" rtlCol="0" anchor="ctr">
            <a:normAutofit/>
          </a:bodyPr>
          <a:lstStyle/>
          <a:p>
            <a:pPr marL="0" indent="0" algn="l">
              <a:buNone/>
            </a:pPr>
            <a:r>
              <a:rPr lang="en-US" sz="1400" dirty="0">
                <a:solidFill>
                  <a:srgbClr val="0F172A"/>
                </a:solidFill>
                <a:latin typeface="Aptos" pitchFamily="34" charset="0"/>
                <a:ea typeface="Aptos" pitchFamily="34" charset="-122"/>
                <a:cs typeface="Aptos" pitchFamily="34" charset="-120"/>
              </a:rPr>
              <a:t>{stars, review}</a:t>
            </a:r>
            <a:endParaRPr lang="en-US" sz="1400" dirty="0">
              <a:solidFill>
                <a:srgbClr val="0F172A"/>
              </a:solidFill>
              <a:latin typeface="Aptos" pitchFamily="34" charset="0"/>
              <a:ea typeface="Aptos" pitchFamily="34" charset="-122"/>
              <a:cs typeface="Aptos" pitchFamily="34" charset="-120"/>
            </a:endParaRPr>
          </a:p>
        </p:txBody>
      </p:sp>
      <p:sp>
        <p:nvSpPr>
          <p:cNvPr id="43" name="Text 41"/>
          <p:cNvSpPr/>
          <p:nvPr/>
        </p:nvSpPr>
        <p:spPr>
          <a:xfrm>
            <a:off x="10437178" y="4170680"/>
            <a:ext cx="1325880" cy="667512"/>
          </a:xfrm>
          <a:prstGeom prst="rect">
            <a:avLst/>
          </a:prstGeom>
          <a:noFill/>
        </p:spPr>
        <p:txBody>
          <a:bodyPr wrap="square" lIns="508" tIns="508" rIns="508" bIns="508" rtlCol="0" anchor="ctr">
            <a:noAutofit/>
          </a:bodyPr>
          <a:lstStyle/>
          <a:p>
            <a:pPr marL="0" indent="0" algn="l">
              <a:buNone/>
            </a:pPr>
            <a:r>
              <a:rPr lang="en-US" sz="1400" b="1" dirty="0">
                <a:solidFill>
                  <a:srgbClr val="0F172A"/>
                </a:solidFill>
                <a:latin typeface="Aptos" pitchFamily="34" charset="0"/>
                <a:ea typeface="Aptos" pitchFamily="34" charset="-122"/>
                <a:cs typeface="Aptos" pitchFamily="34" charset="-120"/>
              </a:rPr>
              <a:t>stars = predicted_stars exactly</a:t>
            </a:r>
            <a:endParaRPr lang="en-US" sz="1400" b="1" dirty="0">
              <a:solidFill>
                <a:srgbClr val="0F172A"/>
              </a:solidFill>
              <a:latin typeface="Aptos" pitchFamily="34" charset="0"/>
              <a:ea typeface="Aptos" pitchFamily="34" charset="-122"/>
              <a:cs typeface="Aptos" pitchFamily="34" charset="-120"/>
            </a:endParaRPr>
          </a:p>
        </p:txBody>
      </p:sp>
      <p:sp>
        <p:nvSpPr>
          <p:cNvPr id="44"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b="1" dirty="0">
                <a:solidFill>
                  <a:srgbClr val="64748B"/>
                </a:solidFill>
                <a:latin typeface="Aptos" pitchFamily="34" charset="0"/>
                <a:ea typeface="Aptos" pitchFamily="34" charset="-122"/>
                <a:cs typeface="Aptos" pitchFamily="34" charset="-120"/>
              </a:rPr>
              <a:t>0</a:t>
            </a:r>
            <a:r>
              <a:rPr lang="vi-VN" altLang="en-US" sz="1000" b="1" dirty="0">
                <a:solidFill>
                  <a:srgbClr val="64748B"/>
                </a:solidFill>
                <a:latin typeface="Aptos" pitchFamily="34" charset="0"/>
                <a:ea typeface="Aptos" pitchFamily="34" charset="-122"/>
                <a:cs typeface="Aptos" pitchFamily="34" charset="-120"/>
              </a:rPr>
              <a:t>5</a:t>
            </a:r>
            <a:endParaRPr lang="vi-VN" altLang="en-US"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21005" y="146050"/>
            <a:ext cx="4251960" cy="342900"/>
          </a:xfrm>
          <a:prstGeom prst="rect">
            <a:avLst/>
          </a:prstGeom>
          <a:noFill/>
        </p:spPr>
        <p:txBody>
          <a:bodyPr wrap="square" lIns="45720" tIns="18288" rIns="45720" bIns="18288">
            <a:spAutoFit/>
          </a:bodyPr>
          <a:lstStyle/>
          <a:p>
            <a:pPr>
              <a:defRPr sz="1000" b="1">
                <a:solidFill>
                  <a:srgbClr val="0066FF"/>
                </a:solidFill>
                <a:latin typeface="Arial" panose="020B0704020202020204"/>
              </a:defRPr>
            </a:pPr>
            <a:r>
              <a:rPr lang="vi-VN" sz="2000"/>
              <a:t>RATING POLICY PARAMETERS</a:t>
            </a:r>
            <a:endParaRPr lang="vi-VN" sz="2000"/>
          </a:p>
        </p:txBody>
      </p:sp>
      <p:sp>
        <p:nvSpPr>
          <p:cNvPr id="4" name="Rectangle 3"/>
          <p:cNvSpPr/>
          <p:nvPr/>
        </p:nvSpPr>
        <p:spPr>
          <a:xfrm>
            <a:off x="420941" y="552450"/>
            <a:ext cx="11292840" cy="9144"/>
          </a:xfrm>
          <a:prstGeom prst="rect">
            <a:avLst/>
          </a:prstGeom>
          <a:solidFill>
            <a:srgbClr val="B4CCE2"/>
          </a:solidFill>
          <a:ln>
            <a:solidFill>
              <a:srgbClr val="B4C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7246" y="765302"/>
            <a:ext cx="1508760" cy="384048"/>
          </a:xfrm>
          <a:prstGeom prst="rect">
            <a:avLst/>
          </a:prstGeom>
          <a:solidFill>
            <a:srgbClr val="002B4F"/>
          </a:solidFill>
          <a:ln w="10160">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66" y="829310"/>
            <a:ext cx="1417319" cy="219710"/>
          </a:xfrm>
          <a:prstGeom prst="rect">
            <a:avLst/>
          </a:prstGeom>
          <a:noFill/>
        </p:spPr>
        <p:txBody>
          <a:bodyPr wrap="square" lIns="45720" tIns="18288" rIns="45720" bIns="18288">
            <a:spAutoFit/>
          </a:bodyPr>
          <a:lstStyle/>
          <a:p>
            <a:pPr>
              <a:defRPr sz="1300" b="1">
                <a:solidFill>
                  <a:srgbClr val="FFFFFF"/>
                </a:solidFill>
                <a:latin typeface="Arial" panose="020B0704020202020204"/>
              </a:defRPr>
            </a:pPr>
            <a:r>
              <a:rPr sz="1200"/>
              <a:t>Group</a:t>
            </a:r>
            <a:endParaRPr sz="1200"/>
          </a:p>
        </p:txBody>
      </p:sp>
      <p:sp>
        <p:nvSpPr>
          <p:cNvPr id="8" name="Rectangle 7"/>
          <p:cNvSpPr/>
          <p:nvPr/>
        </p:nvSpPr>
        <p:spPr>
          <a:xfrm>
            <a:off x="2076006" y="765302"/>
            <a:ext cx="3063240" cy="384048"/>
          </a:xfrm>
          <a:prstGeom prst="rect">
            <a:avLst/>
          </a:prstGeom>
          <a:solidFill>
            <a:srgbClr val="002B4F"/>
          </a:solidFill>
          <a:ln w="10160">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21725" y="829310"/>
            <a:ext cx="2971800" cy="219710"/>
          </a:xfrm>
          <a:prstGeom prst="rect">
            <a:avLst/>
          </a:prstGeom>
          <a:noFill/>
        </p:spPr>
        <p:txBody>
          <a:bodyPr wrap="square" lIns="45720" tIns="18288" rIns="45720" bIns="18288">
            <a:spAutoFit/>
          </a:bodyPr>
          <a:lstStyle/>
          <a:p>
            <a:pPr>
              <a:defRPr sz="1300" b="1">
                <a:solidFill>
                  <a:srgbClr val="FFFFFF"/>
                </a:solidFill>
                <a:latin typeface="Arial" panose="020B0704020202020204"/>
              </a:defRPr>
            </a:pPr>
            <a:r>
              <a:rPr sz="1200"/>
              <a:t>Settings</a:t>
            </a:r>
            <a:endParaRPr sz="1200"/>
          </a:p>
        </p:txBody>
      </p:sp>
      <p:sp>
        <p:nvSpPr>
          <p:cNvPr id="10" name="Rectangle 9"/>
          <p:cNvSpPr/>
          <p:nvPr/>
        </p:nvSpPr>
        <p:spPr>
          <a:xfrm>
            <a:off x="5139246" y="765302"/>
            <a:ext cx="2331720" cy="384048"/>
          </a:xfrm>
          <a:prstGeom prst="rect">
            <a:avLst/>
          </a:prstGeom>
          <a:solidFill>
            <a:srgbClr val="002B4F"/>
          </a:solidFill>
          <a:ln w="10160">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4966" y="829310"/>
            <a:ext cx="2240279" cy="219710"/>
          </a:xfrm>
          <a:prstGeom prst="rect">
            <a:avLst/>
          </a:prstGeom>
          <a:noFill/>
        </p:spPr>
        <p:txBody>
          <a:bodyPr wrap="square" lIns="45720" tIns="18288" rIns="45720" bIns="18288">
            <a:spAutoFit/>
          </a:bodyPr>
          <a:lstStyle/>
          <a:p>
            <a:pPr>
              <a:defRPr sz="1300" b="1">
                <a:solidFill>
                  <a:srgbClr val="FFFFFF"/>
                </a:solidFill>
                <a:latin typeface="Arial" panose="020B0704020202020204"/>
              </a:defRPr>
            </a:pPr>
            <a:r>
              <a:rPr sz="1200"/>
              <a:t>Values</a:t>
            </a:r>
            <a:endParaRPr sz="1200"/>
          </a:p>
        </p:txBody>
      </p:sp>
      <p:sp>
        <p:nvSpPr>
          <p:cNvPr id="12" name="Rectangle 11"/>
          <p:cNvSpPr/>
          <p:nvPr/>
        </p:nvSpPr>
        <p:spPr>
          <a:xfrm>
            <a:off x="7470966" y="765302"/>
            <a:ext cx="4343400" cy="384048"/>
          </a:xfrm>
          <a:prstGeom prst="rect">
            <a:avLst/>
          </a:prstGeom>
          <a:solidFill>
            <a:srgbClr val="002B4F"/>
          </a:solidFill>
          <a:ln w="10160">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16686" y="829310"/>
            <a:ext cx="4251960" cy="219710"/>
          </a:xfrm>
          <a:prstGeom prst="rect">
            <a:avLst/>
          </a:prstGeom>
          <a:noFill/>
        </p:spPr>
        <p:txBody>
          <a:bodyPr wrap="square" lIns="45720" tIns="18288" rIns="45720" bIns="18288">
            <a:spAutoFit/>
          </a:bodyPr>
          <a:lstStyle/>
          <a:p>
            <a:pPr>
              <a:defRPr sz="1300" b="1">
                <a:solidFill>
                  <a:srgbClr val="FFFFFF"/>
                </a:solidFill>
                <a:latin typeface="Arial" panose="020B0704020202020204"/>
              </a:defRPr>
            </a:pPr>
            <a:r>
              <a:rPr sz="1200"/>
              <a:t>Meaning</a:t>
            </a:r>
            <a:endParaRPr sz="1200"/>
          </a:p>
        </p:txBody>
      </p:sp>
      <p:sp>
        <p:nvSpPr>
          <p:cNvPr id="14" name="Rectangle 13"/>
          <p:cNvSpPr/>
          <p:nvPr/>
        </p:nvSpPr>
        <p:spPr>
          <a:xfrm>
            <a:off x="567246" y="1149349"/>
            <a:ext cx="1508760" cy="713232"/>
          </a:xfrm>
          <a:prstGeom prst="rect">
            <a:avLst/>
          </a:prstGeom>
          <a:solidFill>
            <a:srgbClr val="EBF6FF"/>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TextBox 14"/>
          <p:cNvSpPr txBox="1"/>
          <p:nvPr/>
        </p:nvSpPr>
        <p:spPr>
          <a:xfrm>
            <a:off x="622110" y="1204214"/>
            <a:ext cx="1399031" cy="430530"/>
          </a:xfrm>
          <a:prstGeom prst="rect">
            <a:avLst/>
          </a:prstGeom>
          <a:noFill/>
        </p:spPr>
        <p:txBody>
          <a:bodyPr wrap="square" lIns="9144" tIns="0" rIns="9144" bIns="0">
            <a:spAutoFit/>
          </a:bodyPr>
          <a:lstStyle/>
          <a:p>
            <a:pPr>
              <a:spcAft>
                <a:spcPts val="0"/>
              </a:spcAft>
              <a:defRPr sz="1150" b="1">
                <a:solidFill>
                  <a:srgbClr val="002442"/>
                </a:solidFill>
                <a:latin typeface="Arial" panose="020B0704020202020204"/>
              </a:defRPr>
            </a:pPr>
            <a:r>
              <a:rPr sz="1400"/>
              <a:t>Fallback + rounding</a:t>
            </a:r>
            <a:endParaRPr sz="1400"/>
          </a:p>
        </p:txBody>
      </p:sp>
      <p:sp>
        <p:nvSpPr>
          <p:cNvPr id="16" name="Rectangle 15"/>
          <p:cNvSpPr/>
          <p:nvPr/>
        </p:nvSpPr>
        <p:spPr>
          <a:xfrm>
            <a:off x="2076006" y="1149349"/>
            <a:ext cx="3063240" cy="713232"/>
          </a:xfrm>
          <a:prstGeom prst="rect">
            <a:avLst/>
          </a:prstGeom>
          <a:solidFill>
            <a:srgbClr val="FFFFFF"/>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7" name="TextBox 16"/>
          <p:cNvSpPr txBox="1"/>
          <p:nvPr/>
        </p:nvSpPr>
        <p:spPr>
          <a:xfrm>
            <a:off x="2130869" y="1204214"/>
            <a:ext cx="2953512" cy="645795"/>
          </a:xfrm>
          <a:prstGeom prst="rect">
            <a:avLst/>
          </a:prstGeom>
          <a:noFill/>
        </p:spPr>
        <p:txBody>
          <a:bodyPr wrap="square" lIns="9144" tIns="0" rIns="9144" bIns="0">
            <a:spAutoFit/>
          </a:bodyPr>
          <a:lstStyle/>
          <a:p>
            <a:pPr>
              <a:spcAft>
                <a:spcPts val="0"/>
              </a:spcAft>
              <a:defRPr sz="1080" b="0">
                <a:solidFill>
                  <a:srgbClr val="102032"/>
                </a:solidFill>
                <a:latin typeface="Arial" panose="020B0704020202020204"/>
              </a:defRPr>
            </a:pPr>
            <a:r>
              <a:rPr sz="1400"/>
              <a:t>default_prior</a:t>
            </a:r>
            <a:endParaRPr sz="1400"/>
          </a:p>
          <a:p>
            <a:pPr>
              <a:spcAft>
                <a:spcPts val="0"/>
              </a:spcAft>
              <a:defRPr sz="1080" b="0">
                <a:solidFill>
                  <a:srgbClr val="102032"/>
                </a:solidFill>
                <a:latin typeface="Arial" panose="020B0704020202020204"/>
              </a:defRPr>
            </a:pPr>
            <a:r>
              <a:rPr sz="1400"/>
              <a:t>rounding mode</a:t>
            </a:r>
            <a:endParaRPr sz="1400"/>
          </a:p>
          <a:p>
            <a:pPr>
              <a:spcAft>
                <a:spcPts val="0"/>
              </a:spcAft>
              <a:defRPr sz="1080" b="0">
                <a:solidFill>
                  <a:srgbClr val="102032"/>
                </a:solidFill>
                <a:latin typeface="Arial" panose="020B0704020202020204"/>
              </a:defRPr>
            </a:pPr>
            <a:r>
              <a:rPr sz="1400"/>
              <a:t>range</a:t>
            </a:r>
            <a:endParaRPr sz="1400"/>
          </a:p>
        </p:txBody>
      </p:sp>
      <p:sp>
        <p:nvSpPr>
          <p:cNvPr id="18" name="Rectangle 17"/>
          <p:cNvSpPr/>
          <p:nvPr/>
        </p:nvSpPr>
        <p:spPr>
          <a:xfrm>
            <a:off x="5139246" y="1149349"/>
            <a:ext cx="2331720" cy="713232"/>
          </a:xfrm>
          <a:prstGeom prst="rect">
            <a:avLst/>
          </a:prstGeom>
          <a:solidFill>
            <a:srgbClr val="FFFFFF"/>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p:cNvSpPr txBox="1"/>
          <p:nvPr/>
        </p:nvSpPr>
        <p:spPr>
          <a:xfrm>
            <a:off x="5194110" y="1204214"/>
            <a:ext cx="2221991" cy="645795"/>
          </a:xfrm>
          <a:prstGeom prst="rect">
            <a:avLst/>
          </a:prstGeom>
          <a:noFill/>
        </p:spPr>
        <p:txBody>
          <a:bodyPr wrap="square" lIns="9144" tIns="0" rIns="9144" bIns="0">
            <a:spAutoFit/>
          </a:bodyPr>
          <a:lstStyle/>
          <a:p>
            <a:pPr>
              <a:spcAft>
                <a:spcPts val="0"/>
              </a:spcAft>
              <a:defRPr sz="1080" b="0">
                <a:solidFill>
                  <a:srgbClr val="102032"/>
                </a:solidFill>
                <a:latin typeface="Arial" panose="020B0704020202020204"/>
              </a:defRPr>
            </a:pPr>
            <a:r>
              <a:rPr sz="1400"/>
              <a:t>3.8</a:t>
            </a:r>
            <a:endParaRPr sz="1400"/>
          </a:p>
          <a:p>
            <a:pPr>
              <a:spcAft>
                <a:spcPts val="0"/>
              </a:spcAft>
              <a:defRPr sz="1080" b="0">
                <a:solidFill>
                  <a:srgbClr val="102032"/>
                </a:solidFill>
                <a:latin typeface="Arial" panose="020B0704020202020204"/>
              </a:defRPr>
            </a:pPr>
            <a:r>
              <a:rPr sz="1400"/>
              <a:t>half-up, 1 decimal</a:t>
            </a:r>
            <a:endParaRPr sz="1400"/>
          </a:p>
          <a:p>
            <a:pPr>
              <a:spcAft>
                <a:spcPts val="0"/>
              </a:spcAft>
              <a:defRPr sz="1080" b="0">
                <a:solidFill>
                  <a:srgbClr val="102032"/>
                </a:solidFill>
                <a:latin typeface="Arial" panose="020B0704020202020204"/>
              </a:defRPr>
            </a:pPr>
            <a:r>
              <a:rPr sz="1400"/>
              <a:t>1.0–5.0</a:t>
            </a:r>
            <a:endParaRPr sz="1400"/>
          </a:p>
        </p:txBody>
      </p:sp>
      <p:sp>
        <p:nvSpPr>
          <p:cNvPr id="20" name="Rectangle 19"/>
          <p:cNvSpPr/>
          <p:nvPr/>
        </p:nvSpPr>
        <p:spPr>
          <a:xfrm>
            <a:off x="7470966" y="1149349"/>
            <a:ext cx="4343400" cy="713232"/>
          </a:xfrm>
          <a:prstGeom prst="rect">
            <a:avLst/>
          </a:prstGeom>
          <a:solidFill>
            <a:srgbClr val="FFFFFF"/>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25830" y="1204214"/>
            <a:ext cx="4233672" cy="430530"/>
          </a:xfrm>
          <a:prstGeom prst="rect">
            <a:avLst/>
          </a:prstGeom>
          <a:noFill/>
        </p:spPr>
        <p:txBody>
          <a:bodyPr wrap="square" lIns="9144" tIns="0" rIns="9144" bIns="0">
            <a:spAutoFit/>
          </a:bodyPr>
          <a:lstStyle/>
          <a:p>
            <a:pPr>
              <a:spcAft>
                <a:spcPts val="0"/>
              </a:spcAft>
              <a:defRPr sz="1150" b="0">
                <a:solidFill>
                  <a:srgbClr val="102032"/>
                </a:solidFill>
                <a:latin typeface="Arial" panose="020B0704020202020204"/>
              </a:defRPr>
            </a:pPr>
            <a:r>
              <a:rPr sz="1400"/>
              <a:t>Use a safe fallback when no evidence exists; keep stars standardized for evaluation.</a:t>
            </a:r>
            <a:endParaRPr sz="1400"/>
          </a:p>
        </p:txBody>
      </p:sp>
      <p:sp>
        <p:nvSpPr>
          <p:cNvPr id="22" name="Rectangle 21"/>
          <p:cNvSpPr/>
          <p:nvPr/>
        </p:nvSpPr>
        <p:spPr>
          <a:xfrm>
            <a:off x="567246" y="1862582"/>
            <a:ext cx="1508760" cy="713232"/>
          </a:xfrm>
          <a:prstGeom prst="rect">
            <a:avLst/>
          </a:prstGeom>
          <a:solidFill>
            <a:srgbClr val="E9FAF2"/>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22"/>
          <p:cNvSpPr txBox="1"/>
          <p:nvPr/>
        </p:nvSpPr>
        <p:spPr>
          <a:xfrm>
            <a:off x="622110" y="1917446"/>
            <a:ext cx="1399031" cy="430530"/>
          </a:xfrm>
          <a:prstGeom prst="rect">
            <a:avLst/>
          </a:prstGeom>
          <a:noFill/>
        </p:spPr>
        <p:txBody>
          <a:bodyPr wrap="square" lIns="9144" tIns="0" rIns="9144" bIns="0">
            <a:spAutoFit/>
          </a:bodyPr>
          <a:lstStyle/>
          <a:p>
            <a:pPr>
              <a:spcAft>
                <a:spcPts val="0"/>
              </a:spcAft>
              <a:defRPr sz="1150" b="1">
                <a:solidFill>
                  <a:srgbClr val="002442"/>
                </a:solidFill>
                <a:latin typeface="Arial" panose="020B0704020202020204"/>
              </a:defRPr>
            </a:pPr>
            <a:r>
              <a:rPr sz="1400"/>
              <a:t>Evidence weights</a:t>
            </a:r>
            <a:endParaRPr sz="1400"/>
          </a:p>
        </p:txBody>
      </p:sp>
      <p:sp>
        <p:nvSpPr>
          <p:cNvPr id="24" name="Rectangle 23"/>
          <p:cNvSpPr/>
          <p:nvPr/>
        </p:nvSpPr>
        <p:spPr>
          <a:xfrm>
            <a:off x="2076006" y="1862582"/>
            <a:ext cx="3063240" cy="713232"/>
          </a:xfrm>
          <a:prstGeom prst="rect">
            <a:avLst/>
          </a:prstGeom>
          <a:solidFill>
            <a:srgbClr val="F8FBFE"/>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5" name="TextBox 24"/>
          <p:cNvSpPr txBox="1"/>
          <p:nvPr/>
        </p:nvSpPr>
        <p:spPr>
          <a:xfrm>
            <a:off x="2130869" y="1917446"/>
            <a:ext cx="2953512" cy="645795"/>
          </a:xfrm>
          <a:prstGeom prst="rect">
            <a:avLst/>
          </a:prstGeom>
          <a:noFill/>
        </p:spPr>
        <p:txBody>
          <a:bodyPr wrap="square" lIns="9144" tIns="0" rIns="9144" bIns="0">
            <a:spAutoFit/>
          </a:bodyPr>
          <a:lstStyle/>
          <a:p>
            <a:pPr>
              <a:spcAft>
                <a:spcPts val="0"/>
              </a:spcAft>
              <a:defRPr sz="1080" b="0">
                <a:solidFill>
                  <a:srgbClr val="102032"/>
                </a:solidFill>
                <a:latin typeface="Arial" panose="020B0704020202020204"/>
              </a:defRPr>
            </a:pPr>
            <a:r>
              <a:rPr sz="1400"/>
              <a:t>base_user_weight</a:t>
            </a:r>
            <a:endParaRPr sz="1400"/>
          </a:p>
          <a:p>
            <a:pPr>
              <a:spcAft>
                <a:spcPts val="0"/>
              </a:spcAft>
              <a:defRPr sz="1080" b="0">
                <a:solidFill>
                  <a:srgbClr val="102032"/>
                </a:solidFill>
                <a:latin typeface="Arial" panose="020B0704020202020204"/>
              </a:defRPr>
            </a:pPr>
            <a:r>
              <a:rPr sz="1400"/>
              <a:t>base_item_weight</a:t>
            </a:r>
            <a:endParaRPr sz="1400"/>
          </a:p>
          <a:p>
            <a:pPr>
              <a:spcAft>
                <a:spcPts val="0"/>
              </a:spcAft>
              <a:defRPr sz="1080" b="0">
                <a:solidFill>
                  <a:srgbClr val="102032"/>
                </a:solidFill>
                <a:latin typeface="Arial" panose="020B0704020202020204"/>
              </a:defRPr>
            </a:pPr>
            <a:r>
              <a:rPr sz="1400"/>
              <a:t>direct_review_weight</a:t>
            </a:r>
            <a:endParaRPr sz="1400"/>
          </a:p>
        </p:txBody>
      </p:sp>
      <p:sp>
        <p:nvSpPr>
          <p:cNvPr id="26" name="Rectangle 25"/>
          <p:cNvSpPr/>
          <p:nvPr/>
        </p:nvSpPr>
        <p:spPr>
          <a:xfrm>
            <a:off x="5139246" y="1862582"/>
            <a:ext cx="2331720" cy="713232"/>
          </a:xfrm>
          <a:prstGeom prst="rect">
            <a:avLst/>
          </a:prstGeom>
          <a:solidFill>
            <a:srgbClr val="F8FBFE"/>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7" name="TextBox 26"/>
          <p:cNvSpPr txBox="1"/>
          <p:nvPr/>
        </p:nvSpPr>
        <p:spPr>
          <a:xfrm>
            <a:off x="5194110" y="1917446"/>
            <a:ext cx="2221991" cy="645795"/>
          </a:xfrm>
          <a:prstGeom prst="rect">
            <a:avLst/>
          </a:prstGeom>
          <a:noFill/>
        </p:spPr>
        <p:txBody>
          <a:bodyPr wrap="square" lIns="9144" tIns="0" rIns="9144" bIns="0">
            <a:spAutoFit/>
          </a:bodyPr>
          <a:lstStyle/>
          <a:p>
            <a:pPr>
              <a:spcAft>
                <a:spcPts val="0"/>
              </a:spcAft>
              <a:defRPr sz="1080" b="0">
                <a:solidFill>
                  <a:srgbClr val="102032"/>
                </a:solidFill>
                <a:latin typeface="Arial" panose="020B0704020202020204"/>
              </a:defRPr>
            </a:pPr>
            <a:r>
              <a:rPr sz="1400"/>
              <a:t>0.20</a:t>
            </a:r>
            <a:endParaRPr sz="1400"/>
          </a:p>
          <a:p>
            <a:pPr>
              <a:spcAft>
                <a:spcPts val="0"/>
              </a:spcAft>
              <a:defRPr sz="1080" b="0">
                <a:solidFill>
                  <a:srgbClr val="102032"/>
                </a:solidFill>
                <a:latin typeface="Arial" panose="020B0704020202020204"/>
              </a:defRPr>
            </a:pPr>
            <a:r>
              <a:rPr sz="1400"/>
              <a:t>0.20</a:t>
            </a:r>
            <a:endParaRPr sz="1400"/>
          </a:p>
          <a:p>
            <a:pPr>
              <a:spcAft>
                <a:spcPts val="0"/>
              </a:spcAft>
              <a:defRPr sz="1080" b="0">
                <a:solidFill>
                  <a:srgbClr val="102032"/>
                </a:solidFill>
                <a:latin typeface="Arial" panose="020B0704020202020204"/>
              </a:defRPr>
            </a:pPr>
            <a:r>
              <a:rPr sz="1400"/>
              <a:t>0.60</a:t>
            </a:r>
            <a:endParaRPr sz="1400"/>
          </a:p>
        </p:txBody>
      </p:sp>
      <p:sp>
        <p:nvSpPr>
          <p:cNvPr id="28" name="Rectangle 27"/>
          <p:cNvSpPr/>
          <p:nvPr/>
        </p:nvSpPr>
        <p:spPr>
          <a:xfrm>
            <a:off x="7470966" y="1862582"/>
            <a:ext cx="4343400" cy="713232"/>
          </a:xfrm>
          <a:prstGeom prst="rect">
            <a:avLst/>
          </a:prstGeom>
          <a:solidFill>
            <a:srgbClr val="F8FBFE"/>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25830" y="1917446"/>
            <a:ext cx="4233672" cy="645795"/>
          </a:xfrm>
          <a:prstGeom prst="rect">
            <a:avLst/>
          </a:prstGeom>
          <a:noFill/>
        </p:spPr>
        <p:txBody>
          <a:bodyPr wrap="square" lIns="9144" tIns="0" rIns="9144" bIns="0">
            <a:spAutoFit/>
          </a:bodyPr>
          <a:lstStyle/>
          <a:p>
            <a:pPr>
              <a:spcAft>
                <a:spcPts val="0"/>
              </a:spcAft>
              <a:defRPr sz="1150" b="0">
                <a:solidFill>
                  <a:srgbClr val="102032"/>
                </a:solidFill>
                <a:latin typeface="Arial" panose="020B0704020202020204"/>
              </a:defRPr>
            </a:pPr>
            <a:r>
              <a:rPr sz="1400"/>
              <a:t>Decide which evidence matters most. Direct review is strongest when available; missing signals are removed.</a:t>
            </a:r>
            <a:endParaRPr sz="1400"/>
          </a:p>
        </p:txBody>
      </p:sp>
      <p:sp>
        <p:nvSpPr>
          <p:cNvPr id="30" name="Rectangle 29"/>
          <p:cNvSpPr/>
          <p:nvPr/>
        </p:nvSpPr>
        <p:spPr>
          <a:xfrm>
            <a:off x="567246" y="2575814"/>
            <a:ext cx="1508760" cy="713232"/>
          </a:xfrm>
          <a:prstGeom prst="rect">
            <a:avLst/>
          </a:prstGeom>
          <a:solidFill>
            <a:srgbClr val="FFFAE5"/>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TextBox 30"/>
          <p:cNvSpPr txBox="1"/>
          <p:nvPr/>
        </p:nvSpPr>
        <p:spPr>
          <a:xfrm>
            <a:off x="622110" y="2630678"/>
            <a:ext cx="1399031" cy="430530"/>
          </a:xfrm>
          <a:prstGeom prst="rect">
            <a:avLst/>
          </a:prstGeom>
          <a:noFill/>
        </p:spPr>
        <p:txBody>
          <a:bodyPr wrap="square" lIns="9144" tIns="0" rIns="9144" bIns="0">
            <a:spAutoFit/>
          </a:bodyPr>
          <a:lstStyle/>
          <a:p>
            <a:pPr>
              <a:spcAft>
                <a:spcPts val="0"/>
              </a:spcAft>
              <a:defRPr sz="1150" b="1">
                <a:solidFill>
                  <a:srgbClr val="002442"/>
                </a:solidFill>
                <a:latin typeface="Arial" panose="020B0704020202020204"/>
              </a:defRPr>
            </a:pPr>
            <a:r>
              <a:rPr sz="1400"/>
              <a:t>Confidence policy</a:t>
            </a:r>
            <a:endParaRPr sz="1400"/>
          </a:p>
        </p:txBody>
      </p:sp>
      <p:sp>
        <p:nvSpPr>
          <p:cNvPr id="32" name="Rectangle 31"/>
          <p:cNvSpPr/>
          <p:nvPr/>
        </p:nvSpPr>
        <p:spPr>
          <a:xfrm>
            <a:off x="2076006" y="2575814"/>
            <a:ext cx="3063240" cy="713232"/>
          </a:xfrm>
          <a:prstGeom prst="rect">
            <a:avLst/>
          </a:prstGeom>
          <a:solidFill>
            <a:srgbClr val="FFFFFF"/>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3" name="TextBox 32"/>
          <p:cNvSpPr txBox="1"/>
          <p:nvPr/>
        </p:nvSpPr>
        <p:spPr>
          <a:xfrm>
            <a:off x="2130869" y="2630678"/>
            <a:ext cx="2953512" cy="645795"/>
          </a:xfrm>
          <a:prstGeom prst="rect">
            <a:avLst/>
          </a:prstGeom>
          <a:noFill/>
        </p:spPr>
        <p:txBody>
          <a:bodyPr wrap="square" lIns="9144" tIns="0" rIns="9144" bIns="0">
            <a:spAutoFit/>
          </a:bodyPr>
          <a:lstStyle/>
          <a:p>
            <a:pPr>
              <a:spcAft>
                <a:spcPts val="0"/>
              </a:spcAft>
              <a:defRPr sz="1080" b="0">
                <a:solidFill>
                  <a:srgbClr val="102032"/>
                </a:solidFill>
                <a:latin typeface="Arial" panose="020B0704020202020204"/>
              </a:defRPr>
            </a:pPr>
            <a:r>
              <a:rPr sz="1400"/>
              <a:t>user/item divisors</a:t>
            </a:r>
            <a:endParaRPr sz="1400"/>
          </a:p>
          <a:p>
            <a:pPr>
              <a:spcAft>
                <a:spcPts val="0"/>
              </a:spcAft>
              <a:defRPr sz="1080" b="0">
                <a:solidFill>
                  <a:srgbClr val="102032"/>
                </a:solidFill>
                <a:latin typeface="Arial" panose="020B0704020202020204"/>
              </a:defRPr>
            </a:pPr>
            <a:r>
              <a:rPr sz="1400"/>
              <a:t>user/item bonuses</a:t>
            </a:r>
            <a:endParaRPr sz="1400"/>
          </a:p>
          <a:p>
            <a:pPr>
              <a:spcAft>
                <a:spcPts val="0"/>
              </a:spcAft>
              <a:defRPr sz="1080" b="0">
                <a:solidFill>
                  <a:srgbClr val="102032"/>
                </a:solidFill>
                <a:latin typeface="Arial" panose="020B0704020202020204"/>
              </a:defRPr>
            </a:pPr>
            <a:r>
              <a:rPr sz="1400"/>
              <a:t>multiplier range</a:t>
            </a:r>
            <a:endParaRPr sz="1400"/>
          </a:p>
        </p:txBody>
      </p:sp>
      <p:sp>
        <p:nvSpPr>
          <p:cNvPr id="34" name="Rectangle 33"/>
          <p:cNvSpPr/>
          <p:nvPr/>
        </p:nvSpPr>
        <p:spPr>
          <a:xfrm>
            <a:off x="5139246" y="2575814"/>
            <a:ext cx="2331720" cy="713232"/>
          </a:xfrm>
          <a:prstGeom prst="rect">
            <a:avLst/>
          </a:prstGeom>
          <a:solidFill>
            <a:srgbClr val="FFFFFF"/>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5" name="TextBox 34"/>
          <p:cNvSpPr txBox="1"/>
          <p:nvPr/>
        </p:nvSpPr>
        <p:spPr>
          <a:xfrm>
            <a:off x="5194110" y="2630678"/>
            <a:ext cx="2221991" cy="645795"/>
          </a:xfrm>
          <a:prstGeom prst="rect">
            <a:avLst/>
          </a:prstGeom>
          <a:noFill/>
        </p:spPr>
        <p:txBody>
          <a:bodyPr wrap="square" lIns="9144" tIns="0" rIns="9144" bIns="0">
            <a:spAutoFit/>
          </a:bodyPr>
          <a:lstStyle/>
          <a:p>
            <a:pPr>
              <a:spcAft>
                <a:spcPts val="0"/>
              </a:spcAft>
              <a:defRPr sz="1080" b="0">
                <a:solidFill>
                  <a:srgbClr val="102032"/>
                </a:solidFill>
                <a:latin typeface="Arial" panose="020B0704020202020204"/>
              </a:defRPr>
            </a:pPr>
            <a:r>
              <a:rPr sz="1400"/>
              <a:t>50 / 100</a:t>
            </a:r>
            <a:endParaRPr sz="1400"/>
          </a:p>
          <a:p>
            <a:pPr>
              <a:spcAft>
                <a:spcPts val="0"/>
              </a:spcAft>
              <a:defRPr sz="1080" b="0">
                <a:solidFill>
                  <a:srgbClr val="102032"/>
                </a:solidFill>
                <a:latin typeface="Arial" panose="020B0704020202020204"/>
              </a:defRPr>
            </a:pPr>
            <a:r>
              <a:rPr sz="1400"/>
              <a:t>+0.25 / +0.20</a:t>
            </a:r>
            <a:endParaRPr sz="1400"/>
          </a:p>
          <a:p>
            <a:pPr>
              <a:spcAft>
                <a:spcPts val="0"/>
              </a:spcAft>
              <a:defRPr sz="1080" b="0">
                <a:solidFill>
                  <a:srgbClr val="102032"/>
                </a:solidFill>
                <a:latin typeface="Arial" panose="020B0704020202020204"/>
              </a:defRPr>
            </a:pPr>
            <a:r>
              <a:rPr sz="1400"/>
              <a:t>0.70–1.30</a:t>
            </a:r>
            <a:endParaRPr sz="1400"/>
          </a:p>
        </p:txBody>
      </p:sp>
      <p:sp>
        <p:nvSpPr>
          <p:cNvPr id="36" name="Rectangle 35"/>
          <p:cNvSpPr/>
          <p:nvPr/>
        </p:nvSpPr>
        <p:spPr>
          <a:xfrm>
            <a:off x="7470966" y="2575814"/>
            <a:ext cx="4343400" cy="713232"/>
          </a:xfrm>
          <a:prstGeom prst="rect">
            <a:avLst/>
          </a:prstGeom>
          <a:solidFill>
            <a:srgbClr val="FFFFFF"/>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25830" y="2630678"/>
            <a:ext cx="4233672" cy="430530"/>
          </a:xfrm>
          <a:prstGeom prst="rect">
            <a:avLst/>
          </a:prstGeom>
          <a:noFill/>
        </p:spPr>
        <p:txBody>
          <a:bodyPr wrap="square" lIns="9144" tIns="0" rIns="9144" bIns="0">
            <a:spAutoFit/>
          </a:bodyPr>
          <a:lstStyle/>
          <a:p>
            <a:pPr>
              <a:spcAft>
                <a:spcPts val="0"/>
              </a:spcAft>
              <a:defRPr sz="1150" b="0">
                <a:solidFill>
                  <a:srgbClr val="102032"/>
                </a:solidFill>
                <a:latin typeface="Arial" panose="020B0704020202020204"/>
              </a:defRPr>
            </a:pPr>
            <a:r>
              <a:rPr sz="1400"/>
              <a:t>More review_count means stronger confidence, so user/item weights become more reliable.</a:t>
            </a:r>
            <a:endParaRPr sz="1400"/>
          </a:p>
        </p:txBody>
      </p:sp>
      <p:sp>
        <p:nvSpPr>
          <p:cNvPr id="38" name="Rectangle 37"/>
          <p:cNvSpPr/>
          <p:nvPr/>
        </p:nvSpPr>
        <p:spPr>
          <a:xfrm>
            <a:off x="567246" y="3289046"/>
            <a:ext cx="1508760" cy="713232"/>
          </a:xfrm>
          <a:prstGeom prst="rect">
            <a:avLst/>
          </a:prstGeom>
          <a:solidFill>
            <a:srgbClr val="F7FAFD"/>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9" name="TextBox 38"/>
          <p:cNvSpPr txBox="1"/>
          <p:nvPr/>
        </p:nvSpPr>
        <p:spPr>
          <a:xfrm>
            <a:off x="622110" y="3343910"/>
            <a:ext cx="1399031" cy="215265"/>
          </a:xfrm>
          <a:prstGeom prst="rect">
            <a:avLst/>
          </a:prstGeom>
          <a:noFill/>
        </p:spPr>
        <p:txBody>
          <a:bodyPr wrap="square" lIns="9144" tIns="0" rIns="9144" bIns="0">
            <a:spAutoFit/>
          </a:bodyPr>
          <a:lstStyle/>
          <a:p>
            <a:pPr>
              <a:spcAft>
                <a:spcPts val="0"/>
              </a:spcAft>
              <a:defRPr sz="1150" b="1">
                <a:solidFill>
                  <a:srgbClr val="002442"/>
                </a:solidFill>
                <a:latin typeface="Arial" panose="020B0704020202020204"/>
              </a:defRPr>
            </a:pPr>
            <a:r>
              <a:rPr sz="1400"/>
              <a:t>History blend</a:t>
            </a:r>
            <a:endParaRPr sz="1400"/>
          </a:p>
        </p:txBody>
      </p:sp>
      <p:sp>
        <p:nvSpPr>
          <p:cNvPr id="40" name="Rectangle 39"/>
          <p:cNvSpPr/>
          <p:nvPr/>
        </p:nvSpPr>
        <p:spPr>
          <a:xfrm>
            <a:off x="2076006" y="3289046"/>
            <a:ext cx="3063240" cy="713232"/>
          </a:xfrm>
          <a:prstGeom prst="rect">
            <a:avLst/>
          </a:prstGeom>
          <a:solidFill>
            <a:srgbClr val="F8FBFE"/>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1" name="TextBox 40"/>
          <p:cNvSpPr txBox="1"/>
          <p:nvPr/>
        </p:nvSpPr>
        <p:spPr>
          <a:xfrm>
            <a:off x="2130869" y="3343910"/>
            <a:ext cx="2953512" cy="645795"/>
          </a:xfrm>
          <a:prstGeom prst="rect">
            <a:avLst/>
          </a:prstGeom>
          <a:noFill/>
        </p:spPr>
        <p:txBody>
          <a:bodyPr wrap="square" lIns="9144" tIns="0" rIns="9144" bIns="0">
            <a:spAutoFit/>
          </a:bodyPr>
          <a:lstStyle/>
          <a:p>
            <a:pPr>
              <a:spcAft>
                <a:spcPts val="0"/>
              </a:spcAft>
              <a:defRPr sz="1080" b="0">
                <a:solidFill>
                  <a:srgbClr val="102032"/>
                </a:solidFill>
                <a:latin typeface="Arial" panose="020B0704020202020204"/>
              </a:defRPr>
            </a:pPr>
            <a:r>
              <a:rPr sz="1400"/>
              <a:t>user_history_blend</a:t>
            </a:r>
            <a:endParaRPr sz="1400"/>
          </a:p>
          <a:p>
            <a:pPr>
              <a:spcAft>
                <a:spcPts val="0"/>
              </a:spcAft>
              <a:defRPr sz="1080" b="0">
                <a:solidFill>
                  <a:srgbClr val="102032"/>
                </a:solidFill>
                <a:latin typeface="Arial" panose="020B0704020202020204"/>
              </a:defRPr>
            </a:pPr>
            <a:r>
              <a:rPr sz="1400"/>
              <a:t>item_history_blend</a:t>
            </a:r>
            <a:endParaRPr sz="1400"/>
          </a:p>
          <a:p>
            <a:pPr>
              <a:spcAft>
                <a:spcPts val="0"/>
              </a:spcAft>
              <a:defRPr sz="1080" b="0">
                <a:solidFill>
                  <a:srgbClr val="102032"/>
                </a:solidFill>
                <a:latin typeface="Arial" panose="020B0704020202020204"/>
              </a:defRPr>
            </a:pPr>
            <a:r>
              <a:rPr sz="1400"/>
              <a:t>min history count</a:t>
            </a:r>
            <a:endParaRPr sz="1400"/>
          </a:p>
        </p:txBody>
      </p:sp>
      <p:sp>
        <p:nvSpPr>
          <p:cNvPr id="42" name="Rectangle 41"/>
          <p:cNvSpPr/>
          <p:nvPr/>
        </p:nvSpPr>
        <p:spPr>
          <a:xfrm>
            <a:off x="5139246" y="3289046"/>
            <a:ext cx="2331720" cy="713232"/>
          </a:xfrm>
          <a:prstGeom prst="rect">
            <a:avLst/>
          </a:prstGeom>
          <a:solidFill>
            <a:srgbClr val="F8FBFE"/>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3" name="TextBox 42"/>
          <p:cNvSpPr txBox="1"/>
          <p:nvPr/>
        </p:nvSpPr>
        <p:spPr>
          <a:xfrm>
            <a:off x="5194110" y="3343910"/>
            <a:ext cx="2221991" cy="645795"/>
          </a:xfrm>
          <a:prstGeom prst="rect">
            <a:avLst/>
          </a:prstGeom>
          <a:noFill/>
        </p:spPr>
        <p:txBody>
          <a:bodyPr wrap="square" lIns="9144" tIns="0" rIns="9144" bIns="0">
            <a:spAutoFit/>
          </a:bodyPr>
          <a:lstStyle/>
          <a:p>
            <a:pPr>
              <a:spcAft>
                <a:spcPts val="0"/>
              </a:spcAft>
              <a:defRPr sz="1080" b="0">
                <a:solidFill>
                  <a:srgbClr val="102032"/>
                </a:solidFill>
                <a:latin typeface="Arial" panose="020B0704020202020204"/>
              </a:defRPr>
            </a:pPr>
            <a:r>
              <a:rPr sz="1400"/>
              <a:t>0.25</a:t>
            </a:r>
            <a:endParaRPr sz="1400"/>
          </a:p>
          <a:p>
            <a:pPr>
              <a:spcAft>
                <a:spcPts val="0"/>
              </a:spcAft>
              <a:defRPr sz="1080" b="0">
                <a:solidFill>
                  <a:srgbClr val="102032"/>
                </a:solidFill>
                <a:latin typeface="Arial" panose="020B0704020202020204"/>
              </a:defRPr>
            </a:pPr>
            <a:r>
              <a:rPr sz="1400"/>
              <a:t>0.20</a:t>
            </a:r>
            <a:endParaRPr sz="1400"/>
          </a:p>
          <a:p>
            <a:pPr>
              <a:spcAft>
                <a:spcPts val="0"/>
              </a:spcAft>
              <a:defRPr sz="1080" b="0">
                <a:solidFill>
                  <a:srgbClr val="102032"/>
                </a:solidFill>
                <a:latin typeface="Arial" panose="020B0704020202020204"/>
              </a:defRPr>
            </a:pPr>
            <a:r>
              <a:rPr sz="1400"/>
              <a:t>3 reviews</a:t>
            </a:r>
            <a:endParaRPr sz="1400"/>
          </a:p>
        </p:txBody>
      </p:sp>
      <p:sp>
        <p:nvSpPr>
          <p:cNvPr id="44" name="Rectangle 43"/>
          <p:cNvSpPr/>
          <p:nvPr/>
        </p:nvSpPr>
        <p:spPr>
          <a:xfrm>
            <a:off x="7470966" y="3289046"/>
            <a:ext cx="4343400" cy="713232"/>
          </a:xfrm>
          <a:prstGeom prst="rect">
            <a:avLst/>
          </a:prstGeom>
          <a:solidFill>
            <a:srgbClr val="F8FBFE"/>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25830" y="3343910"/>
            <a:ext cx="4233672" cy="430530"/>
          </a:xfrm>
          <a:prstGeom prst="rect">
            <a:avLst/>
          </a:prstGeom>
          <a:noFill/>
        </p:spPr>
        <p:txBody>
          <a:bodyPr wrap="square" lIns="9144" tIns="0" rIns="9144" bIns="0">
            <a:spAutoFit/>
          </a:bodyPr>
          <a:lstStyle/>
          <a:p>
            <a:pPr>
              <a:spcAft>
                <a:spcPts val="0"/>
              </a:spcAft>
              <a:defRPr sz="1150" b="0">
                <a:solidFill>
                  <a:srgbClr val="102032"/>
                </a:solidFill>
                <a:latin typeface="Arial" panose="020B0704020202020204"/>
              </a:defRPr>
            </a:pPr>
            <a:r>
              <a:rPr sz="1400"/>
              <a:t>Blend profile averages with review history to make user/item signals more stable.</a:t>
            </a:r>
            <a:endParaRPr sz="1400"/>
          </a:p>
        </p:txBody>
      </p:sp>
      <p:sp>
        <p:nvSpPr>
          <p:cNvPr id="46" name="Rectangle 45"/>
          <p:cNvSpPr/>
          <p:nvPr/>
        </p:nvSpPr>
        <p:spPr>
          <a:xfrm>
            <a:off x="567246" y="4002278"/>
            <a:ext cx="1508760" cy="713232"/>
          </a:xfrm>
          <a:prstGeom prst="rect">
            <a:avLst/>
          </a:prstGeom>
          <a:solidFill>
            <a:srgbClr val="EBF6FF"/>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7" name="TextBox 46"/>
          <p:cNvSpPr txBox="1"/>
          <p:nvPr/>
        </p:nvSpPr>
        <p:spPr>
          <a:xfrm>
            <a:off x="622110" y="4057142"/>
            <a:ext cx="1399031" cy="215265"/>
          </a:xfrm>
          <a:prstGeom prst="rect">
            <a:avLst/>
          </a:prstGeom>
          <a:noFill/>
        </p:spPr>
        <p:txBody>
          <a:bodyPr wrap="square" lIns="9144" tIns="0" rIns="9144" bIns="0">
            <a:spAutoFit/>
          </a:bodyPr>
          <a:lstStyle/>
          <a:p>
            <a:pPr>
              <a:spcAft>
                <a:spcPts val="0"/>
              </a:spcAft>
              <a:defRPr sz="1150" b="1">
                <a:solidFill>
                  <a:srgbClr val="002442"/>
                </a:solidFill>
                <a:latin typeface="Arial" panose="020B0704020202020204"/>
              </a:defRPr>
            </a:pPr>
            <a:r>
              <a:rPr sz="1400"/>
              <a:t>Anchor policy</a:t>
            </a:r>
            <a:endParaRPr sz="1400"/>
          </a:p>
        </p:txBody>
      </p:sp>
      <p:sp>
        <p:nvSpPr>
          <p:cNvPr id="48" name="Rectangle 47"/>
          <p:cNvSpPr/>
          <p:nvPr/>
        </p:nvSpPr>
        <p:spPr>
          <a:xfrm>
            <a:off x="2076006" y="4002278"/>
            <a:ext cx="3063240" cy="713232"/>
          </a:xfrm>
          <a:prstGeom prst="rect">
            <a:avLst/>
          </a:prstGeom>
          <a:solidFill>
            <a:srgbClr val="FFFFFF"/>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9" name="TextBox 48"/>
          <p:cNvSpPr txBox="1"/>
          <p:nvPr/>
        </p:nvSpPr>
        <p:spPr>
          <a:xfrm>
            <a:off x="2130869" y="4057142"/>
            <a:ext cx="2953512" cy="430530"/>
          </a:xfrm>
          <a:prstGeom prst="rect">
            <a:avLst/>
          </a:prstGeom>
          <a:noFill/>
        </p:spPr>
        <p:txBody>
          <a:bodyPr wrap="square" lIns="9144" tIns="0" rIns="9144" bIns="0">
            <a:spAutoFit/>
          </a:bodyPr>
          <a:lstStyle/>
          <a:p>
            <a:pPr>
              <a:spcAft>
                <a:spcPts val="0"/>
              </a:spcAft>
              <a:defRPr sz="1080" b="0">
                <a:solidFill>
                  <a:srgbClr val="102032"/>
                </a:solidFill>
                <a:latin typeface="Arial" panose="020B0704020202020204"/>
              </a:defRPr>
            </a:pPr>
            <a:r>
              <a:rPr sz="1400"/>
              <a:t>user anchor</a:t>
            </a:r>
            <a:endParaRPr sz="1400"/>
          </a:p>
          <a:p>
            <a:pPr>
              <a:spcAft>
                <a:spcPts val="0"/>
              </a:spcAft>
              <a:defRPr sz="1080" b="0">
                <a:solidFill>
                  <a:srgbClr val="102032"/>
                </a:solidFill>
                <a:latin typeface="Arial" panose="020B0704020202020204"/>
              </a:defRPr>
            </a:pPr>
            <a:r>
              <a:rPr sz="1400"/>
              <a:t>item anchor</a:t>
            </a:r>
            <a:endParaRPr sz="1400"/>
          </a:p>
        </p:txBody>
      </p:sp>
      <p:sp>
        <p:nvSpPr>
          <p:cNvPr id="50" name="Rectangle 49"/>
          <p:cNvSpPr/>
          <p:nvPr/>
        </p:nvSpPr>
        <p:spPr>
          <a:xfrm>
            <a:off x="5139246" y="4002278"/>
            <a:ext cx="2331720" cy="713232"/>
          </a:xfrm>
          <a:prstGeom prst="rect">
            <a:avLst/>
          </a:prstGeom>
          <a:solidFill>
            <a:srgbClr val="FFFFFF"/>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1" name="TextBox 50"/>
          <p:cNvSpPr txBox="1"/>
          <p:nvPr/>
        </p:nvSpPr>
        <p:spPr>
          <a:xfrm>
            <a:off x="5194110" y="4057142"/>
            <a:ext cx="2221991" cy="430530"/>
          </a:xfrm>
          <a:prstGeom prst="rect">
            <a:avLst/>
          </a:prstGeom>
          <a:noFill/>
        </p:spPr>
        <p:txBody>
          <a:bodyPr wrap="square" lIns="9144" tIns="0" rIns="9144" bIns="0">
            <a:spAutoFit/>
          </a:bodyPr>
          <a:lstStyle/>
          <a:p>
            <a:pPr>
              <a:spcAft>
                <a:spcPts val="0"/>
              </a:spcAft>
              <a:defRPr sz="1080" b="0">
                <a:solidFill>
                  <a:srgbClr val="102032"/>
                </a:solidFill>
                <a:latin typeface="Arial" panose="020B0704020202020204"/>
              </a:defRPr>
            </a:pPr>
            <a:r>
              <a:rPr sz="1400"/>
              <a:t>≥30 reviews, ±0.70</a:t>
            </a:r>
            <a:endParaRPr sz="1400"/>
          </a:p>
          <a:p>
            <a:pPr>
              <a:spcAft>
                <a:spcPts val="0"/>
              </a:spcAft>
              <a:defRPr sz="1080" b="0">
                <a:solidFill>
                  <a:srgbClr val="102032"/>
                </a:solidFill>
                <a:latin typeface="Arial" panose="020B0704020202020204"/>
              </a:defRPr>
            </a:pPr>
            <a:r>
              <a:rPr sz="1400"/>
              <a:t>≥80 reviews, ±1.10</a:t>
            </a:r>
            <a:endParaRPr sz="1400"/>
          </a:p>
        </p:txBody>
      </p:sp>
      <p:sp>
        <p:nvSpPr>
          <p:cNvPr id="52" name="Rectangle 51"/>
          <p:cNvSpPr/>
          <p:nvPr/>
        </p:nvSpPr>
        <p:spPr>
          <a:xfrm>
            <a:off x="7470966" y="4002278"/>
            <a:ext cx="4343400" cy="713232"/>
          </a:xfrm>
          <a:prstGeom prst="rect">
            <a:avLst/>
          </a:prstGeom>
          <a:solidFill>
            <a:srgbClr val="FFFFFF"/>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25830" y="4057142"/>
            <a:ext cx="4233672" cy="430530"/>
          </a:xfrm>
          <a:prstGeom prst="rect">
            <a:avLst/>
          </a:prstGeom>
          <a:noFill/>
        </p:spPr>
        <p:txBody>
          <a:bodyPr wrap="square" lIns="9144" tIns="0" rIns="9144" bIns="0">
            <a:spAutoFit/>
          </a:bodyPr>
          <a:lstStyle/>
          <a:p>
            <a:pPr>
              <a:spcAft>
                <a:spcPts val="0"/>
              </a:spcAft>
              <a:defRPr sz="1150" b="0">
                <a:solidFill>
                  <a:srgbClr val="102032"/>
                </a:solidFill>
                <a:latin typeface="Arial" panose="020B0704020202020204"/>
              </a:defRPr>
            </a:pPr>
            <a:r>
              <a:rPr sz="1400"/>
              <a:t>Prevent the weighted score from jumping too far away from reliable user/item evidence.</a:t>
            </a:r>
            <a:endParaRPr sz="1400"/>
          </a:p>
        </p:txBody>
      </p:sp>
      <p:sp>
        <p:nvSpPr>
          <p:cNvPr id="54" name="Rectangle 53"/>
          <p:cNvSpPr/>
          <p:nvPr/>
        </p:nvSpPr>
        <p:spPr>
          <a:xfrm>
            <a:off x="567246" y="4715510"/>
            <a:ext cx="1508760" cy="713232"/>
          </a:xfrm>
          <a:prstGeom prst="rect">
            <a:avLst/>
          </a:prstGeom>
          <a:solidFill>
            <a:srgbClr val="FFF0F2"/>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5" name="TextBox 54"/>
          <p:cNvSpPr txBox="1"/>
          <p:nvPr/>
        </p:nvSpPr>
        <p:spPr>
          <a:xfrm>
            <a:off x="622110" y="4770374"/>
            <a:ext cx="1399031" cy="215265"/>
          </a:xfrm>
          <a:prstGeom prst="rect">
            <a:avLst/>
          </a:prstGeom>
          <a:noFill/>
        </p:spPr>
        <p:txBody>
          <a:bodyPr wrap="square" lIns="9144" tIns="0" rIns="9144" bIns="0">
            <a:spAutoFit/>
          </a:bodyPr>
          <a:lstStyle/>
          <a:p>
            <a:pPr>
              <a:spcAft>
                <a:spcPts val="0"/>
              </a:spcAft>
              <a:defRPr sz="1150" b="1">
                <a:solidFill>
                  <a:srgbClr val="002442"/>
                </a:solidFill>
                <a:latin typeface="Arial" panose="020B0704020202020204"/>
              </a:defRPr>
            </a:pPr>
            <a:r>
              <a:rPr sz="1400"/>
              <a:t>Anti-saturation</a:t>
            </a:r>
            <a:endParaRPr sz="1400"/>
          </a:p>
        </p:txBody>
      </p:sp>
      <p:sp>
        <p:nvSpPr>
          <p:cNvPr id="56" name="Rectangle 55"/>
          <p:cNvSpPr/>
          <p:nvPr/>
        </p:nvSpPr>
        <p:spPr>
          <a:xfrm>
            <a:off x="2076006" y="4715510"/>
            <a:ext cx="3063240" cy="713232"/>
          </a:xfrm>
          <a:prstGeom prst="rect">
            <a:avLst/>
          </a:prstGeom>
          <a:solidFill>
            <a:srgbClr val="F8FBFE"/>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7" name="TextBox 56"/>
          <p:cNvSpPr txBox="1"/>
          <p:nvPr/>
        </p:nvSpPr>
        <p:spPr>
          <a:xfrm>
            <a:off x="2130869" y="4770374"/>
            <a:ext cx="2953512" cy="645795"/>
          </a:xfrm>
          <a:prstGeom prst="rect">
            <a:avLst/>
          </a:prstGeom>
          <a:noFill/>
        </p:spPr>
        <p:txBody>
          <a:bodyPr wrap="square" lIns="9144" tIns="0" rIns="9144" bIns="0">
            <a:spAutoFit/>
          </a:bodyPr>
          <a:lstStyle/>
          <a:p>
            <a:pPr>
              <a:spcAft>
                <a:spcPts val="0"/>
              </a:spcAft>
              <a:defRPr sz="1080" b="0">
                <a:solidFill>
                  <a:srgbClr val="102032"/>
                </a:solidFill>
                <a:latin typeface="Arial" panose="020B0704020202020204"/>
              </a:defRPr>
            </a:pPr>
            <a:r>
              <a:rPr sz="1400"/>
              <a:t>require direct for 5</a:t>
            </a:r>
            <a:endParaRPr sz="1400"/>
          </a:p>
          <a:p>
            <a:pPr>
              <a:spcAft>
                <a:spcPts val="0"/>
              </a:spcAft>
              <a:defRPr sz="1080" b="0">
                <a:solidFill>
                  <a:srgbClr val="102032"/>
                </a:solidFill>
                <a:latin typeface="Arial" panose="020B0704020202020204"/>
              </a:defRPr>
            </a:pPr>
            <a:r>
              <a:rPr sz="1400"/>
              <a:t>no-direct max</a:t>
            </a:r>
            <a:endParaRPr sz="1400"/>
          </a:p>
          <a:p>
            <a:pPr>
              <a:spcAft>
                <a:spcPts val="0"/>
              </a:spcAft>
              <a:defRPr sz="1080" b="0">
                <a:solidFill>
                  <a:srgbClr val="102032"/>
                </a:solidFill>
                <a:latin typeface="Arial" panose="020B0704020202020204"/>
              </a:defRPr>
            </a:pPr>
            <a:r>
              <a:rPr sz="1400"/>
              <a:t>direct adjustment</a:t>
            </a:r>
            <a:endParaRPr sz="1400"/>
          </a:p>
        </p:txBody>
      </p:sp>
      <p:sp>
        <p:nvSpPr>
          <p:cNvPr id="58" name="Rectangle 57"/>
          <p:cNvSpPr/>
          <p:nvPr/>
        </p:nvSpPr>
        <p:spPr>
          <a:xfrm>
            <a:off x="5139246" y="4715510"/>
            <a:ext cx="2331720" cy="713232"/>
          </a:xfrm>
          <a:prstGeom prst="rect">
            <a:avLst/>
          </a:prstGeom>
          <a:solidFill>
            <a:srgbClr val="F8FBFE"/>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9" name="TextBox 58"/>
          <p:cNvSpPr txBox="1"/>
          <p:nvPr/>
        </p:nvSpPr>
        <p:spPr>
          <a:xfrm>
            <a:off x="5194110" y="4770374"/>
            <a:ext cx="2221991" cy="645795"/>
          </a:xfrm>
          <a:prstGeom prst="rect">
            <a:avLst/>
          </a:prstGeom>
          <a:noFill/>
        </p:spPr>
        <p:txBody>
          <a:bodyPr wrap="square" lIns="9144" tIns="0" rIns="9144" bIns="0">
            <a:spAutoFit/>
          </a:bodyPr>
          <a:lstStyle/>
          <a:p>
            <a:pPr>
              <a:spcAft>
                <a:spcPts val="0"/>
              </a:spcAft>
              <a:defRPr sz="1080" b="0">
                <a:solidFill>
                  <a:srgbClr val="102032"/>
                </a:solidFill>
                <a:latin typeface="Arial" panose="020B0704020202020204"/>
              </a:defRPr>
            </a:pPr>
            <a:r>
              <a:rPr sz="1400"/>
              <a:t>true</a:t>
            </a:r>
            <a:endParaRPr sz="1400"/>
          </a:p>
          <a:p>
            <a:pPr>
              <a:spcAft>
                <a:spcPts val="0"/>
              </a:spcAft>
              <a:defRPr sz="1080" b="0">
                <a:solidFill>
                  <a:srgbClr val="102032"/>
                </a:solidFill>
                <a:latin typeface="Arial" panose="020B0704020202020204"/>
              </a:defRPr>
            </a:pPr>
            <a:r>
              <a:rPr sz="1400"/>
              <a:t>4.7</a:t>
            </a:r>
            <a:endParaRPr sz="1400"/>
          </a:p>
          <a:p>
            <a:pPr>
              <a:spcAft>
                <a:spcPts val="0"/>
              </a:spcAft>
              <a:defRPr sz="1080" b="0">
                <a:solidFill>
                  <a:srgbClr val="102032"/>
                </a:solidFill>
                <a:latin typeface="Arial" panose="020B0704020202020204"/>
              </a:defRPr>
            </a:pPr>
            <a:r>
              <a:rPr sz="1400"/>
              <a:t>+0.4</a:t>
            </a:r>
            <a:endParaRPr sz="1400"/>
          </a:p>
        </p:txBody>
      </p:sp>
      <p:sp>
        <p:nvSpPr>
          <p:cNvPr id="60" name="Rectangle 59"/>
          <p:cNvSpPr/>
          <p:nvPr/>
        </p:nvSpPr>
        <p:spPr>
          <a:xfrm>
            <a:off x="7470966" y="4715510"/>
            <a:ext cx="4343400" cy="713232"/>
          </a:xfrm>
          <a:prstGeom prst="rect">
            <a:avLst/>
          </a:prstGeom>
          <a:solidFill>
            <a:srgbClr val="F8FBFE"/>
          </a:solidFill>
          <a:ln w="9525">
            <a:solidFill>
              <a:srgbClr val="C0D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525830" y="4770374"/>
            <a:ext cx="4233672" cy="645795"/>
          </a:xfrm>
          <a:prstGeom prst="rect">
            <a:avLst/>
          </a:prstGeom>
          <a:noFill/>
        </p:spPr>
        <p:txBody>
          <a:bodyPr wrap="square" lIns="9144" tIns="0" rIns="9144" bIns="0">
            <a:spAutoFit/>
          </a:bodyPr>
          <a:lstStyle/>
          <a:p>
            <a:pPr>
              <a:spcAft>
                <a:spcPts val="0"/>
              </a:spcAft>
              <a:defRPr sz="1150" b="0">
                <a:solidFill>
                  <a:srgbClr val="102032"/>
                </a:solidFill>
                <a:latin typeface="Arial" panose="020B0704020202020204"/>
              </a:defRPr>
            </a:pPr>
            <a:r>
              <a:rPr sz="1400"/>
              <a:t>Avoid unsupported 5.0 predictions and prevent user/item averages from drifting too far from direct review.</a:t>
            </a:r>
            <a:endParaRPr sz="1400"/>
          </a:p>
        </p:txBody>
      </p:sp>
      <p:sp>
        <p:nvSpPr>
          <p:cNvPr id="62" name="Rounded Rectangle 61"/>
          <p:cNvSpPr/>
          <p:nvPr/>
        </p:nvSpPr>
        <p:spPr>
          <a:xfrm>
            <a:off x="567245" y="5617337"/>
            <a:ext cx="11247120" cy="530352"/>
          </a:xfrm>
          <a:prstGeom prst="roundRect">
            <a:avLst/>
          </a:prstGeom>
          <a:solidFill>
            <a:srgbClr val="EBF6FF"/>
          </a:solidFill>
          <a:ln w="14604">
            <a:solidFill>
              <a:srgbClr val="B4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713550" y="5745353"/>
            <a:ext cx="256032" cy="256032"/>
          </a:xfrm>
          <a:prstGeom prst="roundRect">
            <a:avLst/>
          </a:prstGeom>
          <a:solidFill>
            <a:srgbClr val="0066FF"/>
          </a:solidFill>
          <a:ln>
            <a:solidFill>
              <a:srgbClr val="006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4" name="TextBox 63"/>
          <p:cNvSpPr txBox="1"/>
          <p:nvPr/>
        </p:nvSpPr>
        <p:spPr>
          <a:xfrm>
            <a:off x="713550" y="5729669"/>
            <a:ext cx="256032" cy="250825"/>
          </a:xfrm>
          <a:prstGeom prst="rect">
            <a:avLst/>
          </a:prstGeom>
          <a:noFill/>
        </p:spPr>
        <p:txBody>
          <a:bodyPr wrap="square" lIns="45720" tIns="18288" rIns="45720" bIns="18288" anchor="ctr">
            <a:spAutoFit/>
          </a:bodyPr>
          <a:lstStyle/>
          <a:p>
            <a:pPr algn="ctr">
              <a:defRPr sz="1300" b="1">
                <a:solidFill>
                  <a:srgbClr val="FFFFFF"/>
                </a:solidFill>
                <a:latin typeface="Arial" panose="020B0704020202020204"/>
              </a:defRPr>
            </a:pPr>
            <a:r>
              <a:rPr sz="1400"/>
              <a:t>!</a:t>
            </a:r>
            <a:endParaRPr sz="1400"/>
          </a:p>
        </p:txBody>
      </p:sp>
      <p:sp>
        <p:nvSpPr>
          <p:cNvPr id="65" name="TextBox 64"/>
          <p:cNvSpPr txBox="1"/>
          <p:nvPr/>
        </p:nvSpPr>
        <p:spPr>
          <a:xfrm>
            <a:off x="1079310" y="5676900"/>
            <a:ext cx="10241280" cy="466090"/>
          </a:xfrm>
          <a:prstGeom prst="rect">
            <a:avLst/>
          </a:prstGeom>
          <a:noFill/>
        </p:spPr>
        <p:txBody>
          <a:bodyPr wrap="square" lIns="45720" tIns="18288" rIns="45720" bIns="18288" anchor="ctr">
            <a:spAutoFit/>
          </a:bodyPr>
          <a:lstStyle/>
          <a:p>
            <a:pPr>
              <a:defRPr sz="1550" b="1">
                <a:solidFill>
                  <a:srgbClr val="002442"/>
                </a:solidFill>
                <a:latin typeface="Arial" panose="020B0704020202020204"/>
              </a:defRPr>
            </a:pPr>
            <a:r>
              <a:rPr sz="1400"/>
              <a:t>Key idea: parameters convert raw evidence into stable predicted_stars; the final agent only writes the review and copies the score.</a:t>
            </a:r>
            <a:endParaRPr sz="1400"/>
          </a:p>
        </p:txBody>
      </p:sp>
      <p:sp>
        <p:nvSpPr>
          <p:cNvPr id="3"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b="1" dirty="0">
                <a:solidFill>
                  <a:srgbClr val="64748B"/>
                </a:solidFill>
                <a:latin typeface="Aptos" pitchFamily="34" charset="0"/>
                <a:ea typeface="Aptos" pitchFamily="34" charset="-122"/>
                <a:cs typeface="Aptos"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164592"/>
            <a:ext cx="2560320" cy="228600"/>
          </a:xfrm>
          <a:prstGeom prst="rect">
            <a:avLst/>
          </a:prstGeom>
          <a:noFill/>
        </p:spPr>
        <p:txBody>
          <a:bodyPr wrap="square" lIns="381" tIns="381" rIns="381" bIns="381" rtlCol="0" anchor="t">
            <a:normAutofit/>
          </a:bodyPr>
          <a:lstStyle/>
          <a:p>
            <a:pPr marL="0" indent="0" algn="l">
              <a:lnSpc>
                <a:spcPct val="95000"/>
              </a:lnSpc>
              <a:buNone/>
            </a:pPr>
            <a:r>
              <a:rPr lang="en-US" sz="1300" b="1" dirty="0">
                <a:solidFill>
                  <a:srgbClr val="0B6FEA"/>
                </a:solidFill>
                <a:latin typeface="Aptos" pitchFamily="34" charset="0"/>
                <a:ea typeface="Aptos" pitchFamily="34" charset="-122"/>
                <a:cs typeface="Aptos" pitchFamily="34" charset="-120"/>
              </a:rPr>
              <a:t>CORE NOVELTY</a:t>
            </a:r>
            <a:endParaRPr lang="en-US" sz="1300" dirty="0"/>
          </a:p>
        </p:txBody>
      </p:sp>
      <p:sp>
        <p:nvSpPr>
          <p:cNvPr id="3" name="Text 1"/>
          <p:cNvSpPr/>
          <p:nvPr/>
        </p:nvSpPr>
        <p:spPr>
          <a:xfrm>
            <a:off x="411480" y="438912"/>
            <a:ext cx="11292840" cy="502920"/>
          </a:xfrm>
          <a:prstGeom prst="rect">
            <a:avLst/>
          </a:prstGeom>
          <a:noFill/>
        </p:spPr>
        <p:txBody>
          <a:bodyPr wrap="square" lIns="381" tIns="381" rIns="381" bIns="381" rtlCol="0" anchor="t">
            <a:normAutofit/>
          </a:bodyPr>
          <a:lstStyle/>
          <a:p>
            <a:pPr marL="0" indent="0" algn="l">
              <a:lnSpc>
                <a:spcPct val="95000"/>
              </a:lnSpc>
              <a:buNone/>
            </a:pPr>
            <a:r>
              <a:rPr lang="en-US" sz="2900" b="1" dirty="0">
                <a:solidFill>
                  <a:srgbClr val="082B49"/>
                </a:solidFill>
                <a:latin typeface="Aptos" pitchFamily="34" charset="0"/>
                <a:ea typeface="Aptos" pitchFamily="34" charset="-122"/>
                <a:cs typeface="Aptos" pitchFamily="34" charset="-120"/>
              </a:rPr>
              <a:t>Rating-scoring mechanism</a:t>
            </a:r>
            <a:endParaRPr lang="en-US" sz="2900" dirty="0"/>
          </a:p>
        </p:txBody>
      </p:sp>
      <p:sp>
        <p:nvSpPr>
          <p:cNvPr id="4" name="Shape 2"/>
          <p:cNvSpPr/>
          <p:nvPr/>
        </p:nvSpPr>
        <p:spPr>
          <a:xfrm>
            <a:off x="411480" y="841375"/>
            <a:ext cx="11338560" cy="0"/>
          </a:xfrm>
          <a:prstGeom prst="line">
            <a:avLst/>
          </a:prstGeom>
          <a:noFill/>
          <a:ln w="12700">
            <a:solidFill>
              <a:srgbClr val="C8DDED"/>
            </a:solidFill>
            <a:prstDash val="solid"/>
          </a:ln>
        </p:spPr>
      </p:sp>
      <p:sp>
        <p:nvSpPr>
          <p:cNvPr id="7" name="Shape 5"/>
          <p:cNvSpPr/>
          <p:nvPr/>
        </p:nvSpPr>
        <p:spPr>
          <a:xfrm>
            <a:off x="411480" y="1122045"/>
            <a:ext cx="3493135" cy="2101215"/>
          </a:xfrm>
          <a:prstGeom prst="roundRect">
            <a:avLst>
              <a:gd name="adj" fmla="val 11628"/>
            </a:avLst>
          </a:prstGeom>
          <a:solidFill>
            <a:srgbClr val="EAF4FF"/>
          </a:solidFill>
          <a:ln w="15240">
            <a:solidFill>
              <a:srgbClr val="9DCCF5"/>
            </a:solidFill>
            <a:prstDash val="solid"/>
          </a:ln>
        </p:spPr>
      </p:sp>
      <p:sp>
        <p:nvSpPr>
          <p:cNvPr id="8" name="Shape 6"/>
          <p:cNvSpPr/>
          <p:nvPr/>
        </p:nvSpPr>
        <p:spPr>
          <a:xfrm>
            <a:off x="557784" y="1259205"/>
            <a:ext cx="347472" cy="347472"/>
          </a:xfrm>
          <a:prstGeom prst="ellipse">
            <a:avLst/>
          </a:prstGeom>
          <a:solidFill>
            <a:srgbClr val="0B6FEA"/>
          </a:solidFill>
          <a:ln w="12700">
            <a:solidFill>
              <a:srgbClr val="0B6FEA"/>
            </a:solidFill>
            <a:prstDash val="solid"/>
          </a:ln>
        </p:spPr>
      </p:sp>
      <p:sp>
        <p:nvSpPr>
          <p:cNvPr id="9" name="Text 7"/>
          <p:cNvSpPr/>
          <p:nvPr/>
        </p:nvSpPr>
        <p:spPr>
          <a:xfrm>
            <a:off x="557784" y="1304925"/>
            <a:ext cx="347472" cy="201168"/>
          </a:xfrm>
          <a:prstGeom prst="rect">
            <a:avLst/>
          </a:prstGeom>
          <a:noFill/>
        </p:spPr>
        <p:txBody>
          <a:bodyPr wrap="square" lIns="381" tIns="381" rIns="381" bIns="381" rtlCol="0" anchor="ctr">
            <a:normAutofit/>
          </a:bodyPr>
          <a:lstStyle/>
          <a:p>
            <a:pPr marL="0" indent="0" algn="ctr">
              <a:lnSpc>
                <a:spcPct val="95000"/>
              </a:lnSpc>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0" name="Text 8"/>
          <p:cNvSpPr/>
          <p:nvPr/>
        </p:nvSpPr>
        <p:spPr>
          <a:xfrm>
            <a:off x="978408" y="1231773"/>
            <a:ext cx="2761488" cy="274320"/>
          </a:xfrm>
          <a:prstGeom prst="rect">
            <a:avLst/>
          </a:prstGeom>
          <a:noFill/>
        </p:spPr>
        <p:txBody>
          <a:bodyPr wrap="square" lIns="381" tIns="381" rIns="381" bIns="381" rtlCol="0" anchor="t">
            <a:normAutofit/>
          </a:bodyPr>
          <a:lstStyle/>
          <a:p>
            <a:pPr marL="0" indent="0" algn="l">
              <a:lnSpc>
                <a:spcPct val="95000"/>
              </a:lnSpc>
              <a:buNone/>
            </a:pPr>
            <a:r>
              <a:rPr lang="en-US" sz="1550" b="1" dirty="0">
                <a:solidFill>
                  <a:srgbClr val="0B6FEA"/>
                </a:solidFill>
                <a:latin typeface="Aptos" pitchFamily="34" charset="0"/>
                <a:ea typeface="Aptos" pitchFamily="34" charset="-122"/>
                <a:cs typeface="Aptos" pitchFamily="34" charset="-120"/>
              </a:rPr>
              <a:t>LOOKUP EVIDENCE</a:t>
            </a:r>
            <a:endParaRPr lang="en-US" sz="1550" dirty="0"/>
          </a:p>
        </p:txBody>
      </p:sp>
      <p:sp>
        <p:nvSpPr>
          <p:cNvPr id="11" name="Text 9"/>
          <p:cNvSpPr/>
          <p:nvPr/>
        </p:nvSpPr>
        <p:spPr>
          <a:xfrm>
            <a:off x="978408" y="1515237"/>
            <a:ext cx="2761488" cy="237744"/>
          </a:xfrm>
          <a:prstGeom prst="rect">
            <a:avLst/>
          </a:prstGeom>
          <a:noFill/>
        </p:spPr>
        <p:txBody>
          <a:bodyPr wrap="square" lIns="381" tIns="381" rIns="381" bIns="381" rtlCol="0" anchor="t">
            <a:normAutofit/>
          </a:bodyPr>
          <a:lstStyle/>
          <a:p>
            <a:pPr marL="0" indent="0" algn="l">
              <a:lnSpc>
                <a:spcPct val="95000"/>
              </a:lnSpc>
              <a:buNone/>
            </a:pPr>
            <a:r>
              <a:rPr lang="en-US" sz="980" b="1" dirty="0">
                <a:solidFill>
                  <a:srgbClr val="667A8A"/>
                </a:solidFill>
                <a:latin typeface="Aptos" pitchFamily="34" charset="0"/>
                <a:ea typeface="Aptos" pitchFamily="34" charset="-122"/>
                <a:cs typeface="Aptos" pitchFamily="34" charset="-120"/>
              </a:rPr>
              <a:t>raw files → fields</a:t>
            </a:r>
            <a:endParaRPr lang="en-US" sz="980" dirty="0"/>
          </a:p>
        </p:txBody>
      </p:sp>
      <p:sp>
        <p:nvSpPr>
          <p:cNvPr id="12" name="Shape 10"/>
          <p:cNvSpPr/>
          <p:nvPr/>
        </p:nvSpPr>
        <p:spPr>
          <a:xfrm>
            <a:off x="576072" y="1835277"/>
            <a:ext cx="3163824" cy="0"/>
          </a:xfrm>
          <a:prstGeom prst="line">
            <a:avLst/>
          </a:prstGeom>
          <a:noFill/>
          <a:ln w="15240">
            <a:solidFill>
              <a:srgbClr val="9DCCF5"/>
            </a:solidFill>
            <a:prstDash val="solid"/>
          </a:ln>
        </p:spPr>
      </p:sp>
      <p:sp>
        <p:nvSpPr>
          <p:cNvPr id="13" name="Text 11"/>
          <p:cNvSpPr/>
          <p:nvPr/>
        </p:nvSpPr>
        <p:spPr>
          <a:xfrm>
            <a:off x="612648" y="1926717"/>
            <a:ext cx="3090672" cy="676656"/>
          </a:xfrm>
          <a:prstGeom prst="rect">
            <a:avLst/>
          </a:prstGeom>
          <a:noFill/>
        </p:spPr>
        <p:txBody>
          <a:bodyPr wrap="square" lIns="254" tIns="254" rIns="254" bIns="254" rtlCol="0" anchor="t">
            <a:noAutofit/>
          </a:bodyPr>
          <a:lstStyle/>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Read user.json, item.json, review.json</a:t>
            </a:r>
            <a:endParaRPr lang="en-US" sz="1400" dirty="0"/>
          </a:p>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Check: user exists? item exists? direct review exists?</a:t>
            </a:r>
            <a:endParaRPr lang="en-US" sz="1400" dirty="0"/>
          </a:p>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Output: evidence flags + raw evidence</a:t>
            </a:r>
            <a:endParaRPr lang="en-US" sz="1400" dirty="0">
              <a:solidFill>
                <a:srgbClr val="082B49"/>
              </a:solidFill>
              <a:latin typeface="Aptos" pitchFamily="34" charset="0"/>
              <a:ea typeface="Aptos" pitchFamily="34" charset="-122"/>
              <a:cs typeface="Aptos" pitchFamily="34" charset="-120"/>
            </a:endParaRPr>
          </a:p>
        </p:txBody>
      </p:sp>
      <p:sp>
        <p:nvSpPr>
          <p:cNvPr id="14" name="Shape 12"/>
          <p:cNvSpPr/>
          <p:nvPr/>
        </p:nvSpPr>
        <p:spPr>
          <a:xfrm>
            <a:off x="4243070" y="1122045"/>
            <a:ext cx="3493135" cy="2101215"/>
          </a:xfrm>
          <a:prstGeom prst="roundRect">
            <a:avLst>
              <a:gd name="adj" fmla="val 11628"/>
            </a:avLst>
          </a:prstGeom>
          <a:solidFill>
            <a:srgbClr val="EAFBF5"/>
          </a:solidFill>
          <a:ln w="15240">
            <a:solidFill>
              <a:srgbClr val="A6DFCF"/>
            </a:solidFill>
            <a:prstDash val="solid"/>
          </a:ln>
        </p:spPr>
      </p:sp>
      <p:sp>
        <p:nvSpPr>
          <p:cNvPr id="15" name="Shape 13"/>
          <p:cNvSpPr/>
          <p:nvPr/>
        </p:nvSpPr>
        <p:spPr>
          <a:xfrm>
            <a:off x="4389120" y="1259205"/>
            <a:ext cx="347472" cy="347472"/>
          </a:xfrm>
          <a:prstGeom prst="ellipse">
            <a:avLst/>
          </a:prstGeom>
          <a:solidFill>
            <a:srgbClr val="008A72"/>
          </a:solidFill>
          <a:ln w="12700">
            <a:solidFill>
              <a:srgbClr val="008A72"/>
            </a:solidFill>
            <a:prstDash val="solid"/>
          </a:ln>
        </p:spPr>
      </p:sp>
      <p:sp>
        <p:nvSpPr>
          <p:cNvPr id="16" name="Text 14"/>
          <p:cNvSpPr/>
          <p:nvPr/>
        </p:nvSpPr>
        <p:spPr>
          <a:xfrm>
            <a:off x="4389120" y="1304925"/>
            <a:ext cx="347472" cy="201168"/>
          </a:xfrm>
          <a:prstGeom prst="rect">
            <a:avLst/>
          </a:prstGeom>
          <a:noFill/>
        </p:spPr>
        <p:txBody>
          <a:bodyPr wrap="square" lIns="381" tIns="381" rIns="381" bIns="381" rtlCol="0" anchor="ctr">
            <a:normAutofit/>
          </a:bodyPr>
          <a:lstStyle/>
          <a:p>
            <a:pPr marL="0" indent="0" algn="ctr">
              <a:lnSpc>
                <a:spcPct val="95000"/>
              </a:lnSpc>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7" name="Text 15"/>
          <p:cNvSpPr/>
          <p:nvPr/>
        </p:nvSpPr>
        <p:spPr>
          <a:xfrm>
            <a:off x="4809744" y="1231773"/>
            <a:ext cx="2761488" cy="274320"/>
          </a:xfrm>
          <a:prstGeom prst="rect">
            <a:avLst/>
          </a:prstGeom>
          <a:noFill/>
        </p:spPr>
        <p:txBody>
          <a:bodyPr wrap="square" lIns="381" tIns="381" rIns="381" bIns="381" rtlCol="0" anchor="t">
            <a:normAutofit/>
          </a:bodyPr>
          <a:lstStyle/>
          <a:p>
            <a:pPr marL="0" indent="0" algn="l">
              <a:lnSpc>
                <a:spcPct val="95000"/>
              </a:lnSpc>
              <a:buNone/>
            </a:pPr>
            <a:r>
              <a:rPr lang="en-US" sz="1550" b="1" dirty="0">
                <a:solidFill>
                  <a:srgbClr val="008A72"/>
                </a:solidFill>
                <a:latin typeface="Aptos" pitchFamily="34" charset="0"/>
                <a:ea typeface="Aptos" pitchFamily="34" charset="-122"/>
                <a:cs typeface="Aptos" pitchFamily="34" charset="-120"/>
              </a:rPr>
              <a:t>BUILD SIGNALS</a:t>
            </a:r>
            <a:endParaRPr lang="en-US" sz="1550" dirty="0"/>
          </a:p>
        </p:txBody>
      </p:sp>
      <p:sp>
        <p:nvSpPr>
          <p:cNvPr id="18" name="Text 16"/>
          <p:cNvSpPr/>
          <p:nvPr/>
        </p:nvSpPr>
        <p:spPr>
          <a:xfrm>
            <a:off x="4809744" y="1515237"/>
            <a:ext cx="2761488" cy="237744"/>
          </a:xfrm>
          <a:prstGeom prst="rect">
            <a:avLst/>
          </a:prstGeom>
          <a:noFill/>
        </p:spPr>
        <p:txBody>
          <a:bodyPr wrap="square" lIns="381" tIns="381" rIns="381" bIns="381" rtlCol="0" anchor="t">
            <a:normAutofit/>
          </a:bodyPr>
          <a:lstStyle/>
          <a:p>
            <a:pPr marL="0" indent="0" algn="l">
              <a:lnSpc>
                <a:spcPct val="95000"/>
              </a:lnSpc>
              <a:buNone/>
            </a:pPr>
            <a:r>
              <a:rPr lang="en-US" sz="980" b="1" dirty="0">
                <a:solidFill>
                  <a:srgbClr val="667A8A"/>
                </a:solidFill>
                <a:latin typeface="Aptos" pitchFamily="34" charset="0"/>
                <a:ea typeface="Aptos" pitchFamily="34" charset="-122"/>
                <a:cs typeface="Aptos" pitchFamily="34" charset="-120"/>
              </a:rPr>
              <a:t>ratings from evidence</a:t>
            </a:r>
            <a:endParaRPr lang="en-US" sz="980" dirty="0"/>
          </a:p>
        </p:txBody>
      </p:sp>
      <p:sp>
        <p:nvSpPr>
          <p:cNvPr id="19" name="Shape 17"/>
          <p:cNvSpPr/>
          <p:nvPr/>
        </p:nvSpPr>
        <p:spPr>
          <a:xfrm>
            <a:off x="4407408" y="1835277"/>
            <a:ext cx="3163824" cy="0"/>
          </a:xfrm>
          <a:prstGeom prst="line">
            <a:avLst/>
          </a:prstGeom>
          <a:noFill/>
          <a:ln w="15240">
            <a:solidFill>
              <a:srgbClr val="A6DFCF"/>
            </a:solidFill>
            <a:prstDash val="solid"/>
          </a:ln>
        </p:spPr>
      </p:sp>
      <p:sp>
        <p:nvSpPr>
          <p:cNvPr id="20" name="Text 18"/>
          <p:cNvSpPr/>
          <p:nvPr/>
        </p:nvSpPr>
        <p:spPr>
          <a:xfrm>
            <a:off x="4443984" y="1926717"/>
            <a:ext cx="3090672" cy="676656"/>
          </a:xfrm>
          <a:prstGeom prst="rect">
            <a:avLst/>
          </a:prstGeom>
          <a:noFill/>
        </p:spPr>
        <p:txBody>
          <a:bodyPr wrap="square" lIns="254" tIns="254" rIns="254" bIns="254" rtlCol="0" anchor="t">
            <a:noAutofit/>
          </a:bodyPr>
          <a:lstStyle/>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user_signal = blend(user.average_stars, user_history_average_stars)</a:t>
            </a:r>
            <a:endParaRPr lang="en-US" sz="1400" dirty="0"/>
          </a:p>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item_signal = blend(item.stars, item_history_average_stars)</a:t>
            </a:r>
            <a:endParaRPr lang="en-US" sz="1400" dirty="0"/>
          </a:p>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direct_signal = direct_review_stars</a:t>
            </a:r>
            <a:endParaRPr lang="en-US" sz="1400" dirty="0">
              <a:solidFill>
                <a:srgbClr val="082B49"/>
              </a:solidFill>
              <a:latin typeface="Aptos" pitchFamily="34" charset="0"/>
              <a:ea typeface="Aptos" pitchFamily="34" charset="-122"/>
              <a:cs typeface="Aptos" pitchFamily="34" charset="-120"/>
            </a:endParaRPr>
          </a:p>
        </p:txBody>
      </p:sp>
      <p:sp>
        <p:nvSpPr>
          <p:cNvPr id="21" name="Shape 19"/>
          <p:cNvSpPr/>
          <p:nvPr/>
        </p:nvSpPr>
        <p:spPr>
          <a:xfrm>
            <a:off x="8074025" y="1122045"/>
            <a:ext cx="3493135" cy="2101215"/>
          </a:xfrm>
          <a:prstGeom prst="roundRect">
            <a:avLst>
              <a:gd name="adj" fmla="val 11628"/>
            </a:avLst>
          </a:prstGeom>
          <a:solidFill>
            <a:srgbClr val="FFF4E5"/>
          </a:solidFill>
          <a:ln w="15240">
            <a:solidFill>
              <a:srgbClr val="FFC067"/>
            </a:solidFill>
            <a:prstDash val="solid"/>
          </a:ln>
        </p:spPr>
      </p:sp>
      <p:sp>
        <p:nvSpPr>
          <p:cNvPr id="22" name="Shape 20"/>
          <p:cNvSpPr/>
          <p:nvPr/>
        </p:nvSpPr>
        <p:spPr>
          <a:xfrm>
            <a:off x="8220456" y="1259205"/>
            <a:ext cx="347472" cy="347472"/>
          </a:xfrm>
          <a:prstGeom prst="ellipse">
            <a:avLst/>
          </a:prstGeom>
          <a:solidFill>
            <a:srgbClr val="FF8000"/>
          </a:solidFill>
          <a:ln w="12700">
            <a:solidFill>
              <a:srgbClr val="FF8000"/>
            </a:solidFill>
            <a:prstDash val="solid"/>
          </a:ln>
        </p:spPr>
      </p:sp>
      <p:sp>
        <p:nvSpPr>
          <p:cNvPr id="23" name="Text 21"/>
          <p:cNvSpPr/>
          <p:nvPr/>
        </p:nvSpPr>
        <p:spPr>
          <a:xfrm>
            <a:off x="8220456" y="1304925"/>
            <a:ext cx="347472" cy="201168"/>
          </a:xfrm>
          <a:prstGeom prst="rect">
            <a:avLst/>
          </a:prstGeom>
          <a:noFill/>
        </p:spPr>
        <p:txBody>
          <a:bodyPr wrap="square" lIns="381" tIns="381" rIns="381" bIns="381" rtlCol="0" anchor="ctr">
            <a:normAutofit/>
          </a:bodyPr>
          <a:lstStyle/>
          <a:p>
            <a:pPr marL="0" indent="0" algn="ctr">
              <a:lnSpc>
                <a:spcPct val="95000"/>
              </a:lnSpc>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4" name="Text 22"/>
          <p:cNvSpPr/>
          <p:nvPr/>
        </p:nvSpPr>
        <p:spPr>
          <a:xfrm>
            <a:off x="8641080" y="1231773"/>
            <a:ext cx="2761488" cy="274320"/>
          </a:xfrm>
          <a:prstGeom prst="rect">
            <a:avLst/>
          </a:prstGeom>
          <a:noFill/>
        </p:spPr>
        <p:txBody>
          <a:bodyPr wrap="square" lIns="381" tIns="381" rIns="381" bIns="381" rtlCol="0" anchor="t">
            <a:normAutofit/>
          </a:bodyPr>
          <a:lstStyle/>
          <a:p>
            <a:pPr marL="0" indent="0" algn="l">
              <a:lnSpc>
                <a:spcPct val="95000"/>
              </a:lnSpc>
              <a:buNone/>
            </a:pPr>
            <a:r>
              <a:rPr lang="en-US" sz="1550" b="1" dirty="0">
                <a:solidFill>
                  <a:srgbClr val="FF8000"/>
                </a:solidFill>
                <a:latin typeface="Aptos" pitchFamily="34" charset="0"/>
                <a:ea typeface="Aptos" pitchFamily="34" charset="-122"/>
                <a:cs typeface="Aptos" pitchFamily="34" charset="-120"/>
              </a:rPr>
              <a:t>COMPUTE WEIGHTS</a:t>
            </a:r>
            <a:endParaRPr lang="en-US" sz="1550" dirty="0"/>
          </a:p>
        </p:txBody>
      </p:sp>
      <p:sp>
        <p:nvSpPr>
          <p:cNvPr id="25" name="Text 23"/>
          <p:cNvSpPr/>
          <p:nvPr/>
        </p:nvSpPr>
        <p:spPr>
          <a:xfrm>
            <a:off x="8641080" y="1515237"/>
            <a:ext cx="2761488" cy="237744"/>
          </a:xfrm>
          <a:prstGeom prst="rect">
            <a:avLst/>
          </a:prstGeom>
          <a:noFill/>
        </p:spPr>
        <p:txBody>
          <a:bodyPr wrap="square" lIns="381" tIns="381" rIns="381" bIns="381" rtlCol="0" anchor="t">
            <a:normAutofit/>
          </a:bodyPr>
          <a:lstStyle/>
          <a:p>
            <a:pPr marL="0" indent="0" algn="l">
              <a:lnSpc>
                <a:spcPct val="95000"/>
              </a:lnSpc>
              <a:buNone/>
            </a:pPr>
            <a:r>
              <a:rPr lang="en-US" sz="980" b="1" dirty="0">
                <a:solidFill>
                  <a:srgbClr val="667A8A"/>
                </a:solidFill>
                <a:latin typeface="Aptos" pitchFamily="34" charset="0"/>
                <a:ea typeface="Aptos" pitchFamily="34" charset="-122"/>
                <a:cs typeface="Aptos" pitchFamily="34" charset="-120"/>
              </a:rPr>
              <a:t>importance + reliability</a:t>
            </a:r>
            <a:endParaRPr lang="en-US" sz="980" dirty="0"/>
          </a:p>
        </p:txBody>
      </p:sp>
      <p:sp>
        <p:nvSpPr>
          <p:cNvPr id="26" name="Shape 24"/>
          <p:cNvSpPr/>
          <p:nvPr/>
        </p:nvSpPr>
        <p:spPr>
          <a:xfrm>
            <a:off x="8238744" y="1835277"/>
            <a:ext cx="3163824" cy="0"/>
          </a:xfrm>
          <a:prstGeom prst="line">
            <a:avLst/>
          </a:prstGeom>
          <a:noFill/>
          <a:ln w="15240">
            <a:solidFill>
              <a:srgbClr val="FFC067"/>
            </a:solidFill>
            <a:prstDash val="solid"/>
          </a:ln>
        </p:spPr>
      </p:sp>
      <p:sp>
        <p:nvSpPr>
          <p:cNvPr id="27" name="Text 25"/>
          <p:cNvSpPr/>
          <p:nvPr/>
        </p:nvSpPr>
        <p:spPr>
          <a:xfrm>
            <a:off x="8275320" y="1926717"/>
            <a:ext cx="3090672" cy="676656"/>
          </a:xfrm>
          <a:prstGeom prst="rect">
            <a:avLst/>
          </a:prstGeom>
          <a:noFill/>
        </p:spPr>
        <p:txBody>
          <a:bodyPr wrap="square" lIns="254" tIns="254" rIns="254" bIns="254" rtlCol="0" anchor="t">
            <a:noAutofit/>
          </a:bodyPr>
          <a:lstStyle/>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user_weight = base_user_weight × user confidence</a:t>
            </a:r>
            <a:endParaRPr lang="en-US" sz="1400" dirty="0"/>
          </a:p>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item_weight = base_item_weight × item confidence</a:t>
            </a:r>
            <a:endParaRPr lang="en-US" sz="1400" dirty="0"/>
          </a:p>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direct_weight = direct_review_weight</a:t>
            </a:r>
            <a:endParaRPr lang="en-US" sz="1400" dirty="0">
              <a:solidFill>
                <a:srgbClr val="082B49"/>
              </a:solidFill>
              <a:latin typeface="Aptos" pitchFamily="34" charset="0"/>
              <a:ea typeface="Aptos" pitchFamily="34" charset="-122"/>
              <a:cs typeface="Aptos" pitchFamily="34" charset="-120"/>
            </a:endParaRPr>
          </a:p>
        </p:txBody>
      </p:sp>
      <p:sp>
        <p:nvSpPr>
          <p:cNvPr id="28" name="Shape 26"/>
          <p:cNvSpPr/>
          <p:nvPr/>
        </p:nvSpPr>
        <p:spPr>
          <a:xfrm>
            <a:off x="411480" y="3492500"/>
            <a:ext cx="3493135" cy="2186305"/>
          </a:xfrm>
          <a:prstGeom prst="roundRect">
            <a:avLst>
              <a:gd name="adj" fmla="val 11628"/>
            </a:avLst>
          </a:prstGeom>
          <a:solidFill>
            <a:srgbClr val="F7FAFD"/>
          </a:solidFill>
          <a:ln w="15240">
            <a:solidFill>
              <a:srgbClr val="C8DDED"/>
            </a:solidFill>
            <a:prstDash val="solid"/>
          </a:ln>
        </p:spPr>
      </p:sp>
      <p:sp>
        <p:nvSpPr>
          <p:cNvPr id="29" name="Shape 27"/>
          <p:cNvSpPr/>
          <p:nvPr/>
        </p:nvSpPr>
        <p:spPr>
          <a:xfrm>
            <a:off x="557784" y="3629533"/>
            <a:ext cx="347472" cy="347472"/>
          </a:xfrm>
          <a:prstGeom prst="ellipse">
            <a:avLst/>
          </a:prstGeom>
          <a:solidFill>
            <a:srgbClr val="082B49"/>
          </a:solidFill>
          <a:ln w="12700">
            <a:solidFill>
              <a:srgbClr val="082B49"/>
            </a:solidFill>
            <a:prstDash val="solid"/>
          </a:ln>
        </p:spPr>
      </p:sp>
      <p:sp>
        <p:nvSpPr>
          <p:cNvPr id="30" name="Text 28"/>
          <p:cNvSpPr/>
          <p:nvPr/>
        </p:nvSpPr>
        <p:spPr>
          <a:xfrm>
            <a:off x="557784" y="3675253"/>
            <a:ext cx="347472" cy="201168"/>
          </a:xfrm>
          <a:prstGeom prst="rect">
            <a:avLst/>
          </a:prstGeom>
          <a:noFill/>
        </p:spPr>
        <p:txBody>
          <a:bodyPr wrap="square" lIns="381" tIns="381" rIns="381" bIns="381" rtlCol="0" anchor="ctr">
            <a:normAutofit/>
          </a:bodyPr>
          <a:lstStyle/>
          <a:p>
            <a:pPr marL="0" indent="0" algn="ctr">
              <a:lnSpc>
                <a:spcPct val="95000"/>
              </a:lnSpc>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31" name="Text 29"/>
          <p:cNvSpPr/>
          <p:nvPr/>
        </p:nvSpPr>
        <p:spPr>
          <a:xfrm>
            <a:off x="978408" y="3602101"/>
            <a:ext cx="2761488" cy="274320"/>
          </a:xfrm>
          <a:prstGeom prst="rect">
            <a:avLst/>
          </a:prstGeom>
          <a:noFill/>
        </p:spPr>
        <p:txBody>
          <a:bodyPr wrap="square" lIns="381" tIns="381" rIns="381" bIns="381" rtlCol="0" anchor="t">
            <a:normAutofit fontScale="90000"/>
          </a:bodyPr>
          <a:lstStyle/>
          <a:p>
            <a:pPr marL="0" indent="0" algn="l">
              <a:lnSpc>
                <a:spcPct val="95000"/>
              </a:lnSpc>
              <a:buNone/>
            </a:pPr>
            <a:r>
              <a:rPr lang="en-US" sz="1550" b="1" dirty="0">
                <a:solidFill>
                  <a:srgbClr val="082B49"/>
                </a:solidFill>
                <a:latin typeface="Aptos" pitchFamily="34" charset="0"/>
                <a:ea typeface="Aptos" pitchFamily="34" charset="-122"/>
                <a:cs typeface="Aptos" pitchFamily="34" charset="-120"/>
              </a:rPr>
              <a:t>SCORE AVAILABLE EVIDENCE</a:t>
            </a:r>
            <a:endParaRPr lang="en-US" sz="1550" dirty="0"/>
          </a:p>
        </p:txBody>
      </p:sp>
      <p:sp>
        <p:nvSpPr>
          <p:cNvPr id="32" name="Text 30"/>
          <p:cNvSpPr/>
          <p:nvPr/>
        </p:nvSpPr>
        <p:spPr>
          <a:xfrm>
            <a:off x="978408" y="4041140"/>
            <a:ext cx="2761488" cy="237744"/>
          </a:xfrm>
          <a:prstGeom prst="rect">
            <a:avLst/>
          </a:prstGeom>
          <a:noFill/>
        </p:spPr>
        <p:txBody>
          <a:bodyPr wrap="square" lIns="381" tIns="381" rIns="381" bIns="381" rtlCol="0" anchor="t">
            <a:normAutofit/>
          </a:bodyPr>
          <a:lstStyle/>
          <a:p>
            <a:pPr marL="0" indent="0" algn="l">
              <a:lnSpc>
                <a:spcPct val="95000"/>
              </a:lnSpc>
              <a:buNone/>
            </a:pPr>
            <a:r>
              <a:rPr lang="en-US" sz="980" b="1" dirty="0">
                <a:solidFill>
                  <a:srgbClr val="667A8A"/>
                </a:solidFill>
                <a:latin typeface="Aptos" pitchFamily="34" charset="0"/>
                <a:ea typeface="Aptos" pitchFamily="34" charset="-122"/>
                <a:cs typeface="Aptos" pitchFamily="34" charset="-120"/>
              </a:rPr>
              <a:t>missing signals removed</a:t>
            </a:r>
            <a:endParaRPr lang="en-US" sz="980" dirty="0"/>
          </a:p>
        </p:txBody>
      </p:sp>
      <p:sp>
        <p:nvSpPr>
          <p:cNvPr id="33" name="Shape 31"/>
          <p:cNvSpPr/>
          <p:nvPr/>
        </p:nvSpPr>
        <p:spPr>
          <a:xfrm>
            <a:off x="576072" y="4205605"/>
            <a:ext cx="3163824" cy="0"/>
          </a:xfrm>
          <a:prstGeom prst="line">
            <a:avLst/>
          </a:prstGeom>
          <a:noFill/>
          <a:ln w="15240">
            <a:solidFill>
              <a:srgbClr val="C8DDED"/>
            </a:solidFill>
            <a:prstDash val="solid"/>
          </a:ln>
        </p:spPr>
      </p:sp>
      <p:sp>
        <p:nvSpPr>
          <p:cNvPr id="34" name="Text 32"/>
          <p:cNvSpPr/>
          <p:nvPr/>
        </p:nvSpPr>
        <p:spPr>
          <a:xfrm>
            <a:off x="612648" y="4297045"/>
            <a:ext cx="3090672" cy="676656"/>
          </a:xfrm>
          <a:prstGeom prst="rect">
            <a:avLst/>
          </a:prstGeom>
          <a:noFill/>
        </p:spPr>
        <p:txBody>
          <a:bodyPr wrap="square" lIns="254" tIns="254" rIns="254" bIns="254" rtlCol="0" anchor="t">
            <a:noAutofit/>
          </a:bodyPr>
          <a:lstStyle/>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score = Σ(signal × weight) / Σ(available weights)</a:t>
            </a:r>
            <a:endParaRPr lang="en-US" sz="1400" dirty="0"/>
          </a:p>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If a signal is missing, remove its weight and renormalize</a:t>
            </a:r>
            <a:endParaRPr lang="en-US" sz="1400" dirty="0"/>
          </a:p>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This is where evidence becomes a numeric rating</a:t>
            </a:r>
            <a:endParaRPr lang="en-US" sz="1400" dirty="0">
              <a:solidFill>
                <a:srgbClr val="082B49"/>
              </a:solidFill>
              <a:latin typeface="Aptos" pitchFamily="34" charset="0"/>
              <a:ea typeface="Aptos" pitchFamily="34" charset="-122"/>
              <a:cs typeface="Aptos" pitchFamily="34" charset="-120"/>
            </a:endParaRPr>
          </a:p>
        </p:txBody>
      </p:sp>
      <p:sp>
        <p:nvSpPr>
          <p:cNvPr id="35" name="Shape 33"/>
          <p:cNvSpPr/>
          <p:nvPr/>
        </p:nvSpPr>
        <p:spPr>
          <a:xfrm>
            <a:off x="4243070" y="3492500"/>
            <a:ext cx="3493135" cy="2183130"/>
          </a:xfrm>
          <a:prstGeom prst="roundRect">
            <a:avLst>
              <a:gd name="adj" fmla="val 11628"/>
            </a:avLst>
          </a:prstGeom>
          <a:solidFill>
            <a:srgbClr val="FFF0EF"/>
          </a:solidFill>
          <a:ln w="15240">
            <a:solidFill>
              <a:srgbClr val="FFA8A0"/>
            </a:solidFill>
            <a:prstDash val="solid"/>
          </a:ln>
        </p:spPr>
      </p:sp>
      <p:sp>
        <p:nvSpPr>
          <p:cNvPr id="36" name="Shape 34"/>
          <p:cNvSpPr/>
          <p:nvPr/>
        </p:nvSpPr>
        <p:spPr>
          <a:xfrm>
            <a:off x="4389120" y="3629533"/>
            <a:ext cx="347472" cy="347472"/>
          </a:xfrm>
          <a:prstGeom prst="ellipse">
            <a:avLst/>
          </a:prstGeom>
          <a:solidFill>
            <a:srgbClr val="E84B3C"/>
          </a:solidFill>
          <a:ln w="12700">
            <a:solidFill>
              <a:srgbClr val="E84B3C"/>
            </a:solidFill>
            <a:prstDash val="solid"/>
          </a:ln>
        </p:spPr>
      </p:sp>
      <p:sp>
        <p:nvSpPr>
          <p:cNvPr id="37" name="Text 35"/>
          <p:cNvSpPr/>
          <p:nvPr/>
        </p:nvSpPr>
        <p:spPr>
          <a:xfrm>
            <a:off x="4389120" y="3675253"/>
            <a:ext cx="347472" cy="201168"/>
          </a:xfrm>
          <a:prstGeom prst="rect">
            <a:avLst/>
          </a:prstGeom>
          <a:noFill/>
        </p:spPr>
        <p:txBody>
          <a:bodyPr wrap="square" lIns="381" tIns="381" rIns="381" bIns="381" rtlCol="0" anchor="ctr">
            <a:normAutofit/>
          </a:bodyPr>
          <a:lstStyle/>
          <a:p>
            <a:pPr marL="0" indent="0" algn="ctr">
              <a:lnSpc>
                <a:spcPct val="95000"/>
              </a:lnSpc>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38" name="Text 36"/>
          <p:cNvSpPr/>
          <p:nvPr/>
        </p:nvSpPr>
        <p:spPr>
          <a:xfrm>
            <a:off x="4809744" y="3602101"/>
            <a:ext cx="2761488" cy="274320"/>
          </a:xfrm>
          <a:prstGeom prst="rect">
            <a:avLst/>
          </a:prstGeom>
          <a:noFill/>
        </p:spPr>
        <p:txBody>
          <a:bodyPr wrap="square" lIns="381" tIns="381" rIns="381" bIns="381" rtlCol="0" anchor="t">
            <a:normAutofit/>
          </a:bodyPr>
          <a:lstStyle/>
          <a:p>
            <a:pPr marL="0" indent="0" algn="l">
              <a:lnSpc>
                <a:spcPct val="95000"/>
              </a:lnSpc>
              <a:buNone/>
            </a:pPr>
            <a:r>
              <a:rPr lang="en-US" sz="1550" b="1" dirty="0">
                <a:solidFill>
                  <a:srgbClr val="E84B3C"/>
                </a:solidFill>
                <a:latin typeface="Aptos" pitchFamily="34" charset="0"/>
                <a:ea typeface="Aptos" pitchFamily="34" charset="-122"/>
                <a:cs typeface="Aptos" pitchFamily="34" charset="-120"/>
              </a:rPr>
              <a:t>APPLY SAFETY GUARDS</a:t>
            </a:r>
            <a:endParaRPr lang="en-US" sz="1550" dirty="0"/>
          </a:p>
        </p:txBody>
      </p:sp>
      <p:sp>
        <p:nvSpPr>
          <p:cNvPr id="39" name="Text 37"/>
          <p:cNvSpPr/>
          <p:nvPr/>
        </p:nvSpPr>
        <p:spPr>
          <a:xfrm>
            <a:off x="4809744" y="3885565"/>
            <a:ext cx="2761488" cy="237744"/>
          </a:xfrm>
          <a:prstGeom prst="rect">
            <a:avLst/>
          </a:prstGeom>
          <a:noFill/>
        </p:spPr>
        <p:txBody>
          <a:bodyPr wrap="square" lIns="381" tIns="381" rIns="381" bIns="381" rtlCol="0" anchor="t">
            <a:normAutofit/>
          </a:bodyPr>
          <a:lstStyle/>
          <a:p>
            <a:pPr marL="0" indent="0" algn="l">
              <a:lnSpc>
                <a:spcPct val="95000"/>
              </a:lnSpc>
              <a:buNone/>
            </a:pPr>
            <a:r>
              <a:rPr lang="en-US" sz="980" b="1" dirty="0">
                <a:solidFill>
                  <a:srgbClr val="667A8A"/>
                </a:solidFill>
                <a:latin typeface="Aptos" pitchFamily="34" charset="0"/>
                <a:ea typeface="Aptos" pitchFamily="34" charset="-122"/>
                <a:cs typeface="Aptos" pitchFamily="34" charset="-120"/>
              </a:rPr>
              <a:t>stability rules</a:t>
            </a:r>
            <a:endParaRPr lang="en-US" sz="980" dirty="0"/>
          </a:p>
        </p:txBody>
      </p:sp>
      <p:sp>
        <p:nvSpPr>
          <p:cNvPr id="40" name="Shape 38"/>
          <p:cNvSpPr/>
          <p:nvPr/>
        </p:nvSpPr>
        <p:spPr>
          <a:xfrm>
            <a:off x="4407408" y="4205605"/>
            <a:ext cx="3163824" cy="0"/>
          </a:xfrm>
          <a:prstGeom prst="line">
            <a:avLst/>
          </a:prstGeom>
          <a:noFill/>
          <a:ln w="15240">
            <a:solidFill>
              <a:srgbClr val="FFA8A0"/>
            </a:solidFill>
            <a:prstDash val="solid"/>
          </a:ln>
        </p:spPr>
      </p:sp>
      <p:sp>
        <p:nvSpPr>
          <p:cNvPr id="41" name="Text 39"/>
          <p:cNvSpPr/>
          <p:nvPr/>
        </p:nvSpPr>
        <p:spPr>
          <a:xfrm>
            <a:off x="4443984" y="4297045"/>
            <a:ext cx="3090672" cy="676656"/>
          </a:xfrm>
          <a:prstGeom prst="rect">
            <a:avLst/>
          </a:prstGeom>
          <a:noFill/>
        </p:spPr>
        <p:txBody>
          <a:bodyPr wrap="square" lIns="254" tIns="254" rIns="254" bIns="254" rtlCol="0" anchor="t">
            <a:noAutofit/>
          </a:bodyPr>
          <a:lstStyle/>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Anchor policy: keep score near reliable user/item averages</a:t>
            </a:r>
            <a:endParaRPr lang="en-US" sz="1400" dirty="0"/>
          </a:p>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Anti-saturation: prevent unsupported 5.0 ratings</a:t>
            </a:r>
            <a:endParaRPr lang="en-US" sz="1400" dirty="0"/>
          </a:p>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Round half-up to one decimal → predicted_stars</a:t>
            </a:r>
            <a:endParaRPr lang="en-US" sz="1400" dirty="0">
              <a:solidFill>
                <a:srgbClr val="082B49"/>
              </a:solidFill>
              <a:latin typeface="Aptos" pitchFamily="34" charset="0"/>
              <a:ea typeface="Aptos" pitchFamily="34" charset="-122"/>
              <a:cs typeface="Aptos" pitchFamily="34" charset="-120"/>
            </a:endParaRPr>
          </a:p>
        </p:txBody>
      </p:sp>
      <p:sp>
        <p:nvSpPr>
          <p:cNvPr id="42" name="Shape 40"/>
          <p:cNvSpPr/>
          <p:nvPr/>
        </p:nvSpPr>
        <p:spPr>
          <a:xfrm>
            <a:off x="8074025" y="3492500"/>
            <a:ext cx="3493135" cy="2186305"/>
          </a:xfrm>
          <a:prstGeom prst="roundRect">
            <a:avLst>
              <a:gd name="adj" fmla="val 11628"/>
            </a:avLst>
          </a:prstGeom>
          <a:solidFill>
            <a:srgbClr val="F4EEFF"/>
          </a:solidFill>
          <a:ln w="15240">
            <a:solidFill>
              <a:srgbClr val="C9B2FF"/>
            </a:solidFill>
            <a:prstDash val="solid"/>
          </a:ln>
        </p:spPr>
      </p:sp>
      <p:sp>
        <p:nvSpPr>
          <p:cNvPr id="43" name="Shape 41"/>
          <p:cNvSpPr/>
          <p:nvPr/>
        </p:nvSpPr>
        <p:spPr>
          <a:xfrm>
            <a:off x="8220456" y="3629533"/>
            <a:ext cx="347472" cy="347472"/>
          </a:xfrm>
          <a:prstGeom prst="ellipse">
            <a:avLst/>
          </a:prstGeom>
          <a:solidFill>
            <a:srgbClr val="7B3FF2"/>
          </a:solidFill>
          <a:ln w="12700">
            <a:solidFill>
              <a:srgbClr val="7B3FF2"/>
            </a:solidFill>
            <a:prstDash val="solid"/>
          </a:ln>
        </p:spPr>
      </p:sp>
      <p:sp>
        <p:nvSpPr>
          <p:cNvPr id="44" name="Text 42"/>
          <p:cNvSpPr/>
          <p:nvPr/>
        </p:nvSpPr>
        <p:spPr>
          <a:xfrm>
            <a:off x="8220456" y="3675253"/>
            <a:ext cx="347472" cy="201168"/>
          </a:xfrm>
          <a:prstGeom prst="rect">
            <a:avLst/>
          </a:prstGeom>
          <a:noFill/>
        </p:spPr>
        <p:txBody>
          <a:bodyPr wrap="square" lIns="381" tIns="381" rIns="381" bIns="381" rtlCol="0" anchor="ctr">
            <a:normAutofit/>
          </a:bodyPr>
          <a:lstStyle/>
          <a:p>
            <a:pPr marL="0" indent="0" algn="ctr">
              <a:lnSpc>
                <a:spcPct val="95000"/>
              </a:lnSpc>
              <a:buNone/>
            </a:pPr>
            <a:r>
              <a:rPr lang="en-US" sz="1300" b="1" dirty="0">
                <a:solidFill>
                  <a:srgbClr val="FFFFFF"/>
                </a:solidFill>
                <a:latin typeface="Aptos" pitchFamily="34" charset="0"/>
                <a:ea typeface="Aptos" pitchFamily="34" charset="-122"/>
                <a:cs typeface="Aptos" pitchFamily="34" charset="-120"/>
              </a:rPr>
              <a:t>6</a:t>
            </a:r>
            <a:endParaRPr lang="en-US" sz="1300" dirty="0"/>
          </a:p>
        </p:txBody>
      </p:sp>
      <p:sp>
        <p:nvSpPr>
          <p:cNvPr id="45" name="Text 43"/>
          <p:cNvSpPr/>
          <p:nvPr/>
        </p:nvSpPr>
        <p:spPr>
          <a:xfrm>
            <a:off x="8641080" y="3602101"/>
            <a:ext cx="2761488" cy="274320"/>
          </a:xfrm>
          <a:prstGeom prst="rect">
            <a:avLst/>
          </a:prstGeom>
          <a:noFill/>
        </p:spPr>
        <p:txBody>
          <a:bodyPr wrap="square" lIns="381" tIns="381" rIns="381" bIns="381" rtlCol="0" anchor="t">
            <a:normAutofit/>
          </a:bodyPr>
          <a:lstStyle/>
          <a:p>
            <a:pPr marL="0" indent="0" algn="l">
              <a:lnSpc>
                <a:spcPct val="95000"/>
              </a:lnSpc>
              <a:buNone/>
            </a:pPr>
            <a:r>
              <a:rPr lang="en-US" sz="1550" b="1" dirty="0">
                <a:solidFill>
                  <a:srgbClr val="7B3FF2"/>
                </a:solidFill>
                <a:latin typeface="Aptos" pitchFamily="34" charset="0"/>
                <a:ea typeface="Aptos" pitchFamily="34" charset="-122"/>
                <a:cs typeface="Aptos" pitchFamily="34" charset="-120"/>
              </a:rPr>
              <a:t>FINAL JSON</a:t>
            </a:r>
            <a:endParaRPr lang="en-US" sz="1550" dirty="0"/>
          </a:p>
        </p:txBody>
      </p:sp>
      <p:sp>
        <p:nvSpPr>
          <p:cNvPr id="46" name="Text 44"/>
          <p:cNvSpPr/>
          <p:nvPr/>
        </p:nvSpPr>
        <p:spPr>
          <a:xfrm>
            <a:off x="8641080" y="3885565"/>
            <a:ext cx="2761488" cy="237744"/>
          </a:xfrm>
          <a:prstGeom prst="rect">
            <a:avLst/>
          </a:prstGeom>
          <a:noFill/>
        </p:spPr>
        <p:txBody>
          <a:bodyPr wrap="square" lIns="381" tIns="381" rIns="381" bIns="381" rtlCol="0" anchor="t">
            <a:normAutofit/>
          </a:bodyPr>
          <a:lstStyle/>
          <a:p>
            <a:pPr marL="0" indent="0" algn="l">
              <a:lnSpc>
                <a:spcPct val="95000"/>
              </a:lnSpc>
              <a:buNone/>
            </a:pPr>
            <a:r>
              <a:rPr lang="en-US" sz="980" b="1" dirty="0">
                <a:solidFill>
                  <a:srgbClr val="667A8A"/>
                </a:solidFill>
                <a:latin typeface="Aptos" pitchFamily="34" charset="0"/>
                <a:ea typeface="Aptos" pitchFamily="34" charset="-122"/>
                <a:cs typeface="Aptos" pitchFamily="34" charset="-120"/>
              </a:rPr>
              <a:t>LLM writes text only</a:t>
            </a:r>
            <a:endParaRPr lang="en-US" sz="980" dirty="0"/>
          </a:p>
        </p:txBody>
      </p:sp>
      <p:sp>
        <p:nvSpPr>
          <p:cNvPr id="47" name="Shape 45"/>
          <p:cNvSpPr/>
          <p:nvPr/>
        </p:nvSpPr>
        <p:spPr>
          <a:xfrm>
            <a:off x="8238744" y="4205605"/>
            <a:ext cx="3163824" cy="0"/>
          </a:xfrm>
          <a:prstGeom prst="line">
            <a:avLst/>
          </a:prstGeom>
          <a:noFill/>
          <a:ln w="15240">
            <a:solidFill>
              <a:srgbClr val="C9B2FF"/>
            </a:solidFill>
            <a:prstDash val="solid"/>
          </a:ln>
        </p:spPr>
      </p:sp>
      <p:sp>
        <p:nvSpPr>
          <p:cNvPr id="48" name="Text 46"/>
          <p:cNvSpPr/>
          <p:nvPr/>
        </p:nvSpPr>
        <p:spPr>
          <a:xfrm>
            <a:off x="8275320" y="4297045"/>
            <a:ext cx="3090672" cy="676656"/>
          </a:xfrm>
          <a:prstGeom prst="rect">
            <a:avLst/>
          </a:prstGeom>
          <a:noFill/>
        </p:spPr>
        <p:txBody>
          <a:bodyPr wrap="square" lIns="254" tIns="254" rIns="254" bIns="254" rtlCol="0" anchor="t">
            <a:noAutofit/>
          </a:bodyPr>
          <a:lstStyle/>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stars = predicted_stars exactly</a:t>
            </a:r>
            <a:endParaRPr lang="en-US" sz="1400" dirty="0"/>
          </a:p>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Review text uses grounded evidence and user style</a:t>
            </a:r>
            <a:endParaRPr lang="en-US" sz="1400" dirty="0"/>
          </a:p>
          <a:p>
            <a:pPr marL="0" indent="0" algn="l">
              <a:lnSpc>
                <a:spcPct val="95000"/>
              </a:lnSpc>
              <a:buNone/>
            </a:pPr>
            <a:r>
              <a:rPr lang="en-US" sz="1400" dirty="0">
                <a:solidFill>
                  <a:srgbClr val="082B49"/>
                </a:solidFill>
                <a:latin typeface="Aptos" pitchFamily="34" charset="0"/>
                <a:ea typeface="Aptos" pitchFamily="34" charset="-122"/>
                <a:cs typeface="Aptos" pitchFamily="34" charset="-120"/>
              </a:rPr>
              <a:t>No rating recalculation in the final agent</a:t>
            </a:r>
            <a:endParaRPr lang="en-US" sz="1400" dirty="0">
              <a:solidFill>
                <a:srgbClr val="082B49"/>
              </a:solidFill>
              <a:latin typeface="Aptos" pitchFamily="34" charset="0"/>
              <a:ea typeface="Aptos" pitchFamily="34" charset="-122"/>
              <a:cs typeface="Aptos" pitchFamily="34" charset="-120"/>
            </a:endParaRPr>
          </a:p>
        </p:txBody>
      </p:sp>
      <p:sp>
        <p:nvSpPr>
          <p:cNvPr id="49" name="Shape 47"/>
          <p:cNvSpPr/>
          <p:nvPr/>
        </p:nvSpPr>
        <p:spPr>
          <a:xfrm>
            <a:off x="3950208" y="1908429"/>
            <a:ext cx="219456" cy="0"/>
          </a:xfrm>
          <a:prstGeom prst="line">
            <a:avLst/>
          </a:prstGeom>
          <a:noFill/>
          <a:ln w="25400">
            <a:solidFill>
              <a:srgbClr val="0B6FEA"/>
            </a:solidFill>
            <a:prstDash val="solid"/>
            <a:headEnd type="none"/>
            <a:tailEnd type="triangle"/>
          </a:ln>
        </p:spPr>
      </p:sp>
      <p:sp>
        <p:nvSpPr>
          <p:cNvPr id="50" name="Shape 48"/>
          <p:cNvSpPr/>
          <p:nvPr/>
        </p:nvSpPr>
        <p:spPr>
          <a:xfrm>
            <a:off x="7781544" y="1908429"/>
            <a:ext cx="219456" cy="0"/>
          </a:xfrm>
          <a:prstGeom prst="line">
            <a:avLst/>
          </a:prstGeom>
          <a:noFill/>
          <a:ln w="25400">
            <a:solidFill>
              <a:srgbClr val="0B6FEA"/>
            </a:solidFill>
            <a:prstDash val="solid"/>
            <a:headEnd type="none"/>
            <a:tailEnd type="triangle"/>
          </a:ln>
        </p:spPr>
      </p:sp>
      <p:sp>
        <p:nvSpPr>
          <p:cNvPr id="53" name="Shape 51"/>
          <p:cNvSpPr/>
          <p:nvPr/>
        </p:nvSpPr>
        <p:spPr>
          <a:xfrm>
            <a:off x="3950208" y="4278757"/>
            <a:ext cx="219456" cy="0"/>
          </a:xfrm>
          <a:prstGeom prst="line">
            <a:avLst/>
          </a:prstGeom>
          <a:noFill/>
          <a:ln w="25400">
            <a:solidFill>
              <a:srgbClr val="0B6FEA"/>
            </a:solidFill>
            <a:prstDash val="solid"/>
            <a:headEnd type="none"/>
            <a:tailEnd type="triangle"/>
          </a:ln>
        </p:spPr>
      </p:sp>
      <p:sp>
        <p:nvSpPr>
          <p:cNvPr id="54" name="Shape 52"/>
          <p:cNvSpPr/>
          <p:nvPr/>
        </p:nvSpPr>
        <p:spPr>
          <a:xfrm>
            <a:off x="7781544" y="4278757"/>
            <a:ext cx="219456" cy="0"/>
          </a:xfrm>
          <a:prstGeom prst="line">
            <a:avLst/>
          </a:prstGeom>
          <a:noFill/>
          <a:ln w="25400">
            <a:solidFill>
              <a:srgbClr val="0B6FEA"/>
            </a:solidFill>
            <a:prstDash val="solid"/>
            <a:headEnd type="none"/>
            <a:tailEnd type="triangle"/>
          </a:ln>
        </p:spPr>
      </p:sp>
      <p:sp>
        <p:nvSpPr>
          <p:cNvPr id="55" name="Shape 53"/>
          <p:cNvSpPr/>
          <p:nvPr/>
        </p:nvSpPr>
        <p:spPr>
          <a:xfrm>
            <a:off x="411480" y="5913755"/>
            <a:ext cx="11338560" cy="502920"/>
          </a:xfrm>
          <a:prstGeom prst="roundRect">
            <a:avLst>
              <a:gd name="adj" fmla="val 27273"/>
            </a:avLst>
          </a:prstGeom>
          <a:solidFill>
            <a:srgbClr val="EAF4FF"/>
          </a:solidFill>
          <a:ln w="12700">
            <a:solidFill>
              <a:srgbClr val="9DCCF5"/>
            </a:solidFill>
            <a:prstDash val="solid"/>
          </a:ln>
        </p:spPr>
      </p:sp>
      <p:sp>
        <p:nvSpPr>
          <p:cNvPr id="56" name="Shape 54"/>
          <p:cNvSpPr/>
          <p:nvPr/>
        </p:nvSpPr>
        <p:spPr>
          <a:xfrm>
            <a:off x="640080" y="6126480"/>
            <a:ext cx="210312" cy="210312"/>
          </a:xfrm>
          <a:prstGeom prst="ellipse">
            <a:avLst/>
          </a:prstGeom>
          <a:solidFill>
            <a:srgbClr val="0B6FEA"/>
          </a:solidFill>
          <a:ln w="12700">
            <a:solidFill>
              <a:srgbClr val="0B6FEA"/>
            </a:solidFill>
            <a:prstDash val="solid"/>
          </a:ln>
        </p:spPr>
      </p:sp>
      <p:sp>
        <p:nvSpPr>
          <p:cNvPr id="57" name="Text 55"/>
          <p:cNvSpPr/>
          <p:nvPr/>
        </p:nvSpPr>
        <p:spPr>
          <a:xfrm>
            <a:off x="896112" y="6108192"/>
            <a:ext cx="1143000" cy="201168"/>
          </a:xfrm>
          <a:prstGeom prst="rect">
            <a:avLst/>
          </a:prstGeom>
          <a:noFill/>
        </p:spPr>
        <p:txBody>
          <a:bodyPr wrap="square" lIns="381" tIns="381" rIns="381" bIns="381" rtlCol="0" anchor="t">
            <a:normAutofit/>
          </a:bodyPr>
          <a:lstStyle/>
          <a:p>
            <a:pPr marL="0" indent="0" algn="l">
              <a:lnSpc>
                <a:spcPct val="95000"/>
              </a:lnSpc>
              <a:buNone/>
            </a:pPr>
            <a:r>
              <a:rPr lang="en-US" sz="1150" b="1" dirty="0">
                <a:solidFill>
                  <a:srgbClr val="0B6FEA"/>
                </a:solidFill>
                <a:latin typeface="Aptos" pitchFamily="34" charset="0"/>
                <a:ea typeface="Aptos" pitchFamily="34" charset="-122"/>
                <a:cs typeface="Aptos" pitchFamily="34" charset="-120"/>
              </a:rPr>
              <a:t>Key message:</a:t>
            </a:r>
            <a:endParaRPr lang="en-US" sz="1150" dirty="0"/>
          </a:p>
        </p:txBody>
      </p:sp>
      <p:sp>
        <p:nvSpPr>
          <p:cNvPr id="58" name="Text 56"/>
          <p:cNvSpPr/>
          <p:nvPr/>
        </p:nvSpPr>
        <p:spPr>
          <a:xfrm>
            <a:off x="1920240" y="6080760"/>
            <a:ext cx="9582912" cy="265176"/>
          </a:xfrm>
          <a:prstGeom prst="rect">
            <a:avLst/>
          </a:prstGeom>
          <a:noFill/>
        </p:spPr>
        <p:txBody>
          <a:bodyPr wrap="square" lIns="381" tIns="381" rIns="381" bIns="381" rtlCol="0" anchor="t">
            <a:normAutofit fontScale="70000"/>
          </a:bodyPr>
          <a:lstStyle/>
          <a:p>
            <a:pPr marL="0" indent="0" algn="l">
              <a:lnSpc>
                <a:spcPct val="95000"/>
              </a:lnSpc>
              <a:buNone/>
            </a:pPr>
            <a:r>
              <a:rPr lang="en-US" sz="1200" b="1" dirty="0">
                <a:solidFill>
                  <a:srgbClr val="082B49"/>
                </a:solidFill>
                <a:latin typeface="Aptos" pitchFamily="34" charset="0"/>
                <a:ea typeface="Aptos" pitchFamily="34" charset="-122"/>
                <a:cs typeface="Aptos" pitchFamily="34" charset="-120"/>
              </a:rPr>
              <a:t>The rating policy owns the stars: it converts raw evidence into signals, assigns confidence-adjusted weights, scores available evidence, applies guards, and locks predicted_stars before the LLM writes the review.</a:t>
            </a:r>
            <a:endParaRPr lang="en-US" sz="1200" dirty="0"/>
          </a:p>
        </p:txBody>
      </p:sp>
      <p:sp>
        <p:nvSpPr>
          <p:cNvPr id="6"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b="1" dirty="0">
                <a:solidFill>
                  <a:srgbClr val="64748B"/>
                </a:solidFill>
                <a:latin typeface="Aptos" pitchFamily="34" charset="0"/>
                <a:ea typeface="Aptos" pitchFamily="34" charset="-122"/>
                <a:cs typeface="Aptos"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84366" y="219456"/>
            <a:ext cx="2103120" cy="201168"/>
          </a:xfrm>
          <a:prstGeom prst="rect">
            <a:avLst/>
          </a:prstGeom>
          <a:noFill/>
        </p:spPr>
        <p:txBody>
          <a:bodyPr wrap="square" lIns="0" tIns="0" rIns="0" bIns="0" rtlCol="0" anchor="ctr"/>
          <a:lstStyle/>
          <a:p>
            <a:pPr marL="0" indent="0">
              <a:buNone/>
            </a:pPr>
            <a:r>
              <a:rPr lang="en-US" sz="1100" b="1" dirty="0">
                <a:solidFill>
                  <a:srgbClr val="1769E0"/>
                </a:solidFill>
                <a:latin typeface="Aptos Display" pitchFamily="34" charset="0"/>
                <a:ea typeface="Aptos Display" pitchFamily="34" charset="-122"/>
                <a:cs typeface="Aptos Display" pitchFamily="34" charset="-120"/>
              </a:rPr>
              <a:t>SCORING POLICY</a:t>
            </a:r>
            <a:endParaRPr lang="en-US" sz="1100" dirty="0"/>
          </a:p>
        </p:txBody>
      </p:sp>
      <p:sp>
        <p:nvSpPr>
          <p:cNvPr id="3" name="Text 1"/>
          <p:cNvSpPr/>
          <p:nvPr/>
        </p:nvSpPr>
        <p:spPr>
          <a:xfrm>
            <a:off x="384366" y="502920"/>
            <a:ext cx="11247120" cy="438912"/>
          </a:xfrm>
          <a:prstGeom prst="rect">
            <a:avLst/>
          </a:prstGeom>
          <a:noFill/>
        </p:spPr>
        <p:txBody>
          <a:bodyPr wrap="square" lIns="0" tIns="0" rIns="0" bIns="0" rtlCol="0" anchor="ctr">
            <a:normAutofit lnSpcReduction="10000"/>
          </a:bodyPr>
          <a:lstStyle/>
          <a:p>
            <a:pPr marL="0" indent="0">
              <a:buNone/>
            </a:pPr>
            <a:r>
              <a:rPr lang="en-US" sz="2900" b="1" dirty="0">
                <a:solidFill>
                  <a:srgbClr val="08213B"/>
                </a:solidFill>
                <a:latin typeface="Aptos Display" pitchFamily="34" charset="0"/>
                <a:ea typeface="Aptos Display" pitchFamily="34" charset="-122"/>
                <a:cs typeface="Aptos Display" pitchFamily="34" charset="-120"/>
              </a:rPr>
              <a:t>Evidence-aware case routing: robust to missing data</a:t>
            </a:r>
            <a:endParaRPr lang="en-US" sz="2900" dirty="0"/>
          </a:p>
        </p:txBody>
      </p:sp>
      <p:sp>
        <p:nvSpPr>
          <p:cNvPr id="4" name="Shape 2"/>
          <p:cNvSpPr/>
          <p:nvPr/>
        </p:nvSpPr>
        <p:spPr>
          <a:xfrm>
            <a:off x="384366" y="1097280"/>
            <a:ext cx="11384280" cy="0"/>
          </a:xfrm>
          <a:prstGeom prst="line">
            <a:avLst/>
          </a:prstGeom>
          <a:noFill/>
          <a:ln w="13970">
            <a:solidFill>
              <a:srgbClr val="B7C5D8"/>
            </a:solidFill>
            <a:prstDash val="solid"/>
          </a:ln>
        </p:spPr>
      </p:sp>
      <p:sp>
        <p:nvSpPr>
          <p:cNvPr id="5" name="Text 3"/>
          <p:cNvSpPr/>
          <p:nvPr/>
        </p:nvSpPr>
        <p:spPr>
          <a:xfrm>
            <a:off x="384366" y="1325880"/>
            <a:ext cx="685800" cy="512064"/>
          </a:xfrm>
          <a:prstGeom prst="rect">
            <a:avLst/>
          </a:prstGeom>
          <a:solidFill>
            <a:srgbClr val="08213B"/>
          </a:solidFill>
          <a:ln w="9525">
            <a:solidFill>
              <a:srgbClr val="FFFFFF"/>
            </a:solidFill>
          </a:ln>
        </p:spPr>
        <p:txBody>
          <a:bodyPr wrap="square" lIns="635" tIns="635" rIns="635" bIns="635" rtlCol="0" anchor="ctr">
            <a:normAutofit/>
          </a:bodyPr>
          <a:lstStyle/>
          <a:p>
            <a:pPr marL="0" indent="0" algn="ctr">
              <a:buNone/>
            </a:pPr>
            <a:r>
              <a:rPr lang="en-US" sz="1450" b="1" dirty="0">
                <a:solidFill>
                  <a:srgbClr val="FFFFFF"/>
                </a:solidFill>
                <a:latin typeface="Aptos" pitchFamily="34" charset="0"/>
                <a:ea typeface="Aptos" pitchFamily="34" charset="-122"/>
                <a:cs typeface="Aptos" pitchFamily="34" charset="-120"/>
              </a:rPr>
              <a:t>Case</a:t>
            </a:r>
            <a:endParaRPr lang="en-US" sz="1450" dirty="0"/>
          </a:p>
        </p:txBody>
      </p:sp>
      <p:sp>
        <p:nvSpPr>
          <p:cNvPr id="6" name="Text 4"/>
          <p:cNvSpPr/>
          <p:nvPr/>
        </p:nvSpPr>
        <p:spPr>
          <a:xfrm>
            <a:off x="1070166" y="1325880"/>
            <a:ext cx="868680" cy="512064"/>
          </a:xfrm>
          <a:prstGeom prst="rect">
            <a:avLst/>
          </a:prstGeom>
          <a:solidFill>
            <a:srgbClr val="08213B"/>
          </a:solidFill>
          <a:ln w="9525">
            <a:solidFill>
              <a:srgbClr val="FFFFFF"/>
            </a:solidFill>
          </a:ln>
        </p:spPr>
        <p:txBody>
          <a:bodyPr wrap="square" lIns="635" tIns="635" rIns="635" bIns="635" rtlCol="0" anchor="ctr">
            <a:normAutofit/>
          </a:bodyPr>
          <a:lstStyle/>
          <a:p>
            <a:pPr marL="0" indent="0" algn="ctr">
              <a:buNone/>
            </a:pPr>
            <a:r>
              <a:rPr lang="en-US" sz="1450" b="1" dirty="0">
                <a:solidFill>
                  <a:srgbClr val="FFFFFF"/>
                </a:solidFill>
                <a:latin typeface="Aptos" pitchFamily="34" charset="0"/>
                <a:ea typeface="Aptos" pitchFamily="34" charset="-122"/>
                <a:cs typeface="Aptos" pitchFamily="34" charset="-120"/>
              </a:rPr>
              <a:t>User</a:t>
            </a:r>
            <a:endParaRPr lang="en-US" sz="1450" dirty="0"/>
          </a:p>
        </p:txBody>
      </p:sp>
      <p:sp>
        <p:nvSpPr>
          <p:cNvPr id="7" name="Text 5"/>
          <p:cNvSpPr/>
          <p:nvPr/>
        </p:nvSpPr>
        <p:spPr>
          <a:xfrm>
            <a:off x="1938846" y="1325880"/>
            <a:ext cx="868680" cy="512064"/>
          </a:xfrm>
          <a:prstGeom prst="rect">
            <a:avLst/>
          </a:prstGeom>
          <a:solidFill>
            <a:srgbClr val="08213B"/>
          </a:solidFill>
          <a:ln w="9525">
            <a:solidFill>
              <a:srgbClr val="FFFFFF"/>
            </a:solidFill>
          </a:ln>
        </p:spPr>
        <p:txBody>
          <a:bodyPr wrap="square" lIns="635" tIns="635" rIns="635" bIns="635" rtlCol="0" anchor="ctr">
            <a:normAutofit/>
          </a:bodyPr>
          <a:lstStyle/>
          <a:p>
            <a:pPr marL="0" indent="0" algn="ctr">
              <a:buNone/>
            </a:pPr>
            <a:r>
              <a:rPr lang="en-US" sz="1450" b="1" dirty="0">
                <a:solidFill>
                  <a:srgbClr val="FFFFFF"/>
                </a:solidFill>
                <a:latin typeface="Aptos" pitchFamily="34" charset="0"/>
                <a:ea typeface="Aptos" pitchFamily="34" charset="-122"/>
                <a:cs typeface="Aptos" pitchFamily="34" charset="-120"/>
              </a:rPr>
              <a:t>Item</a:t>
            </a:r>
            <a:endParaRPr lang="en-US" sz="1450" dirty="0"/>
          </a:p>
        </p:txBody>
      </p:sp>
      <p:sp>
        <p:nvSpPr>
          <p:cNvPr id="8" name="Text 6"/>
          <p:cNvSpPr/>
          <p:nvPr/>
        </p:nvSpPr>
        <p:spPr>
          <a:xfrm>
            <a:off x="2807526" y="1325880"/>
            <a:ext cx="868680" cy="512064"/>
          </a:xfrm>
          <a:prstGeom prst="rect">
            <a:avLst/>
          </a:prstGeom>
          <a:solidFill>
            <a:srgbClr val="08213B"/>
          </a:solidFill>
          <a:ln w="9525">
            <a:solidFill>
              <a:srgbClr val="FFFFFF"/>
            </a:solidFill>
          </a:ln>
        </p:spPr>
        <p:txBody>
          <a:bodyPr wrap="square" lIns="635" tIns="635" rIns="635" bIns="635" rtlCol="0" anchor="ctr">
            <a:normAutofit/>
          </a:bodyPr>
          <a:lstStyle/>
          <a:p>
            <a:pPr marL="0" indent="0" algn="ctr">
              <a:buNone/>
            </a:pPr>
            <a:r>
              <a:rPr lang="en-US" sz="1450" b="1" dirty="0">
                <a:solidFill>
                  <a:srgbClr val="FFFFFF"/>
                </a:solidFill>
                <a:latin typeface="Aptos" pitchFamily="34" charset="0"/>
                <a:ea typeface="Aptos" pitchFamily="34" charset="-122"/>
                <a:cs typeface="Aptos" pitchFamily="34" charset="-120"/>
              </a:rPr>
              <a:t>Direct Review</a:t>
            </a:r>
            <a:endParaRPr lang="en-US" sz="1450" dirty="0"/>
          </a:p>
        </p:txBody>
      </p:sp>
      <p:sp>
        <p:nvSpPr>
          <p:cNvPr id="9" name="Text 7"/>
          <p:cNvSpPr/>
          <p:nvPr/>
        </p:nvSpPr>
        <p:spPr>
          <a:xfrm>
            <a:off x="3676206" y="1325880"/>
            <a:ext cx="3090672" cy="512064"/>
          </a:xfrm>
          <a:prstGeom prst="rect">
            <a:avLst/>
          </a:prstGeom>
          <a:solidFill>
            <a:srgbClr val="08213B"/>
          </a:solidFill>
          <a:ln w="9525">
            <a:solidFill>
              <a:srgbClr val="FFFFFF"/>
            </a:solidFill>
          </a:ln>
        </p:spPr>
        <p:txBody>
          <a:bodyPr wrap="square" lIns="635" tIns="635" rIns="635" bIns="635" rtlCol="0" anchor="ctr">
            <a:normAutofit/>
          </a:bodyPr>
          <a:lstStyle/>
          <a:p>
            <a:pPr marL="0" indent="0" algn="ctr">
              <a:buNone/>
            </a:pPr>
            <a:r>
              <a:rPr lang="en-US" sz="1450" b="1" dirty="0">
                <a:solidFill>
                  <a:srgbClr val="FFFFFF"/>
                </a:solidFill>
                <a:latin typeface="Aptos" pitchFamily="34" charset="0"/>
                <a:ea typeface="Aptos" pitchFamily="34" charset="-122"/>
                <a:cs typeface="Aptos" pitchFamily="34" charset="-120"/>
              </a:rPr>
              <a:t>Policy</a:t>
            </a:r>
            <a:endParaRPr lang="en-US" sz="1450" dirty="0"/>
          </a:p>
        </p:txBody>
      </p:sp>
      <p:sp>
        <p:nvSpPr>
          <p:cNvPr id="10" name="Text 8"/>
          <p:cNvSpPr/>
          <p:nvPr/>
        </p:nvSpPr>
        <p:spPr>
          <a:xfrm>
            <a:off x="384366" y="1837944"/>
            <a:ext cx="68580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1600" b="1" dirty="0">
                <a:solidFill>
                  <a:srgbClr val="08213B"/>
                </a:solidFill>
                <a:latin typeface="Aptos" pitchFamily="34" charset="0"/>
                <a:ea typeface="Aptos" pitchFamily="34" charset="-122"/>
                <a:cs typeface="Aptos" pitchFamily="34" charset="-120"/>
              </a:rPr>
              <a:t>1</a:t>
            </a:r>
            <a:endParaRPr lang="en-US" sz="1600" dirty="0"/>
          </a:p>
        </p:txBody>
      </p:sp>
      <p:sp>
        <p:nvSpPr>
          <p:cNvPr id="11" name="Text 9"/>
          <p:cNvSpPr/>
          <p:nvPr/>
        </p:nvSpPr>
        <p:spPr>
          <a:xfrm>
            <a:off x="1070166" y="1837944"/>
            <a:ext cx="86868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0B7D3B"/>
                </a:solidFill>
                <a:latin typeface="Aptos" pitchFamily="34" charset="0"/>
                <a:ea typeface="Aptos" pitchFamily="34" charset="-122"/>
                <a:cs typeface="Aptos" pitchFamily="34" charset="-120"/>
              </a:rPr>
              <a:t>✓</a:t>
            </a:r>
            <a:endParaRPr lang="en-US" sz="2000" dirty="0"/>
          </a:p>
        </p:txBody>
      </p:sp>
      <p:sp>
        <p:nvSpPr>
          <p:cNvPr id="12" name="Text 10"/>
          <p:cNvSpPr/>
          <p:nvPr/>
        </p:nvSpPr>
        <p:spPr>
          <a:xfrm>
            <a:off x="1938846" y="1837944"/>
            <a:ext cx="86868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0B7D3B"/>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2807526" y="1837944"/>
            <a:ext cx="86868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0B7D3B"/>
                </a:solidFill>
                <a:latin typeface="Aptos" pitchFamily="34" charset="0"/>
                <a:ea typeface="Aptos" pitchFamily="34" charset="-122"/>
                <a:cs typeface="Aptos" pitchFamily="34" charset="-120"/>
              </a:rPr>
              <a:t>✓</a:t>
            </a:r>
            <a:endParaRPr lang="en-US" sz="2000" dirty="0"/>
          </a:p>
        </p:txBody>
      </p:sp>
      <p:sp>
        <p:nvSpPr>
          <p:cNvPr id="14" name="Text 12"/>
          <p:cNvSpPr/>
          <p:nvPr/>
        </p:nvSpPr>
        <p:spPr>
          <a:xfrm>
            <a:off x="3676206" y="1837944"/>
            <a:ext cx="3090672"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l">
              <a:buNone/>
            </a:pPr>
            <a:r>
              <a:rPr lang="vi-VN" altLang="en-US" dirty="0">
                <a:solidFill>
                  <a:srgbClr val="08213B"/>
                </a:solidFill>
                <a:latin typeface="Aptos" pitchFamily="34" charset="0"/>
                <a:ea typeface="Aptos" pitchFamily="34" charset="-122"/>
                <a:cs typeface="Aptos" pitchFamily="34" charset="-120"/>
              </a:rPr>
              <a:t> </a:t>
            </a:r>
            <a:r>
              <a:rPr lang="en-US" dirty="0">
                <a:solidFill>
                  <a:srgbClr val="08213B"/>
                </a:solidFill>
                <a:latin typeface="Aptos" pitchFamily="34" charset="0"/>
                <a:ea typeface="Aptos" pitchFamily="34" charset="-122"/>
                <a:cs typeface="Aptos" pitchFamily="34" charset="-120"/>
              </a:rPr>
              <a:t>direct</a:t>
            </a:r>
            <a:r>
              <a:rPr lang="vi-VN" altLang="en-US" dirty="0">
                <a:solidFill>
                  <a:srgbClr val="08213B"/>
                </a:solidFill>
                <a:latin typeface="Aptos" pitchFamily="34" charset="0"/>
                <a:ea typeface="Aptos" pitchFamily="34" charset="-122"/>
                <a:cs typeface="Aptos" pitchFamily="34" charset="-120"/>
              </a:rPr>
              <a:t> review</a:t>
            </a:r>
            <a:r>
              <a:rPr lang="en-US" dirty="0">
                <a:solidFill>
                  <a:srgbClr val="08213B"/>
                </a:solidFill>
                <a:latin typeface="Aptos" pitchFamily="34" charset="0"/>
                <a:ea typeface="Aptos" pitchFamily="34" charset="-122"/>
                <a:cs typeface="Aptos" pitchFamily="34" charset="-120"/>
              </a:rPr>
              <a:t> dominates</a:t>
            </a:r>
            <a:endParaRPr lang="en-US" dirty="0">
              <a:solidFill>
                <a:srgbClr val="08213B"/>
              </a:solidFill>
              <a:latin typeface="Aptos" pitchFamily="34" charset="0"/>
              <a:ea typeface="Aptos" pitchFamily="34" charset="-122"/>
              <a:cs typeface="Aptos" pitchFamily="34" charset="-120"/>
            </a:endParaRPr>
          </a:p>
        </p:txBody>
      </p:sp>
      <p:sp>
        <p:nvSpPr>
          <p:cNvPr id="15" name="Text 13"/>
          <p:cNvSpPr/>
          <p:nvPr/>
        </p:nvSpPr>
        <p:spPr>
          <a:xfrm>
            <a:off x="384366" y="2322576"/>
            <a:ext cx="68580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1600" b="1" dirty="0">
                <a:solidFill>
                  <a:srgbClr val="08213B"/>
                </a:solidFill>
                <a:latin typeface="Aptos" pitchFamily="34" charset="0"/>
                <a:ea typeface="Aptos" pitchFamily="34" charset="-122"/>
                <a:cs typeface="Aptos" pitchFamily="34" charset="-120"/>
              </a:rPr>
              <a:t>2</a:t>
            </a:r>
            <a:endParaRPr lang="en-US" sz="1600" dirty="0"/>
          </a:p>
        </p:txBody>
      </p:sp>
      <p:sp>
        <p:nvSpPr>
          <p:cNvPr id="16" name="Text 14"/>
          <p:cNvSpPr/>
          <p:nvPr/>
        </p:nvSpPr>
        <p:spPr>
          <a:xfrm>
            <a:off x="1070166" y="2322576"/>
            <a:ext cx="86868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0B7D3B"/>
                </a:solidFill>
                <a:latin typeface="Aptos" pitchFamily="34" charset="0"/>
                <a:ea typeface="Aptos" pitchFamily="34" charset="-122"/>
                <a:cs typeface="Aptos" pitchFamily="34" charset="-120"/>
              </a:rPr>
              <a:t>✓</a:t>
            </a:r>
            <a:endParaRPr lang="en-US" sz="2000" dirty="0"/>
          </a:p>
        </p:txBody>
      </p:sp>
      <p:sp>
        <p:nvSpPr>
          <p:cNvPr id="17" name="Text 15"/>
          <p:cNvSpPr/>
          <p:nvPr/>
        </p:nvSpPr>
        <p:spPr>
          <a:xfrm>
            <a:off x="1938846" y="2322576"/>
            <a:ext cx="86868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0B7D3B"/>
                </a:solidFill>
                <a:latin typeface="Aptos" pitchFamily="34" charset="0"/>
                <a:ea typeface="Aptos" pitchFamily="34" charset="-122"/>
                <a:cs typeface="Aptos" pitchFamily="34" charset="-120"/>
              </a:rPr>
              <a:t>✓</a:t>
            </a:r>
            <a:endParaRPr lang="en-US" sz="2000" dirty="0"/>
          </a:p>
        </p:txBody>
      </p:sp>
      <p:sp>
        <p:nvSpPr>
          <p:cNvPr id="18" name="Text 16"/>
          <p:cNvSpPr/>
          <p:nvPr/>
        </p:nvSpPr>
        <p:spPr>
          <a:xfrm>
            <a:off x="2807526" y="2322576"/>
            <a:ext cx="86868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D71920"/>
                </a:solidFill>
                <a:latin typeface="Aptos" pitchFamily="34" charset="0"/>
                <a:ea typeface="Aptos" pitchFamily="34" charset="-122"/>
                <a:cs typeface="Aptos" pitchFamily="34" charset="-120"/>
              </a:rPr>
              <a:t>✗</a:t>
            </a:r>
            <a:endParaRPr lang="en-US" sz="2000" dirty="0"/>
          </a:p>
        </p:txBody>
      </p:sp>
      <p:sp>
        <p:nvSpPr>
          <p:cNvPr id="19" name="Text 17"/>
          <p:cNvSpPr/>
          <p:nvPr/>
        </p:nvSpPr>
        <p:spPr>
          <a:xfrm>
            <a:off x="3676206" y="2322576"/>
            <a:ext cx="3090672"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l">
              <a:buNone/>
            </a:pPr>
            <a:r>
              <a:rPr lang="vi-VN" altLang="en-US" dirty="0">
                <a:solidFill>
                  <a:srgbClr val="08213B"/>
                </a:solidFill>
                <a:latin typeface="Aptos" pitchFamily="34" charset="0"/>
                <a:ea typeface="Aptos" pitchFamily="34" charset="-122"/>
                <a:cs typeface="Aptos" pitchFamily="34" charset="-120"/>
              </a:rPr>
              <a:t> </a:t>
            </a:r>
            <a:r>
              <a:rPr lang="en-US" dirty="0">
                <a:solidFill>
                  <a:srgbClr val="08213B"/>
                </a:solidFill>
                <a:latin typeface="Aptos" pitchFamily="34" charset="0"/>
                <a:ea typeface="Aptos" pitchFamily="34" charset="-122"/>
                <a:cs typeface="Aptos" pitchFamily="34" charset="-120"/>
              </a:rPr>
              <a:t>user + item</a:t>
            </a:r>
            <a:endParaRPr lang="en-US" dirty="0">
              <a:solidFill>
                <a:srgbClr val="08213B"/>
              </a:solidFill>
              <a:latin typeface="Aptos" pitchFamily="34" charset="0"/>
              <a:ea typeface="Aptos" pitchFamily="34" charset="-122"/>
              <a:cs typeface="Aptos" pitchFamily="34" charset="-120"/>
            </a:endParaRPr>
          </a:p>
        </p:txBody>
      </p:sp>
      <p:sp>
        <p:nvSpPr>
          <p:cNvPr id="20" name="Text 18"/>
          <p:cNvSpPr/>
          <p:nvPr/>
        </p:nvSpPr>
        <p:spPr>
          <a:xfrm>
            <a:off x="384366" y="2807208"/>
            <a:ext cx="68580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1600" b="1" dirty="0">
                <a:solidFill>
                  <a:srgbClr val="08213B"/>
                </a:solidFill>
                <a:latin typeface="Aptos" pitchFamily="34" charset="0"/>
                <a:ea typeface="Aptos" pitchFamily="34" charset="-122"/>
                <a:cs typeface="Aptos" pitchFamily="34" charset="-120"/>
              </a:rPr>
              <a:t>3</a:t>
            </a:r>
            <a:endParaRPr lang="en-US" sz="1600" dirty="0"/>
          </a:p>
        </p:txBody>
      </p:sp>
      <p:sp>
        <p:nvSpPr>
          <p:cNvPr id="21" name="Text 19"/>
          <p:cNvSpPr/>
          <p:nvPr/>
        </p:nvSpPr>
        <p:spPr>
          <a:xfrm>
            <a:off x="1070166" y="2807208"/>
            <a:ext cx="86868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D71920"/>
                </a:solidFill>
                <a:latin typeface="Aptos" pitchFamily="34" charset="0"/>
                <a:ea typeface="Aptos" pitchFamily="34" charset="-122"/>
                <a:cs typeface="Aptos" pitchFamily="34" charset="-120"/>
              </a:rPr>
              <a:t>✗</a:t>
            </a:r>
            <a:endParaRPr lang="en-US" sz="2000" dirty="0"/>
          </a:p>
        </p:txBody>
      </p:sp>
      <p:sp>
        <p:nvSpPr>
          <p:cNvPr id="22" name="Text 20"/>
          <p:cNvSpPr/>
          <p:nvPr/>
        </p:nvSpPr>
        <p:spPr>
          <a:xfrm>
            <a:off x="1938846" y="2807208"/>
            <a:ext cx="86868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0B7D3B"/>
                </a:solidFill>
                <a:latin typeface="Aptos" pitchFamily="34" charset="0"/>
                <a:ea typeface="Aptos" pitchFamily="34" charset="-122"/>
                <a:cs typeface="Aptos" pitchFamily="34" charset="-120"/>
              </a:rPr>
              <a:t>✓</a:t>
            </a:r>
            <a:endParaRPr lang="en-US" sz="2000" dirty="0"/>
          </a:p>
        </p:txBody>
      </p:sp>
      <p:sp>
        <p:nvSpPr>
          <p:cNvPr id="23" name="Text 21"/>
          <p:cNvSpPr/>
          <p:nvPr/>
        </p:nvSpPr>
        <p:spPr>
          <a:xfrm>
            <a:off x="2807526" y="2807208"/>
            <a:ext cx="86868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0B7D3B"/>
                </a:solidFill>
                <a:latin typeface="Aptos" pitchFamily="34" charset="0"/>
                <a:ea typeface="Aptos" pitchFamily="34" charset="-122"/>
                <a:cs typeface="Aptos" pitchFamily="34" charset="-120"/>
              </a:rPr>
              <a:t>✓</a:t>
            </a:r>
            <a:endParaRPr lang="en-US" sz="2000" dirty="0"/>
          </a:p>
        </p:txBody>
      </p:sp>
      <p:sp>
        <p:nvSpPr>
          <p:cNvPr id="24" name="Text 22"/>
          <p:cNvSpPr/>
          <p:nvPr/>
        </p:nvSpPr>
        <p:spPr>
          <a:xfrm>
            <a:off x="3676206" y="2807208"/>
            <a:ext cx="3090672"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l">
              <a:buNone/>
            </a:pPr>
            <a:r>
              <a:rPr lang="vi-VN" altLang="en-US" dirty="0">
                <a:solidFill>
                  <a:srgbClr val="08213B"/>
                </a:solidFill>
                <a:latin typeface="Aptos" pitchFamily="34" charset="0"/>
                <a:ea typeface="Aptos" pitchFamily="34" charset="-122"/>
                <a:cs typeface="Aptos" pitchFamily="34" charset="-120"/>
              </a:rPr>
              <a:t> </a:t>
            </a:r>
            <a:r>
              <a:rPr lang="en-US" dirty="0">
                <a:solidFill>
                  <a:srgbClr val="08213B"/>
                </a:solidFill>
                <a:latin typeface="Aptos" pitchFamily="34" charset="0"/>
                <a:ea typeface="Aptos" pitchFamily="34" charset="-122"/>
                <a:cs typeface="Aptos" pitchFamily="34" charset="-120"/>
              </a:rPr>
              <a:t>direct</a:t>
            </a:r>
            <a:r>
              <a:rPr lang="vi-VN" altLang="en-US" dirty="0">
                <a:solidFill>
                  <a:srgbClr val="08213B"/>
                </a:solidFill>
                <a:latin typeface="Aptos" pitchFamily="34" charset="0"/>
                <a:ea typeface="Aptos" pitchFamily="34" charset="-122"/>
                <a:cs typeface="Aptos" pitchFamily="34" charset="-120"/>
              </a:rPr>
              <a:t> review</a:t>
            </a:r>
            <a:r>
              <a:rPr lang="en-US" dirty="0">
                <a:solidFill>
                  <a:srgbClr val="08213B"/>
                </a:solidFill>
                <a:latin typeface="Aptos" pitchFamily="34" charset="0"/>
                <a:ea typeface="Aptos" pitchFamily="34" charset="-122"/>
                <a:cs typeface="Aptos" pitchFamily="34" charset="-120"/>
              </a:rPr>
              <a:t> + item</a:t>
            </a:r>
            <a:endParaRPr lang="en-US" dirty="0">
              <a:solidFill>
                <a:srgbClr val="08213B"/>
              </a:solidFill>
              <a:latin typeface="Aptos" pitchFamily="34" charset="0"/>
              <a:ea typeface="Aptos" pitchFamily="34" charset="-122"/>
              <a:cs typeface="Aptos" pitchFamily="34" charset="-120"/>
            </a:endParaRPr>
          </a:p>
        </p:txBody>
      </p:sp>
      <p:sp>
        <p:nvSpPr>
          <p:cNvPr id="25" name="Text 23"/>
          <p:cNvSpPr/>
          <p:nvPr/>
        </p:nvSpPr>
        <p:spPr>
          <a:xfrm>
            <a:off x="384366" y="3291840"/>
            <a:ext cx="68580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1600" b="1" dirty="0">
                <a:solidFill>
                  <a:srgbClr val="08213B"/>
                </a:solidFill>
                <a:latin typeface="Aptos" pitchFamily="34" charset="0"/>
                <a:ea typeface="Aptos" pitchFamily="34" charset="-122"/>
                <a:cs typeface="Aptos" pitchFamily="34" charset="-120"/>
              </a:rPr>
              <a:t>4</a:t>
            </a:r>
            <a:endParaRPr lang="en-US" sz="1600" dirty="0"/>
          </a:p>
        </p:txBody>
      </p:sp>
      <p:sp>
        <p:nvSpPr>
          <p:cNvPr id="26" name="Text 24"/>
          <p:cNvSpPr/>
          <p:nvPr/>
        </p:nvSpPr>
        <p:spPr>
          <a:xfrm>
            <a:off x="1070166" y="3291840"/>
            <a:ext cx="86868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D71920"/>
                </a:solidFill>
                <a:latin typeface="Aptos" pitchFamily="34" charset="0"/>
                <a:ea typeface="Aptos" pitchFamily="34" charset="-122"/>
                <a:cs typeface="Aptos" pitchFamily="34" charset="-120"/>
              </a:rPr>
              <a:t>✗</a:t>
            </a:r>
            <a:endParaRPr lang="en-US" sz="2000" dirty="0"/>
          </a:p>
        </p:txBody>
      </p:sp>
      <p:sp>
        <p:nvSpPr>
          <p:cNvPr id="27" name="Text 25"/>
          <p:cNvSpPr/>
          <p:nvPr/>
        </p:nvSpPr>
        <p:spPr>
          <a:xfrm>
            <a:off x="1938846" y="3291840"/>
            <a:ext cx="86868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0B7D3B"/>
                </a:solidFill>
                <a:latin typeface="Aptos" pitchFamily="34" charset="0"/>
                <a:ea typeface="Aptos" pitchFamily="34" charset="-122"/>
                <a:cs typeface="Aptos" pitchFamily="34" charset="-120"/>
              </a:rPr>
              <a:t>✓</a:t>
            </a:r>
            <a:endParaRPr lang="en-US" sz="2000" dirty="0"/>
          </a:p>
        </p:txBody>
      </p:sp>
      <p:sp>
        <p:nvSpPr>
          <p:cNvPr id="28" name="Text 26"/>
          <p:cNvSpPr/>
          <p:nvPr/>
        </p:nvSpPr>
        <p:spPr>
          <a:xfrm>
            <a:off x="2807526" y="3291840"/>
            <a:ext cx="86868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D71920"/>
                </a:solidFill>
                <a:latin typeface="Aptos" pitchFamily="34" charset="0"/>
                <a:ea typeface="Aptos" pitchFamily="34" charset="-122"/>
                <a:cs typeface="Aptos" pitchFamily="34" charset="-120"/>
              </a:rPr>
              <a:t>✗</a:t>
            </a:r>
            <a:endParaRPr lang="en-US" sz="2000" dirty="0"/>
          </a:p>
        </p:txBody>
      </p:sp>
      <p:sp>
        <p:nvSpPr>
          <p:cNvPr id="29" name="Text 27"/>
          <p:cNvSpPr/>
          <p:nvPr/>
        </p:nvSpPr>
        <p:spPr>
          <a:xfrm>
            <a:off x="3676206" y="3291840"/>
            <a:ext cx="3090672"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l">
              <a:buNone/>
            </a:pPr>
            <a:r>
              <a:rPr lang="vi-VN" altLang="en-US" dirty="0">
                <a:solidFill>
                  <a:srgbClr val="08213B"/>
                </a:solidFill>
                <a:latin typeface="Aptos" pitchFamily="34" charset="0"/>
                <a:ea typeface="Aptos" pitchFamily="34" charset="-122"/>
                <a:cs typeface="Aptos" pitchFamily="34" charset="-120"/>
              </a:rPr>
              <a:t> </a:t>
            </a:r>
            <a:r>
              <a:rPr lang="en-US" dirty="0">
                <a:solidFill>
                  <a:srgbClr val="08213B"/>
                </a:solidFill>
                <a:latin typeface="Aptos" pitchFamily="34" charset="0"/>
                <a:ea typeface="Aptos" pitchFamily="34" charset="-122"/>
                <a:cs typeface="Aptos" pitchFamily="34" charset="-120"/>
              </a:rPr>
              <a:t>item only</a:t>
            </a:r>
            <a:endParaRPr lang="en-US" dirty="0">
              <a:solidFill>
                <a:srgbClr val="08213B"/>
              </a:solidFill>
              <a:latin typeface="Aptos" pitchFamily="34" charset="0"/>
              <a:ea typeface="Aptos" pitchFamily="34" charset="-122"/>
              <a:cs typeface="Aptos" pitchFamily="34" charset="-120"/>
            </a:endParaRPr>
          </a:p>
        </p:txBody>
      </p:sp>
      <p:sp>
        <p:nvSpPr>
          <p:cNvPr id="30" name="Text 28"/>
          <p:cNvSpPr/>
          <p:nvPr/>
        </p:nvSpPr>
        <p:spPr>
          <a:xfrm>
            <a:off x="384366" y="3776472"/>
            <a:ext cx="68580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1600" b="1" dirty="0">
                <a:solidFill>
                  <a:srgbClr val="08213B"/>
                </a:solidFill>
                <a:latin typeface="Aptos" pitchFamily="34" charset="0"/>
                <a:ea typeface="Aptos" pitchFamily="34" charset="-122"/>
                <a:cs typeface="Aptos" pitchFamily="34" charset="-120"/>
              </a:rPr>
              <a:t>5</a:t>
            </a:r>
            <a:endParaRPr lang="en-US" sz="1600" dirty="0"/>
          </a:p>
        </p:txBody>
      </p:sp>
      <p:sp>
        <p:nvSpPr>
          <p:cNvPr id="31" name="Text 29"/>
          <p:cNvSpPr/>
          <p:nvPr/>
        </p:nvSpPr>
        <p:spPr>
          <a:xfrm>
            <a:off x="1070166" y="3776472"/>
            <a:ext cx="86868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0B7D3B"/>
                </a:solidFill>
                <a:latin typeface="Aptos" pitchFamily="34" charset="0"/>
                <a:ea typeface="Aptos" pitchFamily="34" charset="-122"/>
                <a:cs typeface="Aptos" pitchFamily="34" charset="-120"/>
              </a:rPr>
              <a:t>✓</a:t>
            </a:r>
            <a:endParaRPr lang="en-US" sz="2000" dirty="0"/>
          </a:p>
        </p:txBody>
      </p:sp>
      <p:sp>
        <p:nvSpPr>
          <p:cNvPr id="32" name="Text 30"/>
          <p:cNvSpPr/>
          <p:nvPr/>
        </p:nvSpPr>
        <p:spPr>
          <a:xfrm>
            <a:off x="1938846" y="3776472"/>
            <a:ext cx="86868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D71920"/>
                </a:solidFill>
                <a:latin typeface="Aptos" pitchFamily="34" charset="0"/>
                <a:ea typeface="Aptos" pitchFamily="34" charset="-122"/>
                <a:cs typeface="Aptos" pitchFamily="34" charset="-120"/>
              </a:rPr>
              <a:t>✗</a:t>
            </a:r>
            <a:endParaRPr lang="en-US" sz="2000" dirty="0"/>
          </a:p>
        </p:txBody>
      </p:sp>
      <p:sp>
        <p:nvSpPr>
          <p:cNvPr id="33" name="Text 31"/>
          <p:cNvSpPr/>
          <p:nvPr/>
        </p:nvSpPr>
        <p:spPr>
          <a:xfrm>
            <a:off x="2807526" y="3776472"/>
            <a:ext cx="86868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0B7D3B"/>
                </a:solidFill>
                <a:latin typeface="Aptos" pitchFamily="34" charset="0"/>
                <a:ea typeface="Aptos" pitchFamily="34" charset="-122"/>
                <a:cs typeface="Aptos" pitchFamily="34" charset="-120"/>
              </a:rPr>
              <a:t>✓</a:t>
            </a:r>
            <a:endParaRPr lang="en-US" sz="2000" dirty="0"/>
          </a:p>
        </p:txBody>
      </p:sp>
      <p:sp>
        <p:nvSpPr>
          <p:cNvPr id="34" name="Text 32"/>
          <p:cNvSpPr/>
          <p:nvPr/>
        </p:nvSpPr>
        <p:spPr>
          <a:xfrm>
            <a:off x="3676206" y="3776472"/>
            <a:ext cx="3090672"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l">
              <a:buNone/>
            </a:pPr>
            <a:r>
              <a:rPr lang="vi-VN" altLang="en-US" dirty="0">
                <a:solidFill>
                  <a:srgbClr val="08213B"/>
                </a:solidFill>
                <a:latin typeface="Aptos" pitchFamily="34" charset="0"/>
                <a:ea typeface="Aptos" pitchFamily="34" charset="-122"/>
                <a:cs typeface="Aptos" pitchFamily="34" charset="-120"/>
              </a:rPr>
              <a:t> </a:t>
            </a:r>
            <a:r>
              <a:rPr lang="en-US" dirty="0">
                <a:solidFill>
                  <a:srgbClr val="08213B"/>
                </a:solidFill>
                <a:latin typeface="Aptos" pitchFamily="34" charset="0"/>
                <a:ea typeface="Aptos" pitchFamily="34" charset="-122"/>
                <a:cs typeface="Aptos" pitchFamily="34" charset="-120"/>
              </a:rPr>
              <a:t>direct</a:t>
            </a:r>
            <a:r>
              <a:rPr lang="vi-VN" altLang="en-US" dirty="0">
                <a:solidFill>
                  <a:srgbClr val="08213B"/>
                </a:solidFill>
                <a:latin typeface="Aptos" pitchFamily="34" charset="0"/>
                <a:ea typeface="Aptos" pitchFamily="34" charset="-122"/>
                <a:cs typeface="Aptos" pitchFamily="34" charset="-120"/>
              </a:rPr>
              <a:t> review</a:t>
            </a:r>
            <a:r>
              <a:rPr lang="en-US" dirty="0">
                <a:solidFill>
                  <a:srgbClr val="08213B"/>
                </a:solidFill>
                <a:latin typeface="Aptos" pitchFamily="34" charset="0"/>
                <a:ea typeface="Aptos" pitchFamily="34" charset="-122"/>
                <a:cs typeface="Aptos" pitchFamily="34" charset="-120"/>
              </a:rPr>
              <a:t> + user</a:t>
            </a:r>
            <a:endParaRPr lang="en-US" dirty="0">
              <a:solidFill>
                <a:srgbClr val="08213B"/>
              </a:solidFill>
              <a:latin typeface="Aptos" pitchFamily="34" charset="0"/>
              <a:ea typeface="Aptos" pitchFamily="34" charset="-122"/>
              <a:cs typeface="Aptos" pitchFamily="34" charset="-120"/>
            </a:endParaRPr>
          </a:p>
        </p:txBody>
      </p:sp>
      <p:sp>
        <p:nvSpPr>
          <p:cNvPr id="35" name="Text 33"/>
          <p:cNvSpPr/>
          <p:nvPr/>
        </p:nvSpPr>
        <p:spPr>
          <a:xfrm>
            <a:off x="384366" y="4261104"/>
            <a:ext cx="68580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1600" b="1" dirty="0">
                <a:solidFill>
                  <a:srgbClr val="08213B"/>
                </a:solidFill>
                <a:latin typeface="Aptos" pitchFamily="34" charset="0"/>
                <a:ea typeface="Aptos" pitchFamily="34" charset="-122"/>
                <a:cs typeface="Aptos" pitchFamily="34" charset="-120"/>
              </a:rPr>
              <a:t>6</a:t>
            </a:r>
            <a:endParaRPr lang="en-US" sz="1600" dirty="0"/>
          </a:p>
        </p:txBody>
      </p:sp>
      <p:sp>
        <p:nvSpPr>
          <p:cNvPr id="36" name="Text 34"/>
          <p:cNvSpPr/>
          <p:nvPr/>
        </p:nvSpPr>
        <p:spPr>
          <a:xfrm>
            <a:off x="1070166" y="4261104"/>
            <a:ext cx="86868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0B7D3B"/>
                </a:solidFill>
                <a:latin typeface="Aptos" pitchFamily="34" charset="0"/>
                <a:ea typeface="Aptos" pitchFamily="34" charset="-122"/>
                <a:cs typeface="Aptos" pitchFamily="34" charset="-120"/>
              </a:rPr>
              <a:t>✓</a:t>
            </a:r>
            <a:endParaRPr lang="en-US" sz="2000" dirty="0"/>
          </a:p>
        </p:txBody>
      </p:sp>
      <p:sp>
        <p:nvSpPr>
          <p:cNvPr id="37" name="Text 35"/>
          <p:cNvSpPr/>
          <p:nvPr/>
        </p:nvSpPr>
        <p:spPr>
          <a:xfrm>
            <a:off x="1938846" y="4261104"/>
            <a:ext cx="86868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D71920"/>
                </a:solidFill>
                <a:latin typeface="Aptos" pitchFamily="34" charset="0"/>
                <a:ea typeface="Aptos" pitchFamily="34" charset="-122"/>
                <a:cs typeface="Aptos" pitchFamily="34" charset="-120"/>
              </a:rPr>
              <a:t>✗</a:t>
            </a:r>
            <a:endParaRPr lang="en-US" sz="2000" dirty="0"/>
          </a:p>
        </p:txBody>
      </p:sp>
      <p:sp>
        <p:nvSpPr>
          <p:cNvPr id="38" name="Text 36"/>
          <p:cNvSpPr/>
          <p:nvPr/>
        </p:nvSpPr>
        <p:spPr>
          <a:xfrm>
            <a:off x="2807526" y="4261104"/>
            <a:ext cx="86868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D71920"/>
                </a:solidFill>
                <a:latin typeface="Aptos" pitchFamily="34" charset="0"/>
                <a:ea typeface="Aptos" pitchFamily="34" charset="-122"/>
                <a:cs typeface="Aptos" pitchFamily="34" charset="-120"/>
              </a:rPr>
              <a:t>✗</a:t>
            </a:r>
            <a:endParaRPr lang="en-US" sz="2000" dirty="0"/>
          </a:p>
        </p:txBody>
      </p:sp>
      <p:sp>
        <p:nvSpPr>
          <p:cNvPr id="39" name="Text 37"/>
          <p:cNvSpPr/>
          <p:nvPr/>
        </p:nvSpPr>
        <p:spPr>
          <a:xfrm>
            <a:off x="3676206" y="4261104"/>
            <a:ext cx="3090672"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l">
              <a:buNone/>
            </a:pPr>
            <a:r>
              <a:rPr lang="vi-VN" altLang="en-US" dirty="0">
                <a:solidFill>
                  <a:srgbClr val="08213B"/>
                </a:solidFill>
                <a:latin typeface="Aptos" pitchFamily="34" charset="0"/>
                <a:ea typeface="Aptos" pitchFamily="34" charset="-122"/>
                <a:cs typeface="Aptos" pitchFamily="34" charset="-120"/>
              </a:rPr>
              <a:t> </a:t>
            </a:r>
            <a:r>
              <a:rPr lang="en-US" dirty="0">
                <a:solidFill>
                  <a:srgbClr val="08213B"/>
                </a:solidFill>
                <a:latin typeface="Aptos" pitchFamily="34" charset="0"/>
                <a:ea typeface="Aptos" pitchFamily="34" charset="-122"/>
                <a:cs typeface="Aptos" pitchFamily="34" charset="-120"/>
              </a:rPr>
              <a:t>user only</a:t>
            </a:r>
            <a:endParaRPr lang="en-US" dirty="0">
              <a:solidFill>
                <a:srgbClr val="08213B"/>
              </a:solidFill>
              <a:latin typeface="Aptos" pitchFamily="34" charset="0"/>
              <a:ea typeface="Aptos" pitchFamily="34" charset="-122"/>
              <a:cs typeface="Aptos" pitchFamily="34" charset="-120"/>
            </a:endParaRPr>
          </a:p>
        </p:txBody>
      </p:sp>
      <p:sp>
        <p:nvSpPr>
          <p:cNvPr id="40" name="Text 38"/>
          <p:cNvSpPr/>
          <p:nvPr/>
        </p:nvSpPr>
        <p:spPr>
          <a:xfrm>
            <a:off x="384366" y="4745736"/>
            <a:ext cx="68580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1600" b="1" dirty="0">
                <a:solidFill>
                  <a:srgbClr val="08213B"/>
                </a:solidFill>
                <a:latin typeface="Aptos" pitchFamily="34" charset="0"/>
                <a:ea typeface="Aptos" pitchFamily="34" charset="-122"/>
                <a:cs typeface="Aptos" pitchFamily="34" charset="-120"/>
              </a:rPr>
              <a:t>7</a:t>
            </a:r>
            <a:endParaRPr lang="en-US" sz="1600" dirty="0"/>
          </a:p>
        </p:txBody>
      </p:sp>
      <p:sp>
        <p:nvSpPr>
          <p:cNvPr id="41" name="Text 39"/>
          <p:cNvSpPr/>
          <p:nvPr/>
        </p:nvSpPr>
        <p:spPr>
          <a:xfrm>
            <a:off x="1070166" y="4745736"/>
            <a:ext cx="86868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D71920"/>
                </a:solidFill>
                <a:latin typeface="Aptos" pitchFamily="34" charset="0"/>
                <a:ea typeface="Aptos" pitchFamily="34" charset="-122"/>
                <a:cs typeface="Aptos" pitchFamily="34" charset="-120"/>
              </a:rPr>
              <a:t>✗</a:t>
            </a:r>
            <a:endParaRPr lang="en-US" sz="2000" dirty="0"/>
          </a:p>
        </p:txBody>
      </p:sp>
      <p:sp>
        <p:nvSpPr>
          <p:cNvPr id="42" name="Text 40"/>
          <p:cNvSpPr/>
          <p:nvPr/>
        </p:nvSpPr>
        <p:spPr>
          <a:xfrm>
            <a:off x="1938846" y="4745736"/>
            <a:ext cx="86868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D71920"/>
                </a:solidFill>
                <a:latin typeface="Aptos" pitchFamily="34" charset="0"/>
                <a:ea typeface="Aptos" pitchFamily="34" charset="-122"/>
                <a:cs typeface="Aptos" pitchFamily="34" charset="-120"/>
              </a:rPr>
              <a:t>✗</a:t>
            </a:r>
            <a:endParaRPr lang="en-US" sz="2000" dirty="0"/>
          </a:p>
        </p:txBody>
      </p:sp>
      <p:sp>
        <p:nvSpPr>
          <p:cNvPr id="43" name="Text 41"/>
          <p:cNvSpPr/>
          <p:nvPr/>
        </p:nvSpPr>
        <p:spPr>
          <a:xfrm>
            <a:off x="2807526" y="4745736"/>
            <a:ext cx="868680"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0B7D3B"/>
                </a:solidFill>
                <a:latin typeface="Aptos" pitchFamily="34" charset="0"/>
                <a:ea typeface="Aptos" pitchFamily="34" charset="-122"/>
                <a:cs typeface="Aptos" pitchFamily="34" charset="-120"/>
              </a:rPr>
              <a:t>✓</a:t>
            </a:r>
            <a:endParaRPr lang="en-US" sz="2000" dirty="0"/>
          </a:p>
        </p:txBody>
      </p:sp>
      <p:sp>
        <p:nvSpPr>
          <p:cNvPr id="44" name="Text 42"/>
          <p:cNvSpPr/>
          <p:nvPr/>
        </p:nvSpPr>
        <p:spPr>
          <a:xfrm>
            <a:off x="3676206" y="4745736"/>
            <a:ext cx="3090672" cy="484632"/>
          </a:xfrm>
          <a:prstGeom prst="rect">
            <a:avLst/>
          </a:prstGeom>
          <a:solidFill>
            <a:srgbClr val="FFFFFF"/>
          </a:solidFill>
          <a:ln w="9525">
            <a:solidFill>
              <a:srgbClr val="C9D6E5"/>
            </a:solidFill>
          </a:ln>
        </p:spPr>
        <p:txBody>
          <a:bodyPr wrap="square" lIns="635" tIns="635" rIns="635" bIns="635" rtlCol="0" anchor="ctr">
            <a:normAutofit/>
          </a:bodyPr>
          <a:lstStyle/>
          <a:p>
            <a:pPr marL="0" indent="0" algn="l">
              <a:buNone/>
            </a:pPr>
            <a:r>
              <a:rPr lang="vi-VN" altLang="en-US" dirty="0">
                <a:solidFill>
                  <a:srgbClr val="08213B"/>
                </a:solidFill>
                <a:latin typeface="Aptos" pitchFamily="34" charset="0"/>
                <a:ea typeface="Aptos" pitchFamily="34" charset="-122"/>
                <a:cs typeface="Aptos" pitchFamily="34" charset="-120"/>
              </a:rPr>
              <a:t> </a:t>
            </a:r>
            <a:r>
              <a:rPr lang="en-US" dirty="0">
                <a:solidFill>
                  <a:srgbClr val="08213B"/>
                </a:solidFill>
                <a:latin typeface="Aptos" pitchFamily="34" charset="0"/>
                <a:ea typeface="Aptos" pitchFamily="34" charset="-122"/>
                <a:cs typeface="Aptos" pitchFamily="34" charset="-120"/>
              </a:rPr>
              <a:t>direct</a:t>
            </a:r>
            <a:r>
              <a:rPr lang="vi-VN" altLang="en-US" dirty="0">
                <a:solidFill>
                  <a:srgbClr val="08213B"/>
                </a:solidFill>
                <a:latin typeface="Aptos" pitchFamily="34" charset="0"/>
                <a:ea typeface="Aptos" pitchFamily="34" charset="-122"/>
                <a:cs typeface="Aptos" pitchFamily="34" charset="-120"/>
              </a:rPr>
              <a:t> review</a:t>
            </a:r>
            <a:r>
              <a:rPr lang="en-US" dirty="0">
                <a:solidFill>
                  <a:srgbClr val="08213B"/>
                </a:solidFill>
                <a:latin typeface="Aptos" pitchFamily="34" charset="0"/>
                <a:ea typeface="Aptos" pitchFamily="34" charset="-122"/>
                <a:cs typeface="Aptos" pitchFamily="34" charset="-120"/>
              </a:rPr>
              <a:t> only</a:t>
            </a:r>
            <a:endParaRPr lang="en-US" dirty="0">
              <a:solidFill>
                <a:srgbClr val="08213B"/>
              </a:solidFill>
              <a:latin typeface="Aptos" pitchFamily="34" charset="0"/>
              <a:ea typeface="Aptos" pitchFamily="34" charset="-122"/>
              <a:cs typeface="Aptos" pitchFamily="34" charset="-120"/>
            </a:endParaRPr>
          </a:p>
        </p:txBody>
      </p:sp>
      <p:sp>
        <p:nvSpPr>
          <p:cNvPr id="45" name="Text 43"/>
          <p:cNvSpPr/>
          <p:nvPr/>
        </p:nvSpPr>
        <p:spPr>
          <a:xfrm>
            <a:off x="384366" y="5230368"/>
            <a:ext cx="68580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1600" b="1" dirty="0">
                <a:solidFill>
                  <a:srgbClr val="08213B"/>
                </a:solidFill>
                <a:latin typeface="Aptos" pitchFamily="34" charset="0"/>
                <a:ea typeface="Aptos" pitchFamily="34" charset="-122"/>
                <a:cs typeface="Aptos" pitchFamily="34" charset="-120"/>
              </a:rPr>
              <a:t>8</a:t>
            </a:r>
            <a:endParaRPr lang="en-US" sz="1600" dirty="0"/>
          </a:p>
        </p:txBody>
      </p:sp>
      <p:sp>
        <p:nvSpPr>
          <p:cNvPr id="46" name="Text 44"/>
          <p:cNvSpPr/>
          <p:nvPr/>
        </p:nvSpPr>
        <p:spPr>
          <a:xfrm>
            <a:off x="1070166" y="5230368"/>
            <a:ext cx="86868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D71920"/>
                </a:solidFill>
                <a:latin typeface="Aptos" pitchFamily="34" charset="0"/>
                <a:ea typeface="Aptos" pitchFamily="34" charset="-122"/>
                <a:cs typeface="Aptos" pitchFamily="34" charset="-120"/>
              </a:rPr>
              <a:t>✗</a:t>
            </a:r>
            <a:endParaRPr lang="en-US" sz="2000" dirty="0"/>
          </a:p>
        </p:txBody>
      </p:sp>
      <p:sp>
        <p:nvSpPr>
          <p:cNvPr id="47" name="Text 45"/>
          <p:cNvSpPr/>
          <p:nvPr/>
        </p:nvSpPr>
        <p:spPr>
          <a:xfrm>
            <a:off x="1938846" y="5230368"/>
            <a:ext cx="86868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D71920"/>
                </a:solidFill>
                <a:latin typeface="Aptos" pitchFamily="34" charset="0"/>
                <a:ea typeface="Aptos" pitchFamily="34" charset="-122"/>
                <a:cs typeface="Aptos" pitchFamily="34" charset="-120"/>
              </a:rPr>
              <a:t>✗</a:t>
            </a:r>
            <a:endParaRPr lang="en-US" sz="2000" dirty="0"/>
          </a:p>
        </p:txBody>
      </p:sp>
      <p:sp>
        <p:nvSpPr>
          <p:cNvPr id="48" name="Text 46"/>
          <p:cNvSpPr/>
          <p:nvPr/>
        </p:nvSpPr>
        <p:spPr>
          <a:xfrm>
            <a:off x="2807526" y="5230368"/>
            <a:ext cx="868680"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ctr">
              <a:buNone/>
            </a:pPr>
            <a:r>
              <a:rPr lang="en-US" sz="2000" b="1" dirty="0">
                <a:solidFill>
                  <a:srgbClr val="D71920"/>
                </a:solidFill>
                <a:latin typeface="Aptos" pitchFamily="34" charset="0"/>
                <a:ea typeface="Aptos" pitchFamily="34" charset="-122"/>
                <a:cs typeface="Aptos" pitchFamily="34" charset="-120"/>
              </a:rPr>
              <a:t>✗</a:t>
            </a:r>
            <a:endParaRPr lang="en-US" sz="2000" dirty="0"/>
          </a:p>
        </p:txBody>
      </p:sp>
      <p:sp>
        <p:nvSpPr>
          <p:cNvPr id="49" name="Text 47"/>
          <p:cNvSpPr/>
          <p:nvPr/>
        </p:nvSpPr>
        <p:spPr>
          <a:xfrm>
            <a:off x="3676206" y="5230368"/>
            <a:ext cx="3090672" cy="484632"/>
          </a:xfrm>
          <a:prstGeom prst="rect">
            <a:avLst/>
          </a:prstGeom>
          <a:solidFill>
            <a:srgbClr val="F6F9FC"/>
          </a:solidFill>
          <a:ln w="9525">
            <a:solidFill>
              <a:srgbClr val="C9D6E5"/>
            </a:solidFill>
          </a:ln>
        </p:spPr>
        <p:txBody>
          <a:bodyPr wrap="square" lIns="635" tIns="635" rIns="635" bIns="635" rtlCol="0" anchor="ctr">
            <a:normAutofit/>
          </a:bodyPr>
          <a:lstStyle/>
          <a:p>
            <a:pPr marL="0" indent="0" algn="l">
              <a:buNone/>
            </a:pPr>
            <a:r>
              <a:rPr lang="vi-VN" altLang="en-US" dirty="0">
                <a:solidFill>
                  <a:srgbClr val="08213B"/>
                </a:solidFill>
                <a:latin typeface="Aptos" pitchFamily="34" charset="0"/>
                <a:ea typeface="Aptos" pitchFamily="34" charset="-122"/>
                <a:cs typeface="Aptos" pitchFamily="34" charset="-120"/>
              </a:rPr>
              <a:t> </a:t>
            </a:r>
            <a:r>
              <a:rPr lang="en-US" dirty="0">
                <a:solidFill>
                  <a:srgbClr val="08213B"/>
                </a:solidFill>
                <a:latin typeface="Aptos" pitchFamily="34" charset="0"/>
                <a:ea typeface="Aptos" pitchFamily="34" charset="-122"/>
                <a:cs typeface="Aptos" pitchFamily="34" charset="-120"/>
              </a:rPr>
              <a:t>default prior</a:t>
            </a:r>
            <a:endParaRPr lang="en-US" dirty="0">
              <a:solidFill>
                <a:srgbClr val="08213B"/>
              </a:solidFill>
              <a:latin typeface="Aptos" pitchFamily="34" charset="0"/>
              <a:ea typeface="Aptos" pitchFamily="34" charset="-122"/>
              <a:cs typeface="Aptos" pitchFamily="34" charset="-120"/>
            </a:endParaRPr>
          </a:p>
        </p:txBody>
      </p:sp>
      <p:sp>
        <p:nvSpPr>
          <p:cNvPr id="50" name="Shape 48"/>
          <p:cNvSpPr/>
          <p:nvPr/>
        </p:nvSpPr>
        <p:spPr>
          <a:xfrm>
            <a:off x="7361555" y="1353185"/>
            <a:ext cx="4615815" cy="1454150"/>
          </a:xfrm>
          <a:prstGeom prst="roundRect">
            <a:avLst>
              <a:gd name="adj" fmla="val 9302"/>
            </a:avLst>
          </a:prstGeom>
          <a:solidFill>
            <a:srgbClr val="EEF6FF"/>
          </a:solidFill>
          <a:ln w="13970">
            <a:solidFill>
              <a:srgbClr val="A8CBF5"/>
            </a:solidFill>
            <a:prstDash val="solid"/>
          </a:ln>
          <a:effectLst>
            <a:outerShdw blurRad="12700" dist="50800" dir="2700000" algn="bl" rotWithShape="0">
              <a:srgbClr val="000000">
                <a:alpha val="6000"/>
              </a:srgbClr>
            </a:outerShdw>
          </a:effectLst>
        </p:spPr>
      </p:sp>
      <p:sp>
        <p:nvSpPr>
          <p:cNvPr id="51" name="Text 49"/>
          <p:cNvSpPr/>
          <p:nvPr/>
        </p:nvSpPr>
        <p:spPr>
          <a:xfrm>
            <a:off x="7580694" y="1737360"/>
            <a:ext cx="594360" cy="365760"/>
          </a:xfrm>
          <a:prstGeom prst="rect">
            <a:avLst/>
          </a:prstGeom>
          <a:noFill/>
        </p:spPr>
        <p:txBody>
          <a:bodyPr wrap="square" lIns="0" tIns="0" rIns="0" bIns="0" rtlCol="0" anchor="ctr">
            <a:normAutofit/>
          </a:bodyPr>
          <a:lstStyle/>
          <a:p>
            <a:pPr marL="0" indent="0" algn="ctr">
              <a:buNone/>
            </a:pPr>
            <a:r>
              <a:rPr lang="en-US" sz="2400" b="1" dirty="0">
                <a:solidFill>
                  <a:srgbClr val="1769E0"/>
                </a:solidFill>
              </a:rPr>
              <a:t>↗</a:t>
            </a:r>
            <a:endParaRPr lang="en-US" sz="2400" dirty="0"/>
          </a:p>
        </p:txBody>
      </p:sp>
      <p:sp>
        <p:nvSpPr>
          <p:cNvPr id="52" name="Text 50"/>
          <p:cNvSpPr/>
          <p:nvPr/>
        </p:nvSpPr>
        <p:spPr>
          <a:xfrm>
            <a:off x="8321358" y="1471676"/>
            <a:ext cx="3264408" cy="256032"/>
          </a:xfrm>
          <a:prstGeom prst="rect">
            <a:avLst/>
          </a:prstGeom>
          <a:noFill/>
        </p:spPr>
        <p:txBody>
          <a:bodyPr wrap="square" lIns="0" tIns="0" rIns="0" bIns="0" rtlCol="0" anchor="ctr"/>
          <a:lstStyle/>
          <a:p>
            <a:pPr marL="0" indent="0">
              <a:buNone/>
            </a:pPr>
            <a:r>
              <a:rPr lang="en-US" sz="1550" b="1" dirty="0">
                <a:solidFill>
                  <a:srgbClr val="1769E0"/>
                </a:solidFill>
                <a:latin typeface="Aptos Display" pitchFamily="34" charset="0"/>
                <a:ea typeface="Aptos Display" pitchFamily="34" charset="-122"/>
                <a:cs typeface="Aptos Display" pitchFamily="34" charset="-120"/>
              </a:rPr>
              <a:t>RENORMALIZATION</a:t>
            </a:r>
            <a:endParaRPr lang="en-US" sz="1550" dirty="0"/>
          </a:p>
        </p:txBody>
      </p:sp>
      <p:sp>
        <p:nvSpPr>
          <p:cNvPr id="53" name="Text 51"/>
          <p:cNvSpPr/>
          <p:nvPr/>
        </p:nvSpPr>
        <p:spPr>
          <a:xfrm>
            <a:off x="8321358" y="1901444"/>
            <a:ext cx="3246120" cy="786384"/>
          </a:xfrm>
          <a:prstGeom prst="rect">
            <a:avLst/>
          </a:prstGeom>
          <a:noFill/>
        </p:spPr>
        <p:txBody>
          <a:bodyPr wrap="square" lIns="127" tIns="127" rIns="127" bIns="127" rtlCol="0" anchor="t">
            <a:normAutofit/>
          </a:bodyPr>
          <a:lstStyle/>
          <a:p>
            <a:pPr marL="0" indent="0">
              <a:buNone/>
            </a:pPr>
            <a:r>
              <a:rPr lang="en-US" sz="1600" dirty="0">
                <a:solidFill>
                  <a:srgbClr val="08213B"/>
                </a:solidFill>
                <a:latin typeface="Aptos" pitchFamily="34" charset="0"/>
                <a:ea typeface="Aptos" pitchFamily="34" charset="-122"/>
                <a:cs typeface="Aptos" pitchFamily="34" charset="-120"/>
              </a:rPr>
              <a:t>If a signal is missing, remove its weight and rescale remaining evidence.</a:t>
            </a:r>
            <a:endParaRPr lang="en-US" sz="1600" dirty="0"/>
          </a:p>
        </p:txBody>
      </p:sp>
      <p:sp>
        <p:nvSpPr>
          <p:cNvPr id="54" name="Shape 52"/>
          <p:cNvSpPr/>
          <p:nvPr/>
        </p:nvSpPr>
        <p:spPr>
          <a:xfrm>
            <a:off x="7361555" y="3129915"/>
            <a:ext cx="4615815" cy="1203960"/>
          </a:xfrm>
          <a:prstGeom prst="roundRect">
            <a:avLst>
              <a:gd name="adj" fmla="val 9302"/>
            </a:avLst>
          </a:prstGeom>
          <a:solidFill>
            <a:srgbClr val="FFF7E6"/>
          </a:solidFill>
          <a:ln w="13970">
            <a:solidFill>
              <a:srgbClr val="F5C979"/>
            </a:solidFill>
            <a:prstDash val="solid"/>
          </a:ln>
          <a:effectLst>
            <a:outerShdw blurRad="12700" dist="50800" dir="2700000" algn="bl" rotWithShape="0">
              <a:srgbClr val="000000">
                <a:alpha val="6000"/>
              </a:srgbClr>
            </a:outerShdw>
          </a:effectLst>
        </p:spPr>
      </p:sp>
      <p:sp>
        <p:nvSpPr>
          <p:cNvPr id="55" name="Text 53"/>
          <p:cNvSpPr/>
          <p:nvPr/>
        </p:nvSpPr>
        <p:spPr>
          <a:xfrm>
            <a:off x="7580694" y="3513836"/>
            <a:ext cx="594360" cy="365760"/>
          </a:xfrm>
          <a:prstGeom prst="rect">
            <a:avLst/>
          </a:prstGeom>
          <a:noFill/>
        </p:spPr>
        <p:txBody>
          <a:bodyPr wrap="square" lIns="0" tIns="0" rIns="0" bIns="0" rtlCol="0" anchor="ctr">
            <a:normAutofit fontScale="90000"/>
          </a:bodyPr>
          <a:lstStyle/>
          <a:p>
            <a:pPr marL="0" indent="0" algn="ctr">
              <a:buNone/>
            </a:pPr>
            <a:r>
              <a:rPr lang="en-US" sz="2400" b="1" dirty="0">
                <a:solidFill>
                  <a:srgbClr val="EA8C00"/>
                </a:solidFill>
              </a:rPr>
              <a:t>✓</a:t>
            </a:r>
            <a:endParaRPr lang="en-US" sz="2400" dirty="0"/>
          </a:p>
        </p:txBody>
      </p:sp>
      <p:sp>
        <p:nvSpPr>
          <p:cNvPr id="56" name="Text 54"/>
          <p:cNvSpPr/>
          <p:nvPr/>
        </p:nvSpPr>
        <p:spPr>
          <a:xfrm>
            <a:off x="8321358" y="3248152"/>
            <a:ext cx="3264408" cy="256032"/>
          </a:xfrm>
          <a:prstGeom prst="rect">
            <a:avLst/>
          </a:prstGeom>
          <a:noFill/>
        </p:spPr>
        <p:txBody>
          <a:bodyPr wrap="square" lIns="0" tIns="0" rIns="0" bIns="0" rtlCol="0" anchor="ctr"/>
          <a:lstStyle/>
          <a:p>
            <a:pPr marL="0" indent="0">
              <a:buNone/>
            </a:pPr>
            <a:r>
              <a:rPr lang="en-US" sz="1550" b="1" dirty="0">
                <a:solidFill>
                  <a:srgbClr val="EA8C00"/>
                </a:solidFill>
                <a:latin typeface="Aptos Display" pitchFamily="34" charset="0"/>
                <a:ea typeface="Aptos Display" pitchFamily="34" charset="-122"/>
                <a:cs typeface="Aptos Display" pitchFamily="34" charset="-120"/>
              </a:rPr>
              <a:t>NO INVENTION</a:t>
            </a:r>
            <a:endParaRPr lang="en-US" sz="1550" dirty="0"/>
          </a:p>
        </p:txBody>
      </p:sp>
      <p:sp>
        <p:nvSpPr>
          <p:cNvPr id="57" name="Text 55"/>
          <p:cNvSpPr/>
          <p:nvPr/>
        </p:nvSpPr>
        <p:spPr>
          <a:xfrm>
            <a:off x="8321358" y="3677920"/>
            <a:ext cx="3246120" cy="786384"/>
          </a:xfrm>
          <a:prstGeom prst="rect">
            <a:avLst/>
          </a:prstGeom>
          <a:noFill/>
        </p:spPr>
        <p:txBody>
          <a:bodyPr wrap="square" lIns="127" tIns="127" rIns="127" bIns="127" rtlCol="0" anchor="t">
            <a:normAutofit/>
          </a:bodyPr>
          <a:lstStyle/>
          <a:p>
            <a:pPr marL="0" indent="0">
              <a:buNone/>
            </a:pPr>
            <a:r>
              <a:rPr lang="en-US" sz="1600" dirty="0">
                <a:solidFill>
                  <a:srgbClr val="08213B"/>
                </a:solidFill>
                <a:latin typeface="Aptos" pitchFamily="34" charset="0"/>
                <a:ea typeface="Aptos" pitchFamily="34" charset="-122"/>
                <a:cs typeface="Aptos" pitchFamily="34" charset="-120"/>
              </a:rPr>
              <a:t>No fake user preferences, item facts, or direct-review details.</a:t>
            </a:r>
            <a:endParaRPr lang="en-US" sz="1600" dirty="0"/>
          </a:p>
        </p:txBody>
      </p:sp>
      <p:sp>
        <p:nvSpPr>
          <p:cNvPr id="58" name="Shape 56"/>
          <p:cNvSpPr/>
          <p:nvPr/>
        </p:nvSpPr>
        <p:spPr>
          <a:xfrm>
            <a:off x="7361555" y="4699635"/>
            <a:ext cx="4615815" cy="983615"/>
          </a:xfrm>
          <a:prstGeom prst="roundRect">
            <a:avLst>
              <a:gd name="adj" fmla="val 14286"/>
            </a:avLst>
          </a:prstGeom>
          <a:solidFill>
            <a:srgbClr val="08213B"/>
          </a:solidFill>
          <a:ln w="12700">
            <a:solidFill>
              <a:srgbClr val="08213B"/>
            </a:solidFill>
            <a:prstDash val="solid"/>
          </a:ln>
          <a:effectLst>
            <a:outerShdw blurRad="12700" dist="50800" dir="2700000" algn="bl" rotWithShape="0">
              <a:srgbClr val="000000">
                <a:alpha val="9000"/>
              </a:srgbClr>
            </a:outerShdw>
          </a:effectLst>
        </p:spPr>
      </p:sp>
      <p:sp>
        <p:nvSpPr>
          <p:cNvPr id="59" name="Text 57"/>
          <p:cNvSpPr/>
          <p:nvPr/>
        </p:nvSpPr>
        <p:spPr>
          <a:xfrm>
            <a:off x="7516686" y="5060696"/>
            <a:ext cx="457200" cy="320040"/>
          </a:xfrm>
          <a:prstGeom prst="rect">
            <a:avLst/>
          </a:prstGeom>
          <a:noFill/>
        </p:spPr>
        <p:txBody>
          <a:bodyPr wrap="square" lIns="0" tIns="0" rIns="0" bIns="0" rtlCol="0" anchor="ctr"/>
          <a:lstStyle/>
          <a:p>
            <a:pPr marL="0" indent="0" algn="ctr">
              <a:buNone/>
            </a:pPr>
            <a:r>
              <a:rPr lang="en-US" sz="2200" b="1" dirty="0">
                <a:solidFill>
                  <a:srgbClr val="FFFFFF"/>
                </a:solidFill>
              </a:rPr>
              <a:t>✓</a:t>
            </a:r>
            <a:endParaRPr lang="en-US" sz="2200" dirty="0"/>
          </a:p>
        </p:txBody>
      </p:sp>
      <p:sp>
        <p:nvSpPr>
          <p:cNvPr id="60" name="Text 58"/>
          <p:cNvSpPr/>
          <p:nvPr/>
        </p:nvSpPr>
        <p:spPr>
          <a:xfrm>
            <a:off x="8184515" y="4834890"/>
            <a:ext cx="3585210" cy="713105"/>
          </a:xfrm>
          <a:prstGeom prst="rect">
            <a:avLst/>
          </a:prstGeom>
          <a:noFill/>
        </p:spPr>
        <p:txBody>
          <a:bodyPr wrap="square" lIns="254" tIns="254" rIns="254" bIns="254"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This makes TASKS=1 safer because</a:t>
            </a:r>
            <a:endParaRPr lang="en-US" sz="1600" dirty="0"/>
          </a:p>
          <a:p>
            <a:pPr marL="0" indent="0">
              <a:buNone/>
            </a:pPr>
            <a:r>
              <a:rPr lang="en-US" sz="1600" b="1" dirty="0">
                <a:solidFill>
                  <a:srgbClr val="FFFFFF"/>
                </a:solidFill>
                <a:latin typeface="Aptos Display" pitchFamily="34" charset="0"/>
                <a:ea typeface="Aptos Display" pitchFamily="34" charset="-122"/>
                <a:cs typeface="Aptos Display" pitchFamily="34" charset="-120"/>
              </a:rPr>
              <a:t>any sampled evidence case can be</a:t>
            </a:r>
            <a:endParaRPr lang="en-US" sz="1600" dirty="0"/>
          </a:p>
          <a:p>
            <a:pPr marL="0" indent="0">
              <a:buNone/>
            </a:pPr>
            <a:r>
              <a:rPr lang="en-US" sz="1600" b="1" dirty="0">
                <a:solidFill>
                  <a:srgbClr val="FFFFFF"/>
                </a:solidFill>
                <a:latin typeface="Aptos Display" pitchFamily="34" charset="0"/>
                <a:ea typeface="Aptos Display" pitchFamily="34" charset="-122"/>
                <a:cs typeface="Aptos Display" pitchFamily="34" charset="-120"/>
              </a:rPr>
              <a:t>handled explicitly.</a:t>
            </a:r>
            <a:endParaRPr lang="en-US" sz="1600" b="1" dirty="0">
              <a:solidFill>
                <a:srgbClr val="FFFFFF"/>
              </a:solidFill>
              <a:latin typeface="Aptos Display" pitchFamily="34" charset="0"/>
              <a:ea typeface="Aptos Display" pitchFamily="34" charset="-122"/>
              <a:cs typeface="Aptos Display" pitchFamily="34" charset="-120"/>
            </a:endParaRPr>
          </a:p>
        </p:txBody>
      </p:sp>
      <p:sp>
        <p:nvSpPr>
          <p:cNvPr id="62" name="Text 21"/>
          <p:cNvSpPr/>
          <p:nvPr/>
        </p:nvSpPr>
        <p:spPr>
          <a:xfrm>
            <a:off x="11303635" y="6446520"/>
            <a:ext cx="411480" cy="274320"/>
          </a:xfrm>
          <a:prstGeom prst="rect">
            <a:avLst/>
          </a:prstGeom>
          <a:noFill/>
        </p:spPr>
        <p:txBody>
          <a:bodyPr wrap="square" lIns="0" tIns="0" rIns="0" bIns="0" rtlCol="0" anchor="ctr"/>
          <a:lstStyle/>
          <a:p>
            <a:pPr marL="0" indent="0" algn="r">
              <a:buNone/>
            </a:pPr>
            <a:r>
              <a:rPr lang="en-US" sz="1000" b="1" dirty="0">
                <a:solidFill>
                  <a:srgbClr val="64748B"/>
                </a:solidFill>
                <a:latin typeface="Aptos" pitchFamily="34" charset="0"/>
                <a:ea typeface="Aptos" pitchFamily="34" charset="-122"/>
                <a:cs typeface="Aptos" pitchFamily="34" charset="-120"/>
              </a:rPr>
              <a:t>08</a:t>
            </a:r>
            <a:endParaRPr lang="vi-VN" altLang="en-US"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54610"/>
            <a:ext cx="2820035" cy="384175"/>
          </a:xfrm>
          <a:prstGeom prst="rect">
            <a:avLst/>
          </a:prstGeom>
          <a:noFill/>
        </p:spPr>
        <p:txBody>
          <a:bodyPr wrap="square" lIns="0" tIns="0" rIns="0" bIns="0" rtlCol="0" anchor="ctr"/>
          <a:lstStyle/>
          <a:p>
            <a:pPr marL="0" indent="0">
              <a:buNone/>
            </a:pPr>
            <a:r>
              <a:rPr lang="en-US" sz="2000" b="1" dirty="0">
                <a:solidFill>
                  <a:srgbClr val="0B66E4"/>
                </a:solidFill>
              </a:rPr>
              <a:t>GENERAL FORMULA</a:t>
            </a:r>
            <a:endParaRPr lang="en-US" sz="2000" b="1" dirty="0">
              <a:solidFill>
                <a:srgbClr val="0B66E4"/>
              </a:solidFill>
            </a:endParaRPr>
          </a:p>
        </p:txBody>
      </p:sp>
      <p:sp>
        <p:nvSpPr>
          <p:cNvPr id="3" name="Text 1"/>
          <p:cNvSpPr/>
          <p:nvPr/>
        </p:nvSpPr>
        <p:spPr>
          <a:xfrm>
            <a:off x="3063240" y="446278"/>
            <a:ext cx="8869680" cy="384048"/>
          </a:xfrm>
          <a:prstGeom prst="rect">
            <a:avLst/>
          </a:prstGeom>
          <a:noFill/>
        </p:spPr>
        <p:txBody>
          <a:bodyPr wrap="square" lIns="0" tIns="0" rIns="0" bIns="0" rtlCol="0" anchor="ctr"/>
          <a:lstStyle/>
          <a:p>
            <a:pPr marL="0" indent="0">
              <a:buNone/>
            </a:pPr>
            <a:r>
              <a:rPr lang="en-US" sz="2700" b="1" dirty="0">
                <a:solidFill>
                  <a:srgbClr val="06213D"/>
                </a:solidFill>
                <a:latin typeface="Aptos Display" pitchFamily="34" charset="0"/>
                <a:ea typeface="Aptos Display" pitchFamily="34" charset="-122"/>
                <a:cs typeface="Aptos Display" pitchFamily="34" charset="-120"/>
              </a:rPr>
              <a:t>How rating becomes predicted_stars</a:t>
            </a:r>
            <a:endParaRPr lang="en-US" sz="2700" dirty="0"/>
          </a:p>
        </p:txBody>
      </p:sp>
      <p:sp>
        <p:nvSpPr>
          <p:cNvPr id="5" name="Text 3"/>
          <p:cNvSpPr/>
          <p:nvPr/>
        </p:nvSpPr>
        <p:spPr>
          <a:xfrm>
            <a:off x="548640" y="933831"/>
            <a:ext cx="2240280" cy="256032"/>
          </a:xfrm>
          <a:prstGeom prst="roundRect">
            <a:avLst>
              <a:gd name="adj" fmla="val 28571"/>
            </a:avLst>
          </a:prstGeom>
          <a:solidFill>
            <a:srgbClr val="0B66E4"/>
          </a:solidFill>
          <a:ln>
            <a:solidFill>
              <a:srgbClr val="0B66E4">
                <a:alpha val="0"/>
              </a:srgbClr>
            </a:solidFill>
          </a:ln>
        </p:spPr>
        <p:txBody>
          <a:bodyPr wrap="square" lIns="381" tIns="381" rIns="381" bIns="381" rtlCol="0" anchor="ctr"/>
          <a:lstStyle/>
          <a:p>
            <a:pPr marL="0" indent="0" algn="ctr">
              <a:buNone/>
            </a:pPr>
            <a:r>
              <a:rPr lang="en-US" sz="940" b="1" dirty="0">
                <a:solidFill>
                  <a:srgbClr val="FFFFFF"/>
                </a:solidFill>
              </a:rPr>
              <a:t>1.  SIGNALS</a:t>
            </a:r>
            <a:endParaRPr lang="en-US" sz="940" dirty="0"/>
          </a:p>
        </p:txBody>
      </p:sp>
      <p:sp>
        <p:nvSpPr>
          <p:cNvPr id="6" name="Text 4"/>
          <p:cNvSpPr/>
          <p:nvPr/>
        </p:nvSpPr>
        <p:spPr>
          <a:xfrm>
            <a:off x="502920" y="1263015"/>
            <a:ext cx="3703320" cy="2084832"/>
          </a:xfrm>
          <a:prstGeom prst="roundRect">
            <a:avLst>
              <a:gd name="adj" fmla="val 5263"/>
            </a:avLst>
          </a:prstGeom>
          <a:solidFill>
            <a:srgbClr val="EAF4FF"/>
          </a:solidFill>
          <a:ln w="14605">
            <a:solidFill>
              <a:srgbClr val="B8D8FF"/>
            </a:solidFill>
          </a:ln>
        </p:spPr>
        <p:txBody>
          <a:bodyPr wrap="square" rtlCol="0" anchor="ctr">
            <a:noAutofit/>
          </a:bodyPr>
          <a:lstStyle/>
          <a:p>
            <a:pPr marL="0" indent="0">
              <a:buNone/>
            </a:pPr>
            <a:r>
              <a:rPr lang="en-US" sz="1200" dirty="0">
                <a:solidFill>
                  <a:srgbClr val="06213D"/>
                </a:solidFill>
                <a:latin typeface="Aptos" pitchFamily="34" charset="0"/>
                <a:ea typeface="Aptos" pitchFamily="34" charset="-122"/>
                <a:cs typeface="Aptos" pitchFamily="34" charset="-120"/>
              </a:rPr>
              <a:t>user_signal = (1 − user_history_blend_weight) × user.average_stars</a:t>
            </a:r>
            <a:endParaRPr lang="en-US" sz="1200" dirty="0"/>
          </a:p>
          <a:p>
            <a:pPr marL="0" indent="0">
              <a:buNone/>
            </a:pPr>
            <a:r>
              <a:rPr lang="en-US" sz="1200" dirty="0">
                <a:solidFill>
                  <a:srgbClr val="06213D"/>
                </a:solidFill>
                <a:latin typeface="Aptos" pitchFamily="34" charset="0"/>
                <a:ea typeface="Aptos" pitchFamily="34" charset="-122"/>
                <a:cs typeface="Aptos" pitchFamily="34" charset="-120"/>
              </a:rPr>
              <a:t>+ user_history_blend_weight × user_history_average_stars</a:t>
            </a:r>
            <a:endParaRPr lang="en-US" sz="1200" dirty="0"/>
          </a:p>
          <a:p>
            <a:pPr marL="0" indent="0">
              <a:buNone/>
            </a:pPr>
            <a:endParaRPr lang="en-US" sz="1200" dirty="0"/>
          </a:p>
          <a:p>
            <a:pPr marL="0" indent="0">
              <a:buNone/>
            </a:pPr>
            <a:r>
              <a:rPr lang="en-US" sz="1200" dirty="0">
                <a:solidFill>
                  <a:srgbClr val="06213D"/>
                </a:solidFill>
                <a:latin typeface="Aptos" pitchFamily="34" charset="0"/>
                <a:ea typeface="Aptos" pitchFamily="34" charset="-122"/>
                <a:cs typeface="Aptos" pitchFamily="34" charset="-120"/>
              </a:rPr>
              <a:t>item_signal = (1 − item_history_blend_weight) × item.stars</a:t>
            </a:r>
            <a:endParaRPr lang="en-US" sz="1200" dirty="0"/>
          </a:p>
          <a:p>
            <a:pPr marL="0" indent="0">
              <a:buNone/>
            </a:pPr>
            <a:r>
              <a:rPr lang="en-US" sz="1200" dirty="0">
                <a:solidFill>
                  <a:srgbClr val="06213D"/>
                </a:solidFill>
                <a:latin typeface="Aptos" pitchFamily="34" charset="0"/>
                <a:ea typeface="Aptos" pitchFamily="34" charset="-122"/>
                <a:cs typeface="Aptos" pitchFamily="34" charset="-120"/>
              </a:rPr>
              <a:t>+ item_history_blend_weight × item_history_average_stars</a:t>
            </a:r>
            <a:endParaRPr lang="en-US" sz="1200" dirty="0"/>
          </a:p>
          <a:p>
            <a:pPr marL="0" indent="0">
              <a:buNone/>
            </a:pPr>
            <a:endParaRPr lang="en-US" sz="1200" dirty="0"/>
          </a:p>
          <a:p>
            <a:pPr marL="0" indent="0">
              <a:buNone/>
            </a:pPr>
            <a:r>
              <a:rPr lang="en-US" sz="1200" dirty="0">
                <a:solidFill>
                  <a:srgbClr val="06213D"/>
                </a:solidFill>
                <a:latin typeface="Aptos" pitchFamily="34" charset="0"/>
                <a:ea typeface="Aptos" pitchFamily="34" charset="-122"/>
                <a:cs typeface="Aptos" pitchFamily="34" charset="-120"/>
              </a:rPr>
              <a:t>direct_signal = direct_review_stars</a:t>
            </a:r>
            <a:endParaRPr lang="en-US" sz="1200" dirty="0">
              <a:solidFill>
                <a:srgbClr val="06213D"/>
              </a:solidFill>
              <a:latin typeface="Aptos" pitchFamily="34" charset="0"/>
              <a:ea typeface="Aptos" pitchFamily="34" charset="-122"/>
              <a:cs typeface="Aptos" pitchFamily="34" charset="-120"/>
            </a:endParaRPr>
          </a:p>
        </p:txBody>
      </p:sp>
      <p:sp>
        <p:nvSpPr>
          <p:cNvPr id="7" name="Text 5"/>
          <p:cNvSpPr/>
          <p:nvPr/>
        </p:nvSpPr>
        <p:spPr>
          <a:xfrm>
            <a:off x="4434840" y="933831"/>
            <a:ext cx="2606040" cy="256032"/>
          </a:xfrm>
          <a:prstGeom prst="roundRect">
            <a:avLst>
              <a:gd name="adj" fmla="val 28571"/>
            </a:avLst>
          </a:prstGeom>
          <a:solidFill>
            <a:srgbClr val="FF8A00"/>
          </a:solidFill>
          <a:ln>
            <a:solidFill>
              <a:srgbClr val="FF8A00">
                <a:alpha val="0"/>
              </a:srgbClr>
            </a:solidFill>
          </a:ln>
        </p:spPr>
        <p:txBody>
          <a:bodyPr wrap="square" lIns="381" tIns="381" rIns="381" bIns="381" rtlCol="0" anchor="ctr"/>
          <a:lstStyle/>
          <a:p>
            <a:pPr marL="0" indent="0" algn="ctr">
              <a:buNone/>
            </a:pPr>
            <a:r>
              <a:rPr lang="en-US" sz="940" b="1" dirty="0">
                <a:solidFill>
                  <a:srgbClr val="FFFFFF"/>
                </a:solidFill>
              </a:rPr>
              <a:t>2 . CONFIDENCE WEIGHTS</a:t>
            </a:r>
            <a:endParaRPr lang="en-US" sz="940" dirty="0"/>
          </a:p>
        </p:txBody>
      </p:sp>
      <p:sp>
        <p:nvSpPr>
          <p:cNvPr id="8" name="Text 6"/>
          <p:cNvSpPr/>
          <p:nvPr/>
        </p:nvSpPr>
        <p:spPr>
          <a:xfrm>
            <a:off x="4370832" y="1263015"/>
            <a:ext cx="3703320" cy="2084832"/>
          </a:xfrm>
          <a:prstGeom prst="roundRect">
            <a:avLst>
              <a:gd name="adj" fmla="val 5263"/>
            </a:avLst>
          </a:prstGeom>
          <a:solidFill>
            <a:srgbClr val="FFF5E6"/>
          </a:solidFill>
          <a:ln w="14605">
            <a:solidFill>
              <a:srgbClr val="FFD69B"/>
            </a:solidFill>
          </a:ln>
        </p:spPr>
        <p:txBody>
          <a:bodyPr wrap="square" rtlCol="0" anchor="ctr">
            <a:normAutofit/>
          </a:bodyPr>
          <a:lstStyle/>
          <a:p>
            <a:pPr marL="0" indent="0">
              <a:buNone/>
            </a:pPr>
            <a:r>
              <a:rPr lang="en-US" sz="1200" dirty="0">
                <a:solidFill>
                  <a:srgbClr val="06213D"/>
                </a:solidFill>
                <a:latin typeface="Aptos" pitchFamily="34" charset="0"/>
                <a:ea typeface="Aptos" pitchFamily="34" charset="-122"/>
                <a:cs typeface="Aptos" pitchFamily="34" charset="-120"/>
              </a:rPr>
              <a:t>user_weight = base_user_weight × [1 + user_confidence_bonus × min(user.review_count / user_confidence_divisor, 1)]</a:t>
            </a:r>
            <a:endParaRPr lang="en-US" sz="1200" dirty="0"/>
          </a:p>
          <a:p>
            <a:pPr marL="0" indent="0">
              <a:buNone/>
            </a:pPr>
            <a:endParaRPr lang="en-US" sz="1200" dirty="0"/>
          </a:p>
          <a:p>
            <a:pPr marL="0" indent="0">
              <a:buNone/>
            </a:pPr>
            <a:r>
              <a:rPr lang="en-US" sz="1200" dirty="0">
                <a:solidFill>
                  <a:srgbClr val="06213D"/>
                </a:solidFill>
                <a:latin typeface="Aptos" pitchFamily="34" charset="0"/>
                <a:ea typeface="Aptos" pitchFamily="34" charset="-122"/>
                <a:cs typeface="Aptos" pitchFamily="34" charset="-120"/>
              </a:rPr>
              <a:t>item_weight = base_item_weight × [1 + item_confidence_bonus × min(item.review_count / item_confidence_divisor, 1)]</a:t>
            </a:r>
            <a:endParaRPr lang="en-US" sz="1200" dirty="0"/>
          </a:p>
          <a:p>
            <a:pPr marL="0" indent="0">
              <a:buNone/>
            </a:pPr>
            <a:endParaRPr lang="en-US" sz="1200" dirty="0"/>
          </a:p>
          <a:p>
            <a:pPr marL="0" indent="0">
              <a:buNone/>
            </a:pPr>
            <a:r>
              <a:rPr lang="en-US" sz="1200" dirty="0">
                <a:solidFill>
                  <a:srgbClr val="06213D"/>
                </a:solidFill>
                <a:latin typeface="Aptos" pitchFamily="34" charset="0"/>
                <a:ea typeface="Aptos" pitchFamily="34" charset="-122"/>
                <a:cs typeface="Aptos" pitchFamily="34" charset="-120"/>
              </a:rPr>
              <a:t>direct_weight = direct_review_weight</a:t>
            </a:r>
            <a:endParaRPr lang="en-US" sz="1200" dirty="0">
              <a:solidFill>
                <a:srgbClr val="06213D"/>
              </a:solidFill>
              <a:latin typeface="Aptos" pitchFamily="34" charset="0"/>
              <a:ea typeface="Aptos" pitchFamily="34" charset="-122"/>
              <a:cs typeface="Aptos" pitchFamily="34" charset="-120"/>
            </a:endParaRPr>
          </a:p>
        </p:txBody>
      </p:sp>
      <p:sp>
        <p:nvSpPr>
          <p:cNvPr id="9" name="Text 7"/>
          <p:cNvSpPr/>
          <p:nvPr/>
        </p:nvSpPr>
        <p:spPr>
          <a:xfrm>
            <a:off x="8302752" y="933831"/>
            <a:ext cx="1389888" cy="256032"/>
          </a:xfrm>
          <a:prstGeom prst="roundRect">
            <a:avLst>
              <a:gd name="adj" fmla="val 28571"/>
            </a:avLst>
          </a:prstGeom>
          <a:solidFill>
            <a:srgbClr val="008A5B"/>
          </a:solidFill>
          <a:ln>
            <a:solidFill>
              <a:srgbClr val="008A5B">
                <a:alpha val="0"/>
              </a:srgbClr>
            </a:solidFill>
          </a:ln>
        </p:spPr>
        <p:txBody>
          <a:bodyPr wrap="square" lIns="381" tIns="381" rIns="381" bIns="381" rtlCol="0" anchor="ctr"/>
          <a:lstStyle/>
          <a:p>
            <a:pPr marL="0" indent="0" algn="ctr">
              <a:buNone/>
            </a:pPr>
            <a:r>
              <a:rPr lang="en-US" sz="940" b="1" dirty="0">
                <a:solidFill>
                  <a:srgbClr val="FFFFFF"/>
                </a:solidFill>
              </a:rPr>
              <a:t>3.  SCORE</a:t>
            </a:r>
            <a:endParaRPr lang="en-US" sz="940" dirty="0"/>
          </a:p>
        </p:txBody>
      </p:sp>
      <p:sp>
        <p:nvSpPr>
          <p:cNvPr id="10" name="Text 8"/>
          <p:cNvSpPr/>
          <p:nvPr/>
        </p:nvSpPr>
        <p:spPr>
          <a:xfrm>
            <a:off x="8247888" y="1263015"/>
            <a:ext cx="3438144" cy="2084832"/>
          </a:xfrm>
          <a:prstGeom prst="roundRect">
            <a:avLst>
              <a:gd name="adj" fmla="val 5263"/>
            </a:avLst>
          </a:prstGeom>
          <a:solidFill>
            <a:srgbClr val="E9F9F1"/>
          </a:solidFill>
          <a:ln w="14605">
            <a:solidFill>
              <a:srgbClr val="BEECD5"/>
            </a:solidFill>
          </a:ln>
        </p:spPr>
        <p:txBody>
          <a:bodyPr wrap="square" rtlCol="0" anchor="ctr">
            <a:normAutofit/>
          </a:bodyPr>
          <a:lstStyle/>
          <a:p>
            <a:pPr marL="0" indent="0">
              <a:buNone/>
            </a:pPr>
            <a:r>
              <a:rPr lang="en-US" sz="1200" dirty="0">
                <a:solidFill>
                  <a:srgbClr val="06213D"/>
                </a:solidFill>
                <a:latin typeface="Aptos" pitchFamily="34" charset="0"/>
                <a:ea typeface="Aptos" pitchFamily="34" charset="-122"/>
                <a:cs typeface="Aptos" pitchFamily="34" charset="-120"/>
              </a:rPr>
              <a:t>score = Σ(signal × weight) / Σ(available weights)</a:t>
            </a:r>
            <a:endParaRPr lang="en-US" sz="1200" dirty="0"/>
          </a:p>
          <a:p>
            <a:pPr marL="0" indent="0">
              <a:buNone/>
            </a:pPr>
            <a:endParaRPr lang="en-US" sz="1200" dirty="0"/>
          </a:p>
          <a:p>
            <a:pPr marL="0" indent="0">
              <a:buNone/>
            </a:pPr>
            <a:r>
              <a:rPr lang="en-US" sz="1200" dirty="0">
                <a:solidFill>
                  <a:srgbClr val="06213D"/>
                </a:solidFill>
                <a:latin typeface="Aptos" pitchFamily="34" charset="0"/>
                <a:ea typeface="Aptos" pitchFamily="34" charset="-122"/>
                <a:cs typeface="Aptos" pitchFamily="34" charset="-120"/>
              </a:rPr>
              <a:t>Missing evidence rule:</a:t>
            </a:r>
            <a:endParaRPr lang="en-US" sz="1200" dirty="0"/>
          </a:p>
          <a:p>
            <a:pPr marL="0" indent="0">
              <a:buNone/>
            </a:pPr>
            <a:r>
              <a:rPr lang="en-US" sz="1200" dirty="0">
                <a:solidFill>
                  <a:srgbClr val="06213D"/>
                </a:solidFill>
                <a:latin typeface="Aptos" pitchFamily="34" charset="0"/>
                <a:ea typeface="Aptos" pitchFamily="34" charset="-122"/>
                <a:cs typeface="Aptos" pitchFamily="34" charset="-120"/>
              </a:rPr>
              <a:t>if a signal is missing, remove its weight and renormalize remaining signals.</a:t>
            </a:r>
            <a:endParaRPr lang="en-US" sz="1200" dirty="0"/>
          </a:p>
          <a:p>
            <a:pPr marL="0" indent="0">
              <a:buNone/>
            </a:pPr>
            <a:endParaRPr lang="en-US" sz="1200" dirty="0"/>
          </a:p>
          <a:p>
            <a:pPr marL="0" indent="0">
              <a:buNone/>
            </a:pPr>
            <a:r>
              <a:rPr lang="en-US" sz="1200" dirty="0">
                <a:solidFill>
                  <a:srgbClr val="06213D"/>
                </a:solidFill>
                <a:latin typeface="Aptos" pitchFamily="34" charset="0"/>
                <a:ea typeface="Aptos" pitchFamily="34" charset="-122"/>
                <a:cs typeface="Aptos" pitchFamily="34" charset="-120"/>
              </a:rPr>
              <a:t>predicted_stars = round_half_up(score, decimal_places)</a:t>
            </a:r>
            <a:endParaRPr lang="en-US" sz="1200" dirty="0">
              <a:solidFill>
                <a:srgbClr val="06213D"/>
              </a:solidFill>
              <a:latin typeface="Aptos" pitchFamily="34" charset="0"/>
              <a:ea typeface="Aptos" pitchFamily="34" charset="-122"/>
              <a:cs typeface="Aptos" pitchFamily="34" charset="-120"/>
            </a:endParaRPr>
          </a:p>
        </p:txBody>
      </p:sp>
      <p:sp>
        <p:nvSpPr>
          <p:cNvPr id="11" name="Text 9"/>
          <p:cNvSpPr/>
          <p:nvPr/>
        </p:nvSpPr>
        <p:spPr>
          <a:xfrm>
            <a:off x="548640" y="3536696"/>
            <a:ext cx="2011680" cy="201168"/>
          </a:xfrm>
          <a:prstGeom prst="rect">
            <a:avLst/>
          </a:prstGeom>
          <a:noFill/>
        </p:spPr>
        <p:txBody>
          <a:bodyPr wrap="square" lIns="0" tIns="0" rIns="0" bIns="0" rtlCol="0" anchor="ctr"/>
          <a:lstStyle/>
          <a:p>
            <a:pPr marL="0" indent="0">
              <a:buNone/>
            </a:pPr>
            <a:r>
              <a:rPr lang="en-US" sz="950" b="1" dirty="0">
                <a:solidFill>
                  <a:srgbClr val="50657E"/>
                </a:solidFill>
              </a:rPr>
              <a:t>SAFETY GUARDS</a:t>
            </a:r>
            <a:endParaRPr lang="en-US" sz="950" dirty="0"/>
          </a:p>
        </p:txBody>
      </p:sp>
      <p:sp>
        <p:nvSpPr>
          <p:cNvPr id="12" name="Text 10"/>
          <p:cNvSpPr/>
          <p:nvPr/>
        </p:nvSpPr>
        <p:spPr>
          <a:xfrm>
            <a:off x="502920" y="4225290"/>
            <a:ext cx="4800600" cy="2181225"/>
          </a:xfrm>
          <a:prstGeom prst="roundRect">
            <a:avLst>
              <a:gd name="adj" fmla="val 9600"/>
            </a:avLst>
          </a:prstGeom>
          <a:solidFill>
            <a:srgbClr val="F6F8FB"/>
          </a:solidFill>
          <a:ln w="14605">
            <a:solidFill>
              <a:srgbClr val="CAD7E5"/>
            </a:solidFill>
          </a:ln>
        </p:spPr>
        <p:txBody>
          <a:bodyPr wrap="square" rtlCol="0" anchor="ctr"/>
          <a:lstStyle/>
          <a:p>
            <a:pPr marL="0" indent="0">
              <a:lnSpc>
                <a:spcPct val="170000"/>
              </a:lnSpc>
              <a:buNone/>
            </a:pPr>
            <a:r>
              <a:rPr lang="en-US" sz="1400" dirty="0">
                <a:solidFill>
                  <a:srgbClr val="06213D"/>
                </a:solidFill>
                <a:latin typeface="Aptos" pitchFamily="34" charset="0"/>
                <a:ea typeface="Aptos" pitchFamily="34" charset="-122"/>
                <a:cs typeface="Aptos" pitchFamily="34" charset="-120"/>
              </a:rPr>
              <a:t>If user.review_count ≥ user_anchor_min_review_count:</a:t>
            </a:r>
            <a:endParaRPr lang="en-US" sz="1400" dirty="0"/>
          </a:p>
          <a:p>
            <a:pPr marL="0" indent="0">
              <a:lnSpc>
                <a:spcPct val="170000"/>
              </a:lnSpc>
              <a:buNone/>
            </a:pPr>
            <a:r>
              <a:rPr lang="en-US" sz="1400" dirty="0">
                <a:solidFill>
                  <a:srgbClr val="06213D"/>
                </a:solidFill>
                <a:latin typeface="Aptos" pitchFamily="34" charset="0"/>
                <a:ea typeface="Aptos" pitchFamily="34" charset="-122"/>
                <a:cs typeface="Aptos" pitchFamily="34" charset="-120"/>
              </a:rPr>
              <a:t>score stays within user.average_stars ± user_anchor_max_delta</a:t>
            </a:r>
            <a:endParaRPr lang="en-US" sz="1400" dirty="0"/>
          </a:p>
          <a:p>
            <a:pPr marL="0" indent="0">
              <a:lnSpc>
                <a:spcPct val="170000"/>
              </a:lnSpc>
              <a:buNone/>
            </a:pPr>
            <a:r>
              <a:rPr lang="en-US" sz="1400" dirty="0">
                <a:solidFill>
                  <a:srgbClr val="06213D"/>
                </a:solidFill>
                <a:latin typeface="Aptos" pitchFamily="34" charset="0"/>
                <a:ea typeface="Aptos" pitchFamily="34" charset="-122"/>
                <a:cs typeface="Aptos" pitchFamily="34" charset="-120"/>
              </a:rPr>
              <a:t>If item.review_count ≥ item_anchor_min_review_count:</a:t>
            </a:r>
            <a:endParaRPr lang="en-US" sz="1400" dirty="0"/>
          </a:p>
          <a:p>
            <a:pPr marL="0" indent="0">
              <a:lnSpc>
                <a:spcPct val="170000"/>
              </a:lnSpc>
              <a:buNone/>
            </a:pPr>
            <a:r>
              <a:rPr lang="en-US" sz="1400" dirty="0">
                <a:solidFill>
                  <a:srgbClr val="06213D"/>
                </a:solidFill>
                <a:latin typeface="Aptos" pitchFamily="34" charset="0"/>
                <a:ea typeface="Aptos" pitchFamily="34" charset="-122"/>
                <a:cs typeface="Aptos" pitchFamily="34" charset="-120"/>
              </a:rPr>
              <a:t>score stays within item.stars ± item_anchor_max_delta</a:t>
            </a:r>
            <a:endParaRPr lang="en-US" sz="1400" dirty="0">
              <a:solidFill>
                <a:srgbClr val="06213D"/>
              </a:solidFill>
              <a:latin typeface="Aptos" pitchFamily="34" charset="0"/>
              <a:ea typeface="Aptos" pitchFamily="34" charset="-122"/>
              <a:cs typeface="Aptos" pitchFamily="34" charset="-120"/>
            </a:endParaRPr>
          </a:p>
        </p:txBody>
      </p:sp>
      <p:sp>
        <p:nvSpPr>
          <p:cNvPr id="13" name="Text 11"/>
          <p:cNvSpPr/>
          <p:nvPr/>
        </p:nvSpPr>
        <p:spPr>
          <a:xfrm>
            <a:off x="5389245" y="4225290"/>
            <a:ext cx="3983355" cy="2197100"/>
          </a:xfrm>
          <a:prstGeom prst="roundRect">
            <a:avLst>
              <a:gd name="adj" fmla="val 9600"/>
            </a:avLst>
          </a:prstGeom>
          <a:solidFill>
            <a:srgbClr val="FFF1EF"/>
          </a:solidFill>
          <a:ln w="14605">
            <a:solidFill>
              <a:srgbClr val="F6C6C0"/>
            </a:solidFill>
          </a:ln>
        </p:spPr>
        <p:txBody>
          <a:bodyPr wrap="square" rtlCol="0" anchor="ctr"/>
          <a:lstStyle/>
          <a:p>
            <a:pPr marL="0" indent="0">
              <a:lnSpc>
                <a:spcPct val="170000"/>
              </a:lnSpc>
              <a:buNone/>
            </a:pPr>
            <a:r>
              <a:rPr lang="en-US" sz="1400" dirty="0">
                <a:solidFill>
                  <a:srgbClr val="06213D"/>
                </a:solidFill>
                <a:latin typeface="Aptos" pitchFamily="34" charset="0"/>
                <a:ea typeface="Aptos" pitchFamily="34" charset="-122"/>
                <a:cs typeface="Aptos" pitchFamily="34" charset="-120"/>
              </a:rPr>
              <a:t>If no direct review and require_direct_review_for_5 is true:</a:t>
            </a:r>
            <a:endParaRPr lang="en-US" sz="1400" dirty="0"/>
          </a:p>
          <a:p>
            <a:pPr marL="0" indent="0">
              <a:lnSpc>
                <a:spcPct val="170000"/>
              </a:lnSpc>
              <a:buNone/>
            </a:pPr>
            <a:r>
              <a:rPr lang="en-US" sz="1400" dirty="0">
                <a:solidFill>
                  <a:srgbClr val="06213D"/>
                </a:solidFill>
                <a:latin typeface="Aptos" pitchFamily="34" charset="0"/>
                <a:ea typeface="Aptos" pitchFamily="34" charset="-122"/>
                <a:cs typeface="Aptos" pitchFamily="34" charset="-120"/>
              </a:rPr>
              <a:t>score ≤ no_direct_review_max_stars</a:t>
            </a:r>
            <a:endParaRPr lang="en-US" sz="1400" dirty="0"/>
          </a:p>
          <a:p>
            <a:pPr marL="0" indent="0">
              <a:lnSpc>
                <a:spcPct val="170000"/>
              </a:lnSpc>
              <a:buNone/>
            </a:pPr>
            <a:r>
              <a:rPr lang="en-US" sz="1400" dirty="0">
                <a:solidFill>
                  <a:srgbClr val="06213D"/>
                </a:solidFill>
                <a:latin typeface="Aptos" pitchFamily="34" charset="0"/>
                <a:ea typeface="Aptos" pitchFamily="34" charset="-122"/>
                <a:cs typeface="Aptos" pitchFamily="34" charset="-120"/>
              </a:rPr>
              <a:t>If direct_review_stars &lt; max_stars:</a:t>
            </a:r>
            <a:endParaRPr lang="en-US" sz="1400" dirty="0"/>
          </a:p>
          <a:p>
            <a:pPr marL="0" indent="0">
              <a:lnSpc>
                <a:spcPct val="170000"/>
              </a:lnSpc>
              <a:buNone/>
            </a:pPr>
            <a:r>
              <a:rPr lang="en-US" sz="1400" dirty="0">
                <a:solidFill>
                  <a:srgbClr val="06213D"/>
                </a:solidFill>
                <a:latin typeface="Aptos" pitchFamily="34" charset="0"/>
                <a:ea typeface="Aptos" pitchFamily="34" charset="-122"/>
                <a:cs typeface="Aptos" pitchFamily="34" charset="-120"/>
              </a:rPr>
              <a:t>score ≤ direct_review_stars + direct_review_max_adjustment</a:t>
            </a:r>
            <a:endParaRPr lang="en-US" sz="1400" dirty="0">
              <a:solidFill>
                <a:srgbClr val="06213D"/>
              </a:solidFill>
              <a:latin typeface="Aptos" pitchFamily="34" charset="0"/>
              <a:ea typeface="Aptos" pitchFamily="34" charset="-122"/>
              <a:cs typeface="Aptos" pitchFamily="34" charset="-120"/>
            </a:endParaRPr>
          </a:p>
        </p:txBody>
      </p:sp>
      <p:sp>
        <p:nvSpPr>
          <p:cNvPr id="14" name="Text 12"/>
          <p:cNvSpPr/>
          <p:nvPr/>
        </p:nvSpPr>
        <p:spPr>
          <a:xfrm>
            <a:off x="9445625" y="4225290"/>
            <a:ext cx="2240280" cy="2181225"/>
          </a:xfrm>
          <a:prstGeom prst="roundRect">
            <a:avLst>
              <a:gd name="adj" fmla="val 9600"/>
            </a:avLst>
          </a:prstGeom>
          <a:solidFill>
            <a:srgbClr val="F3EDFF"/>
          </a:solidFill>
          <a:ln w="14605">
            <a:solidFill>
              <a:srgbClr val="CDBBFF"/>
            </a:solidFill>
          </a:ln>
        </p:spPr>
        <p:txBody>
          <a:bodyPr wrap="square" rtlCol="0" anchor="ctr">
            <a:noAutofit/>
          </a:bodyPr>
          <a:lstStyle/>
          <a:p>
            <a:pPr marL="0" indent="0">
              <a:lnSpc>
                <a:spcPct val="130000"/>
              </a:lnSpc>
              <a:buNone/>
            </a:pPr>
            <a:r>
              <a:rPr lang="en-US" sz="1400" dirty="0">
                <a:solidFill>
                  <a:srgbClr val="06213D"/>
                </a:solidFill>
                <a:latin typeface="Aptos" pitchFamily="34" charset="0"/>
                <a:ea typeface="Aptos" pitchFamily="34" charset="-122"/>
                <a:cs typeface="Aptos" pitchFamily="34" charset="-120"/>
              </a:rPr>
              <a:t>Final agent writes the review only.</a:t>
            </a:r>
            <a:endParaRPr lang="en-US" sz="1400" dirty="0"/>
          </a:p>
          <a:p>
            <a:pPr marL="0" indent="0">
              <a:lnSpc>
                <a:spcPct val="130000"/>
              </a:lnSpc>
              <a:buNone/>
            </a:pPr>
            <a:r>
              <a:rPr lang="en-US" sz="1400" dirty="0">
                <a:solidFill>
                  <a:srgbClr val="06213D"/>
                </a:solidFill>
                <a:latin typeface="Aptos" pitchFamily="34" charset="0"/>
                <a:ea typeface="Aptos" pitchFamily="34" charset="-122"/>
                <a:cs typeface="Aptos" pitchFamily="34" charset="-120"/>
              </a:rPr>
              <a:t>stars = predicted_stars exactly.</a:t>
            </a:r>
            <a:endParaRPr lang="en-US" sz="1400" dirty="0"/>
          </a:p>
          <a:p>
            <a:pPr marL="0" indent="0">
              <a:lnSpc>
                <a:spcPct val="130000"/>
              </a:lnSpc>
              <a:buNone/>
            </a:pPr>
            <a:r>
              <a:rPr lang="en-US" sz="1400" dirty="0">
                <a:solidFill>
                  <a:srgbClr val="06213D"/>
                </a:solidFill>
                <a:latin typeface="Aptos" pitchFamily="34" charset="0"/>
                <a:ea typeface="Aptos" pitchFamily="34" charset="-122"/>
                <a:cs typeface="Aptos" pitchFamily="34" charset="-120"/>
              </a:rPr>
              <a:t>No rating recalculation.</a:t>
            </a:r>
            <a:endParaRPr lang="en-US" sz="1400" dirty="0">
              <a:solidFill>
                <a:srgbClr val="06213D"/>
              </a:solidFill>
              <a:latin typeface="Aptos" pitchFamily="34" charset="0"/>
              <a:ea typeface="Aptos" pitchFamily="34" charset="-122"/>
              <a:cs typeface="Aptos" pitchFamily="34" charset="-120"/>
            </a:endParaRPr>
          </a:p>
        </p:txBody>
      </p:sp>
      <p:sp>
        <p:nvSpPr>
          <p:cNvPr id="4" name="Text 10"/>
          <p:cNvSpPr/>
          <p:nvPr/>
        </p:nvSpPr>
        <p:spPr>
          <a:xfrm>
            <a:off x="411480" y="3737610"/>
            <a:ext cx="4800600" cy="384048"/>
          </a:xfrm>
          <a:prstGeom prst="roundRect">
            <a:avLst/>
          </a:prstGeom>
          <a:solidFill>
            <a:srgbClr val="F8FBFF"/>
          </a:solidFill>
          <a:ln w="13970">
            <a:solidFill>
              <a:srgbClr val="93C5FD"/>
            </a:solidFill>
          </a:ln>
        </p:spPr>
        <p:txBody>
          <a:bodyPr wrap="square" lIns="0" tIns="1905" rIns="1905" bIns="0" rtlCol="0" anchor="ctr">
            <a:normAutofit/>
          </a:bodyPr>
          <a:lstStyle/>
          <a:p>
            <a:pPr marL="0" indent="0" algn="ctr">
              <a:buNone/>
            </a:pPr>
            <a:r>
              <a:rPr lang="vi-VN" altLang="en-US" sz="1380" b="1" dirty="0">
                <a:solidFill>
                  <a:srgbClr val="0B6BF2"/>
                </a:solidFill>
                <a:latin typeface="Aptos" pitchFamily="34" charset="0"/>
                <a:ea typeface="Aptos" pitchFamily="34" charset="-122"/>
                <a:cs typeface="Aptos" pitchFamily="34" charset="-120"/>
              </a:rPr>
              <a:t> </a:t>
            </a:r>
            <a:r>
              <a:rPr lang="en-US" sz="1380" b="1" dirty="0">
                <a:solidFill>
                  <a:srgbClr val="0B6BF2"/>
                </a:solidFill>
                <a:latin typeface="Aptos" pitchFamily="34" charset="0"/>
                <a:ea typeface="Aptos" pitchFamily="34" charset="-122"/>
                <a:cs typeface="Aptos" pitchFamily="34" charset="-120"/>
              </a:rPr>
              <a:t>ANCHOR POLICY</a:t>
            </a:r>
            <a:endParaRPr lang="en-US" sz="1380" dirty="0"/>
          </a:p>
        </p:txBody>
      </p:sp>
      <p:sp>
        <p:nvSpPr>
          <p:cNvPr id="15" name="Text 12"/>
          <p:cNvSpPr/>
          <p:nvPr/>
        </p:nvSpPr>
        <p:spPr>
          <a:xfrm>
            <a:off x="5394960" y="3737610"/>
            <a:ext cx="3822192" cy="384048"/>
          </a:xfrm>
          <a:prstGeom prst="roundRect">
            <a:avLst/>
          </a:prstGeom>
          <a:solidFill>
            <a:srgbClr val="FFF1F2"/>
          </a:solidFill>
          <a:ln w="13970">
            <a:solidFill>
              <a:srgbClr val="FDA4AF"/>
            </a:solidFill>
          </a:ln>
        </p:spPr>
        <p:txBody>
          <a:bodyPr wrap="square" lIns="0" tIns="1905" rIns="1905" bIns="0" rtlCol="0" anchor="ctr">
            <a:normAutofit/>
          </a:bodyPr>
          <a:lstStyle/>
          <a:p>
            <a:pPr marL="0" indent="0" algn="ctr">
              <a:buNone/>
            </a:pPr>
            <a:r>
              <a:rPr lang="en-US" sz="1380" b="1" dirty="0">
                <a:solidFill>
                  <a:srgbClr val="EF4444"/>
                </a:solidFill>
                <a:latin typeface="Aptos" pitchFamily="34" charset="0"/>
                <a:ea typeface="Aptos" pitchFamily="34" charset="-122"/>
                <a:cs typeface="Aptos" pitchFamily="34" charset="-120"/>
              </a:rPr>
              <a:t>ANTI-SATURATION</a:t>
            </a:r>
            <a:endParaRPr lang="en-US" sz="1380" dirty="0"/>
          </a:p>
        </p:txBody>
      </p:sp>
      <p:sp>
        <p:nvSpPr>
          <p:cNvPr id="16" name="Text 14"/>
          <p:cNvSpPr/>
          <p:nvPr/>
        </p:nvSpPr>
        <p:spPr>
          <a:xfrm>
            <a:off x="9400032" y="3737610"/>
            <a:ext cx="2395728" cy="384048"/>
          </a:xfrm>
          <a:prstGeom prst="roundRect">
            <a:avLst/>
          </a:prstGeom>
          <a:solidFill>
            <a:srgbClr val="F5F3FF"/>
          </a:solidFill>
          <a:ln w="13970">
            <a:solidFill>
              <a:srgbClr val="C4B5FD"/>
            </a:solidFill>
          </a:ln>
        </p:spPr>
        <p:txBody>
          <a:bodyPr wrap="square" lIns="0" tIns="1905" rIns="1905" bIns="0" rtlCol="0" anchor="ctr">
            <a:normAutofit/>
          </a:bodyPr>
          <a:lstStyle/>
          <a:p>
            <a:pPr marL="0" indent="0" algn="ctr">
              <a:buNone/>
            </a:pPr>
            <a:r>
              <a:rPr lang="en-US" sz="1380" b="1" dirty="0">
                <a:solidFill>
                  <a:srgbClr val="7C3AED"/>
                </a:solidFill>
                <a:latin typeface="Aptos" pitchFamily="34" charset="0"/>
                <a:ea typeface="Aptos" pitchFamily="34" charset="-122"/>
                <a:cs typeface="Aptos" pitchFamily="34" charset="-120"/>
              </a:rPr>
              <a:t>FINAL REVIEW</a:t>
            </a:r>
            <a:endParaRPr lang="en-US" sz="1380" dirty="0"/>
          </a:p>
        </p:txBody>
      </p:sp>
      <p:sp>
        <p:nvSpPr>
          <p:cNvPr id="20"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b="1" dirty="0">
                <a:solidFill>
                  <a:srgbClr val="64748B"/>
                </a:solidFill>
                <a:latin typeface="Aptos" pitchFamily="34" charset="0"/>
                <a:ea typeface="Aptos" pitchFamily="34" charset="-122"/>
                <a:cs typeface="Aptos" pitchFamily="34" charset="-120"/>
              </a:rPr>
              <a:t>09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3238" y="146304"/>
            <a:ext cx="3657600" cy="219456"/>
          </a:xfrm>
          <a:prstGeom prst="rect">
            <a:avLst/>
          </a:prstGeom>
          <a:noFill/>
        </p:spPr>
        <p:txBody>
          <a:bodyPr wrap="square" lIns="0" tIns="0" rIns="0" bIns="0" rtlCol="0" anchor="ctr"/>
          <a:lstStyle/>
          <a:p>
            <a:pPr marL="0" indent="0">
              <a:buNone/>
            </a:pPr>
            <a:r>
              <a:rPr lang="en-US" sz="1000" b="1" dirty="0">
                <a:solidFill>
                  <a:srgbClr val="2563EB"/>
                </a:solidFill>
              </a:rPr>
              <a:t>EVIDENCE CASE</a:t>
            </a:r>
            <a:endParaRPr lang="en-US" sz="1000" dirty="0"/>
          </a:p>
        </p:txBody>
      </p:sp>
      <p:sp>
        <p:nvSpPr>
          <p:cNvPr id="3" name="Text 1"/>
          <p:cNvSpPr/>
          <p:nvPr/>
        </p:nvSpPr>
        <p:spPr>
          <a:xfrm>
            <a:off x="503238" y="393192"/>
            <a:ext cx="11155680" cy="457200"/>
          </a:xfrm>
          <a:prstGeom prst="rect">
            <a:avLst/>
          </a:prstGeom>
          <a:noFill/>
        </p:spPr>
        <p:txBody>
          <a:bodyPr wrap="square" lIns="0" tIns="0" rIns="0" bIns="0" rtlCol="0" anchor="ctr">
            <a:normAutofit/>
          </a:bodyPr>
          <a:lstStyle/>
          <a:p>
            <a:pPr marL="0" indent="0">
              <a:buNone/>
            </a:pPr>
            <a:r>
              <a:rPr lang="en-US" sz="2550" b="1" dirty="0">
                <a:solidFill>
                  <a:srgbClr val="102A43"/>
                </a:solidFill>
                <a:latin typeface="Aptos Display" pitchFamily="34" charset="0"/>
                <a:ea typeface="Aptos Display" pitchFamily="34" charset="-122"/>
                <a:cs typeface="Aptos Display" pitchFamily="34" charset="-120"/>
              </a:rPr>
              <a:t>Case 1. User ✓ Item ✓ Direct ✓</a:t>
            </a:r>
            <a:endParaRPr lang="en-US" sz="2550" dirty="0"/>
          </a:p>
        </p:txBody>
      </p:sp>
      <p:sp>
        <p:nvSpPr>
          <p:cNvPr id="4" name="Text 2"/>
          <p:cNvSpPr/>
          <p:nvPr/>
        </p:nvSpPr>
        <p:spPr>
          <a:xfrm>
            <a:off x="530670" y="859536"/>
            <a:ext cx="10789920" cy="228600"/>
          </a:xfrm>
          <a:prstGeom prst="rect">
            <a:avLst/>
          </a:prstGeom>
          <a:noFill/>
        </p:spPr>
        <p:txBody>
          <a:bodyPr wrap="square" lIns="0" tIns="0" rIns="0" bIns="0" rtlCol="0" anchor="ctr">
            <a:normAutofit/>
          </a:bodyPr>
          <a:lstStyle/>
          <a:p>
            <a:pPr marL="0" indent="0">
              <a:buNone/>
            </a:pPr>
            <a:r>
              <a:rPr lang="en-US" sz="1150" dirty="0">
                <a:solidFill>
                  <a:srgbClr val="475569"/>
                </a:solidFill>
              </a:rPr>
              <a:t>All evidence exists: direct review dominates; user and item calibrate.</a:t>
            </a:r>
            <a:endParaRPr lang="en-US" sz="1150" dirty="0"/>
          </a:p>
        </p:txBody>
      </p:sp>
      <p:sp>
        <p:nvSpPr>
          <p:cNvPr id="5" name="Shape 3"/>
          <p:cNvSpPr/>
          <p:nvPr/>
        </p:nvSpPr>
        <p:spPr>
          <a:xfrm>
            <a:off x="503238" y="1143000"/>
            <a:ext cx="11155680" cy="0"/>
          </a:xfrm>
          <a:prstGeom prst="line">
            <a:avLst/>
          </a:prstGeom>
          <a:noFill/>
          <a:ln w="10160">
            <a:solidFill>
              <a:srgbClr val="CBD5E1"/>
            </a:solidFill>
            <a:prstDash val="solid"/>
          </a:ln>
        </p:spPr>
      </p:sp>
      <p:sp>
        <p:nvSpPr>
          <p:cNvPr id="6" name="Text 4"/>
          <p:cNvSpPr/>
          <p:nvPr/>
        </p:nvSpPr>
        <p:spPr>
          <a:xfrm>
            <a:off x="548958" y="1243584"/>
            <a:ext cx="886968" cy="301752"/>
          </a:xfrm>
          <a:prstGeom prst="roundRect">
            <a:avLst>
              <a:gd name="adj" fmla="val 39394"/>
            </a:avLst>
          </a:prstGeom>
          <a:solidFill>
            <a:srgbClr val="EFF6FF"/>
          </a:solidFill>
          <a:ln w="11430">
            <a:solidFill>
              <a:srgbClr val="2563EB"/>
            </a:solidFill>
          </a:ln>
        </p:spPr>
        <p:txBody>
          <a:bodyPr wrap="square" lIns="254" tIns="254" rIns="254" bIns="254" rtlCol="0" anchor="ctr">
            <a:normAutofit/>
          </a:bodyPr>
          <a:lstStyle/>
          <a:p>
            <a:pPr marL="0" indent="0" algn="ctr">
              <a:buNone/>
            </a:pPr>
            <a:r>
              <a:rPr lang="en-US" sz="1050" b="1" dirty="0">
                <a:solidFill>
                  <a:srgbClr val="2563EB"/>
                </a:solidFill>
                <a:latin typeface="Aptos" pitchFamily="34" charset="0"/>
                <a:ea typeface="Aptos" pitchFamily="34" charset="-122"/>
                <a:cs typeface="Aptos" pitchFamily="34" charset="-120"/>
              </a:rPr>
              <a:t>USER ✓</a:t>
            </a:r>
            <a:endParaRPr lang="en-US" sz="1050" dirty="0"/>
          </a:p>
        </p:txBody>
      </p:sp>
      <p:sp>
        <p:nvSpPr>
          <p:cNvPr id="7" name="Text 5"/>
          <p:cNvSpPr/>
          <p:nvPr/>
        </p:nvSpPr>
        <p:spPr>
          <a:xfrm>
            <a:off x="1527366" y="1243584"/>
            <a:ext cx="886968" cy="301752"/>
          </a:xfrm>
          <a:prstGeom prst="roundRect">
            <a:avLst>
              <a:gd name="adj" fmla="val 39394"/>
            </a:avLst>
          </a:prstGeom>
          <a:solidFill>
            <a:srgbClr val="ECFDF5"/>
          </a:solidFill>
          <a:ln w="11430">
            <a:solidFill>
              <a:srgbClr val="0F766E"/>
            </a:solidFill>
          </a:ln>
        </p:spPr>
        <p:txBody>
          <a:bodyPr wrap="square" lIns="254" tIns="254" rIns="254" bIns="254" rtlCol="0" anchor="ctr">
            <a:normAutofit/>
          </a:bodyPr>
          <a:lstStyle/>
          <a:p>
            <a:pPr marL="0" indent="0" algn="ctr">
              <a:buNone/>
            </a:pPr>
            <a:r>
              <a:rPr lang="en-US" sz="1050" b="1" dirty="0">
                <a:solidFill>
                  <a:srgbClr val="0F766E"/>
                </a:solidFill>
                <a:latin typeface="Aptos" pitchFamily="34" charset="0"/>
                <a:ea typeface="Aptos" pitchFamily="34" charset="-122"/>
                <a:cs typeface="Aptos" pitchFamily="34" charset="-120"/>
              </a:rPr>
              <a:t>ITEM ✓</a:t>
            </a:r>
            <a:endParaRPr lang="en-US" sz="1050" dirty="0"/>
          </a:p>
        </p:txBody>
      </p:sp>
      <p:sp>
        <p:nvSpPr>
          <p:cNvPr id="8" name="Text 6"/>
          <p:cNvSpPr/>
          <p:nvPr/>
        </p:nvSpPr>
        <p:spPr>
          <a:xfrm>
            <a:off x="2505774" y="1243584"/>
            <a:ext cx="886968" cy="301752"/>
          </a:xfrm>
          <a:prstGeom prst="roundRect">
            <a:avLst>
              <a:gd name="adj" fmla="val 39394"/>
            </a:avLst>
          </a:prstGeom>
          <a:solidFill>
            <a:srgbClr val="FFF7ED"/>
          </a:solidFill>
          <a:ln w="11430">
            <a:solidFill>
              <a:srgbClr val="D97706"/>
            </a:solidFill>
          </a:ln>
        </p:spPr>
        <p:txBody>
          <a:bodyPr wrap="square" lIns="254" tIns="254" rIns="254" bIns="254" rtlCol="0" anchor="ctr">
            <a:normAutofit/>
          </a:bodyPr>
          <a:lstStyle/>
          <a:p>
            <a:pPr marL="0" indent="0" algn="ctr">
              <a:buNone/>
            </a:pPr>
            <a:r>
              <a:rPr lang="en-US" sz="1050" b="1" dirty="0">
                <a:solidFill>
                  <a:srgbClr val="D97706"/>
                </a:solidFill>
                <a:latin typeface="Aptos" pitchFamily="34" charset="0"/>
                <a:ea typeface="Aptos" pitchFamily="34" charset="-122"/>
                <a:cs typeface="Aptos" pitchFamily="34" charset="-120"/>
              </a:rPr>
              <a:t>DIRECT ✓</a:t>
            </a:r>
            <a:endParaRPr lang="en-US" sz="1050" dirty="0"/>
          </a:p>
        </p:txBody>
      </p:sp>
      <p:sp>
        <p:nvSpPr>
          <p:cNvPr id="9" name="Shape 7"/>
          <p:cNvSpPr/>
          <p:nvPr/>
        </p:nvSpPr>
        <p:spPr>
          <a:xfrm>
            <a:off x="548958" y="1664208"/>
            <a:ext cx="2880360" cy="3310128"/>
          </a:xfrm>
          <a:prstGeom prst="roundRect">
            <a:avLst>
              <a:gd name="adj" fmla="val 4444"/>
            </a:avLst>
          </a:prstGeom>
          <a:solidFill>
            <a:srgbClr val="F8FAFC"/>
          </a:solidFill>
          <a:ln w="12700">
            <a:solidFill>
              <a:srgbClr val="2563EB">
                <a:alpha val="65000"/>
              </a:srgbClr>
            </a:solidFill>
            <a:prstDash val="solid"/>
          </a:ln>
        </p:spPr>
      </p:sp>
      <p:sp>
        <p:nvSpPr>
          <p:cNvPr id="10" name="Text 8"/>
          <p:cNvSpPr/>
          <p:nvPr/>
        </p:nvSpPr>
        <p:spPr>
          <a:xfrm>
            <a:off x="713550" y="1773936"/>
            <a:ext cx="2551176" cy="228600"/>
          </a:xfrm>
          <a:prstGeom prst="rect">
            <a:avLst/>
          </a:prstGeom>
          <a:noFill/>
        </p:spPr>
        <p:txBody>
          <a:bodyPr wrap="square" lIns="0" tIns="0" rIns="0" bIns="0" rtlCol="0" anchor="ctr"/>
          <a:lstStyle/>
          <a:p>
            <a:pPr marL="0" indent="0">
              <a:buNone/>
            </a:pPr>
            <a:r>
              <a:rPr lang="en-US" sz="1400" b="1" dirty="0">
                <a:solidFill>
                  <a:srgbClr val="2563EB"/>
                </a:solidFill>
              </a:rPr>
              <a:t>INPUT EVIDENCE</a:t>
            </a:r>
            <a:endParaRPr lang="en-US" sz="1400" b="1" dirty="0">
              <a:solidFill>
                <a:srgbClr val="2563EB"/>
              </a:solidFill>
            </a:endParaRPr>
          </a:p>
        </p:txBody>
      </p:sp>
      <p:sp>
        <p:nvSpPr>
          <p:cNvPr id="11" name="Text 9"/>
          <p:cNvSpPr/>
          <p:nvPr/>
        </p:nvSpPr>
        <p:spPr>
          <a:xfrm>
            <a:off x="713550" y="2057400"/>
            <a:ext cx="2551176" cy="2834640"/>
          </a:xfrm>
          <a:prstGeom prst="rect">
            <a:avLst/>
          </a:prstGeom>
          <a:noFill/>
        </p:spPr>
        <p:txBody>
          <a:bodyPr wrap="square" lIns="254" tIns="254" rIns="254" bIns="254" rtlCol="0" anchor="ctr">
            <a:normAutofit/>
          </a:bodyPr>
          <a:lstStyle/>
          <a:p>
            <a:pPr marL="0" indent="0">
              <a:buNone/>
            </a:pPr>
            <a:r>
              <a:rPr lang="en-US" sz="1400" dirty="0">
                <a:solidFill>
                  <a:srgbClr val="102A43"/>
                </a:solidFill>
              </a:rPr>
              <a:t>user.average</a:t>
            </a:r>
            <a:r>
              <a:rPr lang="vi-VN" altLang="en-US" sz="1400" dirty="0">
                <a:solidFill>
                  <a:srgbClr val="102A43"/>
                </a:solidFill>
              </a:rPr>
              <a:t>_stars</a:t>
            </a:r>
            <a:r>
              <a:rPr lang="en-US" sz="1400" dirty="0">
                <a:solidFill>
                  <a:srgbClr val="102A43"/>
                </a:solidFill>
              </a:rPr>
              <a:t> = 4.6</a:t>
            </a:r>
            <a:endParaRPr lang="en-US" sz="1400" dirty="0"/>
          </a:p>
          <a:p>
            <a:pPr marL="0" indent="0">
              <a:buNone/>
            </a:pPr>
            <a:r>
              <a:rPr lang="en-US" sz="1400" dirty="0">
                <a:solidFill>
                  <a:srgbClr val="102A43"/>
                </a:solidFill>
              </a:rPr>
              <a:t>user_history_avg = 4.2</a:t>
            </a:r>
            <a:endParaRPr lang="en-US" sz="1400" dirty="0"/>
          </a:p>
          <a:p>
            <a:pPr marL="0" indent="0">
              <a:buNone/>
            </a:pPr>
            <a:r>
              <a:rPr lang="en-US" sz="1400" dirty="0">
                <a:solidFill>
                  <a:srgbClr val="102A43"/>
                </a:solidFill>
              </a:rPr>
              <a:t>user.review_count = 40</a:t>
            </a:r>
            <a:endParaRPr lang="en-US" sz="1400" dirty="0"/>
          </a:p>
          <a:p>
            <a:pPr marL="0" indent="0">
              <a:buNone/>
            </a:pPr>
            <a:endParaRPr lang="en-US" sz="1400" dirty="0"/>
          </a:p>
          <a:p>
            <a:pPr marL="0" indent="0">
              <a:buNone/>
            </a:pPr>
            <a:r>
              <a:rPr lang="en-US" sz="1400" dirty="0">
                <a:solidFill>
                  <a:srgbClr val="102A43"/>
                </a:solidFill>
              </a:rPr>
              <a:t>item.stars = 4.1</a:t>
            </a:r>
            <a:endParaRPr lang="en-US" sz="1400" dirty="0"/>
          </a:p>
          <a:p>
            <a:pPr marL="0" indent="0">
              <a:buNone/>
            </a:pPr>
            <a:r>
              <a:rPr lang="en-US" sz="1400" dirty="0">
                <a:solidFill>
                  <a:srgbClr val="102A43"/>
                </a:solidFill>
              </a:rPr>
              <a:t>item_history_avg = 4.3</a:t>
            </a:r>
            <a:endParaRPr lang="en-US" sz="1400" dirty="0"/>
          </a:p>
          <a:p>
            <a:pPr marL="0" indent="0">
              <a:buNone/>
            </a:pPr>
            <a:r>
              <a:rPr lang="en-US" sz="1400" dirty="0">
                <a:solidFill>
                  <a:srgbClr val="102A43"/>
                </a:solidFill>
              </a:rPr>
              <a:t>item.review_count = 120</a:t>
            </a:r>
            <a:endParaRPr lang="en-US" sz="1400" dirty="0"/>
          </a:p>
          <a:p>
            <a:pPr marL="0" indent="0">
              <a:buNone/>
            </a:pPr>
            <a:endParaRPr lang="en-US" sz="1400" dirty="0"/>
          </a:p>
          <a:p>
            <a:pPr marL="0" indent="0">
              <a:buNone/>
            </a:pPr>
            <a:r>
              <a:rPr lang="en-US" sz="1400" dirty="0">
                <a:solidFill>
                  <a:srgbClr val="102A43"/>
                </a:solidFill>
              </a:rPr>
              <a:t>direct_review_stars = 5.0</a:t>
            </a:r>
            <a:endParaRPr lang="en-US" sz="1400" dirty="0">
              <a:solidFill>
                <a:srgbClr val="102A43"/>
              </a:solidFill>
            </a:endParaRPr>
          </a:p>
        </p:txBody>
      </p:sp>
      <p:sp>
        <p:nvSpPr>
          <p:cNvPr id="12" name="Shape 10"/>
          <p:cNvSpPr/>
          <p:nvPr/>
        </p:nvSpPr>
        <p:spPr>
          <a:xfrm>
            <a:off x="3703638" y="1243584"/>
            <a:ext cx="4069080" cy="3730752"/>
          </a:xfrm>
          <a:prstGeom prst="roundRect">
            <a:avLst>
              <a:gd name="adj" fmla="val 2941"/>
            </a:avLst>
          </a:prstGeom>
          <a:solidFill>
            <a:srgbClr val="0B1220"/>
          </a:solidFill>
          <a:ln w="12700">
            <a:solidFill>
              <a:srgbClr val="1E293B"/>
            </a:solidFill>
            <a:prstDash val="solid"/>
          </a:ln>
        </p:spPr>
      </p:sp>
      <p:sp>
        <p:nvSpPr>
          <p:cNvPr id="13" name="Text 11"/>
          <p:cNvSpPr/>
          <p:nvPr/>
        </p:nvSpPr>
        <p:spPr>
          <a:xfrm>
            <a:off x="3868230" y="1353312"/>
            <a:ext cx="3739896" cy="237744"/>
          </a:xfrm>
          <a:prstGeom prst="rect">
            <a:avLst/>
          </a:prstGeom>
          <a:noFill/>
        </p:spPr>
        <p:txBody>
          <a:bodyPr wrap="square" lIns="0" tIns="0" rIns="0" bIns="0" rtlCol="0" anchor="ctr"/>
          <a:lstStyle/>
          <a:p>
            <a:pPr marL="0" indent="0">
              <a:buNone/>
            </a:pPr>
            <a:r>
              <a:rPr lang="en-US" sz="1000" b="1" dirty="0">
                <a:solidFill>
                  <a:srgbClr val="93C5FD"/>
                </a:solidFill>
              </a:rPr>
              <a:t>FORMULA</a:t>
            </a:r>
            <a:endParaRPr lang="en-US" sz="1000" dirty="0"/>
          </a:p>
        </p:txBody>
      </p:sp>
      <p:sp>
        <p:nvSpPr>
          <p:cNvPr id="14" name="Text 12"/>
          <p:cNvSpPr/>
          <p:nvPr/>
        </p:nvSpPr>
        <p:spPr>
          <a:xfrm>
            <a:off x="3868230" y="1645920"/>
            <a:ext cx="3739896" cy="3236976"/>
          </a:xfrm>
          <a:prstGeom prst="rect">
            <a:avLst/>
          </a:prstGeom>
          <a:noFill/>
        </p:spPr>
        <p:txBody>
          <a:bodyPr wrap="square" lIns="0" tIns="0" rIns="0" bIns="0" rtlCol="0" anchor="ctr">
            <a:normAutofit/>
          </a:bodyPr>
          <a:lstStyle/>
          <a:p>
            <a:pPr marL="0" indent="0">
              <a:buNone/>
            </a:pPr>
            <a:r>
              <a:rPr lang="en-US" sz="1400" dirty="0">
                <a:solidFill>
                  <a:srgbClr val="FFFFFF"/>
                </a:solidFill>
                <a:latin typeface="Aptos Mono" pitchFamily="34" charset="0"/>
                <a:ea typeface="Aptos Mono" pitchFamily="34" charset="-122"/>
                <a:cs typeface="Aptos Mono" pitchFamily="34" charset="-120"/>
              </a:rPr>
              <a:t>user_signal = 0.75×4.6 + 0.25×4.2 = 4.50</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item_signal = 0.80×4.1 + 0.20×4.3 = 4.14</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user_weight = 0.20×[1+0.25×min(40/50,1)] = 0.24</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item_weight = 0.20×[1+0.20×min(120/100,1)] = 0.24</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direct_weight = 0.60</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score = (4.50×0.24 + 4.14×0.24 + 5.0×0.60)</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        / (0.24+0.24+0.60)</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score = 4.697 → predicted_stars = 4.7</a:t>
            </a:r>
            <a:endParaRPr lang="en-US" sz="1400" dirty="0">
              <a:solidFill>
                <a:srgbClr val="FFFFFF"/>
              </a:solidFill>
              <a:latin typeface="Aptos Mono" pitchFamily="34" charset="0"/>
              <a:ea typeface="Aptos Mono" pitchFamily="34" charset="-122"/>
              <a:cs typeface="Aptos Mono" pitchFamily="34" charset="-120"/>
            </a:endParaRPr>
          </a:p>
        </p:txBody>
      </p:sp>
      <p:sp>
        <p:nvSpPr>
          <p:cNvPr id="15" name="Shape 13"/>
          <p:cNvSpPr/>
          <p:nvPr/>
        </p:nvSpPr>
        <p:spPr>
          <a:xfrm>
            <a:off x="8074470" y="1243584"/>
            <a:ext cx="3566160" cy="1847088"/>
          </a:xfrm>
          <a:prstGeom prst="roundRect">
            <a:avLst>
              <a:gd name="adj" fmla="val 6931"/>
            </a:avLst>
          </a:prstGeom>
          <a:solidFill>
            <a:srgbClr val="EFF6FF"/>
          </a:solidFill>
          <a:ln w="12700">
            <a:solidFill>
              <a:srgbClr val="2563EB">
                <a:alpha val="65000"/>
              </a:srgbClr>
            </a:solidFill>
            <a:prstDash val="solid"/>
          </a:ln>
        </p:spPr>
      </p:sp>
      <p:sp>
        <p:nvSpPr>
          <p:cNvPr id="16" name="Text 14"/>
          <p:cNvSpPr/>
          <p:nvPr/>
        </p:nvSpPr>
        <p:spPr>
          <a:xfrm>
            <a:off x="8239062" y="1353312"/>
            <a:ext cx="3236976" cy="228600"/>
          </a:xfrm>
          <a:prstGeom prst="rect">
            <a:avLst/>
          </a:prstGeom>
          <a:noFill/>
        </p:spPr>
        <p:txBody>
          <a:bodyPr wrap="square" lIns="0" tIns="0" rIns="0" bIns="0" rtlCol="0" anchor="ctr"/>
          <a:lstStyle/>
          <a:p>
            <a:pPr marL="0" indent="0">
              <a:buNone/>
            </a:pPr>
            <a:r>
              <a:rPr lang="en-US" sz="1400" b="1" dirty="0">
                <a:solidFill>
                  <a:srgbClr val="2563EB"/>
                </a:solidFill>
              </a:rPr>
              <a:t>IN WORDS</a:t>
            </a:r>
            <a:endParaRPr lang="en-US" sz="1400" b="1" dirty="0">
              <a:solidFill>
                <a:srgbClr val="2563EB"/>
              </a:solidFill>
            </a:endParaRPr>
          </a:p>
        </p:txBody>
      </p:sp>
      <p:sp>
        <p:nvSpPr>
          <p:cNvPr id="17" name="Text 15"/>
          <p:cNvSpPr/>
          <p:nvPr/>
        </p:nvSpPr>
        <p:spPr>
          <a:xfrm>
            <a:off x="8239062" y="1636776"/>
            <a:ext cx="3236976" cy="1371600"/>
          </a:xfrm>
          <a:prstGeom prst="rect">
            <a:avLst/>
          </a:prstGeom>
          <a:noFill/>
        </p:spPr>
        <p:txBody>
          <a:bodyPr wrap="square" lIns="254" tIns="254" rIns="254" bIns="254" rtlCol="0" anchor="ctr">
            <a:normAutofit/>
          </a:bodyPr>
          <a:lstStyle/>
          <a:p>
            <a:pPr marL="0" indent="0">
              <a:buNone/>
            </a:pPr>
            <a:r>
              <a:rPr lang="en-US" sz="1600" dirty="0">
                <a:solidFill>
                  <a:srgbClr val="102A43"/>
                </a:solidFill>
              </a:rPr>
              <a:t>Direct review is the real user-item interaction, so it dominates. User and item signals only adjust the score slightly.</a:t>
            </a:r>
            <a:endParaRPr lang="en-US" sz="1600" dirty="0">
              <a:solidFill>
                <a:srgbClr val="102A43"/>
              </a:solidFill>
            </a:endParaRPr>
          </a:p>
        </p:txBody>
      </p:sp>
      <p:sp>
        <p:nvSpPr>
          <p:cNvPr id="18" name="Shape 16"/>
          <p:cNvSpPr/>
          <p:nvPr/>
        </p:nvSpPr>
        <p:spPr>
          <a:xfrm>
            <a:off x="8074470" y="3291840"/>
            <a:ext cx="3566160" cy="1682496"/>
          </a:xfrm>
          <a:prstGeom prst="roundRect">
            <a:avLst>
              <a:gd name="adj" fmla="val 7609"/>
            </a:avLst>
          </a:prstGeom>
          <a:solidFill>
            <a:srgbClr val="ECFDF5"/>
          </a:solidFill>
          <a:ln w="12700">
            <a:solidFill>
              <a:srgbClr val="0F766E">
                <a:alpha val="65000"/>
              </a:srgbClr>
            </a:solidFill>
            <a:prstDash val="solid"/>
          </a:ln>
        </p:spPr>
      </p:sp>
      <p:sp>
        <p:nvSpPr>
          <p:cNvPr id="19" name="Text 17"/>
          <p:cNvSpPr/>
          <p:nvPr/>
        </p:nvSpPr>
        <p:spPr>
          <a:xfrm>
            <a:off x="8239062" y="3401568"/>
            <a:ext cx="3236976" cy="228600"/>
          </a:xfrm>
          <a:prstGeom prst="rect">
            <a:avLst/>
          </a:prstGeom>
          <a:noFill/>
        </p:spPr>
        <p:txBody>
          <a:bodyPr wrap="square" lIns="0" tIns="0" rIns="0" bIns="0" rtlCol="0" anchor="ctr"/>
          <a:lstStyle/>
          <a:p>
            <a:pPr marL="0" indent="0">
              <a:buNone/>
            </a:pPr>
            <a:r>
              <a:rPr lang="en-US" sz="1400" b="1" dirty="0">
                <a:solidFill>
                  <a:srgbClr val="0F766E"/>
                </a:solidFill>
              </a:rPr>
              <a:t>REVIEW GENERATION</a:t>
            </a:r>
            <a:endParaRPr lang="en-US" sz="1400" b="1" dirty="0">
              <a:solidFill>
                <a:srgbClr val="0F766E"/>
              </a:solidFill>
            </a:endParaRPr>
          </a:p>
        </p:txBody>
      </p:sp>
      <p:sp>
        <p:nvSpPr>
          <p:cNvPr id="20" name="Text 18"/>
          <p:cNvSpPr/>
          <p:nvPr/>
        </p:nvSpPr>
        <p:spPr>
          <a:xfrm>
            <a:off x="8239062" y="3685032"/>
            <a:ext cx="3236976" cy="1207008"/>
          </a:xfrm>
          <a:prstGeom prst="rect">
            <a:avLst/>
          </a:prstGeom>
          <a:noFill/>
        </p:spPr>
        <p:txBody>
          <a:bodyPr wrap="square" lIns="254" tIns="254" rIns="254" bIns="254" rtlCol="0" anchor="ctr">
            <a:normAutofit/>
          </a:bodyPr>
          <a:lstStyle/>
          <a:p>
            <a:pPr marL="0" indent="0">
              <a:buNone/>
            </a:pPr>
            <a:r>
              <a:rPr lang="en-US" sz="1600" dirty="0">
                <a:solidFill>
                  <a:srgbClr val="102A43"/>
                </a:solidFill>
              </a:rPr>
              <a:t>Use direct-review sentiment first. Add user style and item facts only when grounded.</a:t>
            </a:r>
            <a:endParaRPr lang="en-US" sz="1600" dirty="0">
              <a:solidFill>
                <a:srgbClr val="102A43"/>
              </a:solidFill>
            </a:endParaRPr>
          </a:p>
        </p:txBody>
      </p:sp>
      <p:sp>
        <p:nvSpPr>
          <p:cNvPr id="21" name="Text 19"/>
          <p:cNvSpPr/>
          <p:nvPr/>
        </p:nvSpPr>
        <p:spPr>
          <a:xfrm>
            <a:off x="548958" y="5230368"/>
            <a:ext cx="11091672" cy="1078992"/>
          </a:xfrm>
          <a:prstGeom prst="roundRect">
            <a:avLst>
              <a:gd name="adj" fmla="val 11017"/>
            </a:avLst>
          </a:prstGeom>
          <a:solidFill>
            <a:srgbClr val="102A43"/>
          </a:solidFill>
          <a:ln w="11430">
            <a:solidFill>
              <a:srgbClr val="102A43"/>
            </a:solidFill>
          </a:ln>
        </p:spPr>
        <p:txBody>
          <a:bodyPr wrap="square" lIns="1778" tIns="1778" rIns="1778" bIns="1778" rtlCol="0" anchor="ctr">
            <a:normAutofit/>
          </a:bodyPr>
          <a:lstStyle/>
          <a:p>
            <a:pPr marL="0" indent="0" algn="l">
              <a:buNone/>
            </a:pPr>
            <a:r>
              <a:rPr lang="en-US" sz="1180" dirty="0">
                <a:solidFill>
                  <a:srgbClr val="FFFFFF"/>
                </a:solidFill>
                <a:latin typeface="Aptos Mono" pitchFamily="34" charset="0"/>
                <a:ea typeface="Aptos Mono" pitchFamily="34" charset="-122"/>
                <a:cs typeface="Aptos Mono" pitchFamily="34" charset="-120"/>
              </a:rPr>
              <a:t>{"stars": 4.7, "review": "Great overall experience. The place felt very positive, and the tone matches a strong direct review while sounding like the user style."}</a:t>
            </a:r>
            <a:endParaRPr lang="en-US" sz="1180" dirty="0"/>
          </a:p>
        </p:txBody>
      </p:sp>
      <p:sp>
        <p:nvSpPr>
          <p:cNvPr id="2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3238" y="146304"/>
            <a:ext cx="3657600" cy="219456"/>
          </a:xfrm>
          <a:prstGeom prst="rect">
            <a:avLst/>
          </a:prstGeom>
          <a:noFill/>
        </p:spPr>
        <p:txBody>
          <a:bodyPr wrap="square" lIns="0" tIns="0" rIns="0" bIns="0" rtlCol="0" anchor="ctr"/>
          <a:lstStyle/>
          <a:p>
            <a:pPr marL="0" indent="0">
              <a:buNone/>
            </a:pPr>
            <a:r>
              <a:rPr lang="en-US" sz="1000" b="1" dirty="0">
                <a:solidFill>
                  <a:srgbClr val="2563EB"/>
                </a:solidFill>
              </a:rPr>
              <a:t>EVIDENCE CASE</a:t>
            </a:r>
            <a:endParaRPr lang="en-US" sz="1000" dirty="0"/>
          </a:p>
        </p:txBody>
      </p:sp>
      <p:sp>
        <p:nvSpPr>
          <p:cNvPr id="3" name="Text 1"/>
          <p:cNvSpPr/>
          <p:nvPr/>
        </p:nvSpPr>
        <p:spPr>
          <a:xfrm>
            <a:off x="503238" y="393192"/>
            <a:ext cx="11155680" cy="457200"/>
          </a:xfrm>
          <a:prstGeom prst="rect">
            <a:avLst/>
          </a:prstGeom>
          <a:noFill/>
        </p:spPr>
        <p:txBody>
          <a:bodyPr wrap="square" lIns="0" tIns="0" rIns="0" bIns="0" rtlCol="0" anchor="ctr">
            <a:normAutofit/>
          </a:bodyPr>
          <a:lstStyle/>
          <a:p>
            <a:pPr marL="0" indent="0">
              <a:buNone/>
            </a:pPr>
            <a:r>
              <a:rPr lang="en-US" sz="2550" b="1" dirty="0">
                <a:solidFill>
                  <a:srgbClr val="102A43"/>
                </a:solidFill>
                <a:latin typeface="Aptos Display" pitchFamily="34" charset="0"/>
                <a:ea typeface="Aptos Display" pitchFamily="34" charset="-122"/>
                <a:cs typeface="Aptos Display" pitchFamily="34" charset="-120"/>
              </a:rPr>
              <a:t>Case 2. User ✓ Item ✓ Direct ✗</a:t>
            </a:r>
            <a:endParaRPr lang="en-US" sz="2550" dirty="0"/>
          </a:p>
        </p:txBody>
      </p:sp>
      <p:sp>
        <p:nvSpPr>
          <p:cNvPr id="4" name="Text 2"/>
          <p:cNvSpPr/>
          <p:nvPr/>
        </p:nvSpPr>
        <p:spPr>
          <a:xfrm>
            <a:off x="530670" y="859536"/>
            <a:ext cx="10789920" cy="228600"/>
          </a:xfrm>
          <a:prstGeom prst="rect">
            <a:avLst/>
          </a:prstGeom>
          <a:noFill/>
        </p:spPr>
        <p:txBody>
          <a:bodyPr wrap="square" lIns="0" tIns="0" rIns="0" bIns="0" rtlCol="0" anchor="ctr">
            <a:normAutofit/>
          </a:bodyPr>
          <a:lstStyle/>
          <a:p>
            <a:pPr marL="0" indent="0">
              <a:buNone/>
            </a:pPr>
            <a:r>
              <a:rPr lang="en-US" sz="1150" dirty="0">
                <a:solidFill>
                  <a:srgbClr val="475569"/>
                </a:solidFill>
              </a:rPr>
              <a:t>No exact interaction: user and item are useful, but cannot prove a perfect score.</a:t>
            </a:r>
            <a:endParaRPr lang="en-US" sz="1150" dirty="0"/>
          </a:p>
        </p:txBody>
      </p:sp>
      <p:sp>
        <p:nvSpPr>
          <p:cNvPr id="5" name="Shape 3"/>
          <p:cNvSpPr/>
          <p:nvPr/>
        </p:nvSpPr>
        <p:spPr>
          <a:xfrm>
            <a:off x="503238" y="1143000"/>
            <a:ext cx="11155680" cy="0"/>
          </a:xfrm>
          <a:prstGeom prst="line">
            <a:avLst/>
          </a:prstGeom>
          <a:noFill/>
          <a:ln w="10160">
            <a:solidFill>
              <a:srgbClr val="CBD5E1"/>
            </a:solidFill>
            <a:prstDash val="solid"/>
          </a:ln>
        </p:spPr>
      </p:sp>
      <p:sp>
        <p:nvSpPr>
          <p:cNvPr id="6" name="Text 4"/>
          <p:cNvSpPr/>
          <p:nvPr/>
        </p:nvSpPr>
        <p:spPr>
          <a:xfrm>
            <a:off x="548958" y="1243584"/>
            <a:ext cx="886968" cy="301752"/>
          </a:xfrm>
          <a:prstGeom prst="roundRect">
            <a:avLst>
              <a:gd name="adj" fmla="val 39394"/>
            </a:avLst>
          </a:prstGeom>
          <a:solidFill>
            <a:srgbClr val="EFF6FF"/>
          </a:solidFill>
          <a:ln w="11430">
            <a:solidFill>
              <a:srgbClr val="2563EB"/>
            </a:solidFill>
          </a:ln>
        </p:spPr>
        <p:txBody>
          <a:bodyPr wrap="square" lIns="254" tIns="254" rIns="254" bIns="254" rtlCol="0" anchor="ctr">
            <a:normAutofit/>
          </a:bodyPr>
          <a:lstStyle/>
          <a:p>
            <a:pPr marL="0" indent="0" algn="ctr">
              <a:buNone/>
            </a:pPr>
            <a:r>
              <a:rPr lang="en-US" sz="1050" b="1" dirty="0">
                <a:solidFill>
                  <a:srgbClr val="2563EB"/>
                </a:solidFill>
                <a:latin typeface="Aptos" pitchFamily="34" charset="0"/>
                <a:ea typeface="Aptos" pitchFamily="34" charset="-122"/>
                <a:cs typeface="Aptos" pitchFamily="34" charset="-120"/>
              </a:rPr>
              <a:t>USER ✓</a:t>
            </a:r>
            <a:endParaRPr lang="en-US" sz="1050" dirty="0"/>
          </a:p>
        </p:txBody>
      </p:sp>
      <p:sp>
        <p:nvSpPr>
          <p:cNvPr id="7" name="Text 5"/>
          <p:cNvSpPr/>
          <p:nvPr/>
        </p:nvSpPr>
        <p:spPr>
          <a:xfrm>
            <a:off x="1527366" y="1243584"/>
            <a:ext cx="886968" cy="301752"/>
          </a:xfrm>
          <a:prstGeom prst="roundRect">
            <a:avLst>
              <a:gd name="adj" fmla="val 39394"/>
            </a:avLst>
          </a:prstGeom>
          <a:solidFill>
            <a:srgbClr val="ECFDF5"/>
          </a:solidFill>
          <a:ln w="11430">
            <a:solidFill>
              <a:srgbClr val="0F766E"/>
            </a:solidFill>
          </a:ln>
        </p:spPr>
        <p:txBody>
          <a:bodyPr wrap="square" lIns="254" tIns="254" rIns="254" bIns="254" rtlCol="0" anchor="ctr">
            <a:normAutofit/>
          </a:bodyPr>
          <a:lstStyle/>
          <a:p>
            <a:pPr marL="0" indent="0" algn="ctr">
              <a:buNone/>
            </a:pPr>
            <a:r>
              <a:rPr lang="en-US" sz="1050" b="1" dirty="0">
                <a:solidFill>
                  <a:srgbClr val="0F766E"/>
                </a:solidFill>
                <a:latin typeface="Aptos" pitchFamily="34" charset="0"/>
                <a:ea typeface="Aptos" pitchFamily="34" charset="-122"/>
                <a:cs typeface="Aptos" pitchFamily="34" charset="-120"/>
              </a:rPr>
              <a:t>ITEM ✓</a:t>
            </a:r>
            <a:endParaRPr lang="en-US" sz="1050" dirty="0"/>
          </a:p>
        </p:txBody>
      </p:sp>
      <p:sp>
        <p:nvSpPr>
          <p:cNvPr id="8" name="Text 6"/>
          <p:cNvSpPr/>
          <p:nvPr/>
        </p:nvSpPr>
        <p:spPr>
          <a:xfrm>
            <a:off x="2505774" y="1243584"/>
            <a:ext cx="886968" cy="301752"/>
          </a:xfrm>
          <a:prstGeom prst="roundRect">
            <a:avLst>
              <a:gd name="adj" fmla="val 39394"/>
            </a:avLst>
          </a:prstGeom>
          <a:solidFill>
            <a:srgbClr val="F1F5F9"/>
          </a:solidFill>
          <a:ln w="11430">
            <a:solidFill>
              <a:srgbClr val="CBD5E1"/>
            </a:solidFill>
          </a:ln>
        </p:spPr>
        <p:txBody>
          <a:bodyPr wrap="square" lIns="254" tIns="254" rIns="254" bIns="254" rtlCol="0" anchor="ctr">
            <a:normAutofit/>
          </a:bodyPr>
          <a:lstStyle/>
          <a:p>
            <a:pPr marL="0" indent="0" algn="ctr">
              <a:buNone/>
            </a:pPr>
            <a:r>
              <a:rPr lang="en-US" sz="1050" b="1" dirty="0">
                <a:solidFill>
                  <a:srgbClr val="64748B"/>
                </a:solidFill>
                <a:latin typeface="Aptos" pitchFamily="34" charset="0"/>
                <a:ea typeface="Aptos" pitchFamily="34" charset="-122"/>
                <a:cs typeface="Aptos" pitchFamily="34" charset="-120"/>
              </a:rPr>
              <a:t>DIRECT ✗</a:t>
            </a:r>
            <a:endParaRPr lang="en-US" sz="1050" dirty="0"/>
          </a:p>
        </p:txBody>
      </p:sp>
      <p:sp>
        <p:nvSpPr>
          <p:cNvPr id="9" name="Shape 7"/>
          <p:cNvSpPr/>
          <p:nvPr/>
        </p:nvSpPr>
        <p:spPr>
          <a:xfrm>
            <a:off x="548958" y="1664208"/>
            <a:ext cx="2880360" cy="3310128"/>
          </a:xfrm>
          <a:prstGeom prst="roundRect">
            <a:avLst>
              <a:gd name="adj" fmla="val 4444"/>
            </a:avLst>
          </a:prstGeom>
          <a:solidFill>
            <a:srgbClr val="F8FAFC"/>
          </a:solidFill>
          <a:ln w="12700">
            <a:solidFill>
              <a:srgbClr val="2563EB">
                <a:alpha val="65000"/>
              </a:srgbClr>
            </a:solidFill>
            <a:prstDash val="solid"/>
          </a:ln>
        </p:spPr>
      </p:sp>
      <p:sp>
        <p:nvSpPr>
          <p:cNvPr id="10" name="Text 8"/>
          <p:cNvSpPr/>
          <p:nvPr/>
        </p:nvSpPr>
        <p:spPr>
          <a:xfrm>
            <a:off x="713550" y="1773936"/>
            <a:ext cx="2551176" cy="228600"/>
          </a:xfrm>
          <a:prstGeom prst="rect">
            <a:avLst/>
          </a:prstGeom>
          <a:noFill/>
        </p:spPr>
        <p:txBody>
          <a:bodyPr wrap="square" lIns="0" tIns="0" rIns="0" bIns="0" rtlCol="0" anchor="ctr"/>
          <a:lstStyle/>
          <a:p>
            <a:pPr marL="0" indent="0">
              <a:buNone/>
            </a:pPr>
            <a:r>
              <a:rPr lang="en-US" sz="1400" b="1" dirty="0">
                <a:solidFill>
                  <a:srgbClr val="2563EB"/>
                </a:solidFill>
              </a:rPr>
              <a:t>INPUT EVIDENCE</a:t>
            </a:r>
            <a:endParaRPr lang="en-US" sz="1400" b="1" dirty="0">
              <a:solidFill>
                <a:srgbClr val="2563EB"/>
              </a:solidFill>
            </a:endParaRPr>
          </a:p>
        </p:txBody>
      </p:sp>
      <p:sp>
        <p:nvSpPr>
          <p:cNvPr id="11" name="Text 9"/>
          <p:cNvSpPr/>
          <p:nvPr/>
        </p:nvSpPr>
        <p:spPr>
          <a:xfrm>
            <a:off x="713550" y="2057400"/>
            <a:ext cx="2551176" cy="2834640"/>
          </a:xfrm>
          <a:prstGeom prst="rect">
            <a:avLst/>
          </a:prstGeom>
          <a:noFill/>
        </p:spPr>
        <p:txBody>
          <a:bodyPr wrap="square" lIns="254" tIns="254" rIns="254" bIns="254" rtlCol="0" anchor="ctr">
            <a:normAutofit/>
          </a:bodyPr>
          <a:lstStyle/>
          <a:p>
            <a:pPr marL="0" indent="0">
              <a:buNone/>
            </a:pPr>
            <a:r>
              <a:rPr lang="en-US" sz="1400" dirty="0">
                <a:solidFill>
                  <a:srgbClr val="102A43"/>
                </a:solidFill>
              </a:rPr>
              <a:t>user.average = 4.9</a:t>
            </a:r>
            <a:endParaRPr lang="en-US" sz="1400" dirty="0"/>
          </a:p>
          <a:p>
            <a:pPr marL="0" indent="0">
              <a:buNone/>
            </a:pPr>
            <a:r>
              <a:rPr lang="en-US" sz="1400" dirty="0">
                <a:solidFill>
                  <a:srgbClr val="102A43"/>
                </a:solidFill>
              </a:rPr>
              <a:t>user_history_avg = 4.6</a:t>
            </a:r>
            <a:endParaRPr lang="en-US" sz="1400" dirty="0"/>
          </a:p>
          <a:p>
            <a:pPr marL="0" indent="0">
              <a:buNone/>
            </a:pPr>
            <a:r>
              <a:rPr lang="en-US" sz="1400" dirty="0">
                <a:solidFill>
                  <a:srgbClr val="102A43"/>
                </a:solidFill>
              </a:rPr>
              <a:t>user.review_count = 60</a:t>
            </a:r>
            <a:endParaRPr lang="en-US" sz="1400" dirty="0"/>
          </a:p>
          <a:p>
            <a:pPr marL="0" indent="0">
              <a:buNone/>
            </a:pPr>
            <a:endParaRPr lang="en-US" sz="1400" dirty="0"/>
          </a:p>
          <a:p>
            <a:pPr marL="0" indent="0">
              <a:buNone/>
            </a:pPr>
            <a:r>
              <a:rPr lang="en-US" sz="1400" dirty="0">
                <a:solidFill>
                  <a:srgbClr val="102A43"/>
                </a:solidFill>
              </a:rPr>
              <a:t>item.stars = 4.8</a:t>
            </a:r>
            <a:endParaRPr lang="en-US" sz="1400" dirty="0"/>
          </a:p>
          <a:p>
            <a:pPr marL="0" indent="0">
              <a:buNone/>
            </a:pPr>
            <a:r>
              <a:rPr lang="en-US" sz="1400" dirty="0">
                <a:solidFill>
                  <a:srgbClr val="102A43"/>
                </a:solidFill>
              </a:rPr>
              <a:t>item_history_avg = 4.7</a:t>
            </a:r>
            <a:endParaRPr lang="en-US" sz="1400" dirty="0"/>
          </a:p>
          <a:p>
            <a:pPr marL="0" indent="0">
              <a:buNone/>
            </a:pPr>
            <a:r>
              <a:rPr lang="en-US" sz="1400" dirty="0">
                <a:solidFill>
                  <a:srgbClr val="102A43"/>
                </a:solidFill>
              </a:rPr>
              <a:t>item.review_count = 150</a:t>
            </a:r>
            <a:endParaRPr lang="en-US" sz="1400" dirty="0"/>
          </a:p>
          <a:p>
            <a:pPr marL="0" indent="0">
              <a:buNone/>
            </a:pPr>
            <a:endParaRPr lang="en-US" sz="1400" dirty="0"/>
          </a:p>
          <a:p>
            <a:pPr marL="0" indent="0">
              <a:buNone/>
            </a:pPr>
            <a:r>
              <a:rPr lang="en-US" sz="1400" dirty="0">
                <a:solidFill>
                  <a:srgbClr val="102A43"/>
                </a:solidFill>
              </a:rPr>
              <a:t>direct_review = missing</a:t>
            </a:r>
            <a:endParaRPr lang="en-US" sz="1400" dirty="0">
              <a:solidFill>
                <a:srgbClr val="102A43"/>
              </a:solidFill>
            </a:endParaRPr>
          </a:p>
        </p:txBody>
      </p:sp>
      <p:sp>
        <p:nvSpPr>
          <p:cNvPr id="12" name="Shape 10"/>
          <p:cNvSpPr/>
          <p:nvPr/>
        </p:nvSpPr>
        <p:spPr>
          <a:xfrm>
            <a:off x="3703638" y="1243584"/>
            <a:ext cx="4069080" cy="3730752"/>
          </a:xfrm>
          <a:prstGeom prst="roundRect">
            <a:avLst>
              <a:gd name="adj" fmla="val 2941"/>
            </a:avLst>
          </a:prstGeom>
          <a:solidFill>
            <a:srgbClr val="0B1220"/>
          </a:solidFill>
          <a:ln w="12700">
            <a:solidFill>
              <a:srgbClr val="1E293B"/>
            </a:solidFill>
            <a:prstDash val="solid"/>
          </a:ln>
        </p:spPr>
      </p:sp>
      <p:sp>
        <p:nvSpPr>
          <p:cNvPr id="13" name="Text 11"/>
          <p:cNvSpPr/>
          <p:nvPr/>
        </p:nvSpPr>
        <p:spPr>
          <a:xfrm>
            <a:off x="3868230" y="1353312"/>
            <a:ext cx="3739896" cy="237744"/>
          </a:xfrm>
          <a:prstGeom prst="rect">
            <a:avLst/>
          </a:prstGeom>
          <a:noFill/>
        </p:spPr>
        <p:txBody>
          <a:bodyPr wrap="square" lIns="0" tIns="0" rIns="0" bIns="0" rtlCol="0" anchor="ctr"/>
          <a:lstStyle/>
          <a:p>
            <a:pPr marL="0" indent="0">
              <a:buNone/>
            </a:pPr>
            <a:r>
              <a:rPr lang="en-US" sz="1000" b="1" dirty="0">
                <a:solidFill>
                  <a:srgbClr val="93C5FD"/>
                </a:solidFill>
              </a:rPr>
              <a:t>FORMULA</a:t>
            </a:r>
            <a:endParaRPr lang="en-US" sz="1000" dirty="0"/>
          </a:p>
        </p:txBody>
      </p:sp>
      <p:sp>
        <p:nvSpPr>
          <p:cNvPr id="14" name="Text 12"/>
          <p:cNvSpPr/>
          <p:nvPr/>
        </p:nvSpPr>
        <p:spPr>
          <a:xfrm>
            <a:off x="3868230" y="1645920"/>
            <a:ext cx="3739896" cy="3236976"/>
          </a:xfrm>
          <a:prstGeom prst="rect">
            <a:avLst/>
          </a:prstGeom>
          <a:noFill/>
        </p:spPr>
        <p:txBody>
          <a:bodyPr wrap="square" lIns="0" tIns="0" rIns="0" bIns="0" rtlCol="0" anchor="ctr">
            <a:normAutofit/>
          </a:bodyPr>
          <a:lstStyle/>
          <a:p>
            <a:pPr marL="0" indent="0">
              <a:buNone/>
            </a:pPr>
            <a:r>
              <a:rPr lang="en-US" sz="1400" dirty="0">
                <a:solidFill>
                  <a:srgbClr val="FFFFFF"/>
                </a:solidFill>
                <a:latin typeface="Aptos Mono" pitchFamily="34" charset="0"/>
                <a:ea typeface="Aptos Mono" pitchFamily="34" charset="-122"/>
                <a:cs typeface="Aptos Mono" pitchFamily="34" charset="-120"/>
              </a:rPr>
              <a:t>user_signal = 0.75×4.9 + 0.25×4.6 = 4.825</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item_signal = 0.80×4.8 + 0.20×4.7 = 4.78</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user_weight = 0.20×[1+0.25×min(60/50,1)] = 0.25</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item_weight = 0.20×[1+0.20×min(150/100,1)] = 0.24</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score = (4.825×0.25 + 4.78×0.24) / (0.25+0.24)</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score = 4.803</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No direct review → score = min(4.803, 4.7)</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predicted_stars = 4.7</a:t>
            </a:r>
            <a:endParaRPr lang="en-US" sz="1400" dirty="0">
              <a:solidFill>
                <a:srgbClr val="FFFFFF"/>
              </a:solidFill>
              <a:latin typeface="Aptos Mono" pitchFamily="34" charset="0"/>
              <a:ea typeface="Aptos Mono" pitchFamily="34" charset="-122"/>
              <a:cs typeface="Aptos Mono" pitchFamily="34" charset="-120"/>
            </a:endParaRPr>
          </a:p>
        </p:txBody>
      </p:sp>
      <p:sp>
        <p:nvSpPr>
          <p:cNvPr id="15" name="Shape 13"/>
          <p:cNvSpPr/>
          <p:nvPr/>
        </p:nvSpPr>
        <p:spPr>
          <a:xfrm>
            <a:off x="8074470" y="1243584"/>
            <a:ext cx="3566160" cy="1847088"/>
          </a:xfrm>
          <a:prstGeom prst="roundRect">
            <a:avLst>
              <a:gd name="adj" fmla="val 6931"/>
            </a:avLst>
          </a:prstGeom>
          <a:solidFill>
            <a:srgbClr val="EFF6FF"/>
          </a:solidFill>
          <a:ln w="12700">
            <a:solidFill>
              <a:srgbClr val="2563EB">
                <a:alpha val="65000"/>
              </a:srgbClr>
            </a:solidFill>
            <a:prstDash val="solid"/>
          </a:ln>
        </p:spPr>
      </p:sp>
      <p:sp>
        <p:nvSpPr>
          <p:cNvPr id="16" name="Text 14"/>
          <p:cNvSpPr/>
          <p:nvPr/>
        </p:nvSpPr>
        <p:spPr>
          <a:xfrm>
            <a:off x="8239062" y="1353312"/>
            <a:ext cx="3236976" cy="228600"/>
          </a:xfrm>
          <a:prstGeom prst="rect">
            <a:avLst/>
          </a:prstGeom>
          <a:noFill/>
        </p:spPr>
        <p:txBody>
          <a:bodyPr wrap="square" lIns="0" tIns="0" rIns="0" bIns="0" rtlCol="0" anchor="ctr"/>
          <a:lstStyle/>
          <a:p>
            <a:pPr marL="0" indent="0">
              <a:buNone/>
            </a:pPr>
            <a:r>
              <a:rPr lang="en-US" sz="1000" b="1" dirty="0">
                <a:solidFill>
                  <a:srgbClr val="2563EB"/>
                </a:solidFill>
              </a:rPr>
              <a:t>IN WORDS</a:t>
            </a:r>
            <a:endParaRPr lang="en-US" sz="1000" dirty="0"/>
          </a:p>
        </p:txBody>
      </p:sp>
      <p:sp>
        <p:nvSpPr>
          <p:cNvPr id="17" name="Text 15"/>
          <p:cNvSpPr/>
          <p:nvPr/>
        </p:nvSpPr>
        <p:spPr>
          <a:xfrm>
            <a:off x="8239062" y="1636776"/>
            <a:ext cx="3236976" cy="1371600"/>
          </a:xfrm>
          <a:prstGeom prst="rect">
            <a:avLst/>
          </a:prstGeom>
          <a:noFill/>
        </p:spPr>
        <p:txBody>
          <a:bodyPr wrap="square" lIns="254" tIns="254" rIns="254" bIns="254" rtlCol="0" anchor="ctr">
            <a:normAutofit/>
          </a:bodyPr>
          <a:lstStyle/>
          <a:p>
            <a:pPr marL="0" indent="0">
              <a:buNone/>
            </a:pPr>
            <a:r>
              <a:rPr lang="en-US" sz="1600" dirty="0">
                <a:solidFill>
                  <a:srgbClr val="102A43"/>
                </a:solidFill>
              </a:rPr>
              <a:t>User and item look strong, but there is no exact user-item review. Anti-saturation prevents an unsupported near-5.0 rating.</a:t>
            </a:r>
            <a:endParaRPr lang="en-US" sz="1600" dirty="0">
              <a:solidFill>
                <a:srgbClr val="102A43"/>
              </a:solidFill>
            </a:endParaRPr>
          </a:p>
        </p:txBody>
      </p:sp>
      <p:sp>
        <p:nvSpPr>
          <p:cNvPr id="18" name="Shape 16"/>
          <p:cNvSpPr/>
          <p:nvPr/>
        </p:nvSpPr>
        <p:spPr>
          <a:xfrm>
            <a:off x="8074470" y="3291840"/>
            <a:ext cx="3566160" cy="1682496"/>
          </a:xfrm>
          <a:prstGeom prst="roundRect">
            <a:avLst>
              <a:gd name="adj" fmla="val 7609"/>
            </a:avLst>
          </a:prstGeom>
          <a:solidFill>
            <a:srgbClr val="ECFDF5"/>
          </a:solidFill>
          <a:ln w="12700">
            <a:solidFill>
              <a:srgbClr val="0F766E">
                <a:alpha val="65000"/>
              </a:srgbClr>
            </a:solidFill>
            <a:prstDash val="solid"/>
          </a:ln>
        </p:spPr>
      </p:sp>
      <p:sp>
        <p:nvSpPr>
          <p:cNvPr id="19" name="Text 17"/>
          <p:cNvSpPr/>
          <p:nvPr/>
        </p:nvSpPr>
        <p:spPr>
          <a:xfrm>
            <a:off x="8239062" y="3401568"/>
            <a:ext cx="3236976" cy="228600"/>
          </a:xfrm>
          <a:prstGeom prst="rect">
            <a:avLst/>
          </a:prstGeom>
          <a:noFill/>
        </p:spPr>
        <p:txBody>
          <a:bodyPr wrap="square" lIns="0" tIns="0" rIns="0" bIns="0" rtlCol="0" anchor="ctr"/>
          <a:lstStyle/>
          <a:p>
            <a:pPr marL="0" indent="0">
              <a:buNone/>
            </a:pPr>
            <a:r>
              <a:rPr lang="en-US" sz="1400" b="1" dirty="0">
                <a:solidFill>
                  <a:srgbClr val="0F766E"/>
                </a:solidFill>
              </a:rPr>
              <a:t>REVIEW GENERATION</a:t>
            </a:r>
            <a:endParaRPr lang="en-US" sz="1400" b="1" dirty="0">
              <a:solidFill>
                <a:srgbClr val="0F766E"/>
              </a:solidFill>
            </a:endParaRPr>
          </a:p>
        </p:txBody>
      </p:sp>
      <p:sp>
        <p:nvSpPr>
          <p:cNvPr id="20" name="Text 18"/>
          <p:cNvSpPr/>
          <p:nvPr/>
        </p:nvSpPr>
        <p:spPr>
          <a:xfrm>
            <a:off x="8239062" y="3685032"/>
            <a:ext cx="3236976" cy="1207008"/>
          </a:xfrm>
          <a:prstGeom prst="rect">
            <a:avLst/>
          </a:prstGeom>
          <a:noFill/>
        </p:spPr>
        <p:txBody>
          <a:bodyPr wrap="square" lIns="254" tIns="254" rIns="254" bIns="254" rtlCol="0" anchor="ctr">
            <a:normAutofit/>
          </a:bodyPr>
          <a:lstStyle/>
          <a:p>
            <a:pPr marL="0" indent="0">
              <a:buNone/>
            </a:pPr>
            <a:r>
              <a:rPr lang="en-US" sz="1600" dirty="0">
                <a:solidFill>
                  <a:srgbClr val="102A43"/>
                </a:solidFill>
              </a:rPr>
              <a:t>Write generally from user tendency + item quality. Do not claim the user visited or reviewed this item.</a:t>
            </a:r>
            <a:endParaRPr lang="en-US" sz="1600" dirty="0">
              <a:solidFill>
                <a:srgbClr val="102A43"/>
              </a:solidFill>
            </a:endParaRPr>
          </a:p>
        </p:txBody>
      </p:sp>
      <p:sp>
        <p:nvSpPr>
          <p:cNvPr id="21" name="Text 19"/>
          <p:cNvSpPr/>
          <p:nvPr/>
        </p:nvSpPr>
        <p:spPr>
          <a:xfrm>
            <a:off x="548958" y="5230368"/>
            <a:ext cx="11091672" cy="1078992"/>
          </a:xfrm>
          <a:prstGeom prst="roundRect">
            <a:avLst>
              <a:gd name="adj" fmla="val 11017"/>
            </a:avLst>
          </a:prstGeom>
          <a:solidFill>
            <a:srgbClr val="102A43"/>
          </a:solidFill>
          <a:ln w="11430">
            <a:solidFill>
              <a:srgbClr val="102A43"/>
            </a:solidFill>
          </a:ln>
        </p:spPr>
        <p:txBody>
          <a:bodyPr wrap="square" lIns="1778" tIns="1778" rIns="1778" bIns="1778" rtlCol="0" anchor="ctr">
            <a:normAutofit/>
          </a:bodyPr>
          <a:lstStyle/>
          <a:p>
            <a:pPr marL="0" indent="0" algn="l">
              <a:buNone/>
            </a:pPr>
            <a:r>
              <a:rPr lang="en-US" sz="1400" dirty="0">
                <a:solidFill>
                  <a:srgbClr val="FFFFFF"/>
                </a:solidFill>
                <a:latin typeface="Aptos Mono" pitchFamily="34" charset="0"/>
                <a:ea typeface="Aptos Mono" pitchFamily="34" charset="-122"/>
                <a:cs typeface="Aptos Mono" pitchFamily="34" charset="-120"/>
              </a:rPr>
              <a:t>{"stars": 4.7, "review": "This looks like a strong option overall. The user positive rating pattern and the item high quality suggest a favorable experience, but the wording stays general."}</a:t>
            </a:r>
            <a:endParaRPr lang="en-US" sz="1400" dirty="0">
              <a:solidFill>
                <a:srgbClr val="FFFFFF"/>
              </a:solidFill>
              <a:latin typeface="Aptos Mono" pitchFamily="34" charset="0"/>
              <a:ea typeface="Aptos Mono" pitchFamily="34" charset="-122"/>
              <a:cs typeface="Aptos Mono" pitchFamily="34" charset="-120"/>
            </a:endParaRPr>
          </a:p>
        </p:txBody>
      </p:sp>
      <p:sp>
        <p:nvSpPr>
          <p:cNvPr id="2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3238" y="146304"/>
            <a:ext cx="3657600" cy="219456"/>
          </a:xfrm>
          <a:prstGeom prst="rect">
            <a:avLst/>
          </a:prstGeom>
          <a:noFill/>
        </p:spPr>
        <p:txBody>
          <a:bodyPr wrap="square" lIns="0" tIns="0" rIns="0" bIns="0" rtlCol="0" anchor="ctr"/>
          <a:lstStyle/>
          <a:p>
            <a:pPr marL="0" indent="0">
              <a:buNone/>
            </a:pPr>
            <a:r>
              <a:rPr lang="en-US" sz="1000" b="1" dirty="0">
                <a:solidFill>
                  <a:srgbClr val="2563EB"/>
                </a:solidFill>
              </a:rPr>
              <a:t>EVIDENCE CASE</a:t>
            </a:r>
            <a:endParaRPr lang="en-US" sz="1000" dirty="0"/>
          </a:p>
        </p:txBody>
      </p:sp>
      <p:sp>
        <p:nvSpPr>
          <p:cNvPr id="3" name="Text 1"/>
          <p:cNvSpPr/>
          <p:nvPr/>
        </p:nvSpPr>
        <p:spPr>
          <a:xfrm>
            <a:off x="503238" y="393192"/>
            <a:ext cx="11155680" cy="457200"/>
          </a:xfrm>
          <a:prstGeom prst="rect">
            <a:avLst/>
          </a:prstGeom>
          <a:noFill/>
        </p:spPr>
        <p:txBody>
          <a:bodyPr wrap="square" lIns="0" tIns="0" rIns="0" bIns="0" rtlCol="0" anchor="ctr">
            <a:normAutofit/>
          </a:bodyPr>
          <a:lstStyle/>
          <a:p>
            <a:pPr marL="0" indent="0">
              <a:buNone/>
            </a:pPr>
            <a:r>
              <a:rPr lang="en-US" sz="2550" b="1" dirty="0">
                <a:solidFill>
                  <a:srgbClr val="102A43"/>
                </a:solidFill>
                <a:latin typeface="Aptos Display" pitchFamily="34" charset="0"/>
                <a:ea typeface="Aptos Display" pitchFamily="34" charset="-122"/>
                <a:cs typeface="Aptos Display" pitchFamily="34" charset="-120"/>
              </a:rPr>
              <a:t>Case 3. User ✗ Item ✓ Direct ✓</a:t>
            </a:r>
            <a:endParaRPr lang="en-US" sz="2550" dirty="0"/>
          </a:p>
        </p:txBody>
      </p:sp>
      <p:sp>
        <p:nvSpPr>
          <p:cNvPr id="4" name="Text 2"/>
          <p:cNvSpPr/>
          <p:nvPr/>
        </p:nvSpPr>
        <p:spPr>
          <a:xfrm>
            <a:off x="530670" y="859536"/>
            <a:ext cx="10789920" cy="228600"/>
          </a:xfrm>
          <a:prstGeom prst="rect">
            <a:avLst/>
          </a:prstGeom>
          <a:noFill/>
        </p:spPr>
        <p:txBody>
          <a:bodyPr wrap="square" lIns="0" tIns="0" rIns="0" bIns="0" rtlCol="0" anchor="ctr">
            <a:normAutofit/>
          </a:bodyPr>
          <a:lstStyle/>
          <a:p>
            <a:pPr marL="0" indent="0">
              <a:buNone/>
            </a:pPr>
            <a:r>
              <a:rPr lang="en-US" sz="1150" dirty="0">
                <a:solidFill>
                  <a:srgbClr val="475569"/>
                </a:solidFill>
              </a:rPr>
              <a:t>User profile missing: direct review guides the rating; item evidence provides context.</a:t>
            </a:r>
            <a:endParaRPr lang="en-US" sz="1150" dirty="0"/>
          </a:p>
        </p:txBody>
      </p:sp>
      <p:sp>
        <p:nvSpPr>
          <p:cNvPr id="5" name="Shape 3"/>
          <p:cNvSpPr/>
          <p:nvPr/>
        </p:nvSpPr>
        <p:spPr>
          <a:xfrm>
            <a:off x="503238" y="1143000"/>
            <a:ext cx="11155680" cy="0"/>
          </a:xfrm>
          <a:prstGeom prst="line">
            <a:avLst/>
          </a:prstGeom>
          <a:noFill/>
          <a:ln w="10160">
            <a:solidFill>
              <a:srgbClr val="CBD5E1"/>
            </a:solidFill>
            <a:prstDash val="solid"/>
          </a:ln>
        </p:spPr>
      </p:sp>
      <p:sp>
        <p:nvSpPr>
          <p:cNvPr id="6" name="Text 4"/>
          <p:cNvSpPr/>
          <p:nvPr/>
        </p:nvSpPr>
        <p:spPr>
          <a:xfrm>
            <a:off x="548958" y="1243584"/>
            <a:ext cx="886968" cy="301752"/>
          </a:xfrm>
          <a:prstGeom prst="roundRect">
            <a:avLst>
              <a:gd name="adj" fmla="val 39394"/>
            </a:avLst>
          </a:prstGeom>
          <a:solidFill>
            <a:srgbClr val="F1F5F9"/>
          </a:solidFill>
          <a:ln w="11430">
            <a:solidFill>
              <a:srgbClr val="CBD5E1"/>
            </a:solidFill>
          </a:ln>
        </p:spPr>
        <p:txBody>
          <a:bodyPr wrap="square" lIns="254" tIns="254" rIns="254" bIns="254" rtlCol="0" anchor="ctr">
            <a:normAutofit/>
          </a:bodyPr>
          <a:lstStyle/>
          <a:p>
            <a:pPr marL="0" indent="0" algn="ctr">
              <a:buNone/>
            </a:pPr>
            <a:r>
              <a:rPr lang="en-US" sz="1050" b="1" dirty="0">
                <a:solidFill>
                  <a:srgbClr val="64748B"/>
                </a:solidFill>
                <a:latin typeface="Aptos" pitchFamily="34" charset="0"/>
                <a:ea typeface="Aptos" pitchFamily="34" charset="-122"/>
                <a:cs typeface="Aptos" pitchFamily="34" charset="-120"/>
              </a:rPr>
              <a:t>USER ✗</a:t>
            </a:r>
            <a:endParaRPr lang="en-US" sz="1050" dirty="0"/>
          </a:p>
        </p:txBody>
      </p:sp>
      <p:sp>
        <p:nvSpPr>
          <p:cNvPr id="7" name="Text 5"/>
          <p:cNvSpPr/>
          <p:nvPr/>
        </p:nvSpPr>
        <p:spPr>
          <a:xfrm>
            <a:off x="1527366" y="1243584"/>
            <a:ext cx="886968" cy="301752"/>
          </a:xfrm>
          <a:prstGeom prst="roundRect">
            <a:avLst>
              <a:gd name="adj" fmla="val 39394"/>
            </a:avLst>
          </a:prstGeom>
          <a:solidFill>
            <a:srgbClr val="ECFDF5"/>
          </a:solidFill>
          <a:ln w="11430">
            <a:solidFill>
              <a:srgbClr val="0F766E"/>
            </a:solidFill>
          </a:ln>
        </p:spPr>
        <p:txBody>
          <a:bodyPr wrap="square" lIns="254" tIns="254" rIns="254" bIns="254" rtlCol="0" anchor="ctr">
            <a:normAutofit/>
          </a:bodyPr>
          <a:lstStyle/>
          <a:p>
            <a:pPr marL="0" indent="0" algn="ctr">
              <a:buNone/>
            </a:pPr>
            <a:r>
              <a:rPr lang="en-US" sz="1050" b="1" dirty="0">
                <a:solidFill>
                  <a:srgbClr val="0F766E"/>
                </a:solidFill>
                <a:latin typeface="Aptos" pitchFamily="34" charset="0"/>
                <a:ea typeface="Aptos" pitchFamily="34" charset="-122"/>
                <a:cs typeface="Aptos" pitchFamily="34" charset="-120"/>
              </a:rPr>
              <a:t>ITEM ✓</a:t>
            </a:r>
            <a:endParaRPr lang="en-US" sz="1050" dirty="0"/>
          </a:p>
        </p:txBody>
      </p:sp>
      <p:sp>
        <p:nvSpPr>
          <p:cNvPr id="8" name="Text 6"/>
          <p:cNvSpPr/>
          <p:nvPr/>
        </p:nvSpPr>
        <p:spPr>
          <a:xfrm>
            <a:off x="2505774" y="1243584"/>
            <a:ext cx="886968" cy="301752"/>
          </a:xfrm>
          <a:prstGeom prst="roundRect">
            <a:avLst>
              <a:gd name="adj" fmla="val 39394"/>
            </a:avLst>
          </a:prstGeom>
          <a:solidFill>
            <a:srgbClr val="FFF7ED"/>
          </a:solidFill>
          <a:ln w="11430">
            <a:solidFill>
              <a:srgbClr val="D97706"/>
            </a:solidFill>
          </a:ln>
        </p:spPr>
        <p:txBody>
          <a:bodyPr wrap="square" lIns="254" tIns="254" rIns="254" bIns="254" rtlCol="0" anchor="ctr">
            <a:normAutofit/>
          </a:bodyPr>
          <a:lstStyle/>
          <a:p>
            <a:pPr marL="0" indent="0" algn="ctr">
              <a:buNone/>
            </a:pPr>
            <a:r>
              <a:rPr lang="en-US" sz="1050" b="1" dirty="0">
                <a:solidFill>
                  <a:srgbClr val="D97706"/>
                </a:solidFill>
                <a:latin typeface="Aptos" pitchFamily="34" charset="0"/>
                <a:ea typeface="Aptos" pitchFamily="34" charset="-122"/>
                <a:cs typeface="Aptos" pitchFamily="34" charset="-120"/>
              </a:rPr>
              <a:t>DIRECT ✓</a:t>
            </a:r>
            <a:endParaRPr lang="en-US" sz="1050" dirty="0"/>
          </a:p>
        </p:txBody>
      </p:sp>
      <p:sp>
        <p:nvSpPr>
          <p:cNvPr id="9" name="Shape 7"/>
          <p:cNvSpPr/>
          <p:nvPr/>
        </p:nvSpPr>
        <p:spPr>
          <a:xfrm>
            <a:off x="548958" y="1664208"/>
            <a:ext cx="2880360" cy="3310128"/>
          </a:xfrm>
          <a:prstGeom prst="roundRect">
            <a:avLst>
              <a:gd name="adj" fmla="val 4444"/>
            </a:avLst>
          </a:prstGeom>
          <a:solidFill>
            <a:srgbClr val="F8FAFC"/>
          </a:solidFill>
          <a:ln w="12700">
            <a:solidFill>
              <a:srgbClr val="2563EB">
                <a:alpha val="65000"/>
              </a:srgbClr>
            </a:solidFill>
            <a:prstDash val="solid"/>
          </a:ln>
        </p:spPr>
      </p:sp>
      <p:sp>
        <p:nvSpPr>
          <p:cNvPr id="10" name="Text 8"/>
          <p:cNvSpPr/>
          <p:nvPr/>
        </p:nvSpPr>
        <p:spPr>
          <a:xfrm>
            <a:off x="713550" y="1773936"/>
            <a:ext cx="2551176" cy="228600"/>
          </a:xfrm>
          <a:prstGeom prst="rect">
            <a:avLst/>
          </a:prstGeom>
          <a:noFill/>
        </p:spPr>
        <p:txBody>
          <a:bodyPr wrap="square" lIns="0" tIns="0" rIns="0" bIns="0" rtlCol="0" anchor="ctr"/>
          <a:lstStyle/>
          <a:p>
            <a:pPr marL="0" indent="0">
              <a:buNone/>
            </a:pPr>
            <a:r>
              <a:rPr lang="en-US" sz="1400" b="1" dirty="0">
                <a:solidFill>
                  <a:srgbClr val="2563EB"/>
                </a:solidFill>
              </a:rPr>
              <a:t>INPUT EVIDENCE</a:t>
            </a:r>
            <a:endParaRPr lang="en-US" sz="1400" b="1" dirty="0">
              <a:solidFill>
                <a:srgbClr val="2563EB"/>
              </a:solidFill>
            </a:endParaRPr>
          </a:p>
        </p:txBody>
      </p:sp>
      <p:sp>
        <p:nvSpPr>
          <p:cNvPr id="11" name="Text 9"/>
          <p:cNvSpPr/>
          <p:nvPr/>
        </p:nvSpPr>
        <p:spPr>
          <a:xfrm>
            <a:off x="713550" y="2057400"/>
            <a:ext cx="2551176" cy="2834640"/>
          </a:xfrm>
          <a:prstGeom prst="rect">
            <a:avLst/>
          </a:prstGeom>
          <a:noFill/>
        </p:spPr>
        <p:txBody>
          <a:bodyPr wrap="square" lIns="254" tIns="254" rIns="254" bIns="254" rtlCol="0" anchor="ctr">
            <a:normAutofit/>
          </a:bodyPr>
          <a:lstStyle/>
          <a:p>
            <a:pPr marL="0" indent="0">
              <a:buNone/>
            </a:pPr>
            <a:r>
              <a:rPr lang="en-US" sz="1400" dirty="0">
                <a:solidFill>
                  <a:srgbClr val="102A43"/>
                </a:solidFill>
              </a:rPr>
              <a:t>user = missing</a:t>
            </a:r>
            <a:endParaRPr lang="en-US" sz="1400" dirty="0"/>
          </a:p>
          <a:p>
            <a:pPr marL="0" indent="0">
              <a:buNone/>
            </a:pPr>
            <a:endParaRPr lang="en-US" sz="1400" dirty="0"/>
          </a:p>
          <a:p>
            <a:pPr marL="0" indent="0">
              <a:buNone/>
            </a:pPr>
            <a:r>
              <a:rPr lang="en-US" sz="1400" dirty="0">
                <a:solidFill>
                  <a:srgbClr val="102A43"/>
                </a:solidFill>
              </a:rPr>
              <a:t>item.stars = 4.2</a:t>
            </a:r>
            <a:endParaRPr lang="en-US" sz="1400" dirty="0"/>
          </a:p>
          <a:p>
            <a:pPr marL="0" indent="0">
              <a:buNone/>
            </a:pPr>
            <a:r>
              <a:rPr lang="en-US" sz="1400" dirty="0">
                <a:solidFill>
                  <a:srgbClr val="102A43"/>
                </a:solidFill>
              </a:rPr>
              <a:t>item_history_avg = 4.0</a:t>
            </a:r>
            <a:endParaRPr lang="en-US" sz="1400" dirty="0"/>
          </a:p>
          <a:p>
            <a:pPr marL="0" indent="0">
              <a:buNone/>
            </a:pPr>
            <a:r>
              <a:rPr lang="en-US" sz="1400" dirty="0">
                <a:solidFill>
                  <a:srgbClr val="102A43"/>
                </a:solidFill>
              </a:rPr>
              <a:t>item.review_count = 100</a:t>
            </a:r>
            <a:endParaRPr lang="en-US" sz="1400" dirty="0"/>
          </a:p>
          <a:p>
            <a:pPr marL="0" indent="0">
              <a:buNone/>
            </a:pPr>
            <a:endParaRPr lang="en-US" sz="1400" dirty="0"/>
          </a:p>
          <a:p>
            <a:pPr marL="0" indent="0">
              <a:buNone/>
            </a:pPr>
            <a:r>
              <a:rPr lang="en-US" sz="1400" dirty="0">
                <a:solidFill>
                  <a:srgbClr val="102A43"/>
                </a:solidFill>
              </a:rPr>
              <a:t>direct_review_stars = 3.0</a:t>
            </a:r>
            <a:endParaRPr lang="en-US" sz="1400" dirty="0">
              <a:solidFill>
                <a:srgbClr val="102A43"/>
              </a:solidFill>
            </a:endParaRPr>
          </a:p>
        </p:txBody>
      </p:sp>
      <p:sp>
        <p:nvSpPr>
          <p:cNvPr id="12" name="Shape 10"/>
          <p:cNvSpPr/>
          <p:nvPr/>
        </p:nvSpPr>
        <p:spPr>
          <a:xfrm>
            <a:off x="3703638" y="1243584"/>
            <a:ext cx="4069080" cy="3730752"/>
          </a:xfrm>
          <a:prstGeom prst="roundRect">
            <a:avLst>
              <a:gd name="adj" fmla="val 2941"/>
            </a:avLst>
          </a:prstGeom>
          <a:solidFill>
            <a:srgbClr val="0B1220"/>
          </a:solidFill>
          <a:ln w="12700">
            <a:solidFill>
              <a:srgbClr val="1E293B"/>
            </a:solidFill>
            <a:prstDash val="solid"/>
          </a:ln>
        </p:spPr>
      </p:sp>
      <p:sp>
        <p:nvSpPr>
          <p:cNvPr id="13" name="Text 11"/>
          <p:cNvSpPr/>
          <p:nvPr/>
        </p:nvSpPr>
        <p:spPr>
          <a:xfrm>
            <a:off x="3868230" y="1353312"/>
            <a:ext cx="3739896" cy="237744"/>
          </a:xfrm>
          <a:prstGeom prst="rect">
            <a:avLst/>
          </a:prstGeom>
          <a:noFill/>
        </p:spPr>
        <p:txBody>
          <a:bodyPr wrap="square" lIns="0" tIns="0" rIns="0" bIns="0" rtlCol="0" anchor="ctr"/>
          <a:lstStyle/>
          <a:p>
            <a:pPr marL="0" indent="0">
              <a:buNone/>
            </a:pPr>
            <a:r>
              <a:rPr lang="en-US" sz="1400" b="1" dirty="0">
                <a:solidFill>
                  <a:srgbClr val="93C5FD"/>
                </a:solidFill>
              </a:rPr>
              <a:t>FORMULA</a:t>
            </a:r>
            <a:endParaRPr lang="en-US" sz="1400" b="1" dirty="0">
              <a:solidFill>
                <a:srgbClr val="93C5FD"/>
              </a:solidFill>
            </a:endParaRPr>
          </a:p>
        </p:txBody>
      </p:sp>
      <p:sp>
        <p:nvSpPr>
          <p:cNvPr id="14" name="Text 12"/>
          <p:cNvSpPr/>
          <p:nvPr/>
        </p:nvSpPr>
        <p:spPr>
          <a:xfrm>
            <a:off x="3868230" y="1645920"/>
            <a:ext cx="3739896" cy="3236976"/>
          </a:xfrm>
          <a:prstGeom prst="rect">
            <a:avLst/>
          </a:prstGeom>
          <a:noFill/>
        </p:spPr>
        <p:txBody>
          <a:bodyPr wrap="square" lIns="0" tIns="0" rIns="0" bIns="0" rtlCol="0" anchor="ctr">
            <a:normAutofit/>
          </a:bodyPr>
          <a:lstStyle/>
          <a:p>
            <a:pPr marL="0" indent="0">
              <a:buNone/>
            </a:pPr>
            <a:r>
              <a:rPr lang="en-US" sz="1400" dirty="0">
                <a:solidFill>
                  <a:srgbClr val="FFFFFF"/>
                </a:solidFill>
                <a:latin typeface="Aptos Mono" pitchFamily="34" charset="0"/>
                <a:ea typeface="Aptos Mono" pitchFamily="34" charset="-122"/>
                <a:cs typeface="Aptos Mono" pitchFamily="34" charset="-120"/>
              </a:rPr>
              <a:t>item_signal = 0.80×4.2 + 0.20×4.0 = 4.16</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item_weight = 0.20×[1+0.20×min(100/100,1)] = 0.24</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direct_weight = 0.60</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score = (4.16×0.24 + 3.0×0.60) / (0.24+0.60)</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score = 3.331</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Direct cap: max_allowed = 3.0 + 0.4 = 3.4</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score = min(3.331, 3.4) = 3.331</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predicted_stars = 3.3</a:t>
            </a:r>
            <a:endParaRPr lang="en-US" sz="1400" dirty="0">
              <a:solidFill>
                <a:srgbClr val="FFFFFF"/>
              </a:solidFill>
              <a:latin typeface="Aptos Mono" pitchFamily="34" charset="0"/>
              <a:ea typeface="Aptos Mono" pitchFamily="34" charset="-122"/>
              <a:cs typeface="Aptos Mono" pitchFamily="34" charset="-120"/>
            </a:endParaRPr>
          </a:p>
        </p:txBody>
      </p:sp>
      <p:sp>
        <p:nvSpPr>
          <p:cNvPr id="15" name="Shape 13"/>
          <p:cNvSpPr/>
          <p:nvPr/>
        </p:nvSpPr>
        <p:spPr>
          <a:xfrm>
            <a:off x="8074470" y="1243584"/>
            <a:ext cx="3566160" cy="1847088"/>
          </a:xfrm>
          <a:prstGeom prst="roundRect">
            <a:avLst>
              <a:gd name="adj" fmla="val 6931"/>
            </a:avLst>
          </a:prstGeom>
          <a:solidFill>
            <a:srgbClr val="EFF6FF"/>
          </a:solidFill>
          <a:ln w="12700">
            <a:solidFill>
              <a:srgbClr val="2563EB">
                <a:alpha val="65000"/>
              </a:srgbClr>
            </a:solidFill>
            <a:prstDash val="solid"/>
          </a:ln>
        </p:spPr>
      </p:sp>
      <p:sp>
        <p:nvSpPr>
          <p:cNvPr id="16" name="Text 14"/>
          <p:cNvSpPr/>
          <p:nvPr/>
        </p:nvSpPr>
        <p:spPr>
          <a:xfrm>
            <a:off x="8239062" y="1353312"/>
            <a:ext cx="3236976" cy="228600"/>
          </a:xfrm>
          <a:prstGeom prst="rect">
            <a:avLst/>
          </a:prstGeom>
          <a:noFill/>
        </p:spPr>
        <p:txBody>
          <a:bodyPr wrap="square" lIns="0" tIns="0" rIns="0" bIns="0" rtlCol="0" anchor="ctr"/>
          <a:lstStyle/>
          <a:p>
            <a:pPr marL="0" indent="0">
              <a:buNone/>
            </a:pPr>
            <a:r>
              <a:rPr lang="en-US" sz="1400" b="1" dirty="0">
                <a:solidFill>
                  <a:srgbClr val="2563EB"/>
                </a:solidFill>
              </a:rPr>
              <a:t>IN WORDS</a:t>
            </a:r>
            <a:endParaRPr lang="en-US" sz="1400" b="1" dirty="0">
              <a:solidFill>
                <a:srgbClr val="2563EB"/>
              </a:solidFill>
            </a:endParaRPr>
          </a:p>
        </p:txBody>
      </p:sp>
      <p:sp>
        <p:nvSpPr>
          <p:cNvPr id="17" name="Text 15"/>
          <p:cNvSpPr/>
          <p:nvPr/>
        </p:nvSpPr>
        <p:spPr>
          <a:xfrm>
            <a:off x="8239062" y="1636776"/>
            <a:ext cx="3236976" cy="1371600"/>
          </a:xfrm>
          <a:prstGeom prst="rect">
            <a:avLst/>
          </a:prstGeom>
          <a:noFill/>
        </p:spPr>
        <p:txBody>
          <a:bodyPr wrap="square" lIns="254" tIns="254" rIns="254" bIns="254" rtlCol="0" anchor="ctr">
            <a:normAutofit/>
          </a:bodyPr>
          <a:lstStyle/>
          <a:p>
            <a:pPr marL="0" indent="0">
              <a:buNone/>
            </a:pPr>
            <a:r>
              <a:rPr lang="en-US" sz="1600" dirty="0">
                <a:solidFill>
                  <a:srgbClr val="102A43"/>
                </a:solidFill>
              </a:rPr>
              <a:t>The item seems good, but direct review is only 3.0. Since user profile is missing, the system cannot infer user preferences.</a:t>
            </a:r>
            <a:endParaRPr lang="en-US" sz="1600" dirty="0">
              <a:solidFill>
                <a:srgbClr val="102A43"/>
              </a:solidFill>
            </a:endParaRPr>
          </a:p>
        </p:txBody>
      </p:sp>
      <p:sp>
        <p:nvSpPr>
          <p:cNvPr id="18" name="Shape 16"/>
          <p:cNvSpPr/>
          <p:nvPr/>
        </p:nvSpPr>
        <p:spPr>
          <a:xfrm>
            <a:off x="8074470" y="3291840"/>
            <a:ext cx="3566160" cy="1682496"/>
          </a:xfrm>
          <a:prstGeom prst="roundRect">
            <a:avLst>
              <a:gd name="adj" fmla="val 7609"/>
            </a:avLst>
          </a:prstGeom>
          <a:solidFill>
            <a:srgbClr val="ECFDF5"/>
          </a:solidFill>
          <a:ln w="12700">
            <a:solidFill>
              <a:srgbClr val="0F766E">
                <a:alpha val="65000"/>
              </a:srgbClr>
            </a:solidFill>
            <a:prstDash val="solid"/>
          </a:ln>
        </p:spPr>
      </p:sp>
      <p:sp>
        <p:nvSpPr>
          <p:cNvPr id="19" name="Text 17"/>
          <p:cNvSpPr/>
          <p:nvPr/>
        </p:nvSpPr>
        <p:spPr>
          <a:xfrm>
            <a:off x="8239062" y="3401568"/>
            <a:ext cx="3236976" cy="228600"/>
          </a:xfrm>
          <a:prstGeom prst="rect">
            <a:avLst/>
          </a:prstGeom>
          <a:noFill/>
        </p:spPr>
        <p:txBody>
          <a:bodyPr wrap="square" lIns="0" tIns="0" rIns="0" bIns="0" rtlCol="0" anchor="ctr"/>
          <a:lstStyle/>
          <a:p>
            <a:pPr marL="0" indent="0">
              <a:buNone/>
            </a:pPr>
            <a:r>
              <a:rPr lang="en-US" sz="1400" b="1" dirty="0">
                <a:solidFill>
                  <a:srgbClr val="0F766E"/>
                </a:solidFill>
              </a:rPr>
              <a:t>REVIEW GENERATION</a:t>
            </a:r>
            <a:endParaRPr lang="en-US" sz="1400" b="1" dirty="0">
              <a:solidFill>
                <a:srgbClr val="0F766E"/>
              </a:solidFill>
            </a:endParaRPr>
          </a:p>
        </p:txBody>
      </p:sp>
      <p:sp>
        <p:nvSpPr>
          <p:cNvPr id="20" name="Text 18"/>
          <p:cNvSpPr/>
          <p:nvPr/>
        </p:nvSpPr>
        <p:spPr>
          <a:xfrm>
            <a:off x="8239062" y="3685032"/>
            <a:ext cx="3236976" cy="1207008"/>
          </a:xfrm>
          <a:prstGeom prst="rect">
            <a:avLst/>
          </a:prstGeom>
          <a:noFill/>
        </p:spPr>
        <p:txBody>
          <a:bodyPr wrap="square" lIns="254" tIns="254" rIns="254" bIns="254" rtlCol="0" anchor="ctr">
            <a:normAutofit/>
          </a:bodyPr>
          <a:lstStyle/>
          <a:p>
            <a:pPr marL="0" indent="0">
              <a:buNone/>
            </a:pPr>
            <a:r>
              <a:rPr lang="en-US" sz="1600" dirty="0">
                <a:solidFill>
                  <a:srgbClr val="102A43"/>
                </a:solidFill>
              </a:rPr>
              <a:t>Use direct review tone and safe item facts. Avoid user-specific claims.</a:t>
            </a:r>
            <a:endParaRPr lang="en-US" sz="1600" dirty="0">
              <a:solidFill>
                <a:srgbClr val="102A43"/>
              </a:solidFill>
            </a:endParaRPr>
          </a:p>
        </p:txBody>
      </p:sp>
      <p:sp>
        <p:nvSpPr>
          <p:cNvPr id="21" name="Text 19"/>
          <p:cNvSpPr/>
          <p:nvPr/>
        </p:nvSpPr>
        <p:spPr>
          <a:xfrm>
            <a:off x="548958" y="5230368"/>
            <a:ext cx="11091672" cy="1078992"/>
          </a:xfrm>
          <a:prstGeom prst="roundRect">
            <a:avLst>
              <a:gd name="adj" fmla="val 11017"/>
            </a:avLst>
          </a:prstGeom>
          <a:solidFill>
            <a:srgbClr val="102A43"/>
          </a:solidFill>
          <a:ln w="11430">
            <a:solidFill>
              <a:srgbClr val="102A43"/>
            </a:solidFill>
          </a:ln>
        </p:spPr>
        <p:txBody>
          <a:bodyPr wrap="square" lIns="1778" tIns="1778" rIns="1778" bIns="1778" rtlCol="0" anchor="ctr">
            <a:normAutofit/>
          </a:bodyPr>
          <a:lstStyle/>
          <a:p>
            <a:pPr marL="0" indent="0" algn="l">
              <a:buNone/>
            </a:pPr>
            <a:r>
              <a:rPr lang="en-US" sz="1400" dirty="0">
                <a:solidFill>
                  <a:srgbClr val="FFFFFF"/>
                </a:solidFill>
                <a:latin typeface="Aptos Mono" pitchFamily="34" charset="0"/>
                <a:ea typeface="Aptos Mono" pitchFamily="34" charset="-122"/>
                <a:cs typeface="Aptos Mono" pitchFamily="34" charset="-120"/>
              </a:rPr>
              <a:t>{"stars": 3.3, "review": "The experience sounds mixed. The direct review points to a lukewarm impression, so the review stays balanced rather than strongly positive."}</a:t>
            </a:r>
            <a:endParaRPr lang="en-US" sz="1400" dirty="0">
              <a:solidFill>
                <a:srgbClr val="FFFFFF"/>
              </a:solidFill>
              <a:latin typeface="Aptos Mono" pitchFamily="34" charset="0"/>
              <a:ea typeface="Aptos Mono" pitchFamily="34" charset="-122"/>
              <a:cs typeface="Aptos Mono" pitchFamily="34" charset="-120"/>
            </a:endParaRPr>
          </a:p>
        </p:txBody>
      </p:sp>
      <p:sp>
        <p:nvSpPr>
          <p:cNvPr id="2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3238" y="146304"/>
            <a:ext cx="3657600" cy="219456"/>
          </a:xfrm>
          <a:prstGeom prst="rect">
            <a:avLst/>
          </a:prstGeom>
          <a:noFill/>
        </p:spPr>
        <p:txBody>
          <a:bodyPr wrap="square" lIns="0" tIns="0" rIns="0" bIns="0" rtlCol="0" anchor="ctr"/>
          <a:lstStyle/>
          <a:p>
            <a:pPr marL="0" indent="0">
              <a:buNone/>
            </a:pPr>
            <a:r>
              <a:rPr lang="en-US" sz="1000" b="1" dirty="0">
                <a:solidFill>
                  <a:srgbClr val="2563EB"/>
                </a:solidFill>
              </a:rPr>
              <a:t>EVIDENCE CASE</a:t>
            </a:r>
            <a:endParaRPr lang="en-US" sz="1000" dirty="0"/>
          </a:p>
        </p:txBody>
      </p:sp>
      <p:sp>
        <p:nvSpPr>
          <p:cNvPr id="3" name="Text 1"/>
          <p:cNvSpPr/>
          <p:nvPr/>
        </p:nvSpPr>
        <p:spPr>
          <a:xfrm>
            <a:off x="503238" y="393192"/>
            <a:ext cx="11155680" cy="457200"/>
          </a:xfrm>
          <a:prstGeom prst="rect">
            <a:avLst/>
          </a:prstGeom>
          <a:noFill/>
        </p:spPr>
        <p:txBody>
          <a:bodyPr wrap="square" lIns="0" tIns="0" rIns="0" bIns="0" rtlCol="0" anchor="ctr">
            <a:normAutofit/>
          </a:bodyPr>
          <a:lstStyle/>
          <a:p>
            <a:pPr marL="0" indent="0">
              <a:buNone/>
            </a:pPr>
            <a:r>
              <a:rPr lang="en-US" sz="2550" b="1" dirty="0">
                <a:solidFill>
                  <a:srgbClr val="102A43"/>
                </a:solidFill>
                <a:latin typeface="Aptos Display" pitchFamily="34" charset="0"/>
                <a:ea typeface="Aptos Display" pitchFamily="34" charset="-122"/>
                <a:cs typeface="Aptos Display" pitchFamily="34" charset="-120"/>
              </a:rPr>
              <a:t>Case 4. User ✗ Item ✓ Direct ✗</a:t>
            </a:r>
            <a:endParaRPr lang="en-US" sz="2550" dirty="0"/>
          </a:p>
        </p:txBody>
      </p:sp>
      <p:sp>
        <p:nvSpPr>
          <p:cNvPr id="4" name="Text 2"/>
          <p:cNvSpPr/>
          <p:nvPr/>
        </p:nvSpPr>
        <p:spPr>
          <a:xfrm>
            <a:off x="530670" y="859536"/>
            <a:ext cx="10789920" cy="228600"/>
          </a:xfrm>
          <a:prstGeom prst="rect">
            <a:avLst/>
          </a:prstGeom>
          <a:noFill/>
        </p:spPr>
        <p:txBody>
          <a:bodyPr wrap="square" lIns="0" tIns="0" rIns="0" bIns="0" rtlCol="0" anchor="ctr">
            <a:normAutofit/>
          </a:bodyPr>
          <a:lstStyle/>
          <a:p>
            <a:pPr marL="0" indent="0">
              <a:buNone/>
            </a:pPr>
            <a:r>
              <a:rPr lang="en-US" sz="1150" dirty="0">
                <a:solidFill>
                  <a:srgbClr val="475569"/>
                </a:solidFill>
              </a:rPr>
              <a:t>Only business evidence exists: the rating becomes item-grounded.</a:t>
            </a:r>
            <a:endParaRPr lang="en-US" sz="1150" dirty="0"/>
          </a:p>
        </p:txBody>
      </p:sp>
      <p:sp>
        <p:nvSpPr>
          <p:cNvPr id="5" name="Shape 3"/>
          <p:cNvSpPr/>
          <p:nvPr/>
        </p:nvSpPr>
        <p:spPr>
          <a:xfrm>
            <a:off x="503238" y="1143000"/>
            <a:ext cx="11155680" cy="0"/>
          </a:xfrm>
          <a:prstGeom prst="line">
            <a:avLst/>
          </a:prstGeom>
          <a:noFill/>
          <a:ln w="10160">
            <a:solidFill>
              <a:srgbClr val="CBD5E1"/>
            </a:solidFill>
            <a:prstDash val="solid"/>
          </a:ln>
        </p:spPr>
      </p:sp>
      <p:sp>
        <p:nvSpPr>
          <p:cNvPr id="6" name="Text 4"/>
          <p:cNvSpPr/>
          <p:nvPr/>
        </p:nvSpPr>
        <p:spPr>
          <a:xfrm>
            <a:off x="548958" y="1243584"/>
            <a:ext cx="886968" cy="301752"/>
          </a:xfrm>
          <a:prstGeom prst="roundRect">
            <a:avLst>
              <a:gd name="adj" fmla="val 39394"/>
            </a:avLst>
          </a:prstGeom>
          <a:solidFill>
            <a:srgbClr val="F1F5F9"/>
          </a:solidFill>
          <a:ln w="11430">
            <a:solidFill>
              <a:srgbClr val="CBD5E1"/>
            </a:solidFill>
          </a:ln>
        </p:spPr>
        <p:txBody>
          <a:bodyPr wrap="square" lIns="254" tIns="254" rIns="254" bIns="254" rtlCol="0" anchor="ctr">
            <a:normAutofit/>
          </a:bodyPr>
          <a:lstStyle/>
          <a:p>
            <a:pPr marL="0" indent="0" algn="ctr">
              <a:buNone/>
            </a:pPr>
            <a:r>
              <a:rPr lang="en-US" sz="1050" b="1" dirty="0">
                <a:solidFill>
                  <a:srgbClr val="64748B"/>
                </a:solidFill>
                <a:latin typeface="Aptos" pitchFamily="34" charset="0"/>
                <a:ea typeface="Aptos" pitchFamily="34" charset="-122"/>
                <a:cs typeface="Aptos" pitchFamily="34" charset="-120"/>
              </a:rPr>
              <a:t>USER ✗</a:t>
            </a:r>
            <a:endParaRPr lang="en-US" sz="1050" dirty="0"/>
          </a:p>
        </p:txBody>
      </p:sp>
      <p:sp>
        <p:nvSpPr>
          <p:cNvPr id="7" name="Text 5"/>
          <p:cNvSpPr/>
          <p:nvPr/>
        </p:nvSpPr>
        <p:spPr>
          <a:xfrm>
            <a:off x="1527366" y="1243584"/>
            <a:ext cx="886968" cy="301752"/>
          </a:xfrm>
          <a:prstGeom prst="roundRect">
            <a:avLst>
              <a:gd name="adj" fmla="val 39394"/>
            </a:avLst>
          </a:prstGeom>
          <a:solidFill>
            <a:srgbClr val="ECFDF5"/>
          </a:solidFill>
          <a:ln w="11430">
            <a:solidFill>
              <a:srgbClr val="0F766E"/>
            </a:solidFill>
          </a:ln>
        </p:spPr>
        <p:txBody>
          <a:bodyPr wrap="square" lIns="254" tIns="254" rIns="254" bIns="254" rtlCol="0" anchor="ctr">
            <a:normAutofit/>
          </a:bodyPr>
          <a:lstStyle/>
          <a:p>
            <a:pPr marL="0" indent="0" algn="ctr">
              <a:buNone/>
            </a:pPr>
            <a:r>
              <a:rPr lang="en-US" sz="1050" b="1" dirty="0">
                <a:solidFill>
                  <a:srgbClr val="0F766E"/>
                </a:solidFill>
                <a:latin typeface="Aptos" pitchFamily="34" charset="0"/>
                <a:ea typeface="Aptos" pitchFamily="34" charset="-122"/>
                <a:cs typeface="Aptos" pitchFamily="34" charset="-120"/>
              </a:rPr>
              <a:t>ITEM ✓</a:t>
            </a:r>
            <a:endParaRPr lang="en-US" sz="1050" dirty="0"/>
          </a:p>
        </p:txBody>
      </p:sp>
      <p:sp>
        <p:nvSpPr>
          <p:cNvPr id="8" name="Text 6"/>
          <p:cNvSpPr/>
          <p:nvPr/>
        </p:nvSpPr>
        <p:spPr>
          <a:xfrm>
            <a:off x="2505774" y="1243584"/>
            <a:ext cx="886968" cy="301752"/>
          </a:xfrm>
          <a:prstGeom prst="roundRect">
            <a:avLst>
              <a:gd name="adj" fmla="val 39394"/>
            </a:avLst>
          </a:prstGeom>
          <a:solidFill>
            <a:srgbClr val="F1F5F9"/>
          </a:solidFill>
          <a:ln w="11430">
            <a:solidFill>
              <a:srgbClr val="CBD5E1"/>
            </a:solidFill>
          </a:ln>
        </p:spPr>
        <p:txBody>
          <a:bodyPr wrap="square" lIns="254" tIns="254" rIns="254" bIns="254" rtlCol="0" anchor="ctr">
            <a:normAutofit/>
          </a:bodyPr>
          <a:lstStyle/>
          <a:p>
            <a:pPr marL="0" indent="0" algn="ctr">
              <a:buNone/>
            </a:pPr>
            <a:r>
              <a:rPr lang="en-US" sz="1050" b="1" dirty="0">
                <a:solidFill>
                  <a:srgbClr val="64748B"/>
                </a:solidFill>
                <a:latin typeface="Aptos" pitchFamily="34" charset="0"/>
                <a:ea typeface="Aptos" pitchFamily="34" charset="-122"/>
                <a:cs typeface="Aptos" pitchFamily="34" charset="-120"/>
              </a:rPr>
              <a:t>DIRECT ✗</a:t>
            </a:r>
            <a:endParaRPr lang="en-US" sz="1050" dirty="0"/>
          </a:p>
        </p:txBody>
      </p:sp>
      <p:sp>
        <p:nvSpPr>
          <p:cNvPr id="9" name="Shape 7"/>
          <p:cNvSpPr/>
          <p:nvPr/>
        </p:nvSpPr>
        <p:spPr>
          <a:xfrm>
            <a:off x="548958" y="1664208"/>
            <a:ext cx="2880360" cy="3310128"/>
          </a:xfrm>
          <a:prstGeom prst="roundRect">
            <a:avLst>
              <a:gd name="adj" fmla="val 4444"/>
            </a:avLst>
          </a:prstGeom>
          <a:solidFill>
            <a:srgbClr val="F8FAFC"/>
          </a:solidFill>
          <a:ln w="12700">
            <a:solidFill>
              <a:srgbClr val="2563EB">
                <a:alpha val="65000"/>
              </a:srgbClr>
            </a:solidFill>
            <a:prstDash val="solid"/>
          </a:ln>
        </p:spPr>
      </p:sp>
      <p:sp>
        <p:nvSpPr>
          <p:cNvPr id="10" name="Text 8"/>
          <p:cNvSpPr/>
          <p:nvPr/>
        </p:nvSpPr>
        <p:spPr>
          <a:xfrm>
            <a:off x="713550" y="1773936"/>
            <a:ext cx="2551176" cy="228600"/>
          </a:xfrm>
          <a:prstGeom prst="rect">
            <a:avLst/>
          </a:prstGeom>
          <a:noFill/>
        </p:spPr>
        <p:txBody>
          <a:bodyPr wrap="square" lIns="0" tIns="0" rIns="0" bIns="0" rtlCol="0" anchor="ctr"/>
          <a:lstStyle/>
          <a:p>
            <a:pPr marL="0" indent="0">
              <a:buNone/>
            </a:pPr>
            <a:r>
              <a:rPr lang="en-US" sz="1400" b="1" dirty="0">
                <a:solidFill>
                  <a:srgbClr val="2563EB"/>
                </a:solidFill>
              </a:rPr>
              <a:t>INPUT EVIDENCE</a:t>
            </a:r>
            <a:endParaRPr lang="en-US" sz="1400" b="1" dirty="0">
              <a:solidFill>
                <a:srgbClr val="2563EB"/>
              </a:solidFill>
            </a:endParaRPr>
          </a:p>
        </p:txBody>
      </p:sp>
      <p:sp>
        <p:nvSpPr>
          <p:cNvPr id="11" name="Text 9"/>
          <p:cNvSpPr/>
          <p:nvPr/>
        </p:nvSpPr>
        <p:spPr>
          <a:xfrm>
            <a:off x="713550" y="2057400"/>
            <a:ext cx="2551176" cy="2834640"/>
          </a:xfrm>
          <a:prstGeom prst="rect">
            <a:avLst/>
          </a:prstGeom>
          <a:noFill/>
        </p:spPr>
        <p:txBody>
          <a:bodyPr wrap="square" lIns="254" tIns="254" rIns="254" bIns="254" rtlCol="0" anchor="ctr">
            <a:normAutofit/>
          </a:bodyPr>
          <a:lstStyle/>
          <a:p>
            <a:pPr marL="0" indent="0">
              <a:buNone/>
            </a:pPr>
            <a:r>
              <a:rPr lang="en-US" sz="1400" dirty="0">
                <a:solidFill>
                  <a:srgbClr val="102A43"/>
                </a:solidFill>
              </a:rPr>
              <a:t>user = missing</a:t>
            </a:r>
            <a:endParaRPr lang="en-US" sz="1400" dirty="0"/>
          </a:p>
          <a:p>
            <a:pPr marL="0" indent="0">
              <a:buNone/>
            </a:pPr>
            <a:endParaRPr lang="en-US" sz="1400" dirty="0"/>
          </a:p>
          <a:p>
            <a:pPr marL="0" indent="0">
              <a:buNone/>
            </a:pPr>
            <a:r>
              <a:rPr lang="en-US" sz="1400" dirty="0">
                <a:solidFill>
                  <a:srgbClr val="102A43"/>
                </a:solidFill>
              </a:rPr>
              <a:t>item.stars = 4.2</a:t>
            </a:r>
            <a:endParaRPr lang="en-US" sz="1400" dirty="0"/>
          </a:p>
          <a:p>
            <a:pPr marL="0" indent="0">
              <a:buNone/>
            </a:pPr>
            <a:r>
              <a:rPr lang="en-US" sz="1400" dirty="0">
                <a:solidFill>
                  <a:srgbClr val="102A43"/>
                </a:solidFill>
              </a:rPr>
              <a:t>item_history_avg = 4.0</a:t>
            </a:r>
            <a:endParaRPr lang="en-US" sz="1400" dirty="0"/>
          </a:p>
          <a:p>
            <a:pPr marL="0" indent="0">
              <a:buNone/>
            </a:pPr>
            <a:r>
              <a:rPr lang="en-US" sz="1400" dirty="0">
                <a:solidFill>
                  <a:srgbClr val="102A43"/>
                </a:solidFill>
              </a:rPr>
              <a:t>item.review_count = 100</a:t>
            </a:r>
            <a:endParaRPr lang="en-US" sz="1400" dirty="0"/>
          </a:p>
          <a:p>
            <a:pPr marL="0" indent="0">
              <a:buNone/>
            </a:pPr>
            <a:endParaRPr lang="en-US" sz="1400" dirty="0"/>
          </a:p>
          <a:p>
            <a:pPr marL="0" indent="0">
              <a:buNone/>
            </a:pPr>
            <a:r>
              <a:rPr lang="en-US" sz="1400" dirty="0">
                <a:solidFill>
                  <a:srgbClr val="102A43"/>
                </a:solidFill>
              </a:rPr>
              <a:t>direct_review = missing</a:t>
            </a:r>
            <a:endParaRPr lang="en-US" sz="1400" dirty="0">
              <a:solidFill>
                <a:srgbClr val="102A43"/>
              </a:solidFill>
            </a:endParaRPr>
          </a:p>
        </p:txBody>
      </p:sp>
      <p:sp>
        <p:nvSpPr>
          <p:cNvPr id="12" name="Shape 10"/>
          <p:cNvSpPr/>
          <p:nvPr/>
        </p:nvSpPr>
        <p:spPr>
          <a:xfrm>
            <a:off x="3703638" y="1243584"/>
            <a:ext cx="4069080" cy="3730752"/>
          </a:xfrm>
          <a:prstGeom prst="roundRect">
            <a:avLst>
              <a:gd name="adj" fmla="val 2941"/>
            </a:avLst>
          </a:prstGeom>
          <a:solidFill>
            <a:srgbClr val="0B1220"/>
          </a:solidFill>
          <a:ln w="12700">
            <a:solidFill>
              <a:srgbClr val="1E293B"/>
            </a:solidFill>
            <a:prstDash val="solid"/>
          </a:ln>
        </p:spPr>
      </p:sp>
      <p:sp>
        <p:nvSpPr>
          <p:cNvPr id="13" name="Text 11"/>
          <p:cNvSpPr/>
          <p:nvPr/>
        </p:nvSpPr>
        <p:spPr>
          <a:xfrm>
            <a:off x="3868230" y="1353312"/>
            <a:ext cx="3739896" cy="237744"/>
          </a:xfrm>
          <a:prstGeom prst="rect">
            <a:avLst/>
          </a:prstGeom>
          <a:noFill/>
        </p:spPr>
        <p:txBody>
          <a:bodyPr wrap="square" lIns="0" tIns="0" rIns="0" bIns="0" rtlCol="0" anchor="ctr"/>
          <a:lstStyle/>
          <a:p>
            <a:pPr marL="0" indent="0">
              <a:buNone/>
            </a:pPr>
            <a:r>
              <a:rPr lang="en-US" sz="1400" b="1" dirty="0">
                <a:solidFill>
                  <a:srgbClr val="93C5FD"/>
                </a:solidFill>
              </a:rPr>
              <a:t>FORMULA</a:t>
            </a:r>
            <a:endParaRPr lang="en-US" sz="1400" b="1" dirty="0">
              <a:solidFill>
                <a:srgbClr val="93C5FD"/>
              </a:solidFill>
            </a:endParaRPr>
          </a:p>
        </p:txBody>
      </p:sp>
      <p:sp>
        <p:nvSpPr>
          <p:cNvPr id="14" name="Text 12"/>
          <p:cNvSpPr/>
          <p:nvPr/>
        </p:nvSpPr>
        <p:spPr>
          <a:xfrm>
            <a:off x="3868230" y="1645920"/>
            <a:ext cx="3739896" cy="3236976"/>
          </a:xfrm>
          <a:prstGeom prst="rect">
            <a:avLst/>
          </a:prstGeom>
          <a:noFill/>
        </p:spPr>
        <p:txBody>
          <a:bodyPr wrap="square" lIns="0" tIns="0" rIns="0" bIns="0" rtlCol="0" anchor="ctr">
            <a:normAutofit/>
          </a:bodyPr>
          <a:lstStyle/>
          <a:p>
            <a:pPr marL="0" indent="0">
              <a:buNone/>
            </a:pPr>
            <a:r>
              <a:rPr lang="en-US" sz="1400" dirty="0">
                <a:solidFill>
                  <a:srgbClr val="FFFFFF"/>
                </a:solidFill>
                <a:latin typeface="Aptos Mono" pitchFamily="34" charset="0"/>
                <a:ea typeface="Aptos Mono" pitchFamily="34" charset="-122"/>
                <a:cs typeface="Aptos Mono" pitchFamily="34" charset="-120"/>
              </a:rPr>
              <a:t>item_signal = 0.80×4.2 + 0.20×4.0 = 4.16</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Only item evidence exists:</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score = item_signal = 4.16</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predicted_stars = round_half_up(4.16, 1)</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predicted_stars = 4.2</a:t>
            </a:r>
            <a:endParaRPr lang="en-US" sz="1400" dirty="0">
              <a:solidFill>
                <a:srgbClr val="FFFFFF"/>
              </a:solidFill>
              <a:latin typeface="Aptos Mono" pitchFamily="34" charset="0"/>
              <a:ea typeface="Aptos Mono" pitchFamily="34" charset="-122"/>
              <a:cs typeface="Aptos Mono" pitchFamily="34" charset="-120"/>
            </a:endParaRPr>
          </a:p>
        </p:txBody>
      </p:sp>
      <p:sp>
        <p:nvSpPr>
          <p:cNvPr id="15" name="Shape 13"/>
          <p:cNvSpPr/>
          <p:nvPr/>
        </p:nvSpPr>
        <p:spPr>
          <a:xfrm>
            <a:off x="8074470" y="1243584"/>
            <a:ext cx="3566160" cy="1847088"/>
          </a:xfrm>
          <a:prstGeom prst="roundRect">
            <a:avLst>
              <a:gd name="adj" fmla="val 6931"/>
            </a:avLst>
          </a:prstGeom>
          <a:solidFill>
            <a:srgbClr val="EFF6FF"/>
          </a:solidFill>
          <a:ln w="12700">
            <a:solidFill>
              <a:srgbClr val="2563EB">
                <a:alpha val="65000"/>
              </a:srgbClr>
            </a:solidFill>
            <a:prstDash val="solid"/>
          </a:ln>
        </p:spPr>
      </p:sp>
      <p:sp>
        <p:nvSpPr>
          <p:cNvPr id="16" name="Text 14"/>
          <p:cNvSpPr/>
          <p:nvPr/>
        </p:nvSpPr>
        <p:spPr>
          <a:xfrm>
            <a:off x="8239062" y="1353312"/>
            <a:ext cx="3236976" cy="228600"/>
          </a:xfrm>
          <a:prstGeom prst="rect">
            <a:avLst/>
          </a:prstGeom>
          <a:noFill/>
        </p:spPr>
        <p:txBody>
          <a:bodyPr wrap="square" lIns="0" tIns="0" rIns="0" bIns="0" rtlCol="0" anchor="ctr"/>
          <a:lstStyle/>
          <a:p>
            <a:pPr marL="0" indent="0">
              <a:buNone/>
            </a:pPr>
            <a:r>
              <a:rPr lang="en-US" sz="1400" b="1" dirty="0">
                <a:solidFill>
                  <a:srgbClr val="2563EB"/>
                </a:solidFill>
              </a:rPr>
              <a:t>IN WORDS</a:t>
            </a:r>
            <a:endParaRPr lang="en-US" sz="1400" b="1" dirty="0">
              <a:solidFill>
                <a:srgbClr val="2563EB"/>
              </a:solidFill>
            </a:endParaRPr>
          </a:p>
        </p:txBody>
      </p:sp>
      <p:sp>
        <p:nvSpPr>
          <p:cNvPr id="17" name="Text 15"/>
          <p:cNvSpPr/>
          <p:nvPr/>
        </p:nvSpPr>
        <p:spPr>
          <a:xfrm>
            <a:off x="8239062" y="1636776"/>
            <a:ext cx="3236976" cy="1371600"/>
          </a:xfrm>
          <a:prstGeom prst="rect">
            <a:avLst/>
          </a:prstGeom>
          <a:noFill/>
        </p:spPr>
        <p:txBody>
          <a:bodyPr wrap="square" lIns="254" tIns="254" rIns="254" bIns="254" rtlCol="0" anchor="ctr">
            <a:normAutofit/>
          </a:bodyPr>
          <a:lstStyle/>
          <a:p>
            <a:pPr marL="0" indent="0">
              <a:buNone/>
            </a:pPr>
            <a:r>
              <a:rPr lang="en-US" sz="1600" dirty="0">
                <a:solidFill>
                  <a:srgbClr val="102A43"/>
                </a:solidFill>
              </a:rPr>
              <a:t>There is no user profile and no direct interaction. The system only trusts item profile and item review history.</a:t>
            </a:r>
            <a:endParaRPr lang="en-US" sz="1600" dirty="0">
              <a:solidFill>
                <a:srgbClr val="102A43"/>
              </a:solidFill>
            </a:endParaRPr>
          </a:p>
        </p:txBody>
      </p:sp>
      <p:sp>
        <p:nvSpPr>
          <p:cNvPr id="18" name="Shape 16"/>
          <p:cNvSpPr/>
          <p:nvPr/>
        </p:nvSpPr>
        <p:spPr>
          <a:xfrm>
            <a:off x="8074470" y="3291840"/>
            <a:ext cx="3566160" cy="1682496"/>
          </a:xfrm>
          <a:prstGeom prst="roundRect">
            <a:avLst>
              <a:gd name="adj" fmla="val 7609"/>
            </a:avLst>
          </a:prstGeom>
          <a:solidFill>
            <a:srgbClr val="ECFDF5"/>
          </a:solidFill>
          <a:ln w="12700">
            <a:solidFill>
              <a:srgbClr val="0F766E">
                <a:alpha val="65000"/>
              </a:srgbClr>
            </a:solidFill>
            <a:prstDash val="solid"/>
          </a:ln>
        </p:spPr>
      </p:sp>
      <p:sp>
        <p:nvSpPr>
          <p:cNvPr id="19" name="Text 17"/>
          <p:cNvSpPr/>
          <p:nvPr/>
        </p:nvSpPr>
        <p:spPr>
          <a:xfrm>
            <a:off x="8239062" y="3401568"/>
            <a:ext cx="3236976" cy="228600"/>
          </a:xfrm>
          <a:prstGeom prst="rect">
            <a:avLst/>
          </a:prstGeom>
          <a:noFill/>
        </p:spPr>
        <p:txBody>
          <a:bodyPr wrap="square" lIns="0" tIns="0" rIns="0" bIns="0" rtlCol="0" anchor="ctr"/>
          <a:lstStyle/>
          <a:p>
            <a:pPr marL="0" indent="0">
              <a:buNone/>
            </a:pPr>
            <a:r>
              <a:rPr lang="en-US" sz="1400" b="1" dirty="0">
                <a:solidFill>
                  <a:srgbClr val="0F766E"/>
                </a:solidFill>
              </a:rPr>
              <a:t>REVIEW GENERATION</a:t>
            </a:r>
            <a:endParaRPr lang="en-US" sz="1400" b="1" dirty="0">
              <a:solidFill>
                <a:srgbClr val="0F766E"/>
              </a:solidFill>
            </a:endParaRPr>
          </a:p>
        </p:txBody>
      </p:sp>
      <p:sp>
        <p:nvSpPr>
          <p:cNvPr id="20" name="Text 18"/>
          <p:cNvSpPr/>
          <p:nvPr/>
        </p:nvSpPr>
        <p:spPr>
          <a:xfrm>
            <a:off x="8239062" y="3685032"/>
            <a:ext cx="3236976" cy="1207008"/>
          </a:xfrm>
          <a:prstGeom prst="rect">
            <a:avLst/>
          </a:prstGeom>
          <a:noFill/>
        </p:spPr>
        <p:txBody>
          <a:bodyPr wrap="square" lIns="254" tIns="254" rIns="254" bIns="254" rtlCol="0" anchor="ctr">
            <a:normAutofit/>
          </a:bodyPr>
          <a:lstStyle/>
          <a:p>
            <a:pPr marL="0" indent="0">
              <a:buNone/>
            </a:pPr>
            <a:r>
              <a:rPr lang="en-US" sz="1600" dirty="0">
                <a:solidFill>
                  <a:srgbClr val="102A43"/>
                </a:solidFill>
              </a:rPr>
              <a:t>Write an item-grounded review. Avoid user voice and direct-visit claims.</a:t>
            </a:r>
            <a:endParaRPr lang="en-US" sz="1600" dirty="0">
              <a:solidFill>
                <a:srgbClr val="102A43"/>
              </a:solidFill>
            </a:endParaRPr>
          </a:p>
        </p:txBody>
      </p:sp>
      <p:sp>
        <p:nvSpPr>
          <p:cNvPr id="21" name="Text 19"/>
          <p:cNvSpPr/>
          <p:nvPr/>
        </p:nvSpPr>
        <p:spPr>
          <a:xfrm>
            <a:off x="548958" y="5230368"/>
            <a:ext cx="11091672" cy="1078992"/>
          </a:xfrm>
          <a:prstGeom prst="roundRect">
            <a:avLst>
              <a:gd name="adj" fmla="val 11017"/>
            </a:avLst>
          </a:prstGeom>
          <a:solidFill>
            <a:srgbClr val="102A43"/>
          </a:solidFill>
          <a:ln w="11430">
            <a:solidFill>
              <a:srgbClr val="102A43"/>
            </a:solidFill>
          </a:ln>
        </p:spPr>
        <p:txBody>
          <a:bodyPr wrap="square" lIns="1778" tIns="1778" rIns="1778" bIns="1778" rtlCol="0" anchor="ctr">
            <a:normAutofit/>
          </a:bodyPr>
          <a:lstStyle/>
          <a:p>
            <a:pPr marL="0" indent="0" algn="l">
              <a:buNone/>
            </a:pPr>
            <a:r>
              <a:rPr lang="en-US" sz="1400" dirty="0">
                <a:solidFill>
                  <a:srgbClr val="FFFFFF"/>
                </a:solidFill>
                <a:latin typeface="Aptos Mono" pitchFamily="34" charset="0"/>
                <a:ea typeface="Aptos Mono" pitchFamily="34" charset="-122"/>
                <a:cs typeface="Aptos Mono" pitchFamily="34" charset="-120"/>
              </a:rPr>
              <a:t>{"stars": 4.2, "review": "This seems like a generally solid business based on the item-level evidence. The tone is positive, but it avoids user-specific claims."}</a:t>
            </a:r>
            <a:endParaRPr lang="en-US" sz="1400" dirty="0">
              <a:solidFill>
                <a:srgbClr val="FFFFFF"/>
              </a:solidFill>
              <a:latin typeface="Aptos Mono" pitchFamily="34" charset="0"/>
              <a:ea typeface="Aptos Mono" pitchFamily="34" charset="-122"/>
              <a:cs typeface="Aptos Mono" pitchFamily="34" charset="-120"/>
            </a:endParaRPr>
          </a:p>
        </p:txBody>
      </p:sp>
      <p:sp>
        <p:nvSpPr>
          <p:cNvPr id="2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3238" y="146304"/>
            <a:ext cx="3657600" cy="219456"/>
          </a:xfrm>
          <a:prstGeom prst="rect">
            <a:avLst/>
          </a:prstGeom>
          <a:noFill/>
        </p:spPr>
        <p:txBody>
          <a:bodyPr wrap="square" lIns="0" tIns="0" rIns="0" bIns="0" rtlCol="0" anchor="ctr"/>
          <a:lstStyle/>
          <a:p>
            <a:pPr marL="0" indent="0">
              <a:buNone/>
            </a:pPr>
            <a:r>
              <a:rPr lang="en-US" sz="1000" b="1" dirty="0">
                <a:solidFill>
                  <a:srgbClr val="2563EB"/>
                </a:solidFill>
              </a:rPr>
              <a:t>EVIDENCE CASE</a:t>
            </a:r>
            <a:endParaRPr lang="en-US" sz="1000" dirty="0"/>
          </a:p>
        </p:txBody>
      </p:sp>
      <p:sp>
        <p:nvSpPr>
          <p:cNvPr id="3" name="Text 1"/>
          <p:cNvSpPr/>
          <p:nvPr/>
        </p:nvSpPr>
        <p:spPr>
          <a:xfrm>
            <a:off x="503238" y="393192"/>
            <a:ext cx="11155680" cy="457200"/>
          </a:xfrm>
          <a:prstGeom prst="rect">
            <a:avLst/>
          </a:prstGeom>
          <a:noFill/>
        </p:spPr>
        <p:txBody>
          <a:bodyPr wrap="square" lIns="0" tIns="0" rIns="0" bIns="0" rtlCol="0" anchor="ctr">
            <a:normAutofit/>
          </a:bodyPr>
          <a:lstStyle/>
          <a:p>
            <a:pPr marL="0" indent="0">
              <a:buNone/>
            </a:pPr>
            <a:r>
              <a:rPr lang="en-US" sz="2550" b="1" dirty="0">
                <a:solidFill>
                  <a:srgbClr val="102A43"/>
                </a:solidFill>
                <a:latin typeface="Aptos Display" pitchFamily="34" charset="0"/>
                <a:ea typeface="Aptos Display" pitchFamily="34" charset="-122"/>
                <a:cs typeface="Aptos Display" pitchFamily="34" charset="-120"/>
              </a:rPr>
              <a:t>Case 5. User ✓ Item ✗ Direct ✓</a:t>
            </a:r>
            <a:endParaRPr lang="en-US" sz="2550" dirty="0"/>
          </a:p>
        </p:txBody>
      </p:sp>
      <p:sp>
        <p:nvSpPr>
          <p:cNvPr id="4" name="Text 2"/>
          <p:cNvSpPr/>
          <p:nvPr/>
        </p:nvSpPr>
        <p:spPr>
          <a:xfrm>
            <a:off x="530670" y="859536"/>
            <a:ext cx="10789920" cy="228600"/>
          </a:xfrm>
          <a:prstGeom prst="rect">
            <a:avLst/>
          </a:prstGeom>
          <a:noFill/>
        </p:spPr>
        <p:txBody>
          <a:bodyPr wrap="square" lIns="0" tIns="0" rIns="0" bIns="0" rtlCol="0" anchor="ctr">
            <a:normAutofit/>
          </a:bodyPr>
          <a:lstStyle/>
          <a:p>
            <a:pPr marL="0" indent="0">
              <a:buNone/>
            </a:pPr>
            <a:r>
              <a:rPr lang="en-US" sz="1150" dirty="0">
                <a:solidFill>
                  <a:srgbClr val="475569"/>
                </a:solidFill>
              </a:rPr>
              <a:t>Item profile missing: direct review remains the main evidence.</a:t>
            </a:r>
            <a:endParaRPr lang="en-US" sz="1150" dirty="0"/>
          </a:p>
        </p:txBody>
      </p:sp>
      <p:sp>
        <p:nvSpPr>
          <p:cNvPr id="5" name="Shape 3"/>
          <p:cNvSpPr/>
          <p:nvPr/>
        </p:nvSpPr>
        <p:spPr>
          <a:xfrm>
            <a:off x="503238" y="1143000"/>
            <a:ext cx="11155680" cy="0"/>
          </a:xfrm>
          <a:prstGeom prst="line">
            <a:avLst/>
          </a:prstGeom>
          <a:noFill/>
          <a:ln w="10160">
            <a:solidFill>
              <a:srgbClr val="CBD5E1"/>
            </a:solidFill>
            <a:prstDash val="solid"/>
          </a:ln>
        </p:spPr>
      </p:sp>
      <p:sp>
        <p:nvSpPr>
          <p:cNvPr id="6" name="Text 4"/>
          <p:cNvSpPr/>
          <p:nvPr/>
        </p:nvSpPr>
        <p:spPr>
          <a:xfrm>
            <a:off x="548958" y="1243584"/>
            <a:ext cx="886968" cy="301752"/>
          </a:xfrm>
          <a:prstGeom prst="roundRect">
            <a:avLst>
              <a:gd name="adj" fmla="val 39394"/>
            </a:avLst>
          </a:prstGeom>
          <a:solidFill>
            <a:srgbClr val="EFF6FF"/>
          </a:solidFill>
          <a:ln w="11430">
            <a:solidFill>
              <a:srgbClr val="2563EB"/>
            </a:solidFill>
          </a:ln>
        </p:spPr>
        <p:txBody>
          <a:bodyPr wrap="square" lIns="254" tIns="254" rIns="254" bIns="254" rtlCol="0" anchor="ctr">
            <a:normAutofit/>
          </a:bodyPr>
          <a:lstStyle/>
          <a:p>
            <a:pPr marL="0" indent="0" algn="ctr">
              <a:buNone/>
            </a:pPr>
            <a:r>
              <a:rPr lang="en-US" sz="1050" b="1" dirty="0">
                <a:solidFill>
                  <a:srgbClr val="2563EB"/>
                </a:solidFill>
                <a:latin typeface="Aptos" pitchFamily="34" charset="0"/>
                <a:ea typeface="Aptos" pitchFamily="34" charset="-122"/>
                <a:cs typeface="Aptos" pitchFamily="34" charset="-120"/>
              </a:rPr>
              <a:t>USER ✓</a:t>
            </a:r>
            <a:endParaRPr lang="en-US" sz="1050" dirty="0"/>
          </a:p>
        </p:txBody>
      </p:sp>
      <p:sp>
        <p:nvSpPr>
          <p:cNvPr id="7" name="Text 5"/>
          <p:cNvSpPr/>
          <p:nvPr/>
        </p:nvSpPr>
        <p:spPr>
          <a:xfrm>
            <a:off x="1527366" y="1243584"/>
            <a:ext cx="886968" cy="301752"/>
          </a:xfrm>
          <a:prstGeom prst="roundRect">
            <a:avLst>
              <a:gd name="adj" fmla="val 39394"/>
            </a:avLst>
          </a:prstGeom>
          <a:solidFill>
            <a:srgbClr val="F1F5F9"/>
          </a:solidFill>
          <a:ln w="11430">
            <a:solidFill>
              <a:srgbClr val="CBD5E1"/>
            </a:solidFill>
          </a:ln>
        </p:spPr>
        <p:txBody>
          <a:bodyPr wrap="square" lIns="254" tIns="254" rIns="254" bIns="254" rtlCol="0" anchor="ctr">
            <a:normAutofit/>
          </a:bodyPr>
          <a:lstStyle/>
          <a:p>
            <a:pPr marL="0" indent="0" algn="ctr">
              <a:buNone/>
            </a:pPr>
            <a:r>
              <a:rPr lang="en-US" sz="1050" b="1" dirty="0">
                <a:solidFill>
                  <a:srgbClr val="64748B"/>
                </a:solidFill>
                <a:latin typeface="Aptos" pitchFamily="34" charset="0"/>
                <a:ea typeface="Aptos" pitchFamily="34" charset="-122"/>
                <a:cs typeface="Aptos" pitchFamily="34" charset="-120"/>
              </a:rPr>
              <a:t>ITEM ✗</a:t>
            </a:r>
            <a:endParaRPr lang="en-US" sz="1050" dirty="0"/>
          </a:p>
        </p:txBody>
      </p:sp>
      <p:sp>
        <p:nvSpPr>
          <p:cNvPr id="8" name="Text 6"/>
          <p:cNvSpPr/>
          <p:nvPr/>
        </p:nvSpPr>
        <p:spPr>
          <a:xfrm>
            <a:off x="2505774" y="1243584"/>
            <a:ext cx="886968" cy="301752"/>
          </a:xfrm>
          <a:prstGeom prst="roundRect">
            <a:avLst>
              <a:gd name="adj" fmla="val 39394"/>
            </a:avLst>
          </a:prstGeom>
          <a:solidFill>
            <a:srgbClr val="FFF7ED"/>
          </a:solidFill>
          <a:ln w="11430">
            <a:solidFill>
              <a:srgbClr val="D97706"/>
            </a:solidFill>
          </a:ln>
        </p:spPr>
        <p:txBody>
          <a:bodyPr wrap="square" lIns="254" tIns="254" rIns="254" bIns="254" rtlCol="0" anchor="ctr">
            <a:normAutofit/>
          </a:bodyPr>
          <a:lstStyle/>
          <a:p>
            <a:pPr marL="0" indent="0" algn="ctr">
              <a:buNone/>
            </a:pPr>
            <a:r>
              <a:rPr lang="en-US" sz="1050" b="1" dirty="0">
                <a:solidFill>
                  <a:srgbClr val="D97706"/>
                </a:solidFill>
                <a:latin typeface="Aptos" pitchFamily="34" charset="0"/>
                <a:ea typeface="Aptos" pitchFamily="34" charset="-122"/>
                <a:cs typeface="Aptos" pitchFamily="34" charset="-120"/>
              </a:rPr>
              <a:t>DIRECT ✓</a:t>
            </a:r>
            <a:endParaRPr lang="en-US" sz="1050" dirty="0"/>
          </a:p>
        </p:txBody>
      </p:sp>
      <p:sp>
        <p:nvSpPr>
          <p:cNvPr id="9" name="Shape 7"/>
          <p:cNvSpPr/>
          <p:nvPr/>
        </p:nvSpPr>
        <p:spPr>
          <a:xfrm>
            <a:off x="548958" y="1664208"/>
            <a:ext cx="2880360" cy="3310128"/>
          </a:xfrm>
          <a:prstGeom prst="roundRect">
            <a:avLst>
              <a:gd name="adj" fmla="val 4444"/>
            </a:avLst>
          </a:prstGeom>
          <a:solidFill>
            <a:srgbClr val="F8FAFC"/>
          </a:solidFill>
          <a:ln w="12700">
            <a:solidFill>
              <a:srgbClr val="2563EB">
                <a:alpha val="65000"/>
              </a:srgbClr>
            </a:solidFill>
            <a:prstDash val="solid"/>
          </a:ln>
        </p:spPr>
      </p:sp>
      <p:sp>
        <p:nvSpPr>
          <p:cNvPr id="10" name="Text 8"/>
          <p:cNvSpPr/>
          <p:nvPr/>
        </p:nvSpPr>
        <p:spPr>
          <a:xfrm>
            <a:off x="713550" y="1773936"/>
            <a:ext cx="2551176" cy="228600"/>
          </a:xfrm>
          <a:prstGeom prst="rect">
            <a:avLst/>
          </a:prstGeom>
          <a:noFill/>
        </p:spPr>
        <p:txBody>
          <a:bodyPr wrap="square" lIns="0" tIns="0" rIns="0" bIns="0" rtlCol="0" anchor="ctr"/>
          <a:lstStyle/>
          <a:p>
            <a:pPr marL="0" indent="0">
              <a:buNone/>
            </a:pPr>
            <a:r>
              <a:rPr lang="en-US" sz="1400" b="1" dirty="0">
                <a:solidFill>
                  <a:srgbClr val="2563EB"/>
                </a:solidFill>
              </a:rPr>
              <a:t>INPUT EVIDENCE</a:t>
            </a:r>
            <a:endParaRPr lang="en-US" sz="1400" b="1" dirty="0">
              <a:solidFill>
                <a:srgbClr val="2563EB"/>
              </a:solidFill>
            </a:endParaRPr>
          </a:p>
        </p:txBody>
      </p:sp>
      <p:sp>
        <p:nvSpPr>
          <p:cNvPr id="11" name="Text 9"/>
          <p:cNvSpPr/>
          <p:nvPr/>
        </p:nvSpPr>
        <p:spPr>
          <a:xfrm>
            <a:off x="713550" y="2057400"/>
            <a:ext cx="2551176" cy="2834640"/>
          </a:xfrm>
          <a:prstGeom prst="rect">
            <a:avLst/>
          </a:prstGeom>
          <a:noFill/>
        </p:spPr>
        <p:txBody>
          <a:bodyPr wrap="square" lIns="254" tIns="254" rIns="254" bIns="254" rtlCol="0" anchor="ctr">
            <a:normAutofit/>
          </a:bodyPr>
          <a:lstStyle/>
          <a:p>
            <a:pPr marL="0" indent="0">
              <a:buNone/>
            </a:pPr>
            <a:r>
              <a:rPr lang="en-US" sz="1400" dirty="0">
                <a:solidFill>
                  <a:srgbClr val="102A43"/>
                </a:solidFill>
              </a:rPr>
              <a:t>user.average = 4.6</a:t>
            </a:r>
            <a:endParaRPr lang="en-US" sz="1400" dirty="0"/>
          </a:p>
          <a:p>
            <a:pPr marL="0" indent="0">
              <a:buNone/>
            </a:pPr>
            <a:r>
              <a:rPr lang="en-US" sz="1400" dirty="0">
                <a:solidFill>
                  <a:srgbClr val="102A43"/>
                </a:solidFill>
              </a:rPr>
              <a:t>user_history_avg = 4.2</a:t>
            </a:r>
            <a:endParaRPr lang="en-US" sz="1400" dirty="0"/>
          </a:p>
          <a:p>
            <a:pPr marL="0" indent="0">
              <a:buNone/>
            </a:pPr>
            <a:r>
              <a:rPr lang="en-US" sz="1400" dirty="0">
                <a:solidFill>
                  <a:srgbClr val="102A43"/>
                </a:solidFill>
              </a:rPr>
              <a:t>user.review_count = 40</a:t>
            </a:r>
            <a:endParaRPr lang="en-US" sz="1400" dirty="0"/>
          </a:p>
          <a:p>
            <a:pPr marL="0" indent="0">
              <a:buNone/>
            </a:pPr>
            <a:endParaRPr lang="en-US" sz="1400" dirty="0"/>
          </a:p>
          <a:p>
            <a:pPr marL="0" indent="0">
              <a:buNone/>
            </a:pPr>
            <a:r>
              <a:rPr lang="en-US" sz="1400" dirty="0">
                <a:solidFill>
                  <a:srgbClr val="102A43"/>
                </a:solidFill>
              </a:rPr>
              <a:t>item = missing</a:t>
            </a:r>
            <a:endParaRPr lang="en-US" sz="1400" dirty="0"/>
          </a:p>
          <a:p>
            <a:pPr marL="0" indent="0">
              <a:buNone/>
            </a:pPr>
            <a:endParaRPr lang="en-US" sz="1400" dirty="0"/>
          </a:p>
          <a:p>
            <a:pPr marL="0" indent="0">
              <a:buNone/>
            </a:pPr>
            <a:r>
              <a:rPr lang="en-US" sz="1400" dirty="0">
                <a:solidFill>
                  <a:srgbClr val="102A43"/>
                </a:solidFill>
              </a:rPr>
              <a:t>direct_review_stars = 2.0</a:t>
            </a:r>
            <a:endParaRPr lang="en-US" sz="1400" dirty="0">
              <a:solidFill>
                <a:srgbClr val="102A43"/>
              </a:solidFill>
            </a:endParaRPr>
          </a:p>
        </p:txBody>
      </p:sp>
      <p:sp>
        <p:nvSpPr>
          <p:cNvPr id="12" name="Shape 10"/>
          <p:cNvSpPr/>
          <p:nvPr/>
        </p:nvSpPr>
        <p:spPr>
          <a:xfrm>
            <a:off x="3703638" y="1243584"/>
            <a:ext cx="4069080" cy="3730752"/>
          </a:xfrm>
          <a:prstGeom prst="roundRect">
            <a:avLst>
              <a:gd name="adj" fmla="val 2941"/>
            </a:avLst>
          </a:prstGeom>
          <a:solidFill>
            <a:srgbClr val="0B1220"/>
          </a:solidFill>
          <a:ln w="12700">
            <a:solidFill>
              <a:srgbClr val="1E293B"/>
            </a:solidFill>
            <a:prstDash val="solid"/>
          </a:ln>
        </p:spPr>
      </p:sp>
      <p:sp>
        <p:nvSpPr>
          <p:cNvPr id="13" name="Text 11"/>
          <p:cNvSpPr/>
          <p:nvPr/>
        </p:nvSpPr>
        <p:spPr>
          <a:xfrm>
            <a:off x="3868230" y="1353312"/>
            <a:ext cx="3739896" cy="237744"/>
          </a:xfrm>
          <a:prstGeom prst="rect">
            <a:avLst/>
          </a:prstGeom>
          <a:noFill/>
        </p:spPr>
        <p:txBody>
          <a:bodyPr wrap="square" lIns="0" tIns="0" rIns="0" bIns="0" rtlCol="0" anchor="ctr"/>
          <a:lstStyle/>
          <a:p>
            <a:pPr marL="0" indent="0">
              <a:buNone/>
            </a:pPr>
            <a:r>
              <a:rPr lang="en-US" sz="1400" b="1" dirty="0">
                <a:solidFill>
                  <a:srgbClr val="93C5FD"/>
                </a:solidFill>
              </a:rPr>
              <a:t>FORMULA</a:t>
            </a:r>
            <a:endParaRPr lang="en-US" sz="1400" b="1" dirty="0">
              <a:solidFill>
                <a:srgbClr val="93C5FD"/>
              </a:solidFill>
            </a:endParaRPr>
          </a:p>
        </p:txBody>
      </p:sp>
      <p:sp>
        <p:nvSpPr>
          <p:cNvPr id="14" name="Text 12"/>
          <p:cNvSpPr/>
          <p:nvPr/>
        </p:nvSpPr>
        <p:spPr>
          <a:xfrm>
            <a:off x="3868230" y="1645920"/>
            <a:ext cx="3739896" cy="3236976"/>
          </a:xfrm>
          <a:prstGeom prst="rect">
            <a:avLst/>
          </a:prstGeom>
          <a:noFill/>
        </p:spPr>
        <p:txBody>
          <a:bodyPr wrap="square" lIns="0" tIns="0" rIns="0" bIns="0" rtlCol="0" anchor="ctr">
            <a:normAutofit/>
          </a:bodyPr>
          <a:lstStyle/>
          <a:p>
            <a:pPr marL="0" indent="0">
              <a:buNone/>
            </a:pPr>
            <a:r>
              <a:rPr lang="en-US" sz="1400" dirty="0">
                <a:solidFill>
                  <a:srgbClr val="FFFFFF"/>
                </a:solidFill>
                <a:latin typeface="Aptos Mono" pitchFamily="34" charset="0"/>
                <a:ea typeface="Aptos Mono" pitchFamily="34" charset="-122"/>
                <a:cs typeface="Aptos Mono" pitchFamily="34" charset="-120"/>
              </a:rPr>
              <a:t>user_signal = 0.75×4.6 + 0.25×4.2 = 4.50</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user_weight = 0.20×[1+0.25×min(40/50,1)] = 0.24</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direct_weight = 0.60</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score = (4.50×0.24 + 2.0×0.60) / (0.24+0.60)</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score = 2.714</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Direct cap: max_allowed = 2.0 + 0.4 = 2.4</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score = min(2.714, 2.4) = 2.4</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predicted_stars = 2.4</a:t>
            </a:r>
            <a:endParaRPr lang="en-US" sz="1400" dirty="0">
              <a:solidFill>
                <a:srgbClr val="FFFFFF"/>
              </a:solidFill>
              <a:latin typeface="Aptos Mono" pitchFamily="34" charset="0"/>
              <a:ea typeface="Aptos Mono" pitchFamily="34" charset="-122"/>
              <a:cs typeface="Aptos Mono" pitchFamily="34" charset="-120"/>
            </a:endParaRPr>
          </a:p>
        </p:txBody>
      </p:sp>
      <p:sp>
        <p:nvSpPr>
          <p:cNvPr id="15" name="Shape 13"/>
          <p:cNvSpPr/>
          <p:nvPr/>
        </p:nvSpPr>
        <p:spPr>
          <a:xfrm>
            <a:off x="8074470" y="1243584"/>
            <a:ext cx="3566160" cy="1847088"/>
          </a:xfrm>
          <a:prstGeom prst="roundRect">
            <a:avLst>
              <a:gd name="adj" fmla="val 6931"/>
            </a:avLst>
          </a:prstGeom>
          <a:solidFill>
            <a:srgbClr val="FEF2F2"/>
          </a:solidFill>
          <a:ln w="12700">
            <a:solidFill>
              <a:srgbClr val="DC2626">
                <a:alpha val="65000"/>
              </a:srgbClr>
            </a:solidFill>
            <a:prstDash val="solid"/>
          </a:ln>
        </p:spPr>
      </p:sp>
      <p:sp>
        <p:nvSpPr>
          <p:cNvPr id="16" name="Text 14"/>
          <p:cNvSpPr/>
          <p:nvPr/>
        </p:nvSpPr>
        <p:spPr>
          <a:xfrm>
            <a:off x="8239062" y="1353312"/>
            <a:ext cx="3236976" cy="228600"/>
          </a:xfrm>
          <a:prstGeom prst="rect">
            <a:avLst/>
          </a:prstGeom>
          <a:noFill/>
        </p:spPr>
        <p:txBody>
          <a:bodyPr wrap="square" lIns="0" tIns="0" rIns="0" bIns="0" rtlCol="0" anchor="ctr"/>
          <a:lstStyle/>
          <a:p>
            <a:pPr marL="0" indent="0">
              <a:buNone/>
            </a:pPr>
            <a:r>
              <a:rPr lang="en-US" sz="1400" b="1" dirty="0">
                <a:solidFill>
                  <a:srgbClr val="DC2626"/>
                </a:solidFill>
              </a:rPr>
              <a:t>IN WORDS</a:t>
            </a:r>
            <a:endParaRPr lang="en-US" sz="1400" b="1" dirty="0">
              <a:solidFill>
                <a:srgbClr val="DC2626"/>
              </a:solidFill>
            </a:endParaRPr>
          </a:p>
        </p:txBody>
      </p:sp>
      <p:sp>
        <p:nvSpPr>
          <p:cNvPr id="17" name="Text 15"/>
          <p:cNvSpPr/>
          <p:nvPr/>
        </p:nvSpPr>
        <p:spPr>
          <a:xfrm>
            <a:off x="8239062" y="1636776"/>
            <a:ext cx="3236976" cy="1371600"/>
          </a:xfrm>
          <a:prstGeom prst="rect">
            <a:avLst/>
          </a:prstGeom>
          <a:noFill/>
        </p:spPr>
        <p:txBody>
          <a:bodyPr wrap="square" lIns="254" tIns="254" rIns="254" bIns="254" rtlCol="0" anchor="ctr">
            <a:normAutofit/>
          </a:bodyPr>
          <a:lstStyle/>
          <a:p>
            <a:pPr marL="0" indent="0">
              <a:buNone/>
            </a:pPr>
            <a:r>
              <a:rPr lang="en-US" sz="1600" dirty="0">
                <a:solidFill>
                  <a:srgbClr val="102A43"/>
                </a:solidFill>
              </a:rPr>
              <a:t>The user usually rates high, but the exact direct review is negative. The cap prevents user average from pulling the score too far upward.</a:t>
            </a:r>
            <a:endParaRPr lang="en-US" sz="1600" dirty="0">
              <a:solidFill>
                <a:srgbClr val="102A43"/>
              </a:solidFill>
            </a:endParaRPr>
          </a:p>
        </p:txBody>
      </p:sp>
      <p:sp>
        <p:nvSpPr>
          <p:cNvPr id="18" name="Shape 16"/>
          <p:cNvSpPr/>
          <p:nvPr/>
        </p:nvSpPr>
        <p:spPr>
          <a:xfrm>
            <a:off x="8074470" y="3291840"/>
            <a:ext cx="3566160" cy="1682496"/>
          </a:xfrm>
          <a:prstGeom prst="roundRect">
            <a:avLst>
              <a:gd name="adj" fmla="val 7609"/>
            </a:avLst>
          </a:prstGeom>
          <a:solidFill>
            <a:srgbClr val="ECFDF5"/>
          </a:solidFill>
          <a:ln w="12700">
            <a:solidFill>
              <a:srgbClr val="0F766E">
                <a:alpha val="65000"/>
              </a:srgbClr>
            </a:solidFill>
            <a:prstDash val="solid"/>
          </a:ln>
        </p:spPr>
      </p:sp>
      <p:sp>
        <p:nvSpPr>
          <p:cNvPr id="19" name="Text 17"/>
          <p:cNvSpPr/>
          <p:nvPr/>
        </p:nvSpPr>
        <p:spPr>
          <a:xfrm>
            <a:off x="8239062" y="3401568"/>
            <a:ext cx="3236976" cy="228600"/>
          </a:xfrm>
          <a:prstGeom prst="rect">
            <a:avLst/>
          </a:prstGeom>
          <a:noFill/>
        </p:spPr>
        <p:txBody>
          <a:bodyPr wrap="square" lIns="0" tIns="0" rIns="0" bIns="0" rtlCol="0" anchor="ctr"/>
          <a:lstStyle/>
          <a:p>
            <a:pPr marL="0" indent="0">
              <a:buNone/>
            </a:pPr>
            <a:r>
              <a:rPr lang="en-US" sz="1400" b="1" dirty="0">
                <a:solidFill>
                  <a:srgbClr val="0F766E"/>
                </a:solidFill>
              </a:rPr>
              <a:t>REVIEW GENERATION</a:t>
            </a:r>
            <a:endParaRPr lang="en-US" sz="1400" b="1" dirty="0">
              <a:solidFill>
                <a:srgbClr val="0F766E"/>
              </a:solidFill>
            </a:endParaRPr>
          </a:p>
        </p:txBody>
      </p:sp>
      <p:sp>
        <p:nvSpPr>
          <p:cNvPr id="20" name="Text 18"/>
          <p:cNvSpPr/>
          <p:nvPr/>
        </p:nvSpPr>
        <p:spPr>
          <a:xfrm>
            <a:off x="8239062" y="3685032"/>
            <a:ext cx="3236976" cy="1207008"/>
          </a:xfrm>
          <a:prstGeom prst="rect">
            <a:avLst/>
          </a:prstGeom>
          <a:noFill/>
        </p:spPr>
        <p:txBody>
          <a:bodyPr wrap="square" lIns="254" tIns="254" rIns="254" bIns="254" rtlCol="0" anchor="ctr">
            <a:normAutofit/>
          </a:bodyPr>
          <a:lstStyle/>
          <a:p>
            <a:pPr marL="0" indent="0">
              <a:buNone/>
            </a:pPr>
            <a:r>
              <a:rPr lang="en-US" sz="1600" dirty="0">
                <a:solidFill>
                  <a:srgbClr val="102A43"/>
                </a:solidFill>
              </a:rPr>
              <a:t>Use direct-review negativity and user style. Avoid item-specific details because item is missing.</a:t>
            </a:r>
            <a:endParaRPr lang="en-US" sz="1600" dirty="0">
              <a:solidFill>
                <a:srgbClr val="102A43"/>
              </a:solidFill>
            </a:endParaRPr>
          </a:p>
        </p:txBody>
      </p:sp>
      <p:sp>
        <p:nvSpPr>
          <p:cNvPr id="21" name="Text 19"/>
          <p:cNvSpPr/>
          <p:nvPr/>
        </p:nvSpPr>
        <p:spPr>
          <a:xfrm>
            <a:off x="548958" y="5230368"/>
            <a:ext cx="11091672" cy="1078992"/>
          </a:xfrm>
          <a:prstGeom prst="roundRect">
            <a:avLst>
              <a:gd name="adj" fmla="val 11017"/>
            </a:avLst>
          </a:prstGeom>
          <a:solidFill>
            <a:srgbClr val="102A43"/>
          </a:solidFill>
          <a:ln w="11430">
            <a:solidFill>
              <a:srgbClr val="102A43"/>
            </a:solidFill>
          </a:ln>
        </p:spPr>
        <p:txBody>
          <a:bodyPr wrap="square" lIns="1778" tIns="1778" rIns="1778" bIns="1778" rtlCol="0" anchor="ctr">
            <a:normAutofit/>
          </a:bodyPr>
          <a:lstStyle/>
          <a:p>
            <a:pPr marL="0" indent="0" algn="l">
              <a:buNone/>
            </a:pPr>
            <a:r>
              <a:rPr lang="en-US" sz="1400" dirty="0">
                <a:solidFill>
                  <a:srgbClr val="FFFFFF"/>
                </a:solidFill>
                <a:latin typeface="Aptos Mono" pitchFamily="34" charset="0"/>
                <a:ea typeface="Aptos Mono" pitchFamily="34" charset="-122"/>
                <a:cs typeface="Aptos Mono" pitchFamily="34" charset="-120"/>
              </a:rPr>
              <a:t>{"stars": 2.4, "review": "This feels like a disappointing experience overall. The direct review signal is clearly negative, so the review stays critical while matching user style."}</a:t>
            </a:r>
            <a:endParaRPr lang="en-US" sz="1400" dirty="0">
              <a:solidFill>
                <a:srgbClr val="FFFFFF"/>
              </a:solidFill>
              <a:latin typeface="Aptos Mono" pitchFamily="34" charset="0"/>
              <a:ea typeface="Aptos Mono" pitchFamily="34" charset="-122"/>
              <a:cs typeface="Aptos Mono" pitchFamily="34" charset="-120"/>
            </a:endParaRPr>
          </a:p>
        </p:txBody>
      </p:sp>
      <p:sp>
        <p:nvSpPr>
          <p:cNvPr id="2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3238" y="146304"/>
            <a:ext cx="3657600" cy="219456"/>
          </a:xfrm>
          <a:prstGeom prst="rect">
            <a:avLst/>
          </a:prstGeom>
          <a:noFill/>
        </p:spPr>
        <p:txBody>
          <a:bodyPr wrap="square" lIns="0" tIns="0" rIns="0" bIns="0" rtlCol="0" anchor="ctr"/>
          <a:lstStyle/>
          <a:p>
            <a:pPr marL="0" indent="0">
              <a:buNone/>
            </a:pPr>
            <a:r>
              <a:rPr lang="en-US" sz="1000" b="1" dirty="0">
                <a:solidFill>
                  <a:srgbClr val="2563EB"/>
                </a:solidFill>
              </a:rPr>
              <a:t>EVIDENCE CASE</a:t>
            </a:r>
            <a:endParaRPr lang="en-US" sz="1000" dirty="0"/>
          </a:p>
        </p:txBody>
      </p:sp>
      <p:sp>
        <p:nvSpPr>
          <p:cNvPr id="3" name="Text 1"/>
          <p:cNvSpPr/>
          <p:nvPr/>
        </p:nvSpPr>
        <p:spPr>
          <a:xfrm>
            <a:off x="503238" y="393192"/>
            <a:ext cx="11155680" cy="457200"/>
          </a:xfrm>
          <a:prstGeom prst="rect">
            <a:avLst/>
          </a:prstGeom>
          <a:noFill/>
        </p:spPr>
        <p:txBody>
          <a:bodyPr wrap="square" lIns="0" tIns="0" rIns="0" bIns="0" rtlCol="0" anchor="ctr">
            <a:normAutofit/>
          </a:bodyPr>
          <a:lstStyle/>
          <a:p>
            <a:pPr marL="0" indent="0">
              <a:buNone/>
            </a:pPr>
            <a:r>
              <a:rPr lang="en-US" sz="2550" b="1" dirty="0">
                <a:solidFill>
                  <a:srgbClr val="102A43"/>
                </a:solidFill>
                <a:latin typeface="Aptos Display" pitchFamily="34" charset="0"/>
                <a:ea typeface="Aptos Display" pitchFamily="34" charset="-122"/>
                <a:cs typeface="Aptos Display" pitchFamily="34" charset="-120"/>
              </a:rPr>
              <a:t>Case 6. User ✓ Item ✗ Direct ✗</a:t>
            </a:r>
            <a:endParaRPr lang="en-US" sz="2550" dirty="0"/>
          </a:p>
        </p:txBody>
      </p:sp>
      <p:sp>
        <p:nvSpPr>
          <p:cNvPr id="4" name="Text 2"/>
          <p:cNvSpPr/>
          <p:nvPr/>
        </p:nvSpPr>
        <p:spPr>
          <a:xfrm>
            <a:off x="530670" y="859536"/>
            <a:ext cx="10789920" cy="228600"/>
          </a:xfrm>
          <a:prstGeom prst="rect">
            <a:avLst/>
          </a:prstGeom>
          <a:noFill/>
        </p:spPr>
        <p:txBody>
          <a:bodyPr wrap="square" lIns="0" tIns="0" rIns="0" bIns="0" rtlCol="0" anchor="ctr">
            <a:normAutofit/>
          </a:bodyPr>
          <a:lstStyle/>
          <a:p>
            <a:pPr marL="0" indent="0">
              <a:buNone/>
            </a:pPr>
            <a:r>
              <a:rPr lang="en-US" sz="1150" dirty="0">
                <a:solidFill>
                  <a:srgbClr val="475569"/>
                </a:solidFill>
              </a:rPr>
              <a:t>Only user evidence exists: estimate from user tendency only.</a:t>
            </a:r>
            <a:endParaRPr lang="en-US" sz="1150" dirty="0"/>
          </a:p>
        </p:txBody>
      </p:sp>
      <p:sp>
        <p:nvSpPr>
          <p:cNvPr id="5" name="Shape 3"/>
          <p:cNvSpPr/>
          <p:nvPr/>
        </p:nvSpPr>
        <p:spPr>
          <a:xfrm>
            <a:off x="503238" y="1143000"/>
            <a:ext cx="11155680" cy="0"/>
          </a:xfrm>
          <a:prstGeom prst="line">
            <a:avLst/>
          </a:prstGeom>
          <a:noFill/>
          <a:ln w="10160">
            <a:solidFill>
              <a:srgbClr val="CBD5E1"/>
            </a:solidFill>
            <a:prstDash val="solid"/>
          </a:ln>
        </p:spPr>
      </p:sp>
      <p:sp>
        <p:nvSpPr>
          <p:cNvPr id="6" name="Text 4"/>
          <p:cNvSpPr/>
          <p:nvPr/>
        </p:nvSpPr>
        <p:spPr>
          <a:xfrm>
            <a:off x="548958" y="1243584"/>
            <a:ext cx="886968" cy="301752"/>
          </a:xfrm>
          <a:prstGeom prst="roundRect">
            <a:avLst>
              <a:gd name="adj" fmla="val 39394"/>
            </a:avLst>
          </a:prstGeom>
          <a:solidFill>
            <a:srgbClr val="EFF6FF"/>
          </a:solidFill>
          <a:ln w="11430">
            <a:solidFill>
              <a:srgbClr val="2563EB"/>
            </a:solidFill>
          </a:ln>
        </p:spPr>
        <p:txBody>
          <a:bodyPr wrap="square" lIns="254" tIns="254" rIns="254" bIns="254" rtlCol="0" anchor="ctr">
            <a:normAutofit/>
          </a:bodyPr>
          <a:lstStyle/>
          <a:p>
            <a:pPr marL="0" indent="0" algn="ctr">
              <a:buNone/>
            </a:pPr>
            <a:r>
              <a:rPr lang="en-US" sz="1050" b="1" dirty="0">
                <a:solidFill>
                  <a:srgbClr val="2563EB"/>
                </a:solidFill>
                <a:latin typeface="Aptos" pitchFamily="34" charset="0"/>
                <a:ea typeface="Aptos" pitchFamily="34" charset="-122"/>
                <a:cs typeface="Aptos" pitchFamily="34" charset="-120"/>
              </a:rPr>
              <a:t>USER ✓</a:t>
            </a:r>
            <a:endParaRPr lang="en-US" sz="1050" dirty="0"/>
          </a:p>
        </p:txBody>
      </p:sp>
      <p:sp>
        <p:nvSpPr>
          <p:cNvPr id="7" name="Text 5"/>
          <p:cNvSpPr/>
          <p:nvPr/>
        </p:nvSpPr>
        <p:spPr>
          <a:xfrm>
            <a:off x="1527366" y="1243584"/>
            <a:ext cx="886968" cy="301752"/>
          </a:xfrm>
          <a:prstGeom prst="roundRect">
            <a:avLst>
              <a:gd name="adj" fmla="val 39394"/>
            </a:avLst>
          </a:prstGeom>
          <a:solidFill>
            <a:srgbClr val="F1F5F9"/>
          </a:solidFill>
          <a:ln w="11430">
            <a:solidFill>
              <a:srgbClr val="CBD5E1"/>
            </a:solidFill>
          </a:ln>
        </p:spPr>
        <p:txBody>
          <a:bodyPr wrap="square" lIns="254" tIns="254" rIns="254" bIns="254" rtlCol="0" anchor="ctr">
            <a:normAutofit/>
          </a:bodyPr>
          <a:lstStyle/>
          <a:p>
            <a:pPr marL="0" indent="0" algn="ctr">
              <a:buNone/>
            </a:pPr>
            <a:r>
              <a:rPr lang="en-US" sz="1050" b="1" dirty="0">
                <a:solidFill>
                  <a:srgbClr val="64748B"/>
                </a:solidFill>
                <a:latin typeface="Aptos" pitchFamily="34" charset="0"/>
                <a:ea typeface="Aptos" pitchFamily="34" charset="-122"/>
                <a:cs typeface="Aptos" pitchFamily="34" charset="-120"/>
              </a:rPr>
              <a:t>ITEM ✗</a:t>
            </a:r>
            <a:endParaRPr lang="en-US" sz="1050" dirty="0"/>
          </a:p>
        </p:txBody>
      </p:sp>
      <p:sp>
        <p:nvSpPr>
          <p:cNvPr id="8" name="Text 6"/>
          <p:cNvSpPr/>
          <p:nvPr/>
        </p:nvSpPr>
        <p:spPr>
          <a:xfrm>
            <a:off x="2505774" y="1243584"/>
            <a:ext cx="886968" cy="301752"/>
          </a:xfrm>
          <a:prstGeom prst="roundRect">
            <a:avLst>
              <a:gd name="adj" fmla="val 39394"/>
            </a:avLst>
          </a:prstGeom>
          <a:solidFill>
            <a:srgbClr val="F1F5F9"/>
          </a:solidFill>
          <a:ln w="11430">
            <a:solidFill>
              <a:srgbClr val="CBD5E1"/>
            </a:solidFill>
          </a:ln>
        </p:spPr>
        <p:txBody>
          <a:bodyPr wrap="square" lIns="254" tIns="254" rIns="254" bIns="254" rtlCol="0" anchor="ctr">
            <a:normAutofit/>
          </a:bodyPr>
          <a:lstStyle/>
          <a:p>
            <a:pPr marL="0" indent="0" algn="ctr">
              <a:buNone/>
            </a:pPr>
            <a:r>
              <a:rPr lang="en-US" sz="1050" b="1" dirty="0">
                <a:solidFill>
                  <a:srgbClr val="64748B"/>
                </a:solidFill>
                <a:latin typeface="Aptos" pitchFamily="34" charset="0"/>
                <a:ea typeface="Aptos" pitchFamily="34" charset="-122"/>
                <a:cs typeface="Aptos" pitchFamily="34" charset="-120"/>
              </a:rPr>
              <a:t>DIRECT ✗</a:t>
            </a:r>
            <a:endParaRPr lang="en-US" sz="1050" dirty="0"/>
          </a:p>
        </p:txBody>
      </p:sp>
      <p:sp>
        <p:nvSpPr>
          <p:cNvPr id="9" name="Shape 7"/>
          <p:cNvSpPr/>
          <p:nvPr/>
        </p:nvSpPr>
        <p:spPr>
          <a:xfrm>
            <a:off x="548958" y="1664208"/>
            <a:ext cx="2880360" cy="3310128"/>
          </a:xfrm>
          <a:prstGeom prst="roundRect">
            <a:avLst>
              <a:gd name="adj" fmla="val 4444"/>
            </a:avLst>
          </a:prstGeom>
          <a:solidFill>
            <a:srgbClr val="F8FAFC"/>
          </a:solidFill>
          <a:ln w="12700">
            <a:solidFill>
              <a:srgbClr val="2563EB">
                <a:alpha val="65000"/>
              </a:srgbClr>
            </a:solidFill>
            <a:prstDash val="solid"/>
          </a:ln>
        </p:spPr>
      </p:sp>
      <p:sp>
        <p:nvSpPr>
          <p:cNvPr id="10" name="Text 8"/>
          <p:cNvSpPr/>
          <p:nvPr/>
        </p:nvSpPr>
        <p:spPr>
          <a:xfrm>
            <a:off x="713550" y="1773936"/>
            <a:ext cx="2551176" cy="228600"/>
          </a:xfrm>
          <a:prstGeom prst="rect">
            <a:avLst/>
          </a:prstGeom>
          <a:noFill/>
        </p:spPr>
        <p:txBody>
          <a:bodyPr wrap="square" lIns="0" tIns="0" rIns="0" bIns="0" rtlCol="0" anchor="ctr"/>
          <a:lstStyle/>
          <a:p>
            <a:pPr marL="0" indent="0">
              <a:buNone/>
            </a:pPr>
            <a:r>
              <a:rPr lang="en-US" sz="1400" b="1" dirty="0">
                <a:solidFill>
                  <a:srgbClr val="2563EB"/>
                </a:solidFill>
              </a:rPr>
              <a:t>INPUT EVIDENCE</a:t>
            </a:r>
            <a:endParaRPr lang="en-US" sz="1400" b="1" dirty="0">
              <a:solidFill>
                <a:srgbClr val="2563EB"/>
              </a:solidFill>
            </a:endParaRPr>
          </a:p>
        </p:txBody>
      </p:sp>
      <p:sp>
        <p:nvSpPr>
          <p:cNvPr id="11" name="Text 9"/>
          <p:cNvSpPr/>
          <p:nvPr/>
        </p:nvSpPr>
        <p:spPr>
          <a:xfrm>
            <a:off x="713550" y="2057400"/>
            <a:ext cx="2551176" cy="2834640"/>
          </a:xfrm>
          <a:prstGeom prst="rect">
            <a:avLst/>
          </a:prstGeom>
          <a:noFill/>
        </p:spPr>
        <p:txBody>
          <a:bodyPr wrap="square" lIns="254" tIns="254" rIns="254" bIns="254" rtlCol="0" anchor="ctr">
            <a:normAutofit/>
          </a:bodyPr>
          <a:lstStyle/>
          <a:p>
            <a:pPr marL="0" indent="0">
              <a:buNone/>
            </a:pPr>
            <a:r>
              <a:rPr lang="en-US" sz="1400" dirty="0">
                <a:solidFill>
                  <a:srgbClr val="102A43"/>
                </a:solidFill>
              </a:rPr>
              <a:t>user.average = 3.4</a:t>
            </a:r>
            <a:endParaRPr lang="en-US" sz="1400" dirty="0"/>
          </a:p>
          <a:p>
            <a:pPr marL="0" indent="0">
              <a:buNone/>
            </a:pPr>
            <a:r>
              <a:rPr lang="en-US" sz="1400" dirty="0">
                <a:solidFill>
                  <a:srgbClr val="102A43"/>
                </a:solidFill>
              </a:rPr>
              <a:t>user_history_avg = 3.0</a:t>
            </a:r>
            <a:endParaRPr lang="en-US" sz="1400" dirty="0"/>
          </a:p>
          <a:p>
            <a:pPr marL="0" indent="0">
              <a:buNone/>
            </a:pPr>
            <a:r>
              <a:rPr lang="en-US" sz="1400" dirty="0">
                <a:solidFill>
                  <a:srgbClr val="102A43"/>
                </a:solidFill>
              </a:rPr>
              <a:t>user.review_count = 20</a:t>
            </a:r>
            <a:endParaRPr lang="en-US" sz="1400" dirty="0"/>
          </a:p>
          <a:p>
            <a:pPr marL="0" indent="0">
              <a:buNone/>
            </a:pPr>
            <a:endParaRPr lang="en-US" sz="1400" dirty="0"/>
          </a:p>
          <a:p>
            <a:pPr marL="0" indent="0">
              <a:buNone/>
            </a:pPr>
            <a:r>
              <a:rPr lang="en-US" sz="1400" dirty="0">
                <a:solidFill>
                  <a:srgbClr val="102A43"/>
                </a:solidFill>
              </a:rPr>
              <a:t>item = missing</a:t>
            </a:r>
            <a:endParaRPr lang="en-US" sz="1400" dirty="0"/>
          </a:p>
          <a:p>
            <a:pPr marL="0" indent="0">
              <a:buNone/>
            </a:pPr>
            <a:r>
              <a:rPr lang="en-US" sz="1400" dirty="0">
                <a:solidFill>
                  <a:srgbClr val="102A43"/>
                </a:solidFill>
              </a:rPr>
              <a:t>direct_review = missing</a:t>
            </a:r>
            <a:endParaRPr lang="en-US" sz="1400" dirty="0">
              <a:solidFill>
                <a:srgbClr val="102A43"/>
              </a:solidFill>
            </a:endParaRPr>
          </a:p>
        </p:txBody>
      </p:sp>
      <p:sp>
        <p:nvSpPr>
          <p:cNvPr id="12" name="Shape 10"/>
          <p:cNvSpPr/>
          <p:nvPr/>
        </p:nvSpPr>
        <p:spPr>
          <a:xfrm>
            <a:off x="3703638" y="1243584"/>
            <a:ext cx="4069080" cy="3730752"/>
          </a:xfrm>
          <a:prstGeom prst="roundRect">
            <a:avLst>
              <a:gd name="adj" fmla="val 2941"/>
            </a:avLst>
          </a:prstGeom>
          <a:solidFill>
            <a:srgbClr val="0B1220"/>
          </a:solidFill>
          <a:ln w="12700">
            <a:solidFill>
              <a:srgbClr val="1E293B"/>
            </a:solidFill>
            <a:prstDash val="solid"/>
          </a:ln>
        </p:spPr>
      </p:sp>
      <p:sp>
        <p:nvSpPr>
          <p:cNvPr id="13" name="Text 11"/>
          <p:cNvSpPr/>
          <p:nvPr/>
        </p:nvSpPr>
        <p:spPr>
          <a:xfrm>
            <a:off x="3868230" y="1353312"/>
            <a:ext cx="3739896" cy="237744"/>
          </a:xfrm>
          <a:prstGeom prst="rect">
            <a:avLst/>
          </a:prstGeom>
          <a:noFill/>
        </p:spPr>
        <p:txBody>
          <a:bodyPr wrap="square" lIns="0" tIns="0" rIns="0" bIns="0" rtlCol="0" anchor="ctr"/>
          <a:lstStyle/>
          <a:p>
            <a:pPr marL="0" indent="0">
              <a:buNone/>
            </a:pPr>
            <a:r>
              <a:rPr lang="en-US" sz="1400" b="1" dirty="0">
                <a:solidFill>
                  <a:srgbClr val="93C5FD"/>
                </a:solidFill>
              </a:rPr>
              <a:t>FORMULA</a:t>
            </a:r>
            <a:endParaRPr lang="en-US" sz="1400" b="1" dirty="0">
              <a:solidFill>
                <a:srgbClr val="93C5FD"/>
              </a:solidFill>
            </a:endParaRPr>
          </a:p>
        </p:txBody>
      </p:sp>
      <p:sp>
        <p:nvSpPr>
          <p:cNvPr id="14" name="Text 12"/>
          <p:cNvSpPr/>
          <p:nvPr/>
        </p:nvSpPr>
        <p:spPr>
          <a:xfrm>
            <a:off x="3868230" y="1645920"/>
            <a:ext cx="3739896" cy="3236976"/>
          </a:xfrm>
          <a:prstGeom prst="rect">
            <a:avLst/>
          </a:prstGeom>
          <a:noFill/>
        </p:spPr>
        <p:txBody>
          <a:bodyPr wrap="square" lIns="0" tIns="0" rIns="0" bIns="0" rtlCol="0" anchor="ctr">
            <a:normAutofit/>
          </a:bodyPr>
          <a:lstStyle/>
          <a:p>
            <a:pPr marL="0" indent="0">
              <a:buNone/>
            </a:pPr>
            <a:r>
              <a:rPr lang="en-US" sz="1400" dirty="0">
                <a:solidFill>
                  <a:srgbClr val="FFFFFF"/>
                </a:solidFill>
                <a:latin typeface="Aptos Mono" pitchFamily="34" charset="0"/>
                <a:ea typeface="Aptos Mono" pitchFamily="34" charset="-122"/>
                <a:cs typeface="Aptos Mono" pitchFamily="34" charset="-120"/>
              </a:rPr>
              <a:t>user_signal = 0.75×3.4 + 0.25×3.0 = 3.30</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Only user evidence exists:</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score = user_signal = 3.30</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predicted_stars = round_half_up(3.30, 1)</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predicted_stars = 3.3</a:t>
            </a:r>
            <a:endParaRPr lang="en-US" sz="1400" dirty="0">
              <a:solidFill>
                <a:srgbClr val="FFFFFF"/>
              </a:solidFill>
              <a:latin typeface="Aptos Mono" pitchFamily="34" charset="0"/>
              <a:ea typeface="Aptos Mono" pitchFamily="34" charset="-122"/>
              <a:cs typeface="Aptos Mono" pitchFamily="34" charset="-120"/>
            </a:endParaRPr>
          </a:p>
        </p:txBody>
      </p:sp>
      <p:sp>
        <p:nvSpPr>
          <p:cNvPr id="15" name="Shape 13"/>
          <p:cNvSpPr/>
          <p:nvPr/>
        </p:nvSpPr>
        <p:spPr>
          <a:xfrm>
            <a:off x="8074470" y="1243584"/>
            <a:ext cx="3566160" cy="1847088"/>
          </a:xfrm>
          <a:prstGeom prst="roundRect">
            <a:avLst>
              <a:gd name="adj" fmla="val 6931"/>
            </a:avLst>
          </a:prstGeom>
          <a:solidFill>
            <a:srgbClr val="EFF6FF"/>
          </a:solidFill>
          <a:ln w="12700">
            <a:solidFill>
              <a:srgbClr val="2563EB">
                <a:alpha val="65000"/>
              </a:srgbClr>
            </a:solidFill>
            <a:prstDash val="solid"/>
          </a:ln>
        </p:spPr>
      </p:sp>
      <p:sp>
        <p:nvSpPr>
          <p:cNvPr id="16" name="Text 14"/>
          <p:cNvSpPr/>
          <p:nvPr/>
        </p:nvSpPr>
        <p:spPr>
          <a:xfrm>
            <a:off x="8239062" y="1353312"/>
            <a:ext cx="3236976" cy="228600"/>
          </a:xfrm>
          <a:prstGeom prst="rect">
            <a:avLst/>
          </a:prstGeom>
          <a:noFill/>
        </p:spPr>
        <p:txBody>
          <a:bodyPr wrap="square" lIns="0" tIns="0" rIns="0" bIns="0" rtlCol="0" anchor="ctr"/>
          <a:lstStyle/>
          <a:p>
            <a:pPr marL="0" indent="0">
              <a:buNone/>
            </a:pPr>
            <a:r>
              <a:rPr lang="en-US" sz="1400" b="1" dirty="0">
                <a:solidFill>
                  <a:srgbClr val="2563EB"/>
                </a:solidFill>
              </a:rPr>
              <a:t>IN WORDS</a:t>
            </a:r>
            <a:endParaRPr lang="en-US" sz="1400" b="1" dirty="0">
              <a:solidFill>
                <a:srgbClr val="2563EB"/>
              </a:solidFill>
            </a:endParaRPr>
          </a:p>
        </p:txBody>
      </p:sp>
      <p:sp>
        <p:nvSpPr>
          <p:cNvPr id="17" name="Text 15"/>
          <p:cNvSpPr/>
          <p:nvPr/>
        </p:nvSpPr>
        <p:spPr>
          <a:xfrm>
            <a:off x="8239062" y="1636776"/>
            <a:ext cx="3236976" cy="1371600"/>
          </a:xfrm>
          <a:prstGeom prst="rect">
            <a:avLst/>
          </a:prstGeom>
          <a:noFill/>
        </p:spPr>
        <p:txBody>
          <a:bodyPr wrap="square" lIns="254" tIns="254" rIns="254" bIns="254" rtlCol="0" anchor="ctr">
            <a:normAutofit/>
          </a:bodyPr>
          <a:lstStyle/>
          <a:p>
            <a:pPr marL="0" indent="0">
              <a:buNone/>
            </a:pPr>
            <a:r>
              <a:rPr lang="en-US" sz="1600" dirty="0">
                <a:solidFill>
                  <a:srgbClr val="102A43"/>
                </a:solidFill>
              </a:rPr>
              <a:t>The system only knows how the user tends to rate. It cannot ground business-specific claims, so rating and review stay generic.</a:t>
            </a:r>
            <a:endParaRPr lang="en-US" sz="1600" dirty="0">
              <a:solidFill>
                <a:srgbClr val="102A43"/>
              </a:solidFill>
            </a:endParaRPr>
          </a:p>
        </p:txBody>
      </p:sp>
      <p:sp>
        <p:nvSpPr>
          <p:cNvPr id="18" name="Shape 16"/>
          <p:cNvSpPr/>
          <p:nvPr/>
        </p:nvSpPr>
        <p:spPr>
          <a:xfrm>
            <a:off x="8074470" y="3291840"/>
            <a:ext cx="3566160" cy="1682496"/>
          </a:xfrm>
          <a:prstGeom prst="roundRect">
            <a:avLst>
              <a:gd name="adj" fmla="val 7609"/>
            </a:avLst>
          </a:prstGeom>
          <a:solidFill>
            <a:srgbClr val="ECFDF5"/>
          </a:solidFill>
          <a:ln w="12700">
            <a:solidFill>
              <a:srgbClr val="0F766E">
                <a:alpha val="65000"/>
              </a:srgbClr>
            </a:solidFill>
            <a:prstDash val="solid"/>
          </a:ln>
        </p:spPr>
      </p:sp>
      <p:sp>
        <p:nvSpPr>
          <p:cNvPr id="19" name="Text 17"/>
          <p:cNvSpPr/>
          <p:nvPr/>
        </p:nvSpPr>
        <p:spPr>
          <a:xfrm>
            <a:off x="8239062" y="3401568"/>
            <a:ext cx="3236976" cy="228600"/>
          </a:xfrm>
          <a:prstGeom prst="rect">
            <a:avLst/>
          </a:prstGeom>
          <a:noFill/>
        </p:spPr>
        <p:txBody>
          <a:bodyPr wrap="square" lIns="0" tIns="0" rIns="0" bIns="0" rtlCol="0" anchor="ctr"/>
          <a:lstStyle/>
          <a:p>
            <a:pPr marL="0" indent="0">
              <a:buNone/>
            </a:pPr>
            <a:r>
              <a:rPr lang="en-US" sz="1400" b="1" dirty="0">
                <a:solidFill>
                  <a:srgbClr val="0F766E"/>
                </a:solidFill>
              </a:rPr>
              <a:t>REVIEW GENERATION</a:t>
            </a:r>
            <a:endParaRPr lang="en-US" sz="1400" b="1" dirty="0">
              <a:solidFill>
                <a:srgbClr val="0F766E"/>
              </a:solidFill>
            </a:endParaRPr>
          </a:p>
        </p:txBody>
      </p:sp>
      <p:sp>
        <p:nvSpPr>
          <p:cNvPr id="20" name="Text 18"/>
          <p:cNvSpPr/>
          <p:nvPr/>
        </p:nvSpPr>
        <p:spPr>
          <a:xfrm>
            <a:off x="8239062" y="3685032"/>
            <a:ext cx="3236976" cy="1207008"/>
          </a:xfrm>
          <a:prstGeom prst="rect">
            <a:avLst/>
          </a:prstGeom>
          <a:noFill/>
        </p:spPr>
        <p:txBody>
          <a:bodyPr wrap="square" lIns="254" tIns="254" rIns="254" bIns="254" rtlCol="0" anchor="ctr">
            <a:normAutofit/>
          </a:bodyPr>
          <a:lstStyle/>
          <a:p>
            <a:pPr marL="0" indent="0">
              <a:buNone/>
            </a:pPr>
            <a:r>
              <a:rPr lang="en-US" sz="1600" dirty="0">
                <a:solidFill>
                  <a:srgbClr val="102A43"/>
                </a:solidFill>
              </a:rPr>
              <a:t>Match user rating tendency. Do not invent business details.</a:t>
            </a:r>
            <a:endParaRPr lang="en-US" sz="1600" dirty="0">
              <a:solidFill>
                <a:srgbClr val="102A43"/>
              </a:solidFill>
            </a:endParaRPr>
          </a:p>
        </p:txBody>
      </p:sp>
      <p:sp>
        <p:nvSpPr>
          <p:cNvPr id="21" name="Text 19"/>
          <p:cNvSpPr/>
          <p:nvPr/>
        </p:nvSpPr>
        <p:spPr>
          <a:xfrm>
            <a:off x="548958" y="5230368"/>
            <a:ext cx="11091672" cy="1078992"/>
          </a:xfrm>
          <a:prstGeom prst="roundRect">
            <a:avLst>
              <a:gd name="adj" fmla="val 11017"/>
            </a:avLst>
          </a:prstGeom>
          <a:solidFill>
            <a:srgbClr val="102A43"/>
          </a:solidFill>
          <a:ln w="11430">
            <a:solidFill>
              <a:srgbClr val="102A43"/>
            </a:solidFill>
          </a:ln>
        </p:spPr>
        <p:txBody>
          <a:bodyPr wrap="square" lIns="1778" tIns="1778" rIns="1778" bIns="1778" rtlCol="0" anchor="ctr">
            <a:normAutofit/>
          </a:bodyPr>
          <a:lstStyle/>
          <a:p>
            <a:pPr marL="0" indent="0" algn="l">
              <a:buNone/>
            </a:pPr>
            <a:r>
              <a:rPr lang="en-US" sz="1400" dirty="0">
                <a:solidFill>
                  <a:srgbClr val="FFFFFF"/>
                </a:solidFill>
                <a:latin typeface="Aptos Mono" pitchFamily="34" charset="0"/>
                <a:ea typeface="Aptos Mono" pitchFamily="34" charset="-122"/>
                <a:cs typeface="Aptos Mono" pitchFamily="34" charset="-120"/>
              </a:rPr>
              <a:t>{"stars": 3.3, "review": "A moderate impression overall. The review follows the user usual rating tendency, but avoids specific claims about the business."}</a:t>
            </a:r>
            <a:endParaRPr lang="en-US" sz="1400" dirty="0">
              <a:solidFill>
                <a:srgbClr val="FFFFFF"/>
              </a:solidFill>
              <a:latin typeface="Aptos Mono" pitchFamily="34" charset="0"/>
              <a:ea typeface="Aptos Mono" pitchFamily="34" charset="-122"/>
              <a:cs typeface="Aptos Mono" pitchFamily="34" charset="-120"/>
            </a:endParaRPr>
          </a:p>
        </p:txBody>
      </p:sp>
      <p:sp>
        <p:nvSpPr>
          <p:cNvPr id="2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3238" y="146304"/>
            <a:ext cx="3657600" cy="219456"/>
          </a:xfrm>
          <a:prstGeom prst="rect">
            <a:avLst/>
          </a:prstGeom>
          <a:noFill/>
        </p:spPr>
        <p:txBody>
          <a:bodyPr wrap="square" lIns="0" tIns="0" rIns="0" bIns="0" rtlCol="0" anchor="ctr"/>
          <a:lstStyle/>
          <a:p>
            <a:pPr marL="0" indent="0">
              <a:buNone/>
            </a:pPr>
            <a:r>
              <a:rPr lang="en-US" sz="1000" b="1" dirty="0">
                <a:solidFill>
                  <a:srgbClr val="2563EB"/>
                </a:solidFill>
              </a:rPr>
              <a:t>EVIDENCE CASE</a:t>
            </a:r>
            <a:endParaRPr lang="en-US" sz="1000" dirty="0"/>
          </a:p>
        </p:txBody>
      </p:sp>
      <p:sp>
        <p:nvSpPr>
          <p:cNvPr id="3" name="Text 1"/>
          <p:cNvSpPr/>
          <p:nvPr/>
        </p:nvSpPr>
        <p:spPr>
          <a:xfrm>
            <a:off x="503238" y="393192"/>
            <a:ext cx="11155680" cy="457200"/>
          </a:xfrm>
          <a:prstGeom prst="rect">
            <a:avLst/>
          </a:prstGeom>
          <a:noFill/>
        </p:spPr>
        <p:txBody>
          <a:bodyPr wrap="square" lIns="0" tIns="0" rIns="0" bIns="0" rtlCol="0" anchor="ctr">
            <a:normAutofit/>
          </a:bodyPr>
          <a:lstStyle/>
          <a:p>
            <a:pPr marL="0" indent="0">
              <a:buNone/>
            </a:pPr>
            <a:r>
              <a:rPr lang="en-US" sz="2550" b="1" dirty="0">
                <a:solidFill>
                  <a:srgbClr val="102A43"/>
                </a:solidFill>
                <a:latin typeface="Aptos Display" pitchFamily="34" charset="0"/>
                <a:ea typeface="Aptos Display" pitchFamily="34" charset="-122"/>
                <a:cs typeface="Aptos Display" pitchFamily="34" charset="-120"/>
              </a:rPr>
              <a:t>Case 7. User ✗ Item ✗ Direct ✓</a:t>
            </a:r>
            <a:endParaRPr lang="en-US" sz="2550" dirty="0"/>
          </a:p>
        </p:txBody>
      </p:sp>
      <p:sp>
        <p:nvSpPr>
          <p:cNvPr id="4" name="Text 2"/>
          <p:cNvSpPr/>
          <p:nvPr/>
        </p:nvSpPr>
        <p:spPr>
          <a:xfrm>
            <a:off x="530670" y="859536"/>
            <a:ext cx="10789920" cy="228600"/>
          </a:xfrm>
          <a:prstGeom prst="rect">
            <a:avLst/>
          </a:prstGeom>
          <a:noFill/>
        </p:spPr>
        <p:txBody>
          <a:bodyPr wrap="square" lIns="0" tIns="0" rIns="0" bIns="0" rtlCol="0" anchor="ctr">
            <a:normAutofit/>
          </a:bodyPr>
          <a:lstStyle/>
          <a:p>
            <a:pPr marL="0" indent="0">
              <a:buNone/>
            </a:pPr>
            <a:r>
              <a:rPr lang="en-US" sz="1150" dirty="0">
                <a:solidFill>
                  <a:srgbClr val="475569"/>
                </a:solidFill>
              </a:rPr>
              <a:t>Only direct review exists: the score follows the exact interaction.</a:t>
            </a:r>
            <a:endParaRPr lang="en-US" sz="1150" dirty="0"/>
          </a:p>
        </p:txBody>
      </p:sp>
      <p:sp>
        <p:nvSpPr>
          <p:cNvPr id="5" name="Shape 3"/>
          <p:cNvSpPr/>
          <p:nvPr/>
        </p:nvSpPr>
        <p:spPr>
          <a:xfrm>
            <a:off x="503238" y="1143000"/>
            <a:ext cx="11155680" cy="0"/>
          </a:xfrm>
          <a:prstGeom prst="line">
            <a:avLst/>
          </a:prstGeom>
          <a:noFill/>
          <a:ln w="10160">
            <a:solidFill>
              <a:srgbClr val="CBD5E1"/>
            </a:solidFill>
            <a:prstDash val="solid"/>
          </a:ln>
        </p:spPr>
      </p:sp>
      <p:sp>
        <p:nvSpPr>
          <p:cNvPr id="6" name="Text 4"/>
          <p:cNvSpPr/>
          <p:nvPr/>
        </p:nvSpPr>
        <p:spPr>
          <a:xfrm>
            <a:off x="548958" y="1243584"/>
            <a:ext cx="886968" cy="301752"/>
          </a:xfrm>
          <a:prstGeom prst="roundRect">
            <a:avLst>
              <a:gd name="adj" fmla="val 39394"/>
            </a:avLst>
          </a:prstGeom>
          <a:solidFill>
            <a:srgbClr val="F1F5F9"/>
          </a:solidFill>
          <a:ln w="11430">
            <a:solidFill>
              <a:srgbClr val="CBD5E1"/>
            </a:solidFill>
          </a:ln>
        </p:spPr>
        <p:txBody>
          <a:bodyPr wrap="square" lIns="254" tIns="254" rIns="254" bIns="254" rtlCol="0" anchor="ctr">
            <a:normAutofit/>
          </a:bodyPr>
          <a:lstStyle/>
          <a:p>
            <a:pPr marL="0" indent="0" algn="ctr">
              <a:buNone/>
            </a:pPr>
            <a:r>
              <a:rPr lang="en-US" sz="1050" b="1" dirty="0">
                <a:solidFill>
                  <a:srgbClr val="64748B"/>
                </a:solidFill>
                <a:latin typeface="Aptos" pitchFamily="34" charset="0"/>
                <a:ea typeface="Aptos" pitchFamily="34" charset="-122"/>
                <a:cs typeface="Aptos" pitchFamily="34" charset="-120"/>
              </a:rPr>
              <a:t>USER ✗</a:t>
            </a:r>
            <a:endParaRPr lang="en-US" sz="1050" dirty="0"/>
          </a:p>
        </p:txBody>
      </p:sp>
      <p:sp>
        <p:nvSpPr>
          <p:cNvPr id="7" name="Text 5"/>
          <p:cNvSpPr/>
          <p:nvPr/>
        </p:nvSpPr>
        <p:spPr>
          <a:xfrm>
            <a:off x="1527366" y="1243584"/>
            <a:ext cx="886968" cy="301752"/>
          </a:xfrm>
          <a:prstGeom prst="roundRect">
            <a:avLst>
              <a:gd name="adj" fmla="val 39394"/>
            </a:avLst>
          </a:prstGeom>
          <a:solidFill>
            <a:srgbClr val="F1F5F9"/>
          </a:solidFill>
          <a:ln w="11430">
            <a:solidFill>
              <a:srgbClr val="CBD5E1"/>
            </a:solidFill>
          </a:ln>
        </p:spPr>
        <p:txBody>
          <a:bodyPr wrap="square" lIns="254" tIns="254" rIns="254" bIns="254" rtlCol="0" anchor="ctr">
            <a:normAutofit/>
          </a:bodyPr>
          <a:lstStyle/>
          <a:p>
            <a:pPr marL="0" indent="0" algn="ctr">
              <a:buNone/>
            </a:pPr>
            <a:r>
              <a:rPr lang="en-US" sz="1050" b="1" dirty="0">
                <a:solidFill>
                  <a:srgbClr val="64748B"/>
                </a:solidFill>
                <a:latin typeface="Aptos" pitchFamily="34" charset="0"/>
                <a:ea typeface="Aptos" pitchFamily="34" charset="-122"/>
                <a:cs typeface="Aptos" pitchFamily="34" charset="-120"/>
              </a:rPr>
              <a:t>ITEM ✗</a:t>
            </a:r>
            <a:endParaRPr lang="en-US" sz="1050" dirty="0"/>
          </a:p>
        </p:txBody>
      </p:sp>
      <p:sp>
        <p:nvSpPr>
          <p:cNvPr id="8" name="Text 6"/>
          <p:cNvSpPr/>
          <p:nvPr/>
        </p:nvSpPr>
        <p:spPr>
          <a:xfrm>
            <a:off x="2505774" y="1243584"/>
            <a:ext cx="886968" cy="301752"/>
          </a:xfrm>
          <a:prstGeom prst="roundRect">
            <a:avLst>
              <a:gd name="adj" fmla="val 39394"/>
            </a:avLst>
          </a:prstGeom>
          <a:solidFill>
            <a:srgbClr val="FFF7ED"/>
          </a:solidFill>
          <a:ln w="11430">
            <a:solidFill>
              <a:srgbClr val="D97706"/>
            </a:solidFill>
          </a:ln>
        </p:spPr>
        <p:txBody>
          <a:bodyPr wrap="square" lIns="254" tIns="254" rIns="254" bIns="254" rtlCol="0" anchor="ctr">
            <a:normAutofit/>
          </a:bodyPr>
          <a:lstStyle/>
          <a:p>
            <a:pPr marL="0" indent="0" algn="ctr">
              <a:buNone/>
            </a:pPr>
            <a:r>
              <a:rPr lang="en-US" sz="1050" b="1" dirty="0">
                <a:solidFill>
                  <a:srgbClr val="D97706"/>
                </a:solidFill>
                <a:latin typeface="Aptos" pitchFamily="34" charset="0"/>
                <a:ea typeface="Aptos" pitchFamily="34" charset="-122"/>
                <a:cs typeface="Aptos" pitchFamily="34" charset="-120"/>
              </a:rPr>
              <a:t>DIRECT ✓</a:t>
            </a:r>
            <a:endParaRPr lang="en-US" sz="1050" dirty="0"/>
          </a:p>
        </p:txBody>
      </p:sp>
      <p:sp>
        <p:nvSpPr>
          <p:cNvPr id="9" name="Shape 7"/>
          <p:cNvSpPr/>
          <p:nvPr/>
        </p:nvSpPr>
        <p:spPr>
          <a:xfrm>
            <a:off x="548958" y="1664208"/>
            <a:ext cx="2880360" cy="3310128"/>
          </a:xfrm>
          <a:prstGeom prst="roundRect">
            <a:avLst>
              <a:gd name="adj" fmla="val 4444"/>
            </a:avLst>
          </a:prstGeom>
          <a:solidFill>
            <a:srgbClr val="F8FAFC"/>
          </a:solidFill>
          <a:ln w="12700">
            <a:solidFill>
              <a:srgbClr val="2563EB">
                <a:alpha val="65000"/>
              </a:srgbClr>
            </a:solidFill>
            <a:prstDash val="solid"/>
          </a:ln>
        </p:spPr>
      </p:sp>
      <p:sp>
        <p:nvSpPr>
          <p:cNvPr id="10" name="Text 8"/>
          <p:cNvSpPr/>
          <p:nvPr/>
        </p:nvSpPr>
        <p:spPr>
          <a:xfrm>
            <a:off x="713550" y="1773936"/>
            <a:ext cx="2551176" cy="228600"/>
          </a:xfrm>
          <a:prstGeom prst="rect">
            <a:avLst/>
          </a:prstGeom>
          <a:noFill/>
        </p:spPr>
        <p:txBody>
          <a:bodyPr wrap="square" lIns="0" tIns="0" rIns="0" bIns="0" rtlCol="0" anchor="ctr"/>
          <a:lstStyle/>
          <a:p>
            <a:pPr marL="0" indent="0">
              <a:buNone/>
            </a:pPr>
            <a:r>
              <a:rPr lang="en-US" sz="1400" b="1" dirty="0">
                <a:solidFill>
                  <a:srgbClr val="2563EB"/>
                </a:solidFill>
              </a:rPr>
              <a:t>INPUT EVIDENCE</a:t>
            </a:r>
            <a:endParaRPr lang="en-US" sz="1400" b="1" dirty="0">
              <a:solidFill>
                <a:srgbClr val="2563EB"/>
              </a:solidFill>
            </a:endParaRPr>
          </a:p>
        </p:txBody>
      </p:sp>
      <p:sp>
        <p:nvSpPr>
          <p:cNvPr id="11" name="Text 9"/>
          <p:cNvSpPr/>
          <p:nvPr/>
        </p:nvSpPr>
        <p:spPr>
          <a:xfrm>
            <a:off x="713550" y="2057400"/>
            <a:ext cx="2551176" cy="2834640"/>
          </a:xfrm>
          <a:prstGeom prst="rect">
            <a:avLst/>
          </a:prstGeom>
          <a:noFill/>
        </p:spPr>
        <p:txBody>
          <a:bodyPr wrap="square" lIns="254" tIns="254" rIns="254" bIns="254" rtlCol="0" anchor="ctr">
            <a:normAutofit/>
          </a:bodyPr>
          <a:lstStyle/>
          <a:p>
            <a:pPr marL="0" indent="0">
              <a:buNone/>
            </a:pPr>
            <a:r>
              <a:rPr lang="en-US" sz="1400" dirty="0">
                <a:solidFill>
                  <a:srgbClr val="102A43"/>
                </a:solidFill>
              </a:rPr>
              <a:t>user = missing</a:t>
            </a:r>
            <a:endParaRPr lang="en-US" sz="1400" dirty="0"/>
          </a:p>
          <a:p>
            <a:pPr marL="0" indent="0">
              <a:buNone/>
            </a:pPr>
            <a:r>
              <a:rPr lang="en-US" sz="1400" dirty="0">
                <a:solidFill>
                  <a:srgbClr val="102A43"/>
                </a:solidFill>
              </a:rPr>
              <a:t>item = missing</a:t>
            </a:r>
            <a:endParaRPr lang="en-US" sz="1400" dirty="0"/>
          </a:p>
          <a:p>
            <a:pPr marL="0" indent="0">
              <a:buNone/>
            </a:pPr>
            <a:endParaRPr lang="en-US" sz="1400" dirty="0"/>
          </a:p>
          <a:p>
            <a:pPr marL="0" indent="0">
              <a:buNone/>
            </a:pPr>
            <a:r>
              <a:rPr lang="en-US" sz="1400" dirty="0">
                <a:solidFill>
                  <a:srgbClr val="102A43"/>
                </a:solidFill>
              </a:rPr>
              <a:t>direct_review_stars = 4.0</a:t>
            </a:r>
            <a:endParaRPr lang="en-US" sz="1400" dirty="0">
              <a:solidFill>
                <a:srgbClr val="102A43"/>
              </a:solidFill>
            </a:endParaRPr>
          </a:p>
        </p:txBody>
      </p:sp>
      <p:sp>
        <p:nvSpPr>
          <p:cNvPr id="12" name="Shape 10"/>
          <p:cNvSpPr/>
          <p:nvPr/>
        </p:nvSpPr>
        <p:spPr>
          <a:xfrm>
            <a:off x="3703638" y="1243584"/>
            <a:ext cx="4069080" cy="3730752"/>
          </a:xfrm>
          <a:prstGeom prst="roundRect">
            <a:avLst>
              <a:gd name="adj" fmla="val 2941"/>
            </a:avLst>
          </a:prstGeom>
          <a:solidFill>
            <a:srgbClr val="0B1220"/>
          </a:solidFill>
          <a:ln w="12700">
            <a:solidFill>
              <a:srgbClr val="1E293B"/>
            </a:solidFill>
            <a:prstDash val="solid"/>
          </a:ln>
        </p:spPr>
      </p:sp>
      <p:sp>
        <p:nvSpPr>
          <p:cNvPr id="13" name="Text 11"/>
          <p:cNvSpPr/>
          <p:nvPr/>
        </p:nvSpPr>
        <p:spPr>
          <a:xfrm>
            <a:off x="3868230" y="1353312"/>
            <a:ext cx="3739896" cy="237744"/>
          </a:xfrm>
          <a:prstGeom prst="rect">
            <a:avLst/>
          </a:prstGeom>
          <a:noFill/>
        </p:spPr>
        <p:txBody>
          <a:bodyPr wrap="square" lIns="0" tIns="0" rIns="0" bIns="0" rtlCol="0" anchor="ctr"/>
          <a:lstStyle/>
          <a:p>
            <a:pPr marL="0" indent="0">
              <a:buNone/>
            </a:pPr>
            <a:r>
              <a:rPr lang="en-US" sz="1400" b="1" dirty="0">
                <a:solidFill>
                  <a:srgbClr val="93C5FD"/>
                </a:solidFill>
              </a:rPr>
              <a:t>FORMULA</a:t>
            </a:r>
            <a:endParaRPr lang="en-US" sz="1400" b="1" dirty="0">
              <a:solidFill>
                <a:srgbClr val="93C5FD"/>
              </a:solidFill>
            </a:endParaRPr>
          </a:p>
        </p:txBody>
      </p:sp>
      <p:sp>
        <p:nvSpPr>
          <p:cNvPr id="14" name="Text 12"/>
          <p:cNvSpPr/>
          <p:nvPr/>
        </p:nvSpPr>
        <p:spPr>
          <a:xfrm>
            <a:off x="3868230" y="1645920"/>
            <a:ext cx="3739896" cy="3236976"/>
          </a:xfrm>
          <a:prstGeom prst="rect">
            <a:avLst/>
          </a:prstGeom>
          <a:noFill/>
        </p:spPr>
        <p:txBody>
          <a:bodyPr wrap="square" lIns="0" tIns="0" rIns="0" bIns="0" rtlCol="0" anchor="ctr">
            <a:normAutofit/>
          </a:bodyPr>
          <a:lstStyle/>
          <a:p>
            <a:pPr marL="0" indent="0">
              <a:buNone/>
            </a:pPr>
            <a:r>
              <a:rPr lang="en-US" sz="1400" dirty="0">
                <a:solidFill>
                  <a:srgbClr val="FFFFFF"/>
                </a:solidFill>
                <a:latin typeface="Aptos Mono" pitchFamily="34" charset="0"/>
                <a:ea typeface="Aptos Mono" pitchFamily="34" charset="-122"/>
                <a:cs typeface="Aptos Mono" pitchFamily="34" charset="-120"/>
              </a:rPr>
              <a:t>Only direct review evidence exists:</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score = direct_review_stars</a:t>
            </a: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score = 4.0</a:t>
            </a:r>
            <a:endParaRPr lang="en-US" sz="1400" dirty="0"/>
          </a:p>
          <a:p>
            <a:pPr marL="0" indent="0">
              <a:buNone/>
            </a:pPr>
            <a:endParaRPr lang="en-US" sz="1400" dirty="0"/>
          </a:p>
          <a:p>
            <a:pPr marL="0" indent="0">
              <a:buNone/>
            </a:pPr>
            <a:r>
              <a:rPr lang="en-US" sz="1400" dirty="0">
                <a:solidFill>
                  <a:srgbClr val="FFFFFF"/>
                </a:solidFill>
                <a:latin typeface="Aptos Mono" pitchFamily="34" charset="0"/>
                <a:ea typeface="Aptos Mono" pitchFamily="34" charset="-122"/>
                <a:cs typeface="Aptos Mono" pitchFamily="34" charset="-120"/>
              </a:rPr>
              <a:t>predicted_stars = 4.0</a:t>
            </a:r>
            <a:endParaRPr lang="en-US" sz="1400" dirty="0">
              <a:solidFill>
                <a:srgbClr val="FFFFFF"/>
              </a:solidFill>
              <a:latin typeface="Aptos Mono" pitchFamily="34" charset="0"/>
              <a:ea typeface="Aptos Mono" pitchFamily="34" charset="-122"/>
              <a:cs typeface="Aptos Mono" pitchFamily="34" charset="-120"/>
            </a:endParaRPr>
          </a:p>
        </p:txBody>
      </p:sp>
      <p:sp>
        <p:nvSpPr>
          <p:cNvPr id="15" name="Shape 13"/>
          <p:cNvSpPr/>
          <p:nvPr/>
        </p:nvSpPr>
        <p:spPr>
          <a:xfrm>
            <a:off x="8074470" y="1243584"/>
            <a:ext cx="3566160" cy="1847088"/>
          </a:xfrm>
          <a:prstGeom prst="roundRect">
            <a:avLst>
              <a:gd name="adj" fmla="val 6931"/>
            </a:avLst>
          </a:prstGeom>
          <a:solidFill>
            <a:srgbClr val="EFF6FF"/>
          </a:solidFill>
          <a:ln w="12700">
            <a:solidFill>
              <a:srgbClr val="2563EB">
                <a:alpha val="65000"/>
              </a:srgbClr>
            </a:solidFill>
            <a:prstDash val="solid"/>
          </a:ln>
        </p:spPr>
      </p:sp>
      <p:sp>
        <p:nvSpPr>
          <p:cNvPr id="16" name="Text 14"/>
          <p:cNvSpPr/>
          <p:nvPr/>
        </p:nvSpPr>
        <p:spPr>
          <a:xfrm>
            <a:off x="8239062" y="1353312"/>
            <a:ext cx="3236976" cy="228600"/>
          </a:xfrm>
          <a:prstGeom prst="rect">
            <a:avLst/>
          </a:prstGeom>
          <a:noFill/>
        </p:spPr>
        <p:txBody>
          <a:bodyPr wrap="square" lIns="0" tIns="0" rIns="0" bIns="0" rtlCol="0" anchor="ctr"/>
          <a:lstStyle/>
          <a:p>
            <a:pPr marL="0" indent="0">
              <a:buNone/>
            </a:pPr>
            <a:r>
              <a:rPr lang="en-US" sz="1400" b="1" dirty="0">
                <a:solidFill>
                  <a:srgbClr val="2563EB"/>
                </a:solidFill>
              </a:rPr>
              <a:t>IN WORDS</a:t>
            </a:r>
            <a:endParaRPr lang="en-US" sz="1400" b="1" dirty="0">
              <a:solidFill>
                <a:srgbClr val="2563EB"/>
              </a:solidFill>
            </a:endParaRPr>
          </a:p>
        </p:txBody>
      </p:sp>
      <p:sp>
        <p:nvSpPr>
          <p:cNvPr id="17" name="Text 15"/>
          <p:cNvSpPr/>
          <p:nvPr/>
        </p:nvSpPr>
        <p:spPr>
          <a:xfrm>
            <a:off x="8239062" y="1636776"/>
            <a:ext cx="3236976" cy="1371600"/>
          </a:xfrm>
          <a:prstGeom prst="rect">
            <a:avLst/>
          </a:prstGeom>
          <a:noFill/>
        </p:spPr>
        <p:txBody>
          <a:bodyPr wrap="square" lIns="254" tIns="254" rIns="254" bIns="254" rtlCol="0" anchor="ctr">
            <a:normAutofit/>
          </a:bodyPr>
          <a:lstStyle/>
          <a:p>
            <a:pPr marL="0" indent="0">
              <a:buNone/>
            </a:pPr>
            <a:r>
              <a:rPr lang="en-US" sz="1600" dirty="0">
                <a:solidFill>
                  <a:srgbClr val="102A43"/>
                </a:solidFill>
              </a:rPr>
              <a:t>There is no user or item profile. Direct review is the only trusted evidence, so predicted stars equal direct review stars.</a:t>
            </a:r>
            <a:endParaRPr lang="en-US" sz="1600" dirty="0">
              <a:solidFill>
                <a:srgbClr val="102A43"/>
              </a:solidFill>
            </a:endParaRPr>
          </a:p>
        </p:txBody>
      </p:sp>
      <p:sp>
        <p:nvSpPr>
          <p:cNvPr id="18" name="Shape 16"/>
          <p:cNvSpPr/>
          <p:nvPr/>
        </p:nvSpPr>
        <p:spPr>
          <a:xfrm>
            <a:off x="8074470" y="3291840"/>
            <a:ext cx="3566160" cy="1682496"/>
          </a:xfrm>
          <a:prstGeom prst="roundRect">
            <a:avLst>
              <a:gd name="adj" fmla="val 7609"/>
            </a:avLst>
          </a:prstGeom>
          <a:solidFill>
            <a:srgbClr val="ECFDF5"/>
          </a:solidFill>
          <a:ln w="12700">
            <a:solidFill>
              <a:srgbClr val="0F766E">
                <a:alpha val="65000"/>
              </a:srgbClr>
            </a:solidFill>
            <a:prstDash val="solid"/>
          </a:ln>
        </p:spPr>
      </p:sp>
      <p:sp>
        <p:nvSpPr>
          <p:cNvPr id="19" name="Text 17"/>
          <p:cNvSpPr/>
          <p:nvPr/>
        </p:nvSpPr>
        <p:spPr>
          <a:xfrm>
            <a:off x="8239062" y="3401568"/>
            <a:ext cx="3236976" cy="228600"/>
          </a:xfrm>
          <a:prstGeom prst="rect">
            <a:avLst/>
          </a:prstGeom>
          <a:noFill/>
        </p:spPr>
        <p:txBody>
          <a:bodyPr wrap="square" lIns="0" tIns="0" rIns="0" bIns="0" rtlCol="0" anchor="ctr"/>
          <a:lstStyle/>
          <a:p>
            <a:pPr marL="0" indent="0">
              <a:buNone/>
            </a:pPr>
            <a:r>
              <a:rPr lang="en-US" sz="1400" b="1" dirty="0">
                <a:solidFill>
                  <a:srgbClr val="0F766E"/>
                </a:solidFill>
              </a:rPr>
              <a:t>REVIEW GENERATION</a:t>
            </a:r>
            <a:endParaRPr lang="en-US" sz="1400" b="1" dirty="0">
              <a:solidFill>
                <a:srgbClr val="0F766E"/>
              </a:solidFill>
            </a:endParaRPr>
          </a:p>
        </p:txBody>
      </p:sp>
      <p:sp>
        <p:nvSpPr>
          <p:cNvPr id="20" name="Text 18"/>
          <p:cNvSpPr/>
          <p:nvPr/>
        </p:nvSpPr>
        <p:spPr>
          <a:xfrm>
            <a:off x="8239062" y="3685032"/>
            <a:ext cx="3236976" cy="1207008"/>
          </a:xfrm>
          <a:prstGeom prst="rect">
            <a:avLst/>
          </a:prstGeom>
          <a:noFill/>
        </p:spPr>
        <p:txBody>
          <a:bodyPr wrap="square" lIns="254" tIns="254" rIns="254" bIns="254" rtlCol="0" anchor="ctr">
            <a:normAutofit/>
          </a:bodyPr>
          <a:lstStyle/>
          <a:p>
            <a:pPr marL="0" indent="0">
              <a:buNone/>
            </a:pPr>
            <a:r>
              <a:rPr lang="en-US" sz="1600" dirty="0">
                <a:solidFill>
                  <a:srgbClr val="102A43"/>
                </a:solidFill>
              </a:rPr>
              <a:t>Follow direct-review sentiment only. Do not add unsupported user or item facts.</a:t>
            </a:r>
            <a:endParaRPr lang="en-US" sz="1600" dirty="0">
              <a:solidFill>
                <a:srgbClr val="102A43"/>
              </a:solidFill>
            </a:endParaRPr>
          </a:p>
        </p:txBody>
      </p:sp>
      <p:sp>
        <p:nvSpPr>
          <p:cNvPr id="21" name="Text 19"/>
          <p:cNvSpPr/>
          <p:nvPr/>
        </p:nvSpPr>
        <p:spPr>
          <a:xfrm>
            <a:off x="548958" y="5230368"/>
            <a:ext cx="11091672" cy="1078992"/>
          </a:xfrm>
          <a:prstGeom prst="roundRect">
            <a:avLst>
              <a:gd name="adj" fmla="val 11017"/>
            </a:avLst>
          </a:prstGeom>
          <a:solidFill>
            <a:srgbClr val="102A43"/>
          </a:solidFill>
          <a:ln w="11430">
            <a:solidFill>
              <a:srgbClr val="102A43"/>
            </a:solidFill>
          </a:ln>
        </p:spPr>
        <p:txBody>
          <a:bodyPr wrap="square" lIns="1778" tIns="1778" rIns="1778" bIns="1778" rtlCol="0" anchor="ctr">
            <a:normAutofit/>
          </a:bodyPr>
          <a:lstStyle/>
          <a:p>
            <a:pPr marL="0" indent="0" algn="l">
              <a:buNone/>
            </a:pPr>
            <a:r>
              <a:rPr lang="en-US" sz="1400" dirty="0">
                <a:solidFill>
                  <a:srgbClr val="FFFFFF"/>
                </a:solidFill>
                <a:latin typeface="Aptos Mono" pitchFamily="34" charset="0"/>
                <a:ea typeface="Aptos Mono" pitchFamily="34" charset="-122"/>
                <a:cs typeface="Aptos Mono" pitchFamily="34" charset="-120"/>
              </a:rPr>
              <a:t>{"stars": 4.0, "review": "A positive experience overall. The review follows the direct review sentiment and avoids unsupported user-profile or business-specific details."}</a:t>
            </a:r>
            <a:endParaRPr lang="en-US" sz="1400" dirty="0">
              <a:solidFill>
                <a:srgbClr val="FFFFFF"/>
              </a:solidFill>
              <a:latin typeface="Aptos Mono" pitchFamily="34" charset="0"/>
              <a:ea typeface="Aptos Mono" pitchFamily="34" charset="-122"/>
              <a:cs typeface="Aptos Mono" pitchFamily="34" charset="-120"/>
            </a:endParaRPr>
          </a:p>
        </p:txBody>
      </p:sp>
      <p:sp>
        <p:nvSpPr>
          <p:cNvPr id="2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3238" y="146304"/>
            <a:ext cx="3657600" cy="219456"/>
          </a:xfrm>
          <a:prstGeom prst="rect">
            <a:avLst/>
          </a:prstGeom>
          <a:noFill/>
        </p:spPr>
        <p:txBody>
          <a:bodyPr wrap="square" lIns="0" tIns="0" rIns="0" bIns="0" rtlCol="0" anchor="ctr"/>
          <a:lstStyle/>
          <a:p>
            <a:pPr marL="0" indent="0">
              <a:buNone/>
            </a:pPr>
            <a:r>
              <a:rPr lang="en-US" sz="1000" b="1" dirty="0">
                <a:solidFill>
                  <a:srgbClr val="2563EB"/>
                </a:solidFill>
              </a:rPr>
              <a:t>EVIDENCE CASE</a:t>
            </a:r>
            <a:endParaRPr lang="en-US" sz="1000" dirty="0"/>
          </a:p>
        </p:txBody>
      </p:sp>
      <p:sp>
        <p:nvSpPr>
          <p:cNvPr id="3" name="Text 1"/>
          <p:cNvSpPr/>
          <p:nvPr/>
        </p:nvSpPr>
        <p:spPr>
          <a:xfrm>
            <a:off x="503238" y="393192"/>
            <a:ext cx="11155680" cy="457200"/>
          </a:xfrm>
          <a:prstGeom prst="rect">
            <a:avLst/>
          </a:prstGeom>
          <a:noFill/>
        </p:spPr>
        <p:txBody>
          <a:bodyPr wrap="square" lIns="0" tIns="0" rIns="0" bIns="0" rtlCol="0" anchor="ctr">
            <a:normAutofit/>
          </a:bodyPr>
          <a:lstStyle/>
          <a:p>
            <a:pPr marL="0" indent="0">
              <a:buNone/>
            </a:pPr>
            <a:r>
              <a:rPr lang="en-US" sz="2550" b="1" dirty="0">
                <a:solidFill>
                  <a:srgbClr val="102A43"/>
                </a:solidFill>
                <a:latin typeface="Aptos Display" pitchFamily="34" charset="0"/>
                <a:ea typeface="Aptos Display" pitchFamily="34" charset="-122"/>
                <a:cs typeface="Aptos Display" pitchFamily="34" charset="-120"/>
              </a:rPr>
              <a:t>Case 8. User ✗ Item ✗ Direct ✗</a:t>
            </a:r>
            <a:endParaRPr lang="en-US" sz="2550" dirty="0"/>
          </a:p>
        </p:txBody>
      </p:sp>
      <p:sp>
        <p:nvSpPr>
          <p:cNvPr id="4" name="Text 2"/>
          <p:cNvSpPr/>
          <p:nvPr/>
        </p:nvSpPr>
        <p:spPr>
          <a:xfrm>
            <a:off x="530670" y="859536"/>
            <a:ext cx="10789920" cy="228600"/>
          </a:xfrm>
          <a:prstGeom prst="rect">
            <a:avLst/>
          </a:prstGeom>
          <a:noFill/>
        </p:spPr>
        <p:txBody>
          <a:bodyPr wrap="square" lIns="0" tIns="0" rIns="0" bIns="0" rtlCol="0" anchor="ctr">
            <a:normAutofit/>
          </a:bodyPr>
          <a:lstStyle/>
          <a:p>
            <a:pPr marL="0" indent="0">
              <a:buNone/>
            </a:pPr>
            <a:r>
              <a:rPr lang="en-US" sz="1150" dirty="0">
                <a:solidFill>
                  <a:srgbClr val="475569"/>
                </a:solidFill>
              </a:rPr>
              <a:t>No evidence exists: use safe default prior and low-specificity review.</a:t>
            </a:r>
            <a:endParaRPr lang="en-US" sz="1150" dirty="0"/>
          </a:p>
        </p:txBody>
      </p:sp>
      <p:sp>
        <p:nvSpPr>
          <p:cNvPr id="5" name="Shape 3"/>
          <p:cNvSpPr/>
          <p:nvPr/>
        </p:nvSpPr>
        <p:spPr>
          <a:xfrm>
            <a:off x="503238" y="1143000"/>
            <a:ext cx="11155680" cy="0"/>
          </a:xfrm>
          <a:prstGeom prst="line">
            <a:avLst/>
          </a:prstGeom>
          <a:noFill/>
          <a:ln w="10160">
            <a:solidFill>
              <a:srgbClr val="CBD5E1"/>
            </a:solidFill>
            <a:prstDash val="solid"/>
          </a:ln>
        </p:spPr>
      </p:sp>
      <p:sp>
        <p:nvSpPr>
          <p:cNvPr id="6" name="Text 4"/>
          <p:cNvSpPr/>
          <p:nvPr/>
        </p:nvSpPr>
        <p:spPr>
          <a:xfrm>
            <a:off x="548958" y="1243584"/>
            <a:ext cx="886968" cy="301752"/>
          </a:xfrm>
          <a:prstGeom prst="roundRect">
            <a:avLst>
              <a:gd name="adj" fmla="val 39394"/>
            </a:avLst>
          </a:prstGeom>
          <a:solidFill>
            <a:srgbClr val="F1F5F9"/>
          </a:solidFill>
          <a:ln w="11430">
            <a:solidFill>
              <a:srgbClr val="CBD5E1"/>
            </a:solidFill>
          </a:ln>
        </p:spPr>
        <p:txBody>
          <a:bodyPr wrap="square" lIns="254" tIns="254" rIns="254" bIns="254" rtlCol="0" anchor="ctr">
            <a:normAutofit/>
          </a:bodyPr>
          <a:lstStyle/>
          <a:p>
            <a:pPr marL="0" indent="0" algn="ctr">
              <a:buNone/>
            </a:pPr>
            <a:r>
              <a:rPr lang="en-US" sz="1050" b="1" dirty="0">
                <a:solidFill>
                  <a:srgbClr val="64748B"/>
                </a:solidFill>
                <a:latin typeface="Aptos" pitchFamily="34" charset="0"/>
                <a:ea typeface="Aptos" pitchFamily="34" charset="-122"/>
                <a:cs typeface="Aptos" pitchFamily="34" charset="-120"/>
              </a:rPr>
              <a:t>USER ✗</a:t>
            </a:r>
            <a:endParaRPr lang="en-US" sz="1050" dirty="0"/>
          </a:p>
        </p:txBody>
      </p:sp>
      <p:sp>
        <p:nvSpPr>
          <p:cNvPr id="7" name="Text 5"/>
          <p:cNvSpPr/>
          <p:nvPr/>
        </p:nvSpPr>
        <p:spPr>
          <a:xfrm>
            <a:off x="1527366" y="1243584"/>
            <a:ext cx="886968" cy="301752"/>
          </a:xfrm>
          <a:prstGeom prst="roundRect">
            <a:avLst>
              <a:gd name="adj" fmla="val 39394"/>
            </a:avLst>
          </a:prstGeom>
          <a:solidFill>
            <a:srgbClr val="F1F5F9"/>
          </a:solidFill>
          <a:ln w="11430">
            <a:solidFill>
              <a:srgbClr val="CBD5E1"/>
            </a:solidFill>
          </a:ln>
        </p:spPr>
        <p:txBody>
          <a:bodyPr wrap="square" lIns="254" tIns="254" rIns="254" bIns="254" rtlCol="0" anchor="ctr">
            <a:normAutofit/>
          </a:bodyPr>
          <a:lstStyle/>
          <a:p>
            <a:pPr marL="0" indent="0" algn="ctr">
              <a:buNone/>
            </a:pPr>
            <a:r>
              <a:rPr lang="en-US" sz="1050" b="1" dirty="0">
                <a:solidFill>
                  <a:srgbClr val="64748B"/>
                </a:solidFill>
                <a:latin typeface="Aptos" pitchFamily="34" charset="0"/>
                <a:ea typeface="Aptos" pitchFamily="34" charset="-122"/>
                <a:cs typeface="Aptos" pitchFamily="34" charset="-120"/>
              </a:rPr>
              <a:t>ITEM ✗</a:t>
            </a:r>
            <a:endParaRPr lang="en-US" sz="1050" dirty="0"/>
          </a:p>
        </p:txBody>
      </p:sp>
      <p:sp>
        <p:nvSpPr>
          <p:cNvPr id="8" name="Text 6"/>
          <p:cNvSpPr/>
          <p:nvPr/>
        </p:nvSpPr>
        <p:spPr>
          <a:xfrm>
            <a:off x="2505774" y="1243584"/>
            <a:ext cx="886968" cy="301752"/>
          </a:xfrm>
          <a:prstGeom prst="roundRect">
            <a:avLst>
              <a:gd name="adj" fmla="val 39394"/>
            </a:avLst>
          </a:prstGeom>
          <a:solidFill>
            <a:srgbClr val="F1F5F9"/>
          </a:solidFill>
          <a:ln w="11430">
            <a:solidFill>
              <a:srgbClr val="CBD5E1"/>
            </a:solidFill>
          </a:ln>
        </p:spPr>
        <p:txBody>
          <a:bodyPr wrap="square" lIns="254" tIns="254" rIns="254" bIns="254" rtlCol="0" anchor="ctr">
            <a:normAutofit/>
          </a:bodyPr>
          <a:lstStyle/>
          <a:p>
            <a:pPr marL="0" indent="0" algn="ctr">
              <a:buNone/>
            </a:pPr>
            <a:r>
              <a:rPr lang="en-US" sz="1050" b="1" dirty="0">
                <a:solidFill>
                  <a:srgbClr val="64748B"/>
                </a:solidFill>
                <a:latin typeface="Aptos" pitchFamily="34" charset="0"/>
                <a:ea typeface="Aptos" pitchFamily="34" charset="-122"/>
                <a:cs typeface="Aptos" pitchFamily="34" charset="-120"/>
              </a:rPr>
              <a:t>DIRECT ✗</a:t>
            </a:r>
            <a:endParaRPr lang="en-US" sz="1050" dirty="0"/>
          </a:p>
        </p:txBody>
      </p:sp>
      <p:sp>
        <p:nvSpPr>
          <p:cNvPr id="9" name="Shape 7"/>
          <p:cNvSpPr/>
          <p:nvPr/>
        </p:nvSpPr>
        <p:spPr>
          <a:xfrm>
            <a:off x="548958" y="1664208"/>
            <a:ext cx="2880360" cy="3310128"/>
          </a:xfrm>
          <a:prstGeom prst="roundRect">
            <a:avLst>
              <a:gd name="adj" fmla="val 4444"/>
            </a:avLst>
          </a:prstGeom>
          <a:solidFill>
            <a:srgbClr val="F8FAFC"/>
          </a:solidFill>
          <a:ln w="12700">
            <a:solidFill>
              <a:srgbClr val="2563EB">
                <a:alpha val="65000"/>
              </a:srgbClr>
            </a:solidFill>
            <a:prstDash val="solid"/>
          </a:ln>
        </p:spPr>
      </p:sp>
      <p:sp>
        <p:nvSpPr>
          <p:cNvPr id="10" name="Text 8"/>
          <p:cNvSpPr/>
          <p:nvPr/>
        </p:nvSpPr>
        <p:spPr>
          <a:xfrm>
            <a:off x="713550" y="1773936"/>
            <a:ext cx="2551176" cy="228600"/>
          </a:xfrm>
          <a:prstGeom prst="rect">
            <a:avLst/>
          </a:prstGeom>
          <a:noFill/>
        </p:spPr>
        <p:txBody>
          <a:bodyPr wrap="square" lIns="0" tIns="0" rIns="0" bIns="0" rtlCol="0" anchor="ctr"/>
          <a:lstStyle/>
          <a:p>
            <a:pPr marL="0" indent="0">
              <a:buNone/>
            </a:pPr>
            <a:r>
              <a:rPr lang="en-US" sz="1400" b="1" dirty="0">
                <a:solidFill>
                  <a:srgbClr val="2563EB"/>
                </a:solidFill>
              </a:rPr>
              <a:t>INPUT EVIDENCE</a:t>
            </a:r>
            <a:endParaRPr lang="en-US" sz="1400" b="1" dirty="0">
              <a:solidFill>
                <a:srgbClr val="2563EB"/>
              </a:solidFill>
            </a:endParaRPr>
          </a:p>
        </p:txBody>
      </p:sp>
      <p:sp>
        <p:nvSpPr>
          <p:cNvPr id="11" name="Text 9"/>
          <p:cNvSpPr/>
          <p:nvPr/>
        </p:nvSpPr>
        <p:spPr>
          <a:xfrm>
            <a:off x="713550" y="2057400"/>
            <a:ext cx="2551176" cy="2834640"/>
          </a:xfrm>
          <a:prstGeom prst="rect">
            <a:avLst/>
          </a:prstGeom>
          <a:noFill/>
        </p:spPr>
        <p:txBody>
          <a:bodyPr wrap="square" lIns="254" tIns="254" rIns="254" bIns="254" rtlCol="0" anchor="ctr">
            <a:normAutofit/>
          </a:bodyPr>
          <a:lstStyle/>
          <a:p>
            <a:pPr marL="0" indent="0">
              <a:buNone/>
            </a:pPr>
            <a:r>
              <a:rPr lang="en-US" sz="1400" dirty="0">
                <a:solidFill>
                  <a:srgbClr val="102A43"/>
                </a:solidFill>
              </a:rPr>
              <a:t>user = missing</a:t>
            </a:r>
            <a:endParaRPr lang="en-US" sz="1400" dirty="0"/>
          </a:p>
          <a:p>
            <a:pPr marL="0" indent="0">
              <a:buNone/>
            </a:pPr>
            <a:r>
              <a:rPr lang="en-US" sz="1400" dirty="0">
                <a:solidFill>
                  <a:srgbClr val="102A43"/>
                </a:solidFill>
              </a:rPr>
              <a:t>item = missing</a:t>
            </a:r>
            <a:endParaRPr lang="en-US" sz="1400" dirty="0"/>
          </a:p>
          <a:p>
            <a:pPr marL="0" indent="0">
              <a:buNone/>
            </a:pPr>
            <a:r>
              <a:rPr lang="en-US" sz="1400" dirty="0">
                <a:solidFill>
                  <a:srgbClr val="102A43"/>
                </a:solidFill>
              </a:rPr>
              <a:t>direct_review = missing</a:t>
            </a:r>
            <a:endParaRPr lang="en-US" sz="1400" dirty="0"/>
          </a:p>
          <a:p>
            <a:pPr marL="0" indent="0">
              <a:buNone/>
            </a:pPr>
            <a:endParaRPr lang="en-US" sz="1400" dirty="0"/>
          </a:p>
          <a:p>
            <a:pPr marL="0" indent="0">
              <a:buNone/>
            </a:pPr>
            <a:r>
              <a:rPr lang="en-US" sz="1400" dirty="0">
                <a:solidFill>
                  <a:srgbClr val="102A43"/>
                </a:solidFill>
              </a:rPr>
              <a:t>default_prior = 3.8</a:t>
            </a:r>
            <a:endParaRPr lang="en-US" sz="1400" dirty="0">
              <a:solidFill>
                <a:srgbClr val="102A43"/>
              </a:solidFill>
            </a:endParaRPr>
          </a:p>
        </p:txBody>
      </p:sp>
      <p:sp>
        <p:nvSpPr>
          <p:cNvPr id="12" name="Shape 10"/>
          <p:cNvSpPr/>
          <p:nvPr/>
        </p:nvSpPr>
        <p:spPr>
          <a:xfrm>
            <a:off x="3703638" y="1243584"/>
            <a:ext cx="4069080" cy="3730752"/>
          </a:xfrm>
          <a:prstGeom prst="roundRect">
            <a:avLst>
              <a:gd name="adj" fmla="val 2941"/>
            </a:avLst>
          </a:prstGeom>
          <a:solidFill>
            <a:srgbClr val="0B1220"/>
          </a:solidFill>
          <a:ln w="12700">
            <a:solidFill>
              <a:srgbClr val="1E293B"/>
            </a:solidFill>
            <a:prstDash val="solid"/>
          </a:ln>
        </p:spPr>
      </p:sp>
      <p:sp>
        <p:nvSpPr>
          <p:cNvPr id="13" name="Text 11"/>
          <p:cNvSpPr/>
          <p:nvPr/>
        </p:nvSpPr>
        <p:spPr>
          <a:xfrm>
            <a:off x="3868230" y="1353312"/>
            <a:ext cx="3739896" cy="237744"/>
          </a:xfrm>
          <a:prstGeom prst="rect">
            <a:avLst/>
          </a:prstGeom>
          <a:noFill/>
        </p:spPr>
        <p:txBody>
          <a:bodyPr wrap="square" lIns="0" tIns="0" rIns="0" bIns="0" rtlCol="0" anchor="ctr"/>
          <a:lstStyle/>
          <a:p>
            <a:pPr marL="0" indent="0">
              <a:buNone/>
            </a:pPr>
            <a:r>
              <a:rPr lang="en-US" sz="1400" b="1" dirty="0">
                <a:solidFill>
                  <a:srgbClr val="93C5FD"/>
                </a:solidFill>
              </a:rPr>
              <a:t>FORMULA</a:t>
            </a:r>
            <a:endParaRPr lang="en-US" sz="1400" b="1" dirty="0">
              <a:solidFill>
                <a:srgbClr val="93C5FD"/>
              </a:solidFill>
            </a:endParaRPr>
          </a:p>
        </p:txBody>
      </p:sp>
      <p:sp>
        <p:nvSpPr>
          <p:cNvPr id="14" name="Text 12"/>
          <p:cNvSpPr/>
          <p:nvPr/>
        </p:nvSpPr>
        <p:spPr>
          <a:xfrm>
            <a:off x="3868230" y="1645920"/>
            <a:ext cx="3739896" cy="3236976"/>
          </a:xfrm>
          <a:prstGeom prst="rect">
            <a:avLst/>
          </a:prstGeom>
          <a:noFill/>
        </p:spPr>
        <p:txBody>
          <a:bodyPr wrap="square" lIns="0" tIns="0" rIns="0" bIns="0" rtlCol="0" anchor="ctr">
            <a:normAutofit/>
          </a:bodyPr>
          <a:lstStyle/>
          <a:p>
            <a:pPr marL="0" indent="0">
              <a:buNone/>
            </a:pPr>
            <a:r>
              <a:rPr lang="en-US" sz="1400" dirty="0">
                <a:solidFill>
                  <a:srgbClr val="FFFFFF"/>
                </a:solidFill>
                <a:latin typeface="Aptos Mono" pitchFamily="34" charset="0"/>
                <a:ea typeface="Aptos Mono" pitchFamily="34" charset="-122"/>
                <a:cs typeface="Aptos Mono" pitchFamily="34" charset="-120"/>
              </a:rPr>
              <a:t>N</a:t>
            </a:r>
            <a:r>
              <a:rPr lang="en-US" sz="2000" dirty="0">
                <a:solidFill>
                  <a:srgbClr val="FFFFFF"/>
                </a:solidFill>
                <a:latin typeface="Aptos Mono" pitchFamily="34" charset="0"/>
                <a:ea typeface="Aptos Mono" pitchFamily="34" charset="-122"/>
                <a:cs typeface="Aptos Mono" pitchFamily="34" charset="-120"/>
              </a:rPr>
              <a:t>o evidence exists:</a:t>
            </a:r>
            <a:endParaRPr lang="en-US" sz="2000" dirty="0"/>
          </a:p>
          <a:p>
            <a:pPr marL="0" indent="0">
              <a:buNone/>
            </a:pPr>
            <a:endParaRPr lang="en-US" sz="2000" dirty="0"/>
          </a:p>
          <a:p>
            <a:pPr marL="0" indent="0">
              <a:buNone/>
            </a:pPr>
            <a:r>
              <a:rPr lang="en-US" sz="2000" dirty="0">
                <a:solidFill>
                  <a:srgbClr val="FFFFFF"/>
                </a:solidFill>
                <a:latin typeface="Aptos Mono" pitchFamily="34" charset="0"/>
                <a:ea typeface="Aptos Mono" pitchFamily="34" charset="-122"/>
                <a:cs typeface="Aptos Mono" pitchFamily="34" charset="-120"/>
              </a:rPr>
              <a:t>score = default_prior</a:t>
            </a:r>
            <a:endParaRPr lang="en-US" sz="2000" dirty="0"/>
          </a:p>
          <a:p>
            <a:pPr marL="0" indent="0">
              <a:buNone/>
            </a:pPr>
            <a:r>
              <a:rPr lang="en-US" sz="2000" dirty="0">
                <a:solidFill>
                  <a:srgbClr val="FFFFFF"/>
                </a:solidFill>
                <a:latin typeface="Aptos Mono" pitchFamily="34" charset="0"/>
                <a:ea typeface="Aptos Mono" pitchFamily="34" charset="-122"/>
                <a:cs typeface="Aptos Mono" pitchFamily="34" charset="-120"/>
              </a:rPr>
              <a:t>score = 3.8</a:t>
            </a:r>
            <a:endParaRPr lang="en-US" sz="2000" dirty="0"/>
          </a:p>
          <a:p>
            <a:pPr marL="0" indent="0">
              <a:buNone/>
            </a:pPr>
            <a:endParaRPr lang="en-US" sz="2000" dirty="0"/>
          </a:p>
          <a:p>
            <a:pPr marL="0" indent="0">
              <a:buNone/>
            </a:pPr>
            <a:r>
              <a:rPr lang="en-US" sz="2000" dirty="0">
                <a:solidFill>
                  <a:srgbClr val="FFFFFF"/>
                </a:solidFill>
                <a:latin typeface="Aptos Mono" pitchFamily="34" charset="0"/>
                <a:ea typeface="Aptos Mono" pitchFamily="34" charset="-122"/>
                <a:cs typeface="Aptos Mono" pitchFamily="34" charset="-120"/>
              </a:rPr>
              <a:t>predicted_stars = 3.8</a:t>
            </a:r>
            <a:endParaRPr lang="en-US" sz="2000" dirty="0">
              <a:solidFill>
                <a:srgbClr val="FFFFFF"/>
              </a:solidFill>
              <a:latin typeface="Aptos Mono" pitchFamily="34" charset="0"/>
              <a:ea typeface="Aptos Mono" pitchFamily="34" charset="-122"/>
              <a:cs typeface="Aptos Mono" pitchFamily="34" charset="-120"/>
            </a:endParaRPr>
          </a:p>
        </p:txBody>
      </p:sp>
      <p:sp>
        <p:nvSpPr>
          <p:cNvPr id="15" name="Shape 13"/>
          <p:cNvSpPr/>
          <p:nvPr/>
        </p:nvSpPr>
        <p:spPr>
          <a:xfrm>
            <a:off x="8074470" y="1243584"/>
            <a:ext cx="3566160" cy="1847088"/>
          </a:xfrm>
          <a:prstGeom prst="roundRect">
            <a:avLst>
              <a:gd name="adj" fmla="val 6931"/>
            </a:avLst>
          </a:prstGeom>
          <a:solidFill>
            <a:srgbClr val="FFF7ED"/>
          </a:solidFill>
          <a:ln w="12700">
            <a:solidFill>
              <a:srgbClr val="D97706">
                <a:alpha val="65000"/>
              </a:srgbClr>
            </a:solidFill>
            <a:prstDash val="solid"/>
          </a:ln>
        </p:spPr>
      </p:sp>
      <p:sp>
        <p:nvSpPr>
          <p:cNvPr id="16" name="Text 14"/>
          <p:cNvSpPr/>
          <p:nvPr/>
        </p:nvSpPr>
        <p:spPr>
          <a:xfrm>
            <a:off x="8239062" y="1353312"/>
            <a:ext cx="3236976" cy="228600"/>
          </a:xfrm>
          <a:prstGeom prst="rect">
            <a:avLst/>
          </a:prstGeom>
          <a:noFill/>
        </p:spPr>
        <p:txBody>
          <a:bodyPr wrap="square" lIns="0" tIns="0" rIns="0" bIns="0" rtlCol="0" anchor="ctr"/>
          <a:lstStyle/>
          <a:p>
            <a:pPr marL="0" indent="0">
              <a:buNone/>
            </a:pPr>
            <a:r>
              <a:rPr lang="en-US" sz="1400" b="1" dirty="0">
                <a:solidFill>
                  <a:srgbClr val="D97706"/>
                </a:solidFill>
              </a:rPr>
              <a:t>IN WORDS</a:t>
            </a:r>
            <a:endParaRPr lang="en-US" sz="1400" b="1" dirty="0">
              <a:solidFill>
                <a:srgbClr val="D97706"/>
              </a:solidFill>
            </a:endParaRPr>
          </a:p>
        </p:txBody>
      </p:sp>
      <p:sp>
        <p:nvSpPr>
          <p:cNvPr id="17" name="Text 15"/>
          <p:cNvSpPr/>
          <p:nvPr/>
        </p:nvSpPr>
        <p:spPr>
          <a:xfrm>
            <a:off x="8239062" y="1636776"/>
            <a:ext cx="3236976" cy="1371600"/>
          </a:xfrm>
          <a:prstGeom prst="rect">
            <a:avLst/>
          </a:prstGeom>
          <a:noFill/>
        </p:spPr>
        <p:txBody>
          <a:bodyPr wrap="square" lIns="254" tIns="254" rIns="254" bIns="254" rtlCol="0" anchor="ctr">
            <a:normAutofit/>
          </a:bodyPr>
          <a:lstStyle/>
          <a:p>
            <a:pPr marL="0" indent="0">
              <a:buNone/>
            </a:pPr>
            <a:r>
              <a:rPr lang="en-US" sz="1600" dirty="0">
                <a:solidFill>
                  <a:srgbClr val="102A43"/>
                </a:solidFill>
              </a:rPr>
              <a:t>The system does not invent missing evidence. It uses the default prior as a safe fallback rating.</a:t>
            </a:r>
            <a:endParaRPr lang="en-US" sz="1600" dirty="0">
              <a:solidFill>
                <a:srgbClr val="102A43"/>
              </a:solidFill>
            </a:endParaRPr>
          </a:p>
        </p:txBody>
      </p:sp>
      <p:sp>
        <p:nvSpPr>
          <p:cNvPr id="18" name="Shape 16"/>
          <p:cNvSpPr/>
          <p:nvPr/>
        </p:nvSpPr>
        <p:spPr>
          <a:xfrm>
            <a:off x="8074470" y="3291840"/>
            <a:ext cx="3566160" cy="1682496"/>
          </a:xfrm>
          <a:prstGeom prst="roundRect">
            <a:avLst>
              <a:gd name="adj" fmla="val 7609"/>
            </a:avLst>
          </a:prstGeom>
          <a:solidFill>
            <a:srgbClr val="ECFDF5"/>
          </a:solidFill>
          <a:ln w="12700">
            <a:solidFill>
              <a:srgbClr val="0F766E">
                <a:alpha val="65000"/>
              </a:srgbClr>
            </a:solidFill>
            <a:prstDash val="solid"/>
          </a:ln>
        </p:spPr>
      </p:sp>
      <p:sp>
        <p:nvSpPr>
          <p:cNvPr id="19" name="Text 17"/>
          <p:cNvSpPr/>
          <p:nvPr/>
        </p:nvSpPr>
        <p:spPr>
          <a:xfrm>
            <a:off x="8239062" y="3401568"/>
            <a:ext cx="3236976" cy="228600"/>
          </a:xfrm>
          <a:prstGeom prst="rect">
            <a:avLst/>
          </a:prstGeom>
          <a:noFill/>
        </p:spPr>
        <p:txBody>
          <a:bodyPr wrap="square" lIns="0" tIns="0" rIns="0" bIns="0" rtlCol="0" anchor="ctr"/>
          <a:lstStyle/>
          <a:p>
            <a:pPr marL="0" indent="0">
              <a:buNone/>
            </a:pPr>
            <a:r>
              <a:rPr lang="en-US" sz="1400" b="1" dirty="0">
                <a:solidFill>
                  <a:srgbClr val="0F766E"/>
                </a:solidFill>
              </a:rPr>
              <a:t>REVIEW GENERATION</a:t>
            </a:r>
            <a:endParaRPr lang="en-US" sz="1400" b="1" dirty="0">
              <a:solidFill>
                <a:srgbClr val="0F766E"/>
              </a:solidFill>
            </a:endParaRPr>
          </a:p>
        </p:txBody>
      </p:sp>
      <p:sp>
        <p:nvSpPr>
          <p:cNvPr id="20" name="Text 18"/>
          <p:cNvSpPr/>
          <p:nvPr/>
        </p:nvSpPr>
        <p:spPr>
          <a:xfrm>
            <a:off x="8239062" y="3685032"/>
            <a:ext cx="3236976" cy="1207008"/>
          </a:xfrm>
          <a:prstGeom prst="rect">
            <a:avLst/>
          </a:prstGeom>
          <a:noFill/>
        </p:spPr>
        <p:txBody>
          <a:bodyPr wrap="square" lIns="254" tIns="254" rIns="254" bIns="254" rtlCol="0" anchor="ctr">
            <a:normAutofit/>
          </a:bodyPr>
          <a:lstStyle/>
          <a:p>
            <a:pPr marL="0" indent="0">
              <a:buNone/>
            </a:pPr>
            <a:r>
              <a:rPr lang="en-US" sz="1600" dirty="0">
                <a:solidFill>
                  <a:srgbClr val="102A43"/>
                </a:solidFill>
              </a:rPr>
              <a:t>Write generic, neutral-to-positive text. Avoid specific facts.</a:t>
            </a:r>
            <a:endParaRPr lang="en-US" sz="1600" dirty="0">
              <a:solidFill>
                <a:srgbClr val="102A43"/>
              </a:solidFill>
            </a:endParaRPr>
          </a:p>
        </p:txBody>
      </p:sp>
      <p:sp>
        <p:nvSpPr>
          <p:cNvPr id="21" name="Text 19"/>
          <p:cNvSpPr/>
          <p:nvPr/>
        </p:nvSpPr>
        <p:spPr>
          <a:xfrm>
            <a:off x="548958" y="5230368"/>
            <a:ext cx="11091672" cy="1078992"/>
          </a:xfrm>
          <a:prstGeom prst="roundRect">
            <a:avLst>
              <a:gd name="adj" fmla="val 11017"/>
            </a:avLst>
          </a:prstGeom>
          <a:solidFill>
            <a:srgbClr val="102A43"/>
          </a:solidFill>
          <a:ln w="11430">
            <a:solidFill>
              <a:srgbClr val="102A43"/>
            </a:solidFill>
          </a:ln>
        </p:spPr>
        <p:txBody>
          <a:bodyPr wrap="square" lIns="1778" tIns="1778" rIns="1778" bIns="1778" rtlCol="0" anchor="ctr">
            <a:normAutofit/>
          </a:bodyPr>
          <a:lstStyle/>
          <a:p>
            <a:pPr marL="0" indent="0" algn="l">
              <a:buNone/>
            </a:pPr>
            <a:r>
              <a:rPr lang="en-US" sz="1400" dirty="0">
                <a:solidFill>
                  <a:srgbClr val="FFFFFF"/>
                </a:solidFill>
                <a:latin typeface="Aptos Mono" pitchFamily="34" charset="0"/>
                <a:ea typeface="Aptos Mono" pitchFamily="34" charset="-122"/>
                <a:cs typeface="Aptos Mono" pitchFamily="34" charset="-120"/>
              </a:rPr>
              <a:t>{"stars": 3.8, "review": "A generally decent experience overall. The review stays neutral-to-positive and avoids specific details because there is no user, item, or direct-review evidence."}</a:t>
            </a:r>
            <a:endParaRPr lang="en-US" sz="1400" dirty="0">
              <a:solidFill>
                <a:srgbClr val="FFFFFF"/>
              </a:solidFill>
              <a:latin typeface="Aptos Mono" pitchFamily="34" charset="0"/>
              <a:ea typeface="Aptos Mono" pitchFamily="34" charset="-122"/>
              <a:cs typeface="Aptos Mono" pitchFamily="34" charset="-120"/>
            </a:endParaRPr>
          </a:p>
        </p:txBody>
      </p:sp>
      <p:sp>
        <p:nvSpPr>
          <p:cNvPr id="2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201295"/>
            <a:ext cx="8645525" cy="293370"/>
          </a:xfrm>
          <a:prstGeom prst="rect">
            <a:avLst/>
          </a:prstGeom>
          <a:noFill/>
        </p:spPr>
        <p:txBody>
          <a:bodyPr wrap="square" lIns="0" tIns="0" rIns="0" bIns="0" rtlCol="0" anchor="ctr">
            <a:noAutofit/>
          </a:bodyPr>
          <a:lstStyle/>
          <a:p>
            <a:pPr marL="0" indent="0" algn="l">
              <a:buNone/>
            </a:pPr>
            <a:r>
              <a:rPr lang="en-US" sz="1900" b="1" dirty="0">
                <a:solidFill>
                  <a:srgbClr val="0B6EEE"/>
                </a:solidFill>
                <a:latin typeface="Arial" panose="020B0704020202020204" pitchFamily="34" charset="0"/>
                <a:ea typeface="Arial" panose="020B0704020202020204" pitchFamily="34" charset="-122"/>
                <a:cs typeface="Arial" panose="020B0704020202020204" pitchFamily="34" charset="-120"/>
              </a:rPr>
              <a:t>REVIEW GENERATION</a:t>
            </a:r>
            <a:r>
              <a:rPr lang="vi-VN" altLang="en-US" sz="1900" b="1" dirty="0">
                <a:solidFill>
                  <a:srgbClr val="0B6EEE"/>
                </a:solidFill>
                <a:latin typeface="Arial" panose="020B0704020202020204" pitchFamily="34" charset="0"/>
                <a:ea typeface="Arial" panose="020B0704020202020204" pitchFamily="34" charset="-122"/>
                <a:cs typeface="Arial" panose="020B0704020202020204" pitchFamily="34" charset="-120"/>
              </a:rPr>
              <a:t> MECHANISM</a:t>
            </a:r>
            <a:endParaRPr lang="vi-VN" altLang="en-US" sz="1900" b="1" dirty="0">
              <a:solidFill>
                <a:srgbClr val="0B6EEE"/>
              </a:solidFill>
              <a:latin typeface="Arial" panose="020B0704020202020204" pitchFamily="34" charset="0"/>
              <a:ea typeface="Arial" panose="020B0704020202020204" pitchFamily="34" charset="-122"/>
              <a:cs typeface="Arial" panose="020B0704020202020204" pitchFamily="34" charset="-120"/>
            </a:endParaRPr>
          </a:p>
        </p:txBody>
      </p:sp>
      <p:sp>
        <p:nvSpPr>
          <p:cNvPr id="4" name="Shape 2"/>
          <p:cNvSpPr/>
          <p:nvPr/>
        </p:nvSpPr>
        <p:spPr>
          <a:xfrm>
            <a:off x="411480" y="611505"/>
            <a:ext cx="11201400" cy="0"/>
          </a:xfrm>
          <a:prstGeom prst="line">
            <a:avLst/>
          </a:prstGeom>
          <a:noFill/>
          <a:ln w="15240">
            <a:solidFill>
              <a:srgbClr val="C7DBEC"/>
            </a:solidFill>
            <a:prstDash val="solid"/>
          </a:ln>
        </p:spPr>
      </p:sp>
      <p:sp>
        <p:nvSpPr>
          <p:cNvPr id="5" name="Shape 3"/>
          <p:cNvSpPr/>
          <p:nvPr/>
        </p:nvSpPr>
        <p:spPr>
          <a:xfrm>
            <a:off x="2514600" y="1788541"/>
            <a:ext cx="164592" cy="237744"/>
          </a:xfrm>
          <a:prstGeom prst="chevron">
            <a:avLst/>
          </a:prstGeom>
          <a:solidFill>
            <a:srgbClr val="0B6EEE"/>
          </a:solidFill>
          <a:ln w="12700">
            <a:solidFill>
              <a:srgbClr val="0B6EEE">
                <a:alpha val="0"/>
              </a:srgbClr>
            </a:solidFill>
            <a:prstDash val="solid"/>
          </a:ln>
        </p:spPr>
      </p:sp>
      <p:sp>
        <p:nvSpPr>
          <p:cNvPr id="6" name="Shape 4"/>
          <p:cNvSpPr/>
          <p:nvPr/>
        </p:nvSpPr>
        <p:spPr>
          <a:xfrm>
            <a:off x="4782312" y="1788541"/>
            <a:ext cx="164592" cy="237744"/>
          </a:xfrm>
          <a:prstGeom prst="chevron">
            <a:avLst/>
          </a:prstGeom>
          <a:solidFill>
            <a:srgbClr val="0B6EEE"/>
          </a:solidFill>
          <a:ln w="12700">
            <a:solidFill>
              <a:srgbClr val="0B6EEE">
                <a:alpha val="0"/>
              </a:srgbClr>
            </a:solidFill>
            <a:prstDash val="solid"/>
          </a:ln>
        </p:spPr>
      </p:sp>
      <p:sp>
        <p:nvSpPr>
          <p:cNvPr id="7" name="Shape 5"/>
          <p:cNvSpPr/>
          <p:nvPr/>
        </p:nvSpPr>
        <p:spPr>
          <a:xfrm>
            <a:off x="7050024" y="1788541"/>
            <a:ext cx="164592" cy="237744"/>
          </a:xfrm>
          <a:prstGeom prst="chevron">
            <a:avLst/>
          </a:prstGeom>
          <a:solidFill>
            <a:srgbClr val="0B6EEE"/>
          </a:solidFill>
          <a:ln w="12700">
            <a:solidFill>
              <a:srgbClr val="0B6EEE">
                <a:alpha val="0"/>
              </a:srgbClr>
            </a:solidFill>
            <a:prstDash val="solid"/>
          </a:ln>
        </p:spPr>
      </p:sp>
      <p:sp>
        <p:nvSpPr>
          <p:cNvPr id="8" name="Shape 6"/>
          <p:cNvSpPr/>
          <p:nvPr/>
        </p:nvSpPr>
        <p:spPr>
          <a:xfrm>
            <a:off x="9317736" y="1788541"/>
            <a:ext cx="164592" cy="237744"/>
          </a:xfrm>
          <a:prstGeom prst="chevron">
            <a:avLst/>
          </a:prstGeom>
          <a:solidFill>
            <a:srgbClr val="0B6EEE"/>
          </a:solidFill>
          <a:ln w="12700">
            <a:solidFill>
              <a:srgbClr val="0B6EEE">
                <a:alpha val="0"/>
              </a:srgbClr>
            </a:solidFill>
            <a:prstDash val="solid"/>
          </a:ln>
        </p:spPr>
      </p:sp>
      <p:sp>
        <p:nvSpPr>
          <p:cNvPr id="9" name="Shape 7"/>
          <p:cNvSpPr/>
          <p:nvPr/>
        </p:nvSpPr>
        <p:spPr>
          <a:xfrm>
            <a:off x="411480" y="910590"/>
            <a:ext cx="2057400" cy="2868295"/>
          </a:xfrm>
          <a:prstGeom prst="roundRect">
            <a:avLst>
              <a:gd name="adj" fmla="val 8257"/>
            </a:avLst>
          </a:prstGeom>
          <a:solidFill>
            <a:srgbClr val="EAF4FF"/>
          </a:solidFill>
          <a:ln w="15240">
            <a:solidFill>
              <a:srgbClr val="0B6EEE"/>
            </a:solidFill>
            <a:prstDash val="solid"/>
          </a:ln>
        </p:spPr>
      </p:sp>
      <p:sp>
        <p:nvSpPr>
          <p:cNvPr id="10" name="Shape 8"/>
          <p:cNvSpPr/>
          <p:nvPr/>
        </p:nvSpPr>
        <p:spPr>
          <a:xfrm>
            <a:off x="457200" y="956437"/>
            <a:ext cx="1965960" cy="420624"/>
          </a:xfrm>
          <a:prstGeom prst="roundRect">
            <a:avLst>
              <a:gd name="adj" fmla="val 26087"/>
            </a:avLst>
          </a:prstGeom>
          <a:solidFill>
            <a:srgbClr val="0B6EEE"/>
          </a:solidFill>
          <a:ln w="12700">
            <a:solidFill>
              <a:srgbClr val="0B6EEE">
                <a:alpha val="0"/>
              </a:srgbClr>
            </a:solidFill>
            <a:prstDash val="solid"/>
          </a:ln>
        </p:spPr>
      </p:sp>
      <p:sp>
        <p:nvSpPr>
          <p:cNvPr id="11" name="Shape 9"/>
          <p:cNvSpPr/>
          <p:nvPr/>
        </p:nvSpPr>
        <p:spPr>
          <a:xfrm>
            <a:off x="548640" y="1011301"/>
            <a:ext cx="310896" cy="310896"/>
          </a:xfrm>
          <a:prstGeom prst="ellipse">
            <a:avLst/>
          </a:prstGeom>
          <a:solidFill>
            <a:srgbClr val="FFFFFF"/>
          </a:solidFill>
          <a:ln w="12700">
            <a:solidFill>
              <a:srgbClr val="FFFFFF">
                <a:alpha val="0"/>
              </a:srgbClr>
            </a:solidFill>
            <a:prstDash val="solid"/>
          </a:ln>
        </p:spPr>
      </p:sp>
      <p:sp>
        <p:nvSpPr>
          <p:cNvPr id="12" name="Text 10"/>
          <p:cNvSpPr/>
          <p:nvPr/>
        </p:nvSpPr>
        <p:spPr>
          <a:xfrm>
            <a:off x="548640" y="1038733"/>
            <a:ext cx="310896" cy="228600"/>
          </a:xfrm>
          <a:prstGeom prst="rect">
            <a:avLst/>
          </a:prstGeom>
          <a:noFill/>
        </p:spPr>
        <p:txBody>
          <a:bodyPr wrap="square" lIns="0" tIns="0" rIns="0" bIns="0" rtlCol="0" anchor="ctr">
            <a:normAutofit/>
          </a:bodyPr>
          <a:lstStyle/>
          <a:p>
            <a:pPr marL="0" indent="0" algn="ctr">
              <a:buNone/>
            </a:pPr>
            <a:r>
              <a:rPr lang="en-US" sz="1200" b="1" dirty="0">
                <a:solidFill>
                  <a:srgbClr val="0B6EEE"/>
                </a:solidFill>
                <a:latin typeface="Arial" panose="020B0704020202020204" pitchFamily="34" charset="0"/>
                <a:ea typeface="Arial" panose="020B0704020202020204" pitchFamily="34" charset="-122"/>
                <a:cs typeface="Arial" panose="020B0704020202020204" pitchFamily="34" charset="-120"/>
              </a:rPr>
              <a:t>1</a:t>
            </a:r>
            <a:endParaRPr lang="en-US" sz="1200" dirty="0"/>
          </a:p>
        </p:txBody>
      </p:sp>
      <p:sp>
        <p:nvSpPr>
          <p:cNvPr id="13" name="Text 11"/>
          <p:cNvSpPr/>
          <p:nvPr/>
        </p:nvSpPr>
        <p:spPr>
          <a:xfrm>
            <a:off x="941832" y="1020445"/>
            <a:ext cx="1371600" cy="274320"/>
          </a:xfrm>
          <a:prstGeom prst="rect">
            <a:avLst/>
          </a:prstGeom>
          <a:noFill/>
        </p:spPr>
        <p:txBody>
          <a:bodyPr wrap="square" lIns="0" tIns="0" rIns="0" bIns="0" rtlCol="0" anchor="ctr">
            <a:normAutofit fontScale="80000"/>
          </a:bodyPr>
          <a:lstStyle/>
          <a:p>
            <a:pPr marL="0" indent="0" algn="l">
              <a:buNone/>
            </a:pPr>
            <a:r>
              <a:rPr lang="en-US" sz="1500" b="1" dirty="0">
                <a:solidFill>
                  <a:srgbClr val="FFFFFF"/>
                </a:solidFill>
                <a:latin typeface="Arial" panose="020B0704020202020204" pitchFamily="34" charset="0"/>
                <a:ea typeface="Arial" panose="020B0704020202020204" pitchFamily="34" charset="-122"/>
                <a:cs typeface="Arial" panose="020B0704020202020204" pitchFamily="34" charset="-120"/>
              </a:rPr>
              <a:t>CONTEXT INPUTS</a:t>
            </a:r>
            <a:endParaRPr lang="en-US" sz="1500" dirty="0"/>
          </a:p>
        </p:txBody>
      </p:sp>
      <p:sp>
        <p:nvSpPr>
          <p:cNvPr id="14" name="Text 12"/>
          <p:cNvSpPr/>
          <p:nvPr/>
        </p:nvSpPr>
        <p:spPr>
          <a:xfrm>
            <a:off x="612648" y="1523365"/>
            <a:ext cx="1655064" cy="1225296"/>
          </a:xfrm>
          <a:prstGeom prst="rect">
            <a:avLst/>
          </a:prstGeom>
          <a:noFill/>
        </p:spPr>
        <p:txBody>
          <a:bodyPr wrap="square" lIns="254" tIns="254" rIns="254" bIns="254" rtlCol="0" anchor="t">
            <a:noAutofit/>
          </a:bodyPr>
          <a:lstStyle/>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prediction_context contains:</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predicted_stars</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case flags</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user + item evidence</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review_style</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review_policy</a:t>
            </a:r>
            <a:endPar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endParaRPr>
          </a:p>
        </p:txBody>
      </p:sp>
      <p:sp>
        <p:nvSpPr>
          <p:cNvPr id="15" name="Shape 13"/>
          <p:cNvSpPr/>
          <p:nvPr/>
        </p:nvSpPr>
        <p:spPr>
          <a:xfrm>
            <a:off x="2679065" y="910590"/>
            <a:ext cx="2057400" cy="2868295"/>
          </a:xfrm>
          <a:prstGeom prst="roundRect">
            <a:avLst>
              <a:gd name="adj" fmla="val 8257"/>
            </a:avLst>
          </a:prstGeom>
          <a:solidFill>
            <a:srgbClr val="FFF7E6"/>
          </a:solidFill>
          <a:ln w="15240">
            <a:solidFill>
              <a:srgbClr val="FF8500"/>
            </a:solidFill>
            <a:prstDash val="solid"/>
          </a:ln>
        </p:spPr>
      </p:sp>
      <p:sp>
        <p:nvSpPr>
          <p:cNvPr id="16" name="Shape 14"/>
          <p:cNvSpPr/>
          <p:nvPr/>
        </p:nvSpPr>
        <p:spPr>
          <a:xfrm>
            <a:off x="2724912" y="956437"/>
            <a:ext cx="1965960" cy="420624"/>
          </a:xfrm>
          <a:prstGeom prst="roundRect">
            <a:avLst>
              <a:gd name="adj" fmla="val 26087"/>
            </a:avLst>
          </a:prstGeom>
          <a:solidFill>
            <a:srgbClr val="FF8500"/>
          </a:solidFill>
          <a:ln w="12700">
            <a:solidFill>
              <a:srgbClr val="FF8500">
                <a:alpha val="0"/>
              </a:srgbClr>
            </a:solidFill>
            <a:prstDash val="solid"/>
          </a:ln>
        </p:spPr>
      </p:sp>
      <p:sp>
        <p:nvSpPr>
          <p:cNvPr id="17" name="Shape 15"/>
          <p:cNvSpPr/>
          <p:nvPr/>
        </p:nvSpPr>
        <p:spPr>
          <a:xfrm>
            <a:off x="2816352" y="1011301"/>
            <a:ext cx="310896" cy="310896"/>
          </a:xfrm>
          <a:prstGeom prst="ellipse">
            <a:avLst/>
          </a:prstGeom>
          <a:solidFill>
            <a:srgbClr val="FFFFFF"/>
          </a:solidFill>
          <a:ln w="12700">
            <a:solidFill>
              <a:srgbClr val="FFFFFF">
                <a:alpha val="0"/>
              </a:srgbClr>
            </a:solidFill>
            <a:prstDash val="solid"/>
          </a:ln>
        </p:spPr>
      </p:sp>
      <p:sp>
        <p:nvSpPr>
          <p:cNvPr id="18" name="Text 16"/>
          <p:cNvSpPr/>
          <p:nvPr/>
        </p:nvSpPr>
        <p:spPr>
          <a:xfrm>
            <a:off x="2816352" y="1038733"/>
            <a:ext cx="310896" cy="228600"/>
          </a:xfrm>
          <a:prstGeom prst="rect">
            <a:avLst/>
          </a:prstGeom>
          <a:noFill/>
        </p:spPr>
        <p:txBody>
          <a:bodyPr wrap="square" lIns="0" tIns="0" rIns="0" bIns="0" rtlCol="0" anchor="ctr">
            <a:normAutofit/>
          </a:bodyPr>
          <a:lstStyle/>
          <a:p>
            <a:pPr marL="0" indent="0" algn="ctr">
              <a:buNone/>
            </a:pPr>
            <a:r>
              <a:rPr lang="en-US" sz="1200" b="1" dirty="0">
                <a:solidFill>
                  <a:srgbClr val="FF8500"/>
                </a:solidFill>
                <a:latin typeface="Arial" panose="020B0704020202020204" pitchFamily="34" charset="0"/>
                <a:ea typeface="Arial" panose="020B0704020202020204" pitchFamily="34" charset="-122"/>
                <a:cs typeface="Arial" panose="020B0704020202020204" pitchFamily="34" charset="-120"/>
              </a:rPr>
              <a:t>2</a:t>
            </a:r>
            <a:endParaRPr lang="en-US" sz="1200" dirty="0"/>
          </a:p>
        </p:txBody>
      </p:sp>
      <p:sp>
        <p:nvSpPr>
          <p:cNvPr id="19" name="Text 17"/>
          <p:cNvSpPr/>
          <p:nvPr/>
        </p:nvSpPr>
        <p:spPr>
          <a:xfrm>
            <a:off x="3209544" y="1020445"/>
            <a:ext cx="1371600" cy="274320"/>
          </a:xfrm>
          <a:prstGeom prst="rect">
            <a:avLst/>
          </a:prstGeom>
          <a:noFill/>
        </p:spPr>
        <p:txBody>
          <a:bodyPr wrap="square" lIns="0" tIns="0" rIns="0" bIns="0" rtlCol="0" anchor="ctr">
            <a:normAutofit fontScale="80000"/>
          </a:bodyPr>
          <a:lstStyle/>
          <a:p>
            <a:pPr marL="0" indent="0" algn="l">
              <a:buNone/>
            </a:pPr>
            <a:r>
              <a:rPr lang="en-US" sz="1500" b="1" dirty="0">
                <a:solidFill>
                  <a:srgbClr val="FFFFFF"/>
                </a:solidFill>
                <a:latin typeface="Arial" panose="020B0704020202020204" pitchFamily="34" charset="0"/>
                <a:ea typeface="Arial" panose="020B0704020202020204" pitchFamily="34" charset="-122"/>
                <a:cs typeface="Arial" panose="020B0704020202020204" pitchFamily="34" charset="-120"/>
              </a:rPr>
              <a:t>CASE BOUNDARY</a:t>
            </a:r>
            <a:endParaRPr lang="en-US" sz="1500" dirty="0"/>
          </a:p>
        </p:txBody>
      </p:sp>
      <p:sp>
        <p:nvSpPr>
          <p:cNvPr id="20" name="Text 18"/>
          <p:cNvSpPr/>
          <p:nvPr/>
        </p:nvSpPr>
        <p:spPr>
          <a:xfrm>
            <a:off x="2880360" y="1523365"/>
            <a:ext cx="1654810" cy="2230755"/>
          </a:xfrm>
          <a:prstGeom prst="rect">
            <a:avLst/>
          </a:prstGeom>
          <a:noFill/>
        </p:spPr>
        <p:txBody>
          <a:bodyPr wrap="square" lIns="254" tIns="254" rIns="254" bIns="254" rtlCol="0" anchor="t">
            <a:noAutofit/>
          </a:bodyPr>
          <a:lstStyle/>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Use case flags to decide:</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what evidence exists</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what is missing</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what claims are safe</a:t>
            </a:r>
            <a:endParaRPr lang="en-US" sz="1400" dirty="0"/>
          </a:p>
          <a:p>
            <a:pPr marL="0" indent="0" algn="l">
              <a:buNone/>
            </a:pP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No invented visit or item facts.</a:t>
            </a:r>
            <a:endPar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endParaRPr>
          </a:p>
        </p:txBody>
      </p:sp>
      <p:sp>
        <p:nvSpPr>
          <p:cNvPr id="21" name="Shape 19"/>
          <p:cNvSpPr/>
          <p:nvPr/>
        </p:nvSpPr>
        <p:spPr>
          <a:xfrm>
            <a:off x="4946650" y="910590"/>
            <a:ext cx="2057400" cy="2868930"/>
          </a:xfrm>
          <a:prstGeom prst="roundRect">
            <a:avLst>
              <a:gd name="adj" fmla="val 8257"/>
            </a:avLst>
          </a:prstGeom>
          <a:solidFill>
            <a:srgbClr val="EAF4FF"/>
          </a:solidFill>
          <a:ln w="15240">
            <a:solidFill>
              <a:srgbClr val="0B6EEE"/>
            </a:solidFill>
            <a:prstDash val="solid"/>
          </a:ln>
        </p:spPr>
      </p:sp>
      <p:sp>
        <p:nvSpPr>
          <p:cNvPr id="22" name="Shape 20"/>
          <p:cNvSpPr/>
          <p:nvPr/>
        </p:nvSpPr>
        <p:spPr>
          <a:xfrm>
            <a:off x="4992624" y="956437"/>
            <a:ext cx="1965960" cy="420624"/>
          </a:xfrm>
          <a:prstGeom prst="roundRect">
            <a:avLst>
              <a:gd name="adj" fmla="val 26087"/>
            </a:avLst>
          </a:prstGeom>
          <a:solidFill>
            <a:srgbClr val="0B6EEE"/>
          </a:solidFill>
          <a:ln w="12700">
            <a:solidFill>
              <a:srgbClr val="0B6EEE">
                <a:alpha val="0"/>
              </a:srgbClr>
            </a:solidFill>
            <a:prstDash val="solid"/>
          </a:ln>
        </p:spPr>
      </p:sp>
      <p:sp>
        <p:nvSpPr>
          <p:cNvPr id="23" name="Shape 21"/>
          <p:cNvSpPr/>
          <p:nvPr/>
        </p:nvSpPr>
        <p:spPr>
          <a:xfrm>
            <a:off x="5084064" y="1011301"/>
            <a:ext cx="310896" cy="310896"/>
          </a:xfrm>
          <a:prstGeom prst="ellipse">
            <a:avLst/>
          </a:prstGeom>
          <a:solidFill>
            <a:srgbClr val="FFFFFF"/>
          </a:solidFill>
          <a:ln w="12700">
            <a:solidFill>
              <a:srgbClr val="FFFFFF">
                <a:alpha val="0"/>
              </a:srgbClr>
            </a:solidFill>
            <a:prstDash val="solid"/>
          </a:ln>
        </p:spPr>
      </p:sp>
      <p:sp>
        <p:nvSpPr>
          <p:cNvPr id="24" name="Text 22"/>
          <p:cNvSpPr/>
          <p:nvPr/>
        </p:nvSpPr>
        <p:spPr>
          <a:xfrm>
            <a:off x="5084064" y="1038733"/>
            <a:ext cx="310896" cy="228600"/>
          </a:xfrm>
          <a:prstGeom prst="rect">
            <a:avLst/>
          </a:prstGeom>
          <a:noFill/>
        </p:spPr>
        <p:txBody>
          <a:bodyPr wrap="square" lIns="0" tIns="0" rIns="0" bIns="0" rtlCol="0" anchor="ctr">
            <a:normAutofit/>
          </a:bodyPr>
          <a:lstStyle/>
          <a:p>
            <a:pPr marL="0" indent="0" algn="ctr">
              <a:buNone/>
            </a:pPr>
            <a:r>
              <a:rPr lang="en-US" sz="1200" b="1" dirty="0">
                <a:solidFill>
                  <a:srgbClr val="0B6EEE"/>
                </a:solidFill>
                <a:latin typeface="Arial" panose="020B0704020202020204" pitchFamily="34" charset="0"/>
                <a:ea typeface="Arial" panose="020B0704020202020204" pitchFamily="34" charset="-122"/>
                <a:cs typeface="Arial" panose="020B0704020202020204" pitchFamily="34" charset="-120"/>
              </a:rPr>
              <a:t>3</a:t>
            </a:r>
            <a:endParaRPr lang="en-US" sz="1200" dirty="0"/>
          </a:p>
        </p:txBody>
      </p:sp>
      <p:sp>
        <p:nvSpPr>
          <p:cNvPr id="25" name="Text 23"/>
          <p:cNvSpPr/>
          <p:nvPr/>
        </p:nvSpPr>
        <p:spPr>
          <a:xfrm>
            <a:off x="5477256" y="1020445"/>
            <a:ext cx="1371600" cy="274320"/>
          </a:xfrm>
          <a:prstGeom prst="rect">
            <a:avLst/>
          </a:prstGeom>
          <a:noFill/>
        </p:spPr>
        <p:txBody>
          <a:bodyPr wrap="square" lIns="0" tIns="0" rIns="0" bIns="0" rtlCol="0" anchor="ctr">
            <a:normAutofit/>
          </a:bodyPr>
          <a:lstStyle/>
          <a:p>
            <a:pPr marL="0" indent="0" algn="l">
              <a:buNone/>
            </a:pPr>
            <a:r>
              <a:rPr lang="en-US" sz="1500" b="1" dirty="0">
                <a:solidFill>
                  <a:srgbClr val="FFFFFF"/>
                </a:solidFill>
                <a:latin typeface="Arial" panose="020B0704020202020204" pitchFamily="34" charset="0"/>
                <a:ea typeface="Arial" panose="020B0704020202020204" pitchFamily="34" charset="-122"/>
                <a:cs typeface="Arial" panose="020B0704020202020204" pitchFamily="34" charset="-120"/>
              </a:rPr>
              <a:t>USER VOICE</a:t>
            </a:r>
            <a:endParaRPr lang="en-US" sz="1500" dirty="0"/>
          </a:p>
        </p:txBody>
      </p:sp>
      <p:sp>
        <p:nvSpPr>
          <p:cNvPr id="26" name="Text 24"/>
          <p:cNvSpPr/>
          <p:nvPr/>
        </p:nvSpPr>
        <p:spPr>
          <a:xfrm>
            <a:off x="5148072" y="1523365"/>
            <a:ext cx="1655064" cy="1225296"/>
          </a:xfrm>
          <a:prstGeom prst="rect">
            <a:avLst/>
          </a:prstGeom>
          <a:noFill/>
        </p:spPr>
        <p:txBody>
          <a:bodyPr wrap="square" lIns="254" tIns="254" rIns="254" bIns="254" rtlCol="0" anchor="t">
            <a:noAutofit/>
          </a:bodyPr>
          <a:lstStyle/>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Match the user:</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rating tendency</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sentiment strength</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vocabulary level</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length + structure</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opening / closing style</a:t>
            </a:r>
            <a:endPar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endParaRPr>
          </a:p>
        </p:txBody>
      </p:sp>
      <p:sp>
        <p:nvSpPr>
          <p:cNvPr id="27" name="Shape 25"/>
          <p:cNvSpPr/>
          <p:nvPr/>
        </p:nvSpPr>
        <p:spPr>
          <a:xfrm>
            <a:off x="7214870" y="910590"/>
            <a:ext cx="2057400" cy="2870200"/>
          </a:xfrm>
          <a:prstGeom prst="roundRect">
            <a:avLst>
              <a:gd name="adj" fmla="val 8257"/>
            </a:avLst>
          </a:prstGeom>
          <a:solidFill>
            <a:srgbClr val="EAFBF4"/>
          </a:solidFill>
          <a:ln w="15240">
            <a:solidFill>
              <a:srgbClr val="00866A"/>
            </a:solidFill>
            <a:prstDash val="solid"/>
          </a:ln>
        </p:spPr>
      </p:sp>
      <p:sp>
        <p:nvSpPr>
          <p:cNvPr id="28" name="Shape 26"/>
          <p:cNvSpPr/>
          <p:nvPr/>
        </p:nvSpPr>
        <p:spPr>
          <a:xfrm>
            <a:off x="7260336" y="956437"/>
            <a:ext cx="1965960" cy="420624"/>
          </a:xfrm>
          <a:prstGeom prst="roundRect">
            <a:avLst>
              <a:gd name="adj" fmla="val 26087"/>
            </a:avLst>
          </a:prstGeom>
          <a:solidFill>
            <a:srgbClr val="00866A"/>
          </a:solidFill>
          <a:ln w="12700">
            <a:solidFill>
              <a:srgbClr val="00866A">
                <a:alpha val="0"/>
              </a:srgbClr>
            </a:solidFill>
            <a:prstDash val="solid"/>
          </a:ln>
        </p:spPr>
      </p:sp>
      <p:sp>
        <p:nvSpPr>
          <p:cNvPr id="29" name="Shape 27"/>
          <p:cNvSpPr/>
          <p:nvPr/>
        </p:nvSpPr>
        <p:spPr>
          <a:xfrm>
            <a:off x="7351776" y="1011301"/>
            <a:ext cx="310896" cy="310896"/>
          </a:xfrm>
          <a:prstGeom prst="ellipse">
            <a:avLst/>
          </a:prstGeom>
          <a:solidFill>
            <a:srgbClr val="FFFFFF"/>
          </a:solidFill>
          <a:ln w="12700">
            <a:solidFill>
              <a:srgbClr val="FFFFFF">
                <a:alpha val="0"/>
              </a:srgbClr>
            </a:solidFill>
            <a:prstDash val="solid"/>
          </a:ln>
        </p:spPr>
      </p:sp>
      <p:sp>
        <p:nvSpPr>
          <p:cNvPr id="30" name="Text 28"/>
          <p:cNvSpPr/>
          <p:nvPr/>
        </p:nvSpPr>
        <p:spPr>
          <a:xfrm>
            <a:off x="7351776" y="1038733"/>
            <a:ext cx="310896" cy="228600"/>
          </a:xfrm>
          <a:prstGeom prst="rect">
            <a:avLst/>
          </a:prstGeom>
          <a:noFill/>
        </p:spPr>
        <p:txBody>
          <a:bodyPr wrap="square" lIns="0" tIns="0" rIns="0" bIns="0" rtlCol="0" anchor="ctr">
            <a:normAutofit/>
          </a:bodyPr>
          <a:lstStyle/>
          <a:p>
            <a:pPr marL="0" indent="0" algn="ctr">
              <a:buNone/>
            </a:pPr>
            <a:r>
              <a:rPr lang="en-US" sz="1200" b="1" dirty="0">
                <a:solidFill>
                  <a:srgbClr val="00866A"/>
                </a:solidFill>
                <a:latin typeface="Arial" panose="020B0704020202020204" pitchFamily="34" charset="0"/>
                <a:ea typeface="Arial" panose="020B0704020202020204" pitchFamily="34" charset="-122"/>
                <a:cs typeface="Arial" panose="020B0704020202020204" pitchFamily="34" charset="-120"/>
              </a:rPr>
              <a:t>4</a:t>
            </a:r>
            <a:endParaRPr lang="en-US" sz="1200" dirty="0"/>
          </a:p>
        </p:txBody>
      </p:sp>
      <p:sp>
        <p:nvSpPr>
          <p:cNvPr id="31" name="Text 29"/>
          <p:cNvSpPr/>
          <p:nvPr/>
        </p:nvSpPr>
        <p:spPr>
          <a:xfrm>
            <a:off x="7744968" y="1020445"/>
            <a:ext cx="1371600" cy="274320"/>
          </a:xfrm>
          <a:prstGeom prst="rect">
            <a:avLst/>
          </a:prstGeom>
          <a:noFill/>
        </p:spPr>
        <p:txBody>
          <a:bodyPr wrap="square" lIns="0" tIns="0" rIns="0" bIns="0" rtlCol="0" anchor="ctr">
            <a:normAutofit fontScale="80000"/>
          </a:bodyPr>
          <a:lstStyle/>
          <a:p>
            <a:pPr marL="0" indent="0" algn="l">
              <a:buNone/>
            </a:pPr>
            <a:r>
              <a:rPr lang="en-US" sz="1500" b="1" dirty="0">
                <a:solidFill>
                  <a:srgbClr val="FFFFFF"/>
                </a:solidFill>
                <a:latin typeface="Arial" panose="020B0704020202020204" pitchFamily="34" charset="0"/>
                <a:ea typeface="Arial" panose="020B0704020202020204" pitchFamily="34" charset="-122"/>
                <a:cs typeface="Arial" panose="020B0704020202020204" pitchFamily="34" charset="-120"/>
              </a:rPr>
              <a:t>ITEM GROUNDING</a:t>
            </a:r>
            <a:endParaRPr lang="en-US" sz="1500" dirty="0"/>
          </a:p>
        </p:txBody>
      </p:sp>
      <p:sp>
        <p:nvSpPr>
          <p:cNvPr id="32" name="Text 30"/>
          <p:cNvSpPr/>
          <p:nvPr/>
        </p:nvSpPr>
        <p:spPr>
          <a:xfrm>
            <a:off x="7415530" y="1523365"/>
            <a:ext cx="1654810" cy="2256155"/>
          </a:xfrm>
          <a:prstGeom prst="rect">
            <a:avLst/>
          </a:prstGeom>
          <a:noFill/>
        </p:spPr>
        <p:txBody>
          <a:bodyPr wrap="square" lIns="254" tIns="254" rIns="254" bIns="254" rtlCol="0" anchor="t">
            <a:noAutofit/>
          </a:bodyPr>
          <a:lstStyle/>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Use only verified content:</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item facts</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direct review details</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safe anchors</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forbidden claims</a:t>
            </a:r>
            <a:endParaRPr lang="en-US" sz="1400" dirty="0"/>
          </a:p>
          <a:p>
            <a:pPr marL="0" indent="0" algn="l">
              <a:buNone/>
            </a:pP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If absent, stay generic.</a:t>
            </a:r>
            <a:endPar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endParaRPr>
          </a:p>
        </p:txBody>
      </p:sp>
      <p:sp>
        <p:nvSpPr>
          <p:cNvPr id="33" name="Shape 31"/>
          <p:cNvSpPr/>
          <p:nvPr/>
        </p:nvSpPr>
        <p:spPr>
          <a:xfrm>
            <a:off x="9482455" y="910590"/>
            <a:ext cx="2057400" cy="2877185"/>
          </a:xfrm>
          <a:prstGeom prst="roundRect">
            <a:avLst>
              <a:gd name="adj" fmla="val 8257"/>
            </a:avLst>
          </a:prstGeom>
          <a:solidFill>
            <a:srgbClr val="F2EDFF"/>
          </a:solidFill>
          <a:ln w="15240">
            <a:solidFill>
              <a:srgbClr val="7A3FF2"/>
            </a:solidFill>
            <a:prstDash val="solid"/>
          </a:ln>
        </p:spPr>
      </p:sp>
      <p:sp>
        <p:nvSpPr>
          <p:cNvPr id="34" name="Shape 32"/>
          <p:cNvSpPr/>
          <p:nvPr/>
        </p:nvSpPr>
        <p:spPr>
          <a:xfrm>
            <a:off x="9528048" y="956437"/>
            <a:ext cx="1965960" cy="420624"/>
          </a:xfrm>
          <a:prstGeom prst="roundRect">
            <a:avLst>
              <a:gd name="adj" fmla="val 26087"/>
            </a:avLst>
          </a:prstGeom>
          <a:solidFill>
            <a:srgbClr val="7A3FF2"/>
          </a:solidFill>
          <a:ln w="12700">
            <a:solidFill>
              <a:srgbClr val="7A3FF2">
                <a:alpha val="0"/>
              </a:srgbClr>
            </a:solidFill>
            <a:prstDash val="solid"/>
          </a:ln>
        </p:spPr>
      </p:sp>
      <p:sp>
        <p:nvSpPr>
          <p:cNvPr id="35" name="Shape 33"/>
          <p:cNvSpPr/>
          <p:nvPr/>
        </p:nvSpPr>
        <p:spPr>
          <a:xfrm>
            <a:off x="9619488" y="1011301"/>
            <a:ext cx="310896" cy="310896"/>
          </a:xfrm>
          <a:prstGeom prst="ellipse">
            <a:avLst/>
          </a:prstGeom>
          <a:solidFill>
            <a:srgbClr val="FFFFFF"/>
          </a:solidFill>
          <a:ln w="12700">
            <a:solidFill>
              <a:srgbClr val="FFFFFF">
                <a:alpha val="0"/>
              </a:srgbClr>
            </a:solidFill>
            <a:prstDash val="solid"/>
          </a:ln>
        </p:spPr>
      </p:sp>
      <p:sp>
        <p:nvSpPr>
          <p:cNvPr id="36" name="Text 34"/>
          <p:cNvSpPr/>
          <p:nvPr/>
        </p:nvSpPr>
        <p:spPr>
          <a:xfrm>
            <a:off x="9619488" y="1038733"/>
            <a:ext cx="310896" cy="228600"/>
          </a:xfrm>
          <a:prstGeom prst="rect">
            <a:avLst/>
          </a:prstGeom>
          <a:noFill/>
        </p:spPr>
        <p:txBody>
          <a:bodyPr wrap="square" lIns="0" tIns="0" rIns="0" bIns="0" rtlCol="0" anchor="ctr">
            <a:normAutofit/>
          </a:bodyPr>
          <a:lstStyle/>
          <a:p>
            <a:pPr marL="0" indent="0" algn="ctr">
              <a:buNone/>
            </a:pPr>
            <a:r>
              <a:rPr lang="en-US" sz="1200" b="1" dirty="0">
                <a:solidFill>
                  <a:srgbClr val="7A3FF2"/>
                </a:solidFill>
                <a:latin typeface="Arial" panose="020B0704020202020204" pitchFamily="34" charset="0"/>
                <a:ea typeface="Arial" panose="020B0704020202020204" pitchFamily="34" charset="-122"/>
                <a:cs typeface="Arial" panose="020B0704020202020204" pitchFamily="34" charset="-120"/>
              </a:rPr>
              <a:t>5</a:t>
            </a:r>
            <a:endParaRPr lang="en-US" sz="1200" dirty="0"/>
          </a:p>
        </p:txBody>
      </p:sp>
      <p:sp>
        <p:nvSpPr>
          <p:cNvPr id="37" name="Text 35"/>
          <p:cNvSpPr/>
          <p:nvPr/>
        </p:nvSpPr>
        <p:spPr>
          <a:xfrm>
            <a:off x="10012680" y="1020445"/>
            <a:ext cx="1371600" cy="274320"/>
          </a:xfrm>
          <a:prstGeom prst="rect">
            <a:avLst/>
          </a:prstGeom>
          <a:noFill/>
        </p:spPr>
        <p:txBody>
          <a:bodyPr wrap="square" lIns="0" tIns="0" rIns="0" bIns="0" rtlCol="0" anchor="ctr">
            <a:normAutofit/>
          </a:bodyPr>
          <a:lstStyle/>
          <a:p>
            <a:pPr marL="0" indent="0" algn="l">
              <a:buNone/>
            </a:pPr>
            <a:r>
              <a:rPr lang="en-US" sz="1500" b="1" dirty="0">
                <a:solidFill>
                  <a:srgbClr val="FFFFFF"/>
                </a:solidFill>
                <a:latin typeface="Arial" panose="020B0704020202020204" pitchFamily="34" charset="0"/>
                <a:ea typeface="Arial" panose="020B0704020202020204" pitchFamily="34" charset="-122"/>
                <a:cs typeface="Arial" panose="020B0704020202020204" pitchFamily="34" charset="-120"/>
              </a:rPr>
              <a:t>FINAL JSON</a:t>
            </a:r>
            <a:endParaRPr lang="en-US" sz="1500" dirty="0"/>
          </a:p>
        </p:txBody>
      </p:sp>
      <p:sp>
        <p:nvSpPr>
          <p:cNvPr id="38" name="Text 36"/>
          <p:cNvSpPr/>
          <p:nvPr/>
        </p:nvSpPr>
        <p:spPr>
          <a:xfrm>
            <a:off x="9683750" y="1523365"/>
            <a:ext cx="1654810" cy="1602740"/>
          </a:xfrm>
          <a:prstGeom prst="rect">
            <a:avLst/>
          </a:prstGeom>
          <a:noFill/>
        </p:spPr>
        <p:txBody>
          <a:bodyPr wrap="square" lIns="254" tIns="254" rIns="254" bIns="254" rtlCol="0" anchor="t">
            <a:noAutofit/>
          </a:bodyPr>
          <a:lstStyle/>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"stars": predicted_stars,</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  "review": generated_text</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a:t>
            </a:r>
            <a:endParaRPr lang="en-US" sz="1400" dirty="0"/>
          </a:p>
          <a:p>
            <a:pPr marL="0" indent="0" algn="l">
              <a:buNone/>
            </a:pP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No rating recalculation.</a:t>
            </a:r>
            <a:endParaRPr lang="en-US" sz="1400" dirty="0"/>
          </a:p>
          <a:p>
            <a:pPr marL="0" indent="0" algn="l">
              <a:buNone/>
            </a:pPr>
            <a:r>
              <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rPr>
              <a:t>No extra fields.</a:t>
            </a:r>
            <a:endParaRPr lang="en-US" sz="1400" dirty="0">
              <a:solidFill>
                <a:srgbClr val="082A44"/>
              </a:solidFill>
              <a:latin typeface="Arial" panose="020B0704020202020204" pitchFamily="34" charset="0"/>
              <a:ea typeface="Arial" panose="020B0704020202020204" pitchFamily="34" charset="-122"/>
              <a:cs typeface="Arial" panose="020B0704020202020204" pitchFamily="34" charset="-120"/>
            </a:endParaRPr>
          </a:p>
        </p:txBody>
      </p:sp>
      <p:sp>
        <p:nvSpPr>
          <p:cNvPr id="39" name="Text 37"/>
          <p:cNvSpPr/>
          <p:nvPr/>
        </p:nvSpPr>
        <p:spPr>
          <a:xfrm>
            <a:off x="411480" y="3992245"/>
            <a:ext cx="2103120" cy="210312"/>
          </a:xfrm>
          <a:prstGeom prst="rect">
            <a:avLst/>
          </a:prstGeom>
          <a:noFill/>
        </p:spPr>
        <p:txBody>
          <a:bodyPr wrap="square" lIns="0" tIns="0" rIns="0" bIns="0" rtlCol="0" anchor="ctr">
            <a:normAutofit/>
          </a:bodyPr>
          <a:lstStyle/>
          <a:p>
            <a:pPr marL="0" indent="0" algn="l">
              <a:buNone/>
            </a:pPr>
            <a:r>
              <a:rPr lang="en-US" sz="1200" b="1" dirty="0">
                <a:solidFill>
                  <a:srgbClr val="48627A"/>
                </a:solidFill>
                <a:latin typeface="Arial" panose="020B0704020202020204" pitchFamily="34" charset="0"/>
                <a:ea typeface="Arial" panose="020B0704020202020204" pitchFamily="34" charset="-122"/>
                <a:cs typeface="Arial" panose="020B0704020202020204" pitchFamily="34" charset="-120"/>
              </a:rPr>
              <a:t>GENERATION CONTRACT</a:t>
            </a:r>
            <a:endParaRPr lang="en-US" sz="1200" dirty="0"/>
          </a:p>
        </p:txBody>
      </p:sp>
      <p:sp>
        <p:nvSpPr>
          <p:cNvPr id="40" name="Shape 38"/>
          <p:cNvSpPr/>
          <p:nvPr/>
        </p:nvSpPr>
        <p:spPr>
          <a:xfrm>
            <a:off x="411480" y="4358005"/>
            <a:ext cx="3246120" cy="1417320"/>
          </a:xfrm>
          <a:prstGeom prst="roundRect">
            <a:avLst>
              <a:gd name="adj" fmla="val 10323"/>
            </a:avLst>
          </a:prstGeom>
          <a:solidFill>
            <a:srgbClr val="FFF0F0"/>
          </a:solidFill>
          <a:ln w="15240">
            <a:solidFill>
              <a:srgbClr val="F44336"/>
            </a:solidFill>
            <a:prstDash val="solid"/>
          </a:ln>
        </p:spPr>
      </p:sp>
      <p:sp>
        <p:nvSpPr>
          <p:cNvPr id="41" name="Shape 39"/>
          <p:cNvSpPr/>
          <p:nvPr/>
        </p:nvSpPr>
        <p:spPr>
          <a:xfrm>
            <a:off x="576072" y="4540885"/>
            <a:ext cx="438912" cy="438912"/>
          </a:xfrm>
          <a:prstGeom prst="ellipse">
            <a:avLst/>
          </a:prstGeom>
          <a:solidFill>
            <a:srgbClr val="F44336"/>
          </a:solidFill>
          <a:ln w="12700">
            <a:solidFill>
              <a:srgbClr val="F44336">
                <a:alpha val="0"/>
              </a:srgbClr>
            </a:solidFill>
            <a:prstDash val="solid"/>
          </a:ln>
        </p:spPr>
      </p:sp>
      <p:sp>
        <p:nvSpPr>
          <p:cNvPr id="42" name="Text 40"/>
          <p:cNvSpPr/>
          <p:nvPr/>
        </p:nvSpPr>
        <p:spPr>
          <a:xfrm>
            <a:off x="576072" y="4595749"/>
            <a:ext cx="438912" cy="256032"/>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a:t>
            </a:r>
            <a:endParaRPr lang="en-US" sz="1400" dirty="0"/>
          </a:p>
        </p:txBody>
      </p:sp>
      <p:sp>
        <p:nvSpPr>
          <p:cNvPr id="43" name="Text 41"/>
          <p:cNvSpPr/>
          <p:nvPr/>
        </p:nvSpPr>
        <p:spPr>
          <a:xfrm>
            <a:off x="1106424" y="4522597"/>
            <a:ext cx="2368296" cy="292608"/>
          </a:xfrm>
          <a:prstGeom prst="rect">
            <a:avLst/>
          </a:prstGeom>
          <a:noFill/>
        </p:spPr>
        <p:txBody>
          <a:bodyPr wrap="square" lIns="0" tIns="0" rIns="0" bIns="0" rtlCol="0" anchor="ctr">
            <a:normAutofit/>
          </a:bodyPr>
          <a:lstStyle/>
          <a:p>
            <a:pPr marL="0" indent="0" algn="l">
              <a:buNone/>
            </a:pPr>
            <a:r>
              <a:rPr lang="en-US" sz="1500" b="1" dirty="0">
                <a:solidFill>
                  <a:srgbClr val="F44336"/>
                </a:solidFill>
                <a:latin typeface="Arial" panose="020B0704020202020204" pitchFamily="34" charset="0"/>
                <a:ea typeface="Arial" panose="020B0704020202020204" pitchFamily="34" charset="-122"/>
                <a:cs typeface="Arial" panose="020B0704020202020204" pitchFamily="34" charset="-120"/>
              </a:rPr>
              <a:t>STAR LOCK</a:t>
            </a:r>
            <a:endParaRPr lang="en-US" sz="1500" dirty="0"/>
          </a:p>
        </p:txBody>
      </p:sp>
      <p:sp>
        <p:nvSpPr>
          <p:cNvPr id="44" name="Text 42"/>
          <p:cNvSpPr/>
          <p:nvPr/>
        </p:nvSpPr>
        <p:spPr>
          <a:xfrm>
            <a:off x="1106424" y="4924933"/>
            <a:ext cx="2377440" cy="704088"/>
          </a:xfrm>
          <a:prstGeom prst="rect">
            <a:avLst/>
          </a:prstGeom>
          <a:noFill/>
        </p:spPr>
        <p:txBody>
          <a:bodyPr wrap="square" lIns="254" tIns="254" rIns="254" bIns="254" rtlCol="0" anchor="t">
            <a:normAutofit lnSpcReduction="20000"/>
          </a:bodyPr>
          <a:lstStyle/>
          <a:p>
            <a:pPr marL="0" indent="0" algn="l">
              <a:buNone/>
            </a:pPr>
            <a:r>
              <a:rPr lang="en-US" sz="1300" dirty="0">
                <a:solidFill>
                  <a:srgbClr val="082A44"/>
                </a:solidFill>
                <a:latin typeface="Arial" panose="020B0704020202020204" pitchFamily="34" charset="0"/>
                <a:ea typeface="Arial" panose="020B0704020202020204" pitchFamily="34" charset="-122"/>
                <a:cs typeface="Arial" panose="020B0704020202020204" pitchFamily="34" charset="-120"/>
              </a:rPr>
              <a:t>stars must equal predicted_stars exactly.</a:t>
            </a:r>
            <a:endParaRPr lang="en-US" sz="1300" dirty="0"/>
          </a:p>
          <a:p>
            <a:pPr marL="0" indent="0" algn="l">
              <a:buNone/>
            </a:pPr>
            <a:r>
              <a:rPr lang="en-US" sz="1300" dirty="0">
                <a:solidFill>
                  <a:srgbClr val="082A44"/>
                </a:solidFill>
                <a:latin typeface="Arial" panose="020B0704020202020204" pitchFamily="34" charset="0"/>
                <a:ea typeface="Arial" panose="020B0704020202020204" pitchFamily="34" charset="-122"/>
                <a:cs typeface="Arial" panose="020B0704020202020204" pitchFamily="34" charset="-120"/>
              </a:rPr>
              <a:t>The review simulator writes text only.</a:t>
            </a:r>
            <a:endParaRPr lang="en-US" sz="1300" dirty="0"/>
          </a:p>
        </p:txBody>
      </p:sp>
      <p:sp>
        <p:nvSpPr>
          <p:cNvPr id="45" name="Shape 43"/>
          <p:cNvSpPr/>
          <p:nvPr/>
        </p:nvSpPr>
        <p:spPr>
          <a:xfrm>
            <a:off x="3840480" y="4358005"/>
            <a:ext cx="3429000" cy="1417320"/>
          </a:xfrm>
          <a:prstGeom prst="roundRect">
            <a:avLst>
              <a:gd name="adj" fmla="val 10323"/>
            </a:avLst>
          </a:prstGeom>
          <a:solidFill>
            <a:srgbClr val="EAFBF4"/>
          </a:solidFill>
          <a:ln w="15240">
            <a:solidFill>
              <a:srgbClr val="00866A"/>
            </a:solidFill>
            <a:prstDash val="solid"/>
          </a:ln>
        </p:spPr>
      </p:sp>
      <p:sp>
        <p:nvSpPr>
          <p:cNvPr id="46" name="Shape 44"/>
          <p:cNvSpPr/>
          <p:nvPr/>
        </p:nvSpPr>
        <p:spPr>
          <a:xfrm>
            <a:off x="4005072" y="4540885"/>
            <a:ext cx="438912" cy="438912"/>
          </a:xfrm>
          <a:prstGeom prst="ellipse">
            <a:avLst/>
          </a:prstGeom>
          <a:solidFill>
            <a:srgbClr val="00866A"/>
          </a:solidFill>
          <a:ln w="12700">
            <a:solidFill>
              <a:srgbClr val="00866A">
                <a:alpha val="0"/>
              </a:srgbClr>
            </a:solidFill>
            <a:prstDash val="solid"/>
          </a:ln>
        </p:spPr>
      </p:sp>
      <p:sp>
        <p:nvSpPr>
          <p:cNvPr id="47" name="Text 45"/>
          <p:cNvSpPr/>
          <p:nvPr/>
        </p:nvSpPr>
        <p:spPr>
          <a:xfrm>
            <a:off x="4005072" y="4595749"/>
            <a:ext cx="438912" cy="256032"/>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G</a:t>
            </a:r>
            <a:endParaRPr lang="en-US" sz="1400" dirty="0"/>
          </a:p>
        </p:txBody>
      </p:sp>
      <p:sp>
        <p:nvSpPr>
          <p:cNvPr id="48" name="Text 46"/>
          <p:cNvSpPr/>
          <p:nvPr/>
        </p:nvSpPr>
        <p:spPr>
          <a:xfrm>
            <a:off x="4535424" y="4522597"/>
            <a:ext cx="2551176" cy="292608"/>
          </a:xfrm>
          <a:prstGeom prst="rect">
            <a:avLst/>
          </a:prstGeom>
          <a:noFill/>
        </p:spPr>
        <p:txBody>
          <a:bodyPr wrap="square" lIns="0" tIns="0" rIns="0" bIns="0" rtlCol="0" anchor="ctr">
            <a:normAutofit/>
          </a:bodyPr>
          <a:lstStyle/>
          <a:p>
            <a:pPr marL="0" indent="0" algn="l">
              <a:buNone/>
            </a:pPr>
            <a:r>
              <a:rPr lang="en-US" sz="1500" b="1" dirty="0">
                <a:solidFill>
                  <a:srgbClr val="00866A"/>
                </a:solidFill>
                <a:latin typeface="Arial" panose="020B0704020202020204" pitchFamily="34" charset="0"/>
                <a:ea typeface="Arial" panose="020B0704020202020204" pitchFamily="34" charset="-122"/>
                <a:cs typeface="Arial" panose="020B0704020202020204" pitchFamily="34" charset="-120"/>
              </a:rPr>
              <a:t>GROUNDING RULE</a:t>
            </a:r>
            <a:endParaRPr lang="en-US" sz="1500" dirty="0"/>
          </a:p>
        </p:txBody>
      </p:sp>
      <p:sp>
        <p:nvSpPr>
          <p:cNvPr id="49" name="Text 47"/>
          <p:cNvSpPr/>
          <p:nvPr/>
        </p:nvSpPr>
        <p:spPr>
          <a:xfrm>
            <a:off x="4535424" y="4924933"/>
            <a:ext cx="2560320" cy="704088"/>
          </a:xfrm>
          <a:prstGeom prst="rect">
            <a:avLst/>
          </a:prstGeom>
          <a:noFill/>
        </p:spPr>
        <p:txBody>
          <a:bodyPr wrap="square" lIns="254" tIns="254" rIns="254" bIns="254" rtlCol="0" anchor="t">
            <a:normAutofit lnSpcReduction="20000"/>
          </a:bodyPr>
          <a:lstStyle/>
          <a:p>
            <a:pPr marL="0" indent="0" algn="l">
              <a:buNone/>
            </a:pPr>
            <a:r>
              <a:rPr lang="en-US" sz="1300" dirty="0">
                <a:solidFill>
                  <a:srgbClr val="082A44"/>
                </a:solidFill>
                <a:latin typeface="Arial" panose="020B0704020202020204" pitchFamily="34" charset="0"/>
                <a:ea typeface="Arial" panose="020B0704020202020204" pitchFamily="34" charset="-122"/>
                <a:cs typeface="Arial" panose="020B0704020202020204" pitchFamily="34" charset="-120"/>
              </a:rPr>
              <a:t>Every detail must come from prediction_context.</a:t>
            </a:r>
            <a:endParaRPr lang="en-US" sz="1300" dirty="0"/>
          </a:p>
          <a:p>
            <a:pPr marL="0" indent="0" algn="l">
              <a:buNone/>
            </a:pPr>
            <a:r>
              <a:rPr lang="en-US" sz="1300" dirty="0">
                <a:solidFill>
                  <a:srgbClr val="082A44"/>
                </a:solidFill>
                <a:latin typeface="Arial" panose="020B0704020202020204" pitchFamily="34" charset="0"/>
                <a:ea typeface="Arial" panose="020B0704020202020204" pitchFamily="34" charset="-122"/>
                <a:cs typeface="Arial" panose="020B0704020202020204" pitchFamily="34" charset="-120"/>
              </a:rPr>
              <a:t>Missing evidence means lower specificity.</a:t>
            </a:r>
            <a:endParaRPr lang="en-US" sz="1300" dirty="0"/>
          </a:p>
        </p:txBody>
      </p:sp>
      <p:sp>
        <p:nvSpPr>
          <p:cNvPr id="50" name="Shape 48"/>
          <p:cNvSpPr/>
          <p:nvPr/>
        </p:nvSpPr>
        <p:spPr>
          <a:xfrm>
            <a:off x="7452360" y="4358005"/>
            <a:ext cx="3794760" cy="1417320"/>
          </a:xfrm>
          <a:prstGeom prst="roundRect">
            <a:avLst>
              <a:gd name="adj" fmla="val 10323"/>
            </a:avLst>
          </a:prstGeom>
          <a:solidFill>
            <a:srgbClr val="EAF4FF"/>
          </a:solidFill>
          <a:ln w="15240">
            <a:solidFill>
              <a:srgbClr val="0B6EEE"/>
            </a:solidFill>
            <a:prstDash val="solid"/>
          </a:ln>
        </p:spPr>
      </p:sp>
      <p:sp>
        <p:nvSpPr>
          <p:cNvPr id="51" name="Shape 49"/>
          <p:cNvSpPr/>
          <p:nvPr/>
        </p:nvSpPr>
        <p:spPr>
          <a:xfrm>
            <a:off x="7616952" y="4540885"/>
            <a:ext cx="438912" cy="438912"/>
          </a:xfrm>
          <a:prstGeom prst="ellipse">
            <a:avLst/>
          </a:prstGeom>
          <a:solidFill>
            <a:srgbClr val="0B6EEE"/>
          </a:solidFill>
          <a:ln w="12700">
            <a:solidFill>
              <a:srgbClr val="0B6EEE">
                <a:alpha val="0"/>
              </a:srgbClr>
            </a:solidFill>
            <a:prstDash val="solid"/>
          </a:ln>
        </p:spPr>
      </p:sp>
      <p:sp>
        <p:nvSpPr>
          <p:cNvPr id="52" name="Text 50"/>
          <p:cNvSpPr/>
          <p:nvPr/>
        </p:nvSpPr>
        <p:spPr>
          <a:xfrm>
            <a:off x="7616952" y="4595749"/>
            <a:ext cx="438912" cy="256032"/>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S</a:t>
            </a:r>
            <a:endParaRPr lang="en-US" sz="1400" dirty="0"/>
          </a:p>
        </p:txBody>
      </p:sp>
      <p:sp>
        <p:nvSpPr>
          <p:cNvPr id="53" name="Text 51"/>
          <p:cNvSpPr/>
          <p:nvPr/>
        </p:nvSpPr>
        <p:spPr>
          <a:xfrm>
            <a:off x="8147304" y="4522597"/>
            <a:ext cx="2916936" cy="292608"/>
          </a:xfrm>
          <a:prstGeom prst="rect">
            <a:avLst/>
          </a:prstGeom>
          <a:noFill/>
        </p:spPr>
        <p:txBody>
          <a:bodyPr wrap="square" lIns="0" tIns="0" rIns="0" bIns="0" rtlCol="0" anchor="ctr">
            <a:normAutofit/>
          </a:bodyPr>
          <a:lstStyle/>
          <a:p>
            <a:pPr marL="0" indent="0" algn="l">
              <a:buNone/>
            </a:pPr>
            <a:r>
              <a:rPr lang="en-US" sz="1500" b="1" dirty="0">
                <a:solidFill>
                  <a:srgbClr val="0B6EEE"/>
                </a:solidFill>
                <a:latin typeface="Arial" panose="020B0704020202020204" pitchFamily="34" charset="0"/>
                <a:ea typeface="Arial" panose="020B0704020202020204" pitchFamily="34" charset="-122"/>
                <a:cs typeface="Arial" panose="020B0704020202020204" pitchFamily="34" charset="-120"/>
              </a:rPr>
              <a:t>STYLE RULE</a:t>
            </a:r>
            <a:endParaRPr lang="en-US" sz="1500" dirty="0"/>
          </a:p>
        </p:txBody>
      </p:sp>
      <p:sp>
        <p:nvSpPr>
          <p:cNvPr id="54" name="Text 52"/>
          <p:cNvSpPr/>
          <p:nvPr/>
        </p:nvSpPr>
        <p:spPr>
          <a:xfrm>
            <a:off x="8147304" y="4924933"/>
            <a:ext cx="2926080" cy="704088"/>
          </a:xfrm>
          <a:prstGeom prst="rect">
            <a:avLst/>
          </a:prstGeom>
          <a:noFill/>
        </p:spPr>
        <p:txBody>
          <a:bodyPr wrap="square" lIns="254" tIns="254" rIns="254" bIns="254" rtlCol="0" anchor="t">
            <a:normAutofit/>
          </a:bodyPr>
          <a:lstStyle/>
          <a:p>
            <a:pPr marL="0" indent="0" algn="l">
              <a:buNone/>
            </a:pPr>
            <a:r>
              <a:rPr lang="en-US" sz="1300" dirty="0">
                <a:solidFill>
                  <a:srgbClr val="082A44"/>
                </a:solidFill>
                <a:latin typeface="Arial" panose="020B0704020202020204" pitchFamily="34" charset="0"/>
                <a:ea typeface="Arial" panose="020B0704020202020204" pitchFamily="34" charset="-122"/>
                <a:cs typeface="Arial" panose="020B0704020202020204" pitchFamily="34" charset="-120"/>
              </a:rPr>
              <a:t>Use user voice when available; otherwise use neutral Yelp-style wording matched to the locked stars.</a:t>
            </a:r>
            <a:endParaRPr lang="en-US" sz="1300" dirty="0"/>
          </a:p>
        </p:txBody>
      </p:sp>
      <p:sp>
        <p:nvSpPr>
          <p:cNvPr id="3"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84048" y="210312"/>
            <a:ext cx="1828800" cy="201168"/>
          </a:xfrm>
          <a:prstGeom prst="rect">
            <a:avLst/>
          </a:prstGeom>
          <a:noFill/>
        </p:spPr>
        <p:txBody>
          <a:bodyPr wrap="square" lIns="0" tIns="0" rIns="0" bIns="0" rtlCol="0" anchor="ctr">
            <a:normAutofit/>
          </a:bodyPr>
          <a:lstStyle/>
          <a:p>
            <a:pPr marL="0" indent="0">
              <a:buNone/>
            </a:pPr>
            <a:r>
              <a:rPr lang="en-US" sz="1050" b="1" dirty="0">
                <a:solidFill>
                  <a:srgbClr val="0B63E5"/>
                </a:solidFill>
                <a:latin typeface="Aptos" pitchFamily="34" charset="0"/>
                <a:ea typeface="Aptos" pitchFamily="34" charset="-122"/>
                <a:cs typeface="Aptos" pitchFamily="34" charset="-120"/>
              </a:rPr>
              <a:t>METHODOLOGY</a:t>
            </a:r>
            <a:endParaRPr lang="en-US" sz="1050" dirty="0"/>
          </a:p>
        </p:txBody>
      </p:sp>
      <p:sp>
        <p:nvSpPr>
          <p:cNvPr id="3" name="Text 1"/>
          <p:cNvSpPr/>
          <p:nvPr/>
        </p:nvSpPr>
        <p:spPr>
          <a:xfrm>
            <a:off x="384048" y="475488"/>
            <a:ext cx="11247120" cy="512064"/>
          </a:xfrm>
          <a:prstGeom prst="rect">
            <a:avLst/>
          </a:prstGeom>
          <a:noFill/>
        </p:spPr>
        <p:txBody>
          <a:bodyPr wrap="square" lIns="0" tIns="0" rIns="0" bIns="0" rtlCol="0" anchor="ctr">
            <a:normAutofit lnSpcReduction="10000"/>
          </a:bodyPr>
          <a:lstStyle/>
          <a:p>
            <a:pPr marL="0" indent="0">
              <a:buNone/>
            </a:pPr>
            <a:r>
              <a:rPr lang="en-US" sz="3400" b="1" dirty="0">
                <a:solidFill>
                  <a:srgbClr val="08213C"/>
                </a:solidFill>
                <a:latin typeface="Aptos" pitchFamily="34" charset="0"/>
                <a:ea typeface="Aptos" pitchFamily="34" charset="-122"/>
                <a:cs typeface="Aptos" pitchFamily="34" charset="-120"/>
              </a:rPr>
              <a:t>Two-round layerOpenEvolve strategy</a:t>
            </a:r>
            <a:endParaRPr lang="en-US" sz="3400" dirty="0"/>
          </a:p>
        </p:txBody>
      </p:sp>
      <p:sp>
        <p:nvSpPr>
          <p:cNvPr id="4" name="Shape 2"/>
          <p:cNvSpPr/>
          <p:nvPr/>
        </p:nvSpPr>
        <p:spPr>
          <a:xfrm>
            <a:off x="384048" y="1051560"/>
            <a:ext cx="11384280" cy="0"/>
          </a:xfrm>
          <a:prstGeom prst="line">
            <a:avLst/>
          </a:prstGeom>
          <a:noFill/>
          <a:ln w="12700">
            <a:solidFill>
              <a:srgbClr val="C8D6E5"/>
            </a:solidFill>
            <a:prstDash val="solid"/>
          </a:ln>
        </p:spPr>
      </p:sp>
      <p:sp>
        <p:nvSpPr>
          <p:cNvPr id="5" name="Shape 3"/>
          <p:cNvSpPr/>
          <p:nvPr/>
        </p:nvSpPr>
        <p:spPr>
          <a:xfrm>
            <a:off x="2496312" y="2002536"/>
            <a:ext cx="118872" cy="0"/>
          </a:xfrm>
          <a:prstGeom prst="line">
            <a:avLst/>
          </a:prstGeom>
          <a:noFill/>
          <a:ln w="30480">
            <a:solidFill>
              <a:srgbClr val="0B63E5"/>
            </a:solidFill>
            <a:prstDash val="solid"/>
            <a:headEnd type="none"/>
            <a:tailEnd type="triangle"/>
          </a:ln>
        </p:spPr>
      </p:sp>
      <p:sp>
        <p:nvSpPr>
          <p:cNvPr id="6" name="Shape 4"/>
          <p:cNvSpPr/>
          <p:nvPr/>
        </p:nvSpPr>
        <p:spPr>
          <a:xfrm>
            <a:off x="2496312" y="3282696"/>
            <a:ext cx="118872" cy="0"/>
          </a:xfrm>
          <a:prstGeom prst="line">
            <a:avLst/>
          </a:prstGeom>
          <a:noFill/>
          <a:ln w="30480">
            <a:solidFill>
              <a:srgbClr val="0B63E5"/>
            </a:solidFill>
            <a:prstDash val="solid"/>
            <a:headEnd type="none"/>
            <a:tailEnd type="triangle"/>
          </a:ln>
        </p:spPr>
      </p:sp>
      <p:sp>
        <p:nvSpPr>
          <p:cNvPr id="7" name="Shape 5"/>
          <p:cNvSpPr/>
          <p:nvPr/>
        </p:nvSpPr>
        <p:spPr>
          <a:xfrm>
            <a:off x="4828032" y="2002536"/>
            <a:ext cx="118872" cy="0"/>
          </a:xfrm>
          <a:prstGeom prst="line">
            <a:avLst/>
          </a:prstGeom>
          <a:noFill/>
          <a:ln w="30480">
            <a:solidFill>
              <a:srgbClr val="0B63E5"/>
            </a:solidFill>
            <a:prstDash val="solid"/>
            <a:headEnd type="none"/>
            <a:tailEnd type="triangle"/>
          </a:ln>
        </p:spPr>
      </p:sp>
      <p:sp>
        <p:nvSpPr>
          <p:cNvPr id="8" name="Shape 6"/>
          <p:cNvSpPr/>
          <p:nvPr/>
        </p:nvSpPr>
        <p:spPr>
          <a:xfrm>
            <a:off x="4828032" y="3282696"/>
            <a:ext cx="118872" cy="0"/>
          </a:xfrm>
          <a:prstGeom prst="line">
            <a:avLst/>
          </a:prstGeom>
          <a:noFill/>
          <a:ln w="30480">
            <a:solidFill>
              <a:srgbClr val="0B63E5"/>
            </a:solidFill>
            <a:prstDash val="solid"/>
            <a:headEnd type="none"/>
            <a:tailEnd type="triangle"/>
          </a:ln>
        </p:spPr>
      </p:sp>
      <p:sp>
        <p:nvSpPr>
          <p:cNvPr id="9" name="Shape 7"/>
          <p:cNvSpPr/>
          <p:nvPr/>
        </p:nvSpPr>
        <p:spPr>
          <a:xfrm>
            <a:off x="7159752" y="2002536"/>
            <a:ext cx="118872" cy="0"/>
          </a:xfrm>
          <a:prstGeom prst="line">
            <a:avLst/>
          </a:prstGeom>
          <a:noFill/>
          <a:ln w="30480">
            <a:solidFill>
              <a:srgbClr val="0B63E5"/>
            </a:solidFill>
            <a:prstDash val="solid"/>
            <a:headEnd type="none"/>
            <a:tailEnd type="triangle"/>
          </a:ln>
        </p:spPr>
      </p:sp>
      <p:sp>
        <p:nvSpPr>
          <p:cNvPr id="10" name="Shape 8"/>
          <p:cNvSpPr/>
          <p:nvPr/>
        </p:nvSpPr>
        <p:spPr>
          <a:xfrm>
            <a:off x="7159752" y="3282696"/>
            <a:ext cx="118872" cy="0"/>
          </a:xfrm>
          <a:prstGeom prst="line">
            <a:avLst/>
          </a:prstGeom>
          <a:noFill/>
          <a:ln w="30480">
            <a:solidFill>
              <a:srgbClr val="0B63E5"/>
            </a:solidFill>
            <a:prstDash val="solid"/>
            <a:headEnd type="none"/>
            <a:tailEnd type="triangle"/>
          </a:ln>
        </p:spPr>
      </p:sp>
      <p:sp>
        <p:nvSpPr>
          <p:cNvPr id="11" name="Shape 9"/>
          <p:cNvSpPr/>
          <p:nvPr/>
        </p:nvSpPr>
        <p:spPr>
          <a:xfrm>
            <a:off x="9491472" y="2002536"/>
            <a:ext cx="118872" cy="0"/>
          </a:xfrm>
          <a:prstGeom prst="line">
            <a:avLst/>
          </a:prstGeom>
          <a:noFill/>
          <a:ln w="30480">
            <a:solidFill>
              <a:srgbClr val="0B63E5"/>
            </a:solidFill>
            <a:prstDash val="solid"/>
            <a:headEnd type="none"/>
            <a:tailEnd type="triangle"/>
          </a:ln>
        </p:spPr>
      </p:sp>
      <p:sp>
        <p:nvSpPr>
          <p:cNvPr id="12" name="Shape 10"/>
          <p:cNvSpPr/>
          <p:nvPr/>
        </p:nvSpPr>
        <p:spPr>
          <a:xfrm>
            <a:off x="9491472" y="3282696"/>
            <a:ext cx="118872" cy="0"/>
          </a:xfrm>
          <a:prstGeom prst="line">
            <a:avLst/>
          </a:prstGeom>
          <a:noFill/>
          <a:ln w="30480">
            <a:solidFill>
              <a:srgbClr val="0B63E5"/>
            </a:solidFill>
            <a:prstDash val="solid"/>
            <a:headEnd type="none"/>
            <a:tailEnd type="triangle"/>
          </a:ln>
        </p:spPr>
      </p:sp>
      <p:sp>
        <p:nvSpPr>
          <p:cNvPr id="13" name="Shape 11"/>
          <p:cNvSpPr/>
          <p:nvPr/>
        </p:nvSpPr>
        <p:spPr>
          <a:xfrm>
            <a:off x="393192" y="1298448"/>
            <a:ext cx="841248" cy="256032"/>
          </a:xfrm>
          <a:prstGeom prst="roundRect">
            <a:avLst>
              <a:gd name="adj" fmla="val 25000"/>
            </a:avLst>
          </a:prstGeom>
          <a:solidFill>
            <a:srgbClr val="0B63E5"/>
          </a:solidFill>
          <a:ln w="12700">
            <a:solidFill>
              <a:srgbClr val="0B63E5"/>
            </a:solidFill>
            <a:prstDash val="solid"/>
          </a:ln>
        </p:spPr>
      </p:sp>
      <p:sp>
        <p:nvSpPr>
          <p:cNvPr id="14" name="Text 12"/>
          <p:cNvSpPr/>
          <p:nvPr/>
        </p:nvSpPr>
        <p:spPr>
          <a:xfrm>
            <a:off x="438912" y="1339596"/>
            <a:ext cx="749808" cy="146304"/>
          </a:xfrm>
          <a:prstGeom prst="rect">
            <a:avLst/>
          </a:prstGeom>
          <a:noFill/>
        </p:spPr>
        <p:txBody>
          <a:bodyPr wrap="square" lIns="0" tIns="0" rIns="0" bIns="0" rtlCol="0" anchor="ctr">
            <a:normAutofit fontScale="90000"/>
          </a:bodyPr>
          <a:lstStyle/>
          <a:p>
            <a:pPr marL="0" indent="0" algn="ctr">
              <a:buNone/>
            </a:pPr>
            <a:r>
              <a:rPr lang="en-US" sz="1050" b="1" dirty="0">
                <a:solidFill>
                  <a:srgbClr val="FFFFFF"/>
                </a:solidFill>
                <a:latin typeface="Aptos" pitchFamily="34" charset="0"/>
                <a:ea typeface="Aptos" pitchFamily="34" charset="-122"/>
                <a:cs typeface="Aptos" pitchFamily="34" charset="-120"/>
              </a:rPr>
              <a:t>ROUND 1</a:t>
            </a:r>
            <a:endParaRPr lang="en-US" sz="1050" dirty="0"/>
          </a:p>
        </p:txBody>
      </p:sp>
      <p:sp>
        <p:nvSpPr>
          <p:cNvPr id="15" name="Shape 13"/>
          <p:cNvSpPr/>
          <p:nvPr/>
        </p:nvSpPr>
        <p:spPr>
          <a:xfrm>
            <a:off x="393192" y="2578608"/>
            <a:ext cx="841248" cy="256032"/>
          </a:xfrm>
          <a:prstGeom prst="roundRect">
            <a:avLst>
              <a:gd name="adj" fmla="val 25000"/>
            </a:avLst>
          </a:prstGeom>
          <a:solidFill>
            <a:srgbClr val="0B63E5"/>
          </a:solidFill>
          <a:ln w="12700">
            <a:solidFill>
              <a:srgbClr val="0B63E5"/>
            </a:solidFill>
            <a:prstDash val="solid"/>
          </a:ln>
        </p:spPr>
      </p:sp>
      <p:sp>
        <p:nvSpPr>
          <p:cNvPr id="16" name="Text 14"/>
          <p:cNvSpPr/>
          <p:nvPr/>
        </p:nvSpPr>
        <p:spPr>
          <a:xfrm>
            <a:off x="438912" y="2619756"/>
            <a:ext cx="749808" cy="146304"/>
          </a:xfrm>
          <a:prstGeom prst="rect">
            <a:avLst/>
          </a:prstGeom>
          <a:noFill/>
        </p:spPr>
        <p:txBody>
          <a:bodyPr wrap="square" lIns="0" tIns="0" rIns="0" bIns="0" rtlCol="0" anchor="ctr">
            <a:normAutofit fontScale="90000"/>
          </a:bodyPr>
          <a:lstStyle/>
          <a:p>
            <a:pPr marL="0" indent="0" algn="ctr">
              <a:buNone/>
            </a:pPr>
            <a:r>
              <a:rPr lang="en-US" sz="1050" b="1" dirty="0">
                <a:solidFill>
                  <a:srgbClr val="FFFFFF"/>
                </a:solidFill>
                <a:latin typeface="Aptos" pitchFamily="34" charset="0"/>
                <a:ea typeface="Aptos" pitchFamily="34" charset="-122"/>
                <a:cs typeface="Aptos" pitchFamily="34" charset="-120"/>
              </a:rPr>
              <a:t>ROUND 2</a:t>
            </a:r>
            <a:endParaRPr lang="en-US" sz="1050" dirty="0"/>
          </a:p>
        </p:txBody>
      </p:sp>
      <p:sp>
        <p:nvSpPr>
          <p:cNvPr id="17" name="Shape 15"/>
          <p:cNvSpPr/>
          <p:nvPr/>
        </p:nvSpPr>
        <p:spPr>
          <a:xfrm>
            <a:off x="393192" y="1609344"/>
            <a:ext cx="2011680" cy="786384"/>
          </a:xfrm>
          <a:prstGeom prst="roundRect">
            <a:avLst>
              <a:gd name="adj" fmla="val 18605"/>
            </a:avLst>
          </a:prstGeom>
          <a:solidFill>
            <a:srgbClr val="F7FAFD"/>
          </a:solidFill>
          <a:ln w="15240">
            <a:solidFill>
              <a:srgbClr val="0B63E5"/>
            </a:solidFill>
            <a:prstDash val="solid"/>
          </a:ln>
        </p:spPr>
      </p:sp>
      <p:sp>
        <p:nvSpPr>
          <p:cNvPr id="18" name="Shape 16"/>
          <p:cNvSpPr/>
          <p:nvPr/>
        </p:nvSpPr>
        <p:spPr>
          <a:xfrm>
            <a:off x="548640" y="1773936"/>
            <a:ext cx="411480" cy="411480"/>
          </a:xfrm>
          <a:prstGeom prst="ellipse">
            <a:avLst/>
          </a:prstGeom>
          <a:solidFill>
            <a:srgbClr val="FFFFFF">
              <a:alpha val="85000"/>
            </a:srgbClr>
          </a:solidFill>
          <a:ln w="10160">
            <a:solidFill>
              <a:srgbClr val="0B63E5">
                <a:alpha val="90000"/>
              </a:srgbClr>
            </a:solidFill>
            <a:prstDash val="solid"/>
          </a:ln>
        </p:spPr>
      </p:sp>
      <p:sp>
        <p:nvSpPr>
          <p:cNvPr id="19" name="Text 17"/>
          <p:cNvSpPr/>
          <p:nvPr/>
        </p:nvSpPr>
        <p:spPr>
          <a:xfrm>
            <a:off x="548640" y="1860804"/>
            <a:ext cx="411480" cy="164592"/>
          </a:xfrm>
          <a:prstGeom prst="rect">
            <a:avLst/>
          </a:prstGeom>
          <a:noFill/>
        </p:spPr>
        <p:txBody>
          <a:bodyPr wrap="square" lIns="0" tIns="0" rIns="0" bIns="0" rtlCol="0" anchor="ctr">
            <a:normAutofit/>
          </a:bodyPr>
          <a:lstStyle/>
          <a:p>
            <a:pPr marL="0" indent="0" algn="ctr">
              <a:buNone/>
            </a:pPr>
            <a:r>
              <a:rPr lang="en-US" sz="1000" b="1" dirty="0">
                <a:solidFill>
                  <a:srgbClr val="0B63E5"/>
                </a:solidFill>
                <a:latin typeface="Aptos" pitchFamily="34" charset="0"/>
                <a:ea typeface="Aptos" pitchFamily="34" charset="-122"/>
                <a:cs typeface="Aptos" pitchFamily="34" charset="-120"/>
              </a:rPr>
              <a:t>YAML</a:t>
            </a:r>
            <a:endParaRPr lang="en-US" sz="1000" dirty="0"/>
          </a:p>
        </p:txBody>
      </p:sp>
      <p:sp>
        <p:nvSpPr>
          <p:cNvPr id="20" name="Text 18"/>
          <p:cNvSpPr/>
          <p:nvPr/>
        </p:nvSpPr>
        <p:spPr>
          <a:xfrm>
            <a:off x="1051560" y="1819656"/>
            <a:ext cx="1243584" cy="237744"/>
          </a:xfrm>
          <a:prstGeom prst="rect">
            <a:avLst/>
          </a:prstGeom>
          <a:noFill/>
        </p:spPr>
        <p:txBody>
          <a:bodyPr wrap="square" lIns="0" tIns="0" rIns="0" bIns="0" rtlCol="0" anchor="ctr">
            <a:normAutofit/>
          </a:bodyPr>
          <a:lstStyle/>
          <a:p>
            <a:pPr marL="0" indent="0">
              <a:buNone/>
            </a:pPr>
            <a:r>
              <a:rPr lang="en-US" sz="1500" b="1" dirty="0">
                <a:solidFill>
                  <a:srgbClr val="08213C"/>
                </a:solidFill>
                <a:latin typeface="Aptos" pitchFamily="34" charset="0"/>
                <a:ea typeface="Aptos" pitchFamily="34" charset="-122"/>
                <a:cs typeface="Aptos" pitchFamily="34" charset="-120"/>
              </a:rPr>
              <a:t>Initial crew</a:t>
            </a:r>
            <a:endParaRPr lang="en-US" sz="1500" dirty="0"/>
          </a:p>
        </p:txBody>
      </p:sp>
      <p:sp>
        <p:nvSpPr>
          <p:cNvPr id="21" name="Text 19"/>
          <p:cNvSpPr/>
          <p:nvPr/>
        </p:nvSpPr>
        <p:spPr>
          <a:xfrm>
            <a:off x="1051560" y="2084832"/>
            <a:ext cx="1243584" cy="192024"/>
          </a:xfrm>
          <a:prstGeom prst="rect">
            <a:avLst/>
          </a:prstGeom>
          <a:noFill/>
        </p:spPr>
        <p:txBody>
          <a:bodyPr wrap="square" lIns="0" tIns="0" rIns="0" bIns="0" rtlCol="0" anchor="ctr">
            <a:normAutofit/>
          </a:bodyPr>
          <a:lstStyle/>
          <a:p>
            <a:pPr marL="0" indent="0">
              <a:buNone/>
            </a:pPr>
            <a:r>
              <a:rPr lang="en-US" sz="1050" dirty="0">
                <a:solidFill>
                  <a:srgbClr val="52667A"/>
                </a:solidFill>
                <a:latin typeface="Aptos" pitchFamily="34" charset="0"/>
                <a:ea typeface="Aptos" pitchFamily="34" charset="-122"/>
                <a:cs typeface="Aptos" pitchFamily="34" charset="-120"/>
              </a:rPr>
              <a:t>baseline YAML</a:t>
            </a:r>
            <a:endParaRPr lang="en-US" sz="1050" dirty="0"/>
          </a:p>
        </p:txBody>
      </p:sp>
      <p:sp>
        <p:nvSpPr>
          <p:cNvPr id="22" name="Shape 20"/>
          <p:cNvSpPr/>
          <p:nvPr/>
        </p:nvSpPr>
        <p:spPr>
          <a:xfrm>
            <a:off x="2724912" y="1609344"/>
            <a:ext cx="2011680" cy="786384"/>
          </a:xfrm>
          <a:prstGeom prst="roundRect">
            <a:avLst>
              <a:gd name="adj" fmla="val 18605"/>
            </a:avLst>
          </a:prstGeom>
          <a:solidFill>
            <a:srgbClr val="EEF6FF"/>
          </a:solidFill>
          <a:ln w="15240">
            <a:solidFill>
              <a:srgbClr val="0B63E5"/>
            </a:solidFill>
            <a:prstDash val="solid"/>
          </a:ln>
        </p:spPr>
      </p:sp>
      <p:sp>
        <p:nvSpPr>
          <p:cNvPr id="23" name="Shape 21"/>
          <p:cNvSpPr/>
          <p:nvPr/>
        </p:nvSpPr>
        <p:spPr>
          <a:xfrm>
            <a:off x="2880360" y="1773936"/>
            <a:ext cx="411480" cy="411480"/>
          </a:xfrm>
          <a:prstGeom prst="ellipse">
            <a:avLst/>
          </a:prstGeom>
          <a:solidFill>
            <a:srgbClr val="FFFFFF">
              <a:alpha val="85000"/>
            </a:srgbClr>
          </a:solidFill>
          <a:ln w="10160">
            <a:solidFill>
              <a:srgbClr val="0B63E5">
                <a:alpha val="90000"/>
              </a:srgbClr>
            </a:solidFill>
            <a:prstDash val="solid"/>
          </a:ln>
        </p:spPr>
      </p:sp>
      <p:sp>
        <p:nvSpPr>
          <p:cNvPr id="24" name="Text 22"/>
          <p:cNvSpPr/>
          <p:nvPr/>
        </p:nvSpPr>
        <p:spPr>
          <a:xfrm>
            <a:off x="2880360" y="1860804"/>
            <a:ext cx="411480" cy="164592"/>
          </a:xfrm>
          <a:prstGeom prst="rect">
            <a:avLst/>
          </a:prstGeom>
          <a:noFill/>
        </p:spPr>
        <p:txBody>
          <a:bodyPr wrap="square" lIns="0" tIns="0" rIns="0" bIns="0" rtlCol="0" anchor="ctr">
            <a:normAutofit/>
          </a:bodyPr>
          <a:lstStyle/>
          <a:p>
            <a:pPr marL="0" indent="0" algn="ctr">
              <a:buNone/>
            </a:pPr>
            <a:r>
              <a:rPr lang="en-US" sz="1000" b="1" dirty="0">
                <a:solidFill>
                  <a:srgbClr val="0B63E5"/>
                </a:solidFill>
                <a:latin typeface="Aptos" pitchFamily="34" charset="0"/>
                <a:ea typeface="Aptos" pitchFamily="34" charset="-122"/>
                <a:cs typeface="Aptos" pitchFamily="34" charset="-120"/>
              </a:rPr>
              <a:t>A</a:t>
            </a:r>
            <a:endParaRPr lang="en-US" sz="1000" dirty="0"/>
          </a:p>
        </p:txBody>
      </p:sp>
      <p:sp>
        <p:nvSpPr>
          <p:cNvPr id="25" name="Text 23"/>
          <p:cNvSpPr/>
          <p:nvPr/>
        </p:nvSpPr>
        <p:spPr>
          <a:xfrm>
            <a:off x="3383280" y="1819656"/>
            <a:ext cx="1243584" cy="237744"/>
          </a:xfrm>
          <a:prstGeom prst="rect">
            <a:avLst/>
          </a:prstGeom>
          <a:noFill/>
        </p:spPr>
        <p:txBody>
          <a:bodyPr wrap="square" lIns="0" tIns="0" rIns="0" bIns="0" rtlCol="0" anchor="ctr">
            <a:normAutofit/>
          </a:bodyPr>
          <a:lstStyle/>
          <a:p>
            <a:pPr marL="0" indent="0">
              <a:buNone/>
            </a:pPr>
            <a:r>
              <a:rPr lang="en-US" sz="1500" b="1" dirty="0">
                <a:solidFill>
                  <a:srgbClr val="08213C"/>
                </a:solidFill>
                <a:latin typeface="Aptos" pitchFamily="34" charset="0"/>
                <a:ea typeface="Aptos" pitchFamily="34" charset="-122"/>
                <a:cs typeface="Aptos" pitchFamily="34" charset="-120"/>
              </a:rPr>
              <a:t>R1 Agent</a:t>
            </a:r>
            <a:endParaRPr lang="en-US" sz="1500" dirty="0"/>
          </a:p>
        </p:txBody>
      </p:sp>
      <p:sp>
        <p:nvSpPr>
          <p:cNvPr id="26" name="Text 24"/>
          <p:cNvSpPr/>
          <p:nvPr/>
        </p:nvSpPr>
        <p:spPr>
          <a:xfrm>
            <a:off x="3383280" y="2084832"/>
            <a:ext cx="1243584" cy="192024"/>
          </a:xfrm>
          <a:prstGeom prst="rect">
            <a:avLst/>
          </a:prstGeom>
          <a:noFill/>
        </p:spPr>
        <p:txBody>
          <a:bodyPr wrap="square" lIns="0" tIns="0" rIns="0" bIns="0" rtlCol="0" anchor="ctr">
            <a:normAutofit/>
          </a:bodyPr>
          <a:lstStyle/>
          <a:p>
            <a:pPr marL="0" indent="0">
              <a:buNone/>
            </a:pPr>
            <a:r>
              <a:rPr lang="en-US" sz="1050" dirty="0">
                <a:solidFill>
                  <a:srgbClr val="52667A"/>
                </a:solidFill>
                <a:latin typeface="Aptos" pitchFamily="34" charset="0"/>
                <a:ea typeface="Aptos" pitchFamily="34" charset="-122"/>
                <a:cs typeface="Aptos" pitchFamily="34" charset="-120"/>
              </a:rPr>
              <a:t>0.8677</a:t>
            </a:r>
            <a:endParaRPr lang="en-US" sz="1050" dirty="0"/>
          </a:p>
        </p:txBody>
      </p:sp>
      <p:sp>
        <p:nvSpPr>
          <p:cNvPr id="27" name="Shape 25"/>
          <p:cNvSpPr/>
          <p:nvPr/>
        </p:nvSpPr>
        <p:spPr>
          <a:xfrm>
            <a:off x="5056632" y="1609344"/>
            <a:ext cx="2011680" cy="786384"/>
          </a:xfrm>
          <a:prstGeom prst="roundRect">
            <a:avLst>
              <a:gd name="adj" fmla="val 18605"/>
            </a:avLst>
          </a:prstGeom>
          <a:solidFill>
            <a:srgbClr val="FFF8E8"/>
          </a:solidFill>
          <a:ln w="15240">
            <a:solidFill>
              <a:srgbClr val="F59E0B"/>
            </a:solidFill>
            <a:prstDash val="solid"/>
          </a:ln>
        </p:spPr>
      </p:sp>
      <p:sp>
        <p:nvSpPr>
          <p:cNvPr id="28" name="Shape 26"/>
          <p:cNvSpPr/>
          <p:nvPr/>
        </p:nvSpPr>
        <p:spPr>
          <a:xfrm>
            <a:off x="5212080" y="1773936"/>
            <a:ext cx="411480" cy="411480"/>
          </a:xfrm>
          <a:prstGeom prst="ellipse">
            <a:avLst/>
          </a:prstGeom>
          <a:solidFill>
            <a:srgbClr val="FFFFFF">
              <a:alpha val="85000"/>
            </a:srgbClr>
          </a:solidFill>
          <a:ln w="10160">
            <a:solidFill>
              <a:srgbClr val="F59E0B">
                <a:alpha val="90000"/>
              </a:srgbClr>
            </a:solidFill>
            <a:prstDash val="solid"/>
          </a:ln>
        </p:spPr>
      </p:sp>
      <p:sp>
        <p:nvSpPr>
          <p:cNvPr id="29" name="Text 27"/>
          <p:cNvSpPr/>
          <p:nvPr/>
        </p:nvSpPr>
        <p:spPr>
          <a:xfrm>
            <a:off x="5212080" y="1860804"/>
            <a:ext cx="411480" cy="164592"/>
          </a:xfrm>
          <a:prstGeom prst="rect">
            <a:avLst/>
          </a:prstGeom>
          <a:noFill/>
        </p:spPr>
        <p:txBody>
          <a:bodyPr wrap="square" lIns="0" tIns="0" rIns="0" bIns="0" rtlCol="0" anchor="ctr">
            <a:normAutofit/>
          </a:bodyPr>
          <a:lstStyle/>
          <a:p>
            <a:pPr marL="0" indent="0" algn="ctr">
              <a:buNone/>
            </a:pPr>
            <a:r>
              <a:rPr lang="en-US" sz="1000" b="1" dirty="0">
                <a:solidFill>
                  <a:srgbClr val="F59E0B"/>
                </a:solidFill>
                <a:latin typeface="Aptos" pitchFamily="34" charset="0"/>
                <a:ea typeface="Aptos" pitchFamily="34" charset="-122"/>
                <a:cs typeface="Aptos" pitchFamily="34" charset="-120"/>
              </a:rPr>
              <a:t>T</a:t>
            </a:r>
            <a:endParaRPr lang="en-US" sz="1000" dirty="0"/>
          </a:p>
        </p:txBody>
      </p:sp>
      <p:sp>
        <p:nvSpPr>
          <p:cNvPr id="30" name="Text 28"/>
          <p:cNvSpPr/>
          <p:nvPr/>
        </p:nvSpPr>
        <p:spPr>
          <a:xfrm>
            <a:off x="5715000" y="1819656"/>
            <a:ext cx="1243584" cy="237744"/>
          </a:xfrm>
          <a:prstGeom prst="rect">
            <a:avLst/>
          </a:prstGeom>
          <a:noFill/>
        </p:spPr>
        <p:txBody>
          <a:bodyPr wrap="square" lIns="0" tIns="0" rIns="0" bIns="0" rtlCol="0" anchor="ctr">
            <a:normAutofit/>
          </a:bodyPr>
          <a:lstStyle/>
          <a:p>
            <a:pPr marL="0" indent="0">
              <a:buNone/>
            </a:pPr>
            <a:r>
              <a:rPr lang="en-US" sz="1500" b="1" dirty="0">
                <a:solidFill>
                  <a:srgbClr val="08213C"/>
                </a:solidFill>
                <a:latin typeface="Aptos" pitchFamily="34" charset="0"/>
                <a:ea typeface="Aptos" pitchFamily="34" charset="-122"/>
                <a:cs typeface="Aptos" pitchFamily="34" charset="-120"/>
              </a:rPr>
              <a:t>R1 Task</a:t>
            </a:r>
            <a:endParaRPr lang="en-US" sz="1500" dirty="0"/>
          </a:p>
        </p:txBody>
      </p:sp>
      <p:sp>
        <p:nvSpPr>
          <p:cNvPr id="31" name="Text 29"/>
          <p:cNvSpPr/>
          <p:nvPr/>
        </p:nvSpPr>
        <p:spPr>
          <a:xfrm>
            <a:off x="5715000" y="2084832"/>
            <a:ext cx="1243584" cy="192024"/>
          </a:xfrm>
          <a:prstGeom prst="rect">
            <a:avLst/>
          </a:prstGeom>
          <a:noFill/>
        </p:spPr>
        <p:txBody>
          <a:bodyPr wrap="square" lIns="0" tIns="0" rIns="0" bIns="0" rtlCol="0" anchor="ctr">
            <a:normAutofit/>
          </a:bodyPr>
          <a:lstStyle/>
          <a:p>
            <a:pPr marL="0" indent="0">
              <a:buNone/>
            </a:pPr>
            <a:r>
              <a:rPr lang="en-US" sz="1050" dirty="0">
                <a:solidFill>
                  <a:srgbClr val="52667A"/>
                </a:solidFill>
                <a:latin typeface="Aptos" pitchFamily="34" charset="0"/>
                <a:ea typeface="Aptos" pitchFamily="34" charset="-122"/>
                <a:cs typeface="Aptos" pitchFamily="34" charset="-120"/>
              </a:rPr>
              <a:t>0.8691</a:t>
            </a:r>
            <a:endParaRPr lang="en-US" sz="1050" dirty="0"/>
          </a:p>
        </p:txBody>
      </p:sp>
      <p:sp>
        <p:nvSpPr>
          <p:cNvPr id="32" name="Shape 30"/>
          <p:cNvSpPr/>
          <p:nvPr/>
        </p:nvSpPr>
        <p:spPr>
          <a:xfrm>
            <a:off x="7388352" y="1609344"/>
            <a:ext cx="2011680" cy="786384"/>
          </a:xfrm>
          <a:prstGeom prst="roundRect">
            <a:avLst>
              <a:gd name="adj" fmla="val 18605"/>
            </a:avLst>
          </a:prstGeom>
          <a:solidFill>
            <a:srgbClr val="E9FBF1"/>
          </a:solidFill>
          <a:ln w="15240">
            <a:solidFill>
              <a:srgbClr val="16A34A"/>
            </a:solidFill>
            <a:prstDash val="solid"/>
          </a:ln>
        </p:spPr>
      </p:sp>
      <p:sp>
        <p:nvSpPr>
          <p:cNvPr id="33" name="Shape 31"/>
          <p:cNvSpPr/>
          <p:nvPr/>
        </p:nvSpPr>
        <p:spPr>
          <a:xfrm>
            <a:off x="7543800" y="1773936"/>
            <a:ext cx="411480" cy="411480"/>
          </a:xfrm>
          <a:prstGeom prst="ellipse">
            <a:avLst/>
          </a:prstGeom>
          <a:solidFill>
            <a:srgbClr val="FFFFFF">
              <a:alpha val="85000"/>
            </a:srgbClr>
          </a:solidFill>
          <a:ln w="10160">
            <a:solidFill>
              <a:srgbClr val="16A34A">
                <a:alpha val="90000"/>
              </a:srgbClr>
            </a:solidFill>
            <a:prstDash val="solid"/>
          </a:ln>
        </p:spPr>
      </p:sp>
      <p:sp>
        <p:nvSpPr>
          <p:cNvPr id="34" name="Text 32"/>
          <p:cNvSpPr/>
          <p:nvPr/>
        </p:nvSpPr>
        <p:spPr>
          <a:xfrm>
            <a:off x="7543800" y="1860804"/>
            <a:ext cx="411480" cy="164592"/>
          </a:xfrm>
          <a:prstGeom prst="rect">
            <a:avLst/>
          </a:prstGeom>
          <a:noFill/>
        </p:spPr>
        <p:txBody>
          <a:bodyPr wrap="square" lIns="0" tIns="0" rIns="0" bIns="0" rtlCol="0" anchor="ctr">
            <a:normAutofit/>
          </a:bodyPr>
          <a:lstStyle/>
          <a:p>
            <a:pPr marL="0" indent="0" algn="ctr">
              <a:buNone/>
            </a:pPr>
            <a:r>
              <a:rPr lang="en-US" sz="1000" b="1" dirty="0">
                <a:solidFill>
                  <a:srgbClr val="16A34A"/>
                </a:solidFill>
                <a:latin typeface="Aptos" pitchFamily="34" charset="0"/>
                <a:ea typeface="Aptos" pitchFamily="34" charset="-122"/>
                <a:cs typeface="Aptos" pitchFamily="34" charset="-120"/>
              </a:rPr>
              <a:t>E</a:t>
            </a:r>
            <a:endParaRPr lang="en-US" sz="1000" dirty="0"/>
          </a:p>
        </p:txBody>
      </p:sp>
      <p:sp>
        <p:nvSpPr>
          <p:cNvPr id="35" name="Text 33"/>
          <p:cNvSpPr/>
          <p:nvPr/>
        </p:nvSpPr>
        <p:spPr>
          <a:xfrm>
            <a:off x="8046720" y="1819656"/>
            <a:ext cx="1243584" cy="237744"/>
          </a:xfrm>
          <a:prstGeom prst="rect">
            <a:avLst/>
          </a:prstGeom>
          <a:noFill/>
        </p:spPr>
        <p:txBody>
          <a:bodyPr wrap="square" lIns="0" tIns="0" rIns="0" bIns="0" rtlCol="0" anchor="ctr">
            <a:normAutofit/>
          </a:bodyPr>
          <a:lstStyle/>
          <a:p>
            <a:pPr marL="0" indent="0">
              <a:buNone/>
            </a:pPr>
            <a:r>
              <a:rPr lang="en-US" sz="1500" b="1" dirty="0">
                <a:solidFill>
                  <a:srgbClr val="08213C"/>
                </a:solidFill>
                <a:latin typeface="Aptos" pitchFamily="34" charset="0"/>
                <a:ea typeface="Aptos" pitchFamily="34" charset="-122"/>
                <a:cs typeface="Aptos" pitchFamily="34" charset="-120"/>
              </a:rPr>
              <a:t>R1 </a:t>
            </a:r>
            <a:r>
              <a:rPr lang="vi-VN" altLang="en-US" sz="1500" b="1" dirty="0">
                <a:solidFill>
                  <a:srgbClr val="08213C"/>
                </a:solidFill>
                <a:latin typeface="Aptos" pitchFamily="34" charset="0"/>
                <a:ea typeface="Aptos" pitchFamily="34" charset="-122"/>
                <a:cs typeface="Aptos" pitchFamily="34" charset="-120"/>
              </a:rPr>
              <a:t>R</a:t>
            </a:r>
            <a:r>
              <a:rPr lang="vi-VN" altLang="en-US" sz="1500" b="1" dirty="0">
                <a:solidFill>
                  <a:srgbClr val="08213C"/>
                </a:solidFill>
                <a:latin typeface="Aptos" pitchFamily="34" charset="0"/>
                <a:ea typeface="Aptos" pitchFamily="34" charset="-122"/>
                <a:cs typeface="Aptos" pitchFamily="34" charset="-120"/>
              </a:rPr>
              <a:t>PP</a:t>
            </a:r>
            <a:endParaRPr lang="vi-VN" altLang="en-US" sz="1500" b="1" dirty="0">
              <a:solidFill>
                <a:srgbClr val="08213C"/>
              </a:solidFill>
              <a:latin typeface="Aptos" pitchFamily="34" charset="0"/>
              <a:ea typeface="Aptos" pitchFamily="34" charset="-122"/>
              <a:cs typeface="Aptos" pitchFamily="34" charset="-120"/>
            </a:endParaRPr>
          </a:p>
        </p:txBody>
      </p:sp>
      <p:sp>
        <p:nvSpPr>
          <p:cNvPr id="36" name="Text 34"/>
          <p:cNvSpPr/>
          <p:nvPr/>
        </p:nvSpPr>
        <p:spPr>
          <a:xfrm>
            <a:off x="8046720" y="2084832"/>
            <a:ext cx="1243584" cy="192024"/>
          </a:xfrm>
          <a:prstGeom prst="rect">
            <a:avLst/>
          </a:prstGeom>
          <a:noFill/>
        </p:spPr>
        <p:txBody>
          <a:bodyPr wrap="square" lIns="0" tIns="0" rIns="0" bIns="0" rtlCol="0" anchor="ctr">
            <a:normAutofit/>
          </a:bodyPr>
          <a:lstStyle/>
          <a:p>
            <a:pPr marL="0" indent="0">
              <a:buNone/>
            </a:pPr>
            <a:r>
              <a:rPr lang="en-US" sz="1050" dirty="0">
                <a:solidFill>
                  <a:srgbClr val="52667A"/>
                </a:solidFill>
                <a:latin typeface="Aptos" pitchFamily="34" charset="0"/>
                <a:ea typeface="Aptos" pitchFamily="34" charset="-122"/>
                <a:cs typeface="Aptos" pitchFamily="34" charset="-120"/>
              </a:rPr>
              <a:t>0.8702</a:t>
            </a:r>
            <a:endParaRPr lang="en-US" sz="1050" dirty="0"/>
          </a:p>
        </p:txBody>
      </p:sp>
      <p:sp>
        <p:nvSpPr>
          <p:cNvPr id="37" name="Shape 35"/>
          <p:cNvSpPr/>
          <p:nvPr/>
        </p:nvSpPr>
        <p:spPr>
          <a:xfrm>
            <a:off x="9720072" y="1609344"/>
            <a:ext cx="2011680" cy="786384"/>
          </a:xfrm>
          <a:prstGeom prst="roundRect">
            <a:avLst>
              <a:gd name="adj" fmla="val 18605"/>
            </a:avLst>
          </a:prstGeom>
          <a:solidFill>
            <a:srgbClr val="F7FAFD"/>
          </a:solidFill>
          <a:ln w="15240">
            <a:solidFill>
              <a:srgbClr val="0B63E5"/>
            </a:solidFill>
            <a:prstDash val="solid"/>
          </a:ln>
        </p:spPr>
      </p:sp>
      <p:sp>
        <p:nvSpPr>
          <p:cNvPr id="38" name="Shape 36"/>
          <p:cNvSpPr/>
          <p:nvPr/>
        </p:nvSpPr>
        <p:spPr>
          <a:xfrm>
            <a:off x="9875520" y="1773936"/>
            <a:ext cx="411480" cy="411480"/>
          </a:xfrm>
          <a:prstGeom prst="ellipse">
            <a:avLst/>
          </a:prstGeom>
          <a:solidFill>
            <a:srgbClr val="FFFFFF">
              <a:alpha val="85000"/>
            </a:srgbClr>
          </a:solidFill>
          <a:ln w="10160">
            <a:solidFill>
              <a:srgbClr val="0B63E5">
                <a:alpha val="90000"/>
              </a:srgbClr>
            </a:solidFill>
            <a:prstDash val="solid"/>
          </a:ln>
        </p:spPr>
      </p:sp>
      <p:sp>
        <p:nvSpPr>
          <p:cNvPr id="39" name="Text 37"/>
          <p:cNvSpPr/>
          <p:nvPr/>
        </p:nvSpPr>
        <p:spPr>
          <a:xfrm>
            <a:off x="9875520" y="1860804"/>
            <a:ext cx="411480" cy="164592"/>
          </a:xfrm>
          <a:prstGeom prst="rect">
            <a:avLst/>
          </a:prstGeom>
          <a:noFill/>
        </p:spPr>
        <p:txBody>
          <a:bodyPr wrap="square" lIns="0" tIns="0" rIns="0" bIns="0" rtlCol="0" anchor="ctr">
            <a:normAutofit/>
          </a:bodyPr>
          <a:lstStyle/>
          <a:p>
            <a:pPr marL="0" indent="0" algn="ctr">
              <a:buNone/>
            </a:pPr>
            <a:r>
              <a:rPr lang="en-US" sz="1000" b="1" dirty="0">
                <a:solidFill>
                  <a:srgbClr val="0B63E5"/>
                </a:solidFill>
                <a:latin typeface="Aptos" pitchFamily="34" charset="0"/>
                <a:ea typeface="Aptos" pitchFamily="34" charset="-122"/>
                <a:cs typeface="Aptos" pitchFamily="34" charset="-120"/>
              </a:rPr>
              <a:t>BEST</a:t>
            </a:r>
            <a:endParaRPr lang="en-US" sz="1000" dirty="0"/>
          </a:p>
        </p:txBody>
      </p:sp>
      <p:sp>
        <p:nvSpPr>
          <p:cNvPr id="40" name="Text 38"/>
          <p:cNvSpPr/>
          <p:nvPr/>
        </p:nvSpPr>
        <p:spPr>
          <a:xfrm>
            <a:off x="10378440" y="1819656"/>
            <a:ext cx="1243584" cy="237744"/>
          </a:xfrm>
          <a:prstGeom prst="rect">
            <a:avLst/>
          </a:prstGeom>
          <a:noFill/>
        </p:spPr>
        <p:txBody>
          <a:bodyPr wrap="square" lIns="0" tIns="0" rIns="0" bIns="0" rtlCol="0" anchor="ctr">
            <a:normAutofit fontScale="80000"/>
          </a:bodyPr>
          <a:lstStyle/>
          <a:p>
            <a:pPr marL="0" indent="0">
              <a:buNone/>
            </a:pPr>
            <a:r>
              <a:rPr lang="en-US" sz="1500" b="1" dirty="0">
                <a:solidFill>
                  <a:srgbClr val="08213C"/>
                </a:solidFill>
                <a:latin typeface="Aptos" pitchFamily="34" charset="0"/>
                <a:ea typeface="Aptos" pitchFamily="34" charset="-122"/>
                <a:cs typeface="Aptos" pitchFamily="34" charset="-120"/>
              </a:rPr>
              <a:t>Composed best</a:t>
            </a:r>
            <a:endParaRPr lang="en-US" sz="1500" dirty="0"/>
          </a:p>
        </p:txBody>
      </p:sp>
      <p:sp>
        <p:nvSpPr>
          <p:cNvPr id="41" name="Text 39"/>
          <p:cNvSpPr/>
          <p:nvPr/>
        </p:nvSpPr>
        <p:spPr>
          <a:xfrm>
            <a:off x="10378440" y="2084832"/>
            <a:ext cx="1243584" cy="192024"/>
          </a:xfrm>
          <a:prstGeom prst="rect">
            <a:avLst/>
          </a:prstGeom>
          <a:noFill/>
        </p:spPr>
        <p:txBody>
          <a:bodyPr wrap="square" lIns="0" tIns="0" rIns="0" bIns="0" rtlCol="0" anchor="ctr">
            <a:normAutofit/>
          </a:bodyPr>
          <a:lstStyle/>
          <a:p>
            <a:pPr marL="0" indent="0">
              <a:buNone/>
            </a:pPr>
            <a:r>
              <a:rPr lang="en-US" sz="1050" dirty="0">
                <a:solidFill>
                  <a:srgbClr val="52667A"/>
                </a:solidFill>
                <a:latin typeface="Aptos" pitchFamily="34" charset="0"/>
                <a:ea typeface="Aptos" pitchFamily="34" charset="-122"/>
                <a:cs typeface="Aptos" pitchFamily="34" charset="-120"/>
              </a:rPr>
              <a:t>new baseline</a:t>
            </a:r>
            <a:endParaRPr lang="en-US" sz="1050" dirty="0"/>
          </a:p>
        </p:txBody>
      </p:sp>
      <p:sp>
        <p:nvSpPr>
          <p:cNvPr id="42" name="Shape 40"/>
          <p:cNvSpPr/>
          <p:nvPr/>
        </p:nvSpPr>
        <p:spPr>
          <a:xfrm>
            <a:off x="393192" y="2889504"/>
            <a:ext cx="2011680" cy="786384"/>
          </a:xfrm>
          <a:prstGeom prst="roundRect">
            <a:avLst>
              <a:gd name="adj" fmla="val 18605"/>
            </a:avLst>
          </a:prstGeom>
          <a:solidFill>
            <a:srgbClr val="F7FAFD"/>
          </a:solidFill>
          <a:ln w="15240">
            <a:solidFill>
              <a:srgbClr val="0B63E5"/>
            </a:solidFill>
            <a:prstDash val="solid"/>
          </a:ln>
        </p:spPr>
      </p:sp>
      <p:sp>
        <p:nvSpPr>
          <p:cNvPr id="43" name="Shape 41"/>
          <p:cNvSpPr/>
          <p:nvPr/>
        </p:nvSpPr>
        <p:spPr>
          <a:xfrm>
            <a:off x="548640" y="3054096"/>
            <a:ext cx="411480" cy="411480"/>
          </a:xfrm>
          <a:prstGeom prst="ellipse">
            <a:avLst/>
          </a:prstGeom>
          <a:solidFill>
            <a:srgbClr val="FFFFFF">
              <a:alpha val="85000"/>
            </a:srgbClr>
          </a:solidFill>
          <a:ln w="10160">
            <a:solidFill>
              <a:srgbClr val="0B63E5">
                <a:alpha val="90000"/>
              </a:srgbClr>
            </a:solidFill>
            <a:prstDash val="solid"/>
          </a:ln>
        </p:spPr>
      </p:sp>
      <p:sp>
        <p:nvSpPr>
          <p:cNvPr id="44" name="Text 42"/>
          <p:cNvSpPr/>
          <p:nvPr/>
        </p:nvSpPr>
        <p:spPr>
          <a:xfrm>
            <a:off x="548640" y="3140964"/>
            <a:ext cx="411480" cy="164592"/>
          </a:xfrm>
          <a:prstGeom prst="rect">
            <a:avLst/>
          </a:prstGeom>
          <a:noFill/>
        </p:spPr>
        <p:txBody>
          <a:bodyPr wrap="square" lIns="0" tIns="0" rIns="0" bIns="0" rtlCol="0" anchor="ctr">
            <a:normAutofit/>
          </a:bodyPr>
          <a:lstStyle/>
          <a:p>
            <a:pPr marL="0" indent="0" algn="ctr">
              <a:buNone/>
            </a:pPr>
            <a:r>
              <a:rPr lang="en-US" sz="1000" b="1" dirty="0">
                <a:solidFill>
                  <a:srgbClr val="0B63E5"/>
                </a:solidFill>
                <a:latin typeface="Aptos" pitchFamily="34" charset="0"/>
                <a:ea typeface="Aptos" pitchFamily="34" charset="-122"/>
                <a:cs typeface="Aptos" pitchFamily="34" charset="-120"/>
              </a:rPr>
              <a:t>BEST</a:t>
            </a:r>
            <a:endParaRPr lang="en-US" sz="1000" dirty="0"/>
          </a:p>
        </p:txBody>
      </p:sp>
      <p:sp>
        <p:nvSpPr>
          <p:cNvPr id="45" name="Text 43"/>
          <p:cNvSpPr/>
          <p:nvPr/>
        </p:nvSpPr>
        <p:spPr>
          <a:xfrm>
            <a:off x="1051560" y="3099816"/>
            <a:ext cx="1243584" cy="237744"/>
          </a:xfrm>
          <a:prstGeom prst="rect">
            <a:avLst/>
          </a:prstGeom>
          <a:noFill/>
        </p:spPr>
        <p:txBody>
          <a:bodyPr wrap="square" lIns="0" tIns="0" rIns="0" bIns="0" rtlCol="0" anchor="ctr">
            <a:normAutofit fontScale="80000"/>
          </a:bodyPr>
          <a:lstStyle/>
          <a:p>
            <a:pPr marL="0" indent="0">
              <a:buNone/>
            </a:pPr>
            <a:r>
              <a:rPr lang="en-US" sz="1500" b="1" dirty="0">
                <a:solidFill>
                  <a:srgbClr val="08213C"/>
                </a:solidFill>
                <a:latin typeface="Aptos" pitchFamily="34" charset="0"/>
                <a:ea typeface="Aptos" pitchFamily="34" charset="-122"/>
                <a:cs typeface="Aptos" pitchFamily="34" charset="-120"/>
              </a:rPr>
              <a:t>Composed best</a:t>
            </a:r>
            <a:endParaRPr lang="en-US" sz="1500" dirty="0"/>
          </a:p>
        </p:txBody>
      </p:sp>
      <p:sp>
        <p:nvSpPr>
          <p:cNvPr id="46" name="Text 44"/>
          <p:cNvSpPr/>
          <p:nvPr/>
        </p:nvSpPr>
        <p:spPr>
          <a:xfrm>
            <a:off x="1051560" y="3364992"/>
            <a:ext cx="1243584" cy="192024"/>
          </a:xfrm>
          <a:prstGeom prst="rect">
            <a:avLst/>
          </a:prstGeom>
          <a:noFill/>
        </p:spPr>
        <p:txBody>
          <a:bodyPr wrap="square" lIns="0" tIns="0" rIns="0" bIns="0" rtlCol="0" anchor="ctr">
            <a:normAutofit/>
          </a:bodyPr>
          <a:lstStyle/>
          <a:p>
            <a:pPr marL="0" indent="0">
              <a:buNone/>
            </a:pPr>
            <a:r>
              <a:rPr lang="en-US" sz="1050" dirty="0">
                <a:solidFill>
                  <a:srgbClr val="52667A"/>
                </a:solidFill>
                <a:latin typeface="Aptos" pitchFamily="34" charset="0"/>
                <a:ea typeface="Aptos" pitchFamily="34" charset="-122"/>
                <a:cs typeface="Aptos" pitchFamily="34" charset="-120"/>
              </a:rPr>
              <a:t>starting point</a:t>
            </a:r>
            <a:endParaRPr lang="en-US" sz="1050" dirty="0"/>
          </a:p>
        </p:txBody>
      </p:sp>
      <p:sp>
        <p:nvSpPr>
          <p:cNvPr id="47" name="Shape 45"/>
          <p:cNvSpPr/>
          <p:nvPr/>
        </p:nvSpPr>
        <p:spPr>
          <a:xfrm>
            <a:off x="2724912" y="2889504"/>
            <a:ext cx="2011680" cy="786384"/>
          </a:xfrm>
          <a:prstGeom prst="roundRect">
            <a:avLst>
              <a:gd name="adj" fmla="val 18605"/>
            </a:avLst>
          </a:prstGeom>
          <a:solidFill>
            <a:srgbClr val="EEF6FF"/>
          </a:solidFill>
          <a:ln w="15240">
            <a:solidFill>
              <a:srgbClr val="0B63E5"/>
            </a:solidFill>
            <a:prstDash val="solid"/>
          </a:ln>
        </p:spPr>
      </p:sp>
      <p:sp>
        <p:nvSpPr>
          <p:cNvPr id="48" name="Shape 46"/>
          <p:cNvSpPr/>
          <p:nvPr/>
        </p:nvSpPr>
        <p:spPr>
          <a:xfrm>
            <a:off x="2880360" y="3054096"/>
            <a:ext cx="411480" cy="411480"/>
          </a:xfrm>
          <a:prstGeom prst="ellipse">
            <a:avLst/>
          </a:prstGeom>
          <a:solidFill>
            <a:srgbClr val="FFFFFF">
              <a:alpha val="85000"/>
            </a:srgbClr>
          </a:solidFill>
          <a:ln w="10160">
            <a:solidFill>
              <a:srgbClr val="0B63E5">
                <a:alpha val="90000"/>
              </a:srgbClr>
            </a:solidFill>
            <a:prstDash val="solid"/>
          </a:ln>
        </p:spPr>
      </p:sp>
      <p:sp>
        <p:nvSpPr>
          <p:cNvPr id="49" name="Text 47"/>
          <p:cNvSpPr/>
          <p:nvPr/>
        </p:nvSpPr>
        <p:spPr>
          <a:xfrm>
            <a:off x="2880360" y="3140964"/>
            <a:ext cx="411480" cy="164592"/>
          </a:xfrm>
          <a:prstGeom prst="rect">
            <a:avLst/>
          </a:prstGeom>
          <a:noFill/>
        </p:spPr>
        <p:txBody>
          <a:bodyPr wrap="square" lIns="0" tIns="0" rIns="0" bIns="0" rtlCol="0" anchor="ctr">
            <a:normAutofit/>
          </a:bodyPr>
          <a:lstStyle/>
          <a:p>
            <a:pPr marL="0" indent="0" algn="ctr">
              <a:buNone/>
            </a:pPr>
            <a:r>
              <a:rPr lang="en-US" sz="1000" b="1" dirty="0">
                <a:solidFill>
                  <a:srgbClr val="0B63E5"/>
                </a:solidFill>
                <a:latin typeface="Aptos" pitchFamily="34" charset="0"/>
                <a:ea typeface="Aptos" pitchFamily="34" charset="-122"/>
                <a:cs typeface="Aptos" pitchFamily="34" charset="-120"/>
              </a:rPr>
              <a:t>A</a:t>
            </a:r>
            <a:endParaRPr lang="en-US" sz="1000" dirty="0"/>
          </a:p>
        </p:txBody>
      </p:sp>
      <p:sp>
        <p:nvSpPr>
          <p:cNvPr id="50" name="Text 48"/>
          <p:cNvSpPr/>
          <p:nvPr/>
        </p:nvSpPr>
        <p:spPr>
          <a:xfrm>
            <a:off x="3383280" y="3099816"/>
            <a:ext cx="1243584" cy="237744"/>
          </a:xfrm>
          <a:prstGeom prst="rect">
            <a:avLst/>
          </a:prstGeom>
          <a:noFill/>
        </p:spPr>
        <p:txBody>
          <a:bodyPr wrap="square" lIns="0" tIns="0" rIns="0" bIns="0" rtlCol="0" anchor="ctr">
            <a:normAutofit/>
          </a:bodyPr>
          <a:lstStyle/>
          <a:p>
            <a:pPr marL="0" indent="0">
              <a:buNone/>
            </a:pPr>
            <a:r>
              <a:rPr lang="en-US" sz="1500" b="1" dirty="0">
                <a:solidFill>
                  <a:srgbClr val="08213C"/>
                </a:solidFill>
                <a:latin typeface="Aptos" pitchFamily="34" charset="0"/>
                <a:ea typeface="Aptos" pitchFamily="34" charset="-122"/>
                <a:cs typeface="Aptos" pitchFamily="34" charset="-120"/>
              </a:rPr>
              <a:t>R2 Agent</a:t>
            </a:r>
            <a:endParaRPr lang="en-US" sz="1500" dirty="0"/>
          </a:p>
        </p:txBody>
      </p:sp>
      <p:sp>
        <p:nvSpPr>
          <p:cNvPr id="51" name="Text 49"/>
          <p:cNvSpPr/>
          <p:nvPr/>
        </p:nvSpPr>
        <p:spPr>
          <a:xfrm>
            <a:off x="3383280" y="3364992"/>
            <a:ext cx="1243584" cy="192024"/>
          </a:xfrm>
          <a:prstGeom prst="rect">
            <a:avLst/>
          </a:prstGeom>
          <a:noFill/>
        </p:spPr>
        <p:txBody>
          <a:bodyPr wrap="square" lIns="0" tIns="0" rIns="0" bIns="0" rtlCol="0" anchor="ctr">
            <a:normAutofit/>
          </a:bodyPr>
          <a:lstStyle/>
          <a:p>
            <a:pPr marL="0" indent="0">
              <a:buNone/>
            </a:pPr>
            <a:r>
              <a:rPr lang="en-US" sz="1050" dirty="0">
                <a:solidFill>
                  <a:srgbClr val="52667A"/>
                </a:solidFill>
                <a:latin typeface="Aptos" pitchFamily="34" charset="0"/>
                <a:ea typeface="Aptos" pitchFamily="34" charset="-122"/>
                <a:cs typeface="Aptos" pitchFamily="34" charset="-120"/>
              </a:rPr>
              <a:t>refine agent</a:t>
            </a:r>
            <a:endParaRPr lang="en-US" sz="1050" dirty="0"/>
          </a:p>
        </p:txBody>
      </p:sp>
      <p:sp>
        <p:nvSpPr>
          <p:cNvPr id="52" name="Shape 50"/>
          <p:cNvSpPr/>
          <p:nvPr/>
        </p:nvSpPr>
        <p:spPr>
          <a:xfrm>
            <a:off x="5056632" y="2889504"/>
            <a:ext cx="2011680" cy="786384"/>
          </a:xfrm>
          <a:prstGeom prst="roundRect">
            <a:avLst>
              <a:gd name="adj" fmla="val 18605"/>
            </a:avLst>
          </a:prstGeom>
          <a:solidFill>
            <a:srgbClr val="FFF8E8"/>
          </a:solidFill>
          <a:ln w="15240">
            <a:solidFill>
              <a:srgbClr val="F59E0B"/>
            </a:solidFill>
            <a:prstDash val="solid"/>
          </a:ln>
        </p:spPr>
      </p:sp>
      <p:sp>
        <p:nvSpPr>
          <p:cNvPr id="53" name="Shape 51"/>
          <p:cNvSpPr/>
          <p:nvPr/>
        </p:nvSpPr>
        <p:spPr>
          <a:xfrm>
            <a:off x="5212080" y="3054096"/>
            <a:ext cx="411480" cy="411480"/>
          </a:xfrm>
          <a:prstGeom prst="ellipse">
            <a:avLst/>
          </a:prstGeom>
          <a:solidFill>
            <a:srgbClr val="FFFFFF">
              <a:alpha val="85000"/>
            </a:srgbClr>
          </a:solidFill>
          <a:ln w="10160">
            <a:solidFill>
              <a:srgbClr val="F59E0B">
                <a:alpha val="90000"/>
              </a:srgbClr>
            </a:solidFill>
            <a:prstDash val="solid"/>
          </a:ln>
        </p:spPr>
      </p:sp>
      <p:sp>
        <p:nvSpPr>
          <p:cNvPr id="54" name="Text 52"/>
          <p:cNvSpPr/>
          <p:nvPr/>
        </p:nvSpPr>
        <p:spPr>
          <a:xfrm>
            <a:off x="5212080" y="3140964"/>
            <a:ext cx="411480" cy="164592"/>
          </a:xfrm>
          <a:prstGeom prst="rect">
            <a:avLst/>
          </a:prstGeom>
          <a:noFill/>
        </p:spPr>
        <p:txBody>
          <a:bodyPr wrap="square" lIns="0" tIns="0" rIns="0" bIns="0" rtlCol="0" anchor="ctr">
            <a:normAutofit/>
          </a:bodyPr>
          <a:lstStyle/>
          <a:p>
            <a:pPr marL="0" indent="0" algn="ctr">
              <a:buNone/>
            </a:pPr>
            <a:r>
              <a:rPr lang="en-US" sz="1000" b="1" dirty="0">
                <a:solidFill>
                  <a:srgbClr val="F59E0B"/>
                </a:solidFill>
                <a:latin typeface="Aptos" pitchFamily="34" charset="0"/>
                <a:ea typeface="Aptos" pitchFamily="34" charset="-122"/>
                <a:cs typeface="Aptos" pitchFamily="34" charset="-120"/>
              </a:rPr>
              <a:t>T</a:t>
            </a:r>
            <a:endParaRPr lang="en-US" sz="1000" dirty="0"/>
          </a:p>
        </p:txBody>
      </p:sp>
      <p:sp>
        <p:nvSpPr>
          <p:cNvPr id="55" name="Text 53"/>
          <p:cNvSpPr/>
          <p:nvPr/>
        </p:nvSpPr>
        <p:spPr>
          <a:xfrm>
            <a:off x="5715000" y="3099816"/>
            <a:ext cx="1243584" cy="237744"/>
          </a:xfrm>
          <a:prstGeom prst="rect">
            <a:avLst/>
          </a:prstGeom>
          <a:noFill/>
        </p:spPr>
        <p:txBody>
          <a:bodyPr wrap="square" lIns="0" tIns="0" rIns="0" bIns="0" rtlCol="0" anchor="ctr">
            <a:normAutofit/>
          </a:bodyPr>
          <a:lstStyle/>
          <a:p>
            <a:pPr marL="0" indent="0">
              <a:buNone/>
            </a:pPr>
            <a:r>
              <a:rPr lang="en-US" sz="1500" b="1" dirty="0">
                <a:solidFill>
                  <a:srgbClr val="08213C"/>
                </a:solidFill>
                <a:latin typeface="Aptos" pitchFamily="34" charset="0"/>
                <a:ea typeface="Aptos" pitchFamily="34" charset="-122"/>
                <a:cs typeface="Aptos" pitchFamily="34" charset="-120"/>
              </a:rPr>
              <a:t>R2 Task</a:t>
            </a:r>
            <a:endParaRPr lang="en-US" sz="1500" dirty="0"/>
          </a:p>
        </p:txBody>
      </p:sp>
      <p:sp>
        <p:nvSpPr>
          <p:cNvPr id="56" name="Text 54"/>
          <p:cNvSpPr/>
          <p:nvPr/>
        </p:nvSpPr>
        <p:spPr>
          <a:xfrm>
            <a:off x="5715000" y="3364992"/>
            <a:ext cx="1243584" cy="192024"/>
          </a:xfrm>
          <a:prstGeom prst="rect">
            <a:avLst/>
          </a:prstGeom>
          <a:noFill/>
        </p:spPr>
        <p:txBody>
          <a:bodyPr wrap="square" lIns="0" tIns="0" rIns="0" bIns="0" rtlCol="0" anchor="ctr">
            <a:normAutofit/>
          </a:bodyPr>
          <a:lstStyle/>
          <a:p>
            <a:pPr marL="0" indent="0">
              <a:buNone/>
            </a:pPr>
            <a:r>
              <a:rPr lang="en-US" sz="1050" dirty="0">
                <a:solidFill>
                  <a:srgbClr val="52667A"/>
                </a:solidFill>
                <a:latin typeface="Aptos" pitchFamily="34" charset="0"/>
                <a:ea typeface="Aptos" pitchFamily="34" charset="-122"/>
                <a:cs typeface="Aptos" pitchFamily="34" charset="-120"/>
              </a:rPr>
              <a:t>refine task</a:t>
            </a:r>
            <a:endParaRPr lang="en-US" sz="1050" dirty="0"/>
          </a:p>
        </p:txBody>
      </p:sp>
      <p:sp>
        <p:nvSpPr>
          <p:cNvPr id="57" name="Shape 55"/>
          <p:cNvSpPr/>
          <p:nvPr/>
        </p:nvSpPr>
        <p:spPr>
          <a:xfrm>
            <a:off x="7388352" y="2889504"/>
            <a:ext cx="2011680" cy="786384"/>
          </a:xfrm>
          <a:prstGeom prst="roundRect">
            <a:avLst>
              <a:gd name="adj" fmla="val 18605"/>
            </a:avLst>
          </a:prstGeom>
          <a:solidFill>
            <a:srgbClr val="E9FBF1"/>
          </a:solidFill>
          <a:ln w="15240">
            <a:solidFill>
              <a:srgbClr val="16A34A"/>
            </a:solidFill>
            <a:prstDash val="solid"/>
          </a:ln>
        </p:spPr>
      </p:sp>
      <p:sp>
        <p:nvSpPr>
          <p:cNvPr id="58" name="Shape 56"/>
          <p:cNvSpPr/>
          <p:nvPr/>
        </p:nvSpPr>
        <p:spPr>
          <a:xfrm>
            <a:off x="7543800" y="3054096"/>
            <a:ext cx="411480" cy="411480"/>
          </a:xfrm>
          <a:prstGeom prst="ellipse">
            <a:avLst/>
          </a:prstGeom>
          <a:solidFill>
            <a:srgbClr val="FFFFFF">
              <a:alpha val="85000"/>
            </a:srgbClr>
          </a:solidFill>
          <a:ln w="10160">
            <a:solidFill>
              <a:srgbClr val="16A34A">
                <a:alpha val="90000"/>
              </a:srgbClr>
            </a:solidFill>
            <a:prstDash val="solid"/>
          </a:ln>
        </p:spPr>
      </p:sp>
      <p:sp>
        <p:nvSpPr>
          <p:cNvPr id="59" name="Text 57"/>
          <p:cNvSpPr/>
          <p:nvPr/>
        </p:nvSpPr>
        <p:spPr>
          <a:xfrm>
            <a:off x="7543800" y="3140964"/>
            <a:ext cx="411480" cy="164592"/>
          </a:xfrm>
          <a:prstGeom prst="rect">
            <a:avLst/>
          </a:prstGeom>
          <a:noFill/>
        </p:spPr>
        <p:txBody>
          <a:bodyPr wrap="square" lIns="0" tIns="0" rIns="0" bIns="0" rtlCol="0" anchor="ctr">
            <a:normAutofit/>
          </a:bodyPr>
          <a:lstStyle/>
          <a:p>
            <a:pPr marL="0" indent="0" algn="ctr">
              <a:buNone/>
            </a:pPr>
            <a:r>
              <a:rPr lang="en-US" sz="1000" b="1" dirty="0">
                <a:solidFill>
                  <a:srgbClr val="16A34A"/>
                </a:solidFill>
                <a:latin typeface="Aptos" pitchFamily="34" charset="0"/>
                <a:ea typeface="Aptos" pitchFamily="34" charset="-122"/>
                <a:cs typeface="Aptos" pitchFamily="34" charset="-120"/>
              </a:rPr>
              <a:t>E</a:t>
            </a:r>
            <a:endParaRPr lang="en-US" sz="1000" dirty="0"/>
          </a:p>
        </p:txBody>
      </p:sp>
      <p:sp>
        <p:nvSpPr>
          <p:cNvPr id="60" name="Text 58"/>
          <p:cNvSpPr/>
          <p:nvPr/>
        </p:nvSpPr>
        <p:spPr>
          <a:xfrm>
            <a:off x="8046720" y="3099816"/>
            <a:ext cx="1243584" cy="237744"/>
          </a:xfrm>
          <a:prstGeom prst="rect">
            <a:avLst/>
          </a:prstGeom>
          <a:noFill/>
        </p:spPr>
        <p:txBody>
          <a:bodyPr wrap="square" lIns="0" tIns="0" rIns="0" bIns="0" rtlCol="0" anchor="ctr">
            <a:normAutofit/>
          </a:bodyPr>
          <a:lstStyle/>
          <a:p>
            <a:pPr marL="0" indent="0">
              <a:buNone/>
            </a:pPr>
            <a:r>
              <a:rPr lang="en-US" sz="1500" b="1" dirty="0">
                <a:solidFill>
                  <a:srgbClr val="08213C"/>
                </a:solidFill>
                <a:latin typeface="Aptos" pitchFamily="34" charset="0"/>
                <a:ea typeface="Aptos" pitchFamily="34" charset="-122"/>
                <a:cs typeface="Aptos" pitchFamily="34" charset="-120"/>
              </a:rPr>
              <a:t>R2 </a:t>
            </a:r>
            <a:r>
              <a:rPr lang="vi-VN" altLang="en-US" sz="1500" b="1" dirty="0">
                <a:solidFill>
                  <a:srgbClr val="08213C"/>
                </a:solidFill>
                <a:latin typeface="Aptos" pitchFamily="34" charset="0"/>
                <a:ea typeface="Aptos" pitchFamily="34" charset="-122"/>
                <a:cs typeface="Aptos" pitchFamily="34" charset="-120"/>
                <a:sym typeface="+mn-ea"/>
              </a:rPr>
              <a:t>RPP</a:t>
            </a:r>
            <a:endParaRPr lang="en-US" sz="1500" dirty="0"/>
          </a:p>
        </p:txBody>
      </p:sp>
      <p:sp>
        <p:nvSpPr>
          <p:cNvPr id="61" name="Text 59"/>
          <p:cNvSpPr/>
          <p:nvPr/>
        </p:nvSpPr>
        <p:spPr>
          <a:xfrm>
            <a:off x="8046720" y="3364992"/>
            <a:ext cx="1243584" cy="192024"/>
          </a:xfrm>
          <a:prstGeom prst="rect">
            <a:avLst/>
          </a:prstGeom>
          <a:noFill/>
        </p:spPr>
        <p:txBody>
          <a:bodyPr wrap="square" lIns="0" tIns="0" rIns="0" bIns="0" rtlCol="0" anchor="ctr">
            <a:normAutofit/>
          </a:bodyPr>
          <a:lstStyle/>
          <a:p>
            <a:pPr marL="0" indent="0">
              <a:buNone/>
            </a:pPr>
            <a:r>
              <a:rPr lang="en-US" sz="1050" dirty="0">
                <a:solidFill>
                  <a:srgbClr val="52667A"/>
                </a:solidFill>
                <a:latin typeface="Aptos" pitchFamily="34" charset="0"/>
                <a:ea typeface="Aptos" pitchFamily="34" charset="-122"/>
                <a:cs typeface="Aptos" pitchFamily="34" charset="-120"/>
              </a:rPr>
              <a:t>refine eval</a:t>
            </a:r>
            <a:endParaRPr lang="en-US" sz="1050" dirty="0"/>
          </a:p>
        </p:txBody>
      </p:sp>
      <p:sp>
        <p:nvSpPr>
          <p:cNvPr id="62" name="Shape 60"/>
          <p:cNvSpPr/>
          <p:nvPr/>
        </p:nvSpPr>
        <p:spPr>
          <a:xfrm>
            <a:off x="9720072" y="2889504"/>
            <a:ext cx="2011680" cy="786384"/>
          </a:xfrm>
          <a:prstGeom prst="roundRect">
            <a:avLst>
              <a:gd name="adj" fmla="val 18605"/>
            </a:avLst>
          </a:prstGeom>
          <a:solidFill>
            <a:srgbClr val="F7FAFD"/>
          </a:solidFill>
          <a:ln w="15240">
            <a:solidFill>
              <a:srgbClr val="0B63E5"/>
            </a:solidFill>
            <a:prstDash val="solid"/>
          </a:ln>
        </p:spPr>
      </p:sp>
      <p:sp>
        <p:nvSpPr>
          <p:cNvPr id="63" name="Shape 61"/>
          <p:cNvSpPr/>
          <p:nvPr/>
        </p:nvSpPr>
        <p:spPr>
          <a:xfrm>
            <a:off x="9875520" y="3054096"/>
            <a:ext cx="411480" cy="411480"/>
          </a:xfrm>
          <a:prstGeom prst="ellipse">
            <a:avLst/>
          </a:prstGeom>
          <a:solidFill>
            <a:srgbClr val="FFFFFF">
              <a:alpha val="85000"/>
            </a:srgbClr>
          </a:solidFill>
          <a:ln w="10160">
            <a:solidFill>
              <a:srgbClr val="0B63E5">
                <a:alpha val="90000"/>
              </a:srgbClr>
            </a:solidFill>
            <a:prstDash val="solid"/>
          </a:ln>
        </p:spPr>
      </p:sp>
      <p:sp>
        <p:nvSpPr>
          <p:cNvPr id="64" name="Text 62"/>
          <p:cNvSpPr/>
          <p:nvPr/>
        </p:nvSpPr>
        <p:spPr>
          <a:xfrm>
            <a:off x="9875520" y="3140964"/>
            <a:ext cx="411480" cy="164592"/>
          </a:xfrm>
          <a:prstGeom prst="rect">
            <a:avLst/>
          </a:prstGeom>
          <a:noFill/>
        </p:spPr>
        <p:txBody>
          <a:bodyPr wrap="square" lIns="0" tIns="0" rIns="0" bIns="0" rtlCol="0" anchor="ctr">
            <a:normAutofit/>
          </a:bodyPr>
          <a:lstStyle/>
          <a:p>
            <a:pPr marL="0" indent="0" algn="ctr">
              <a:buNone/>
            </a:pPr>
            <a:r>
              <a:rPr lang="en-US" sz="1000" b="1" dirty="0">
                <a:solidFill>
                  <a:srgbClr val="0B63E5"/>
                </a:solidFill>
                <a:latin typeface="Aptos" pitchFamily="34" charset="0"/>
                <a:ea typeface="Aptos" pitchFamily="34" charset="-122"/>
                <a:cs typeface="Aptos" pitchFamily="34" charset="-120"/>
              </a:rPr>
              <a:t>WIN</a:t>
            </a:r>
            <a:endParaRPr lang="en-US" sz="1000" dirty="0"/>
          </a:p>
        </p:txBody>
      </p:sp>
      <p:sp>
        <p:nvSpPr>
          <p:cNvPr id="65" name="Text 63"/>
          <p:cNvSpPr/>
          <p:nvPr/>
        </p:nvSpPr>
        <p:spPr>
          <a:xfrm>
            <a:off x="10378440" y="3099816"/>
            <a:ext cx="1243584" cy="237744"/>
          </a:xfrm>
          <a:prstGeom prst="rect">
            <a:avLst/>
          </a:prstGeom>
          <a:noFill/>
        </p:spPr>
        <p:txBody>
          <a:bodyPr wrap="square" lIns="0" tIns="0" rIns="0" bIns="0" rtlCol="0" anchor="ctr">
            <a:normAutofit fontScale="70000"/>
          </a:bodyPr>
          <a:lstStyle/>
          <a:p>
            <a:pPr marL="0" indent="0">
              <a:buNone/>
            </a:pPr>
            <a:r>
              <a:rPr lang="en-US" sz="1500" b="1" dirty="0">
                <a:solidFill>
                  <a:srgbClr val="08213C"/>
                </a:solidFill>
                <a:latin typeface="Aptos" pitchFamily="34" charset="0"/>
                <a:ea typeface="Aptos" pitchFamily="34" charset="-122"/>
                <a:cs typeface="Aptos" pitchFamily="34" charset="-120"/>
              </a:rPr>
              <a:t>Final best pipeline</a:t>
            </a:r>
            <a:endParaRPr lang="en-US" sz="1500" dirty="0"/>
          </a:p>
        </p:txBody>
      </p:sp>
      <p:sp>
        <p:nvSpPr>
          <p:cNvPr id="66" name="Text 64"/>
          <p:cNvSpPr/>
          <p:nvPr/>
        </p:nvSpPr>
        <p:spPr>
          <a:xfrm>
            <a:off x="10378440" y="3364992"/>
            <a:ext cx="1243584" cy="192024"/>
          </a:xfrm>
          <a:prstGeom prst="rect">
            <a:avLst/>
          </a:prstGeom>
          <a:noFill/>
        </p:spPr>
        <p:txBody>
          <a:bodyPr wrap="square" lIns="0" tIns="0" rIns="0" bIns="0" rtlCol="0" anchor="ctr">
            <a:normAutofit/>
          </a:bodyPr>
          <a:lstStyle/>
          <a:p>
            <a:pPr marL="0" indent="0">
              <a:buNone/>
            </a:pPr>
            <a:r>
              <a:rPr lang="en-US" sz="1050" dirty="0">
                <a:solidFill>
                  <a:srgbClr val="52667A"/>
                </a:solidFill>
                <a:latin typeface="Aptos" pitchFamily="34" charset="0"/>
                <a:ea typeface="Aptos" pitchFamily="34" charset="-122"/>
                <a:cs typeface="Aptos" pitchFamily="34" charset="-120"/>
              </a:rPr>
              <a:t>after recomposition</a:t>
            </a:r>
            <a:endParaRPr lang="en-US" sz="1050" dirty="0"/>
          </a:p>
        </p:txBody>
      </p:sp>
      <p:sp>
        <p:nvSpPr>
          <p:cNvPr id="67" name="Shape 65"/>
          <p:cNvSpPr/>
          <p:nvPr/>
        </p:nvSpPr>
        <p:spPr>
          <a:xfrm>
            <a:off x="502920" y="4160520"/>
            <a:ext cx="3401568" cy="1243584"/>
          </a:xfrm>
          <a:prstGeom prst="roundRect">
            <a:avLst>
              <a:gd name="adj" fmla="val 11029"/>
            </a:avLst>
          </a:prstGeom>
          <a:solidFill>
            <a:srgbClr val="EEF6FF"/>
          </a:solidFill>
          <a:ln w="15240">
            <a:solidFill>
              <a:srgbClr val="0B63E5"/>
            </a:solidFill>
            <a:prstDash val="solid"/>
          </a:ln>
        </p:spPr>
      </p:sp>
      <p:sp>
        <p:nvSpPr>
          <p:cNvPr id="68" name="Shape 66"/>
          <p:cNvSpPr/>
          <p:nvPr/>
        </p:nvSpPr>
        <p:spPr>
          <a:xfrm>
            <a:off x="685800" y="4389120"/>
            <a:ext cx="566928" cy="566928"/>
          </a:xfrm>
          <a:prstGeom prst="ellipse">
            <a:avLst/>
          </a:prstGeom>
          <a:solidFill>
            <a:srgbClr val="0B63E5"/>
          </a:solidFill>
          <a:ln w="7620">
            <a:solidFill>
              <a:srgbClr val="0B63E5"/>
            </a:solidFill>
            <a:prstDash val="solid"/>
          </a:ln>
        </p:spPr>
      </p:sp>
      <p:sp>
        <p:nvSpPr>
          <p:cNvPr id="69" name="Text 67"/>
          <p:cNvSpPr/>
          <p:nvPr/>
        </p:nvSpPr>
        <p:spPr>
          <a:xfrm>
            <a:off x="685800" y="4498848"/>
            <a:ext cx="566928" cy="219456"/>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70" name="Text 68"/>
          <p:cNvSpPr/>
          <p:nvPr/>
        </p:nvSpPr>
        <p:spPr>
          <a:xfrm>
            <a:off x="1399032" y="4389120"/>
            <a:ext cx="2350008" cy="246888"/>
          </a:xfrm>
          <a:prstGeom prst="rect">
            <a:avLst/>
          </a:prstGeom>
          <a:noFill/>
        </p:spPr>
        <p:txBody>
          <a:bodyPr wrap="square" lIns="0" tIns="0" rIns="0" bIns="0" rtlCol="0" anchor="ctr">
            <a:normAutofit/>
          </a:bodyPr>
          <a:lstStyle/>
          <a:p>
            <a:pPr marL="0" indent="0">
              <a:buNone/>
            </a:pPr>
            <a:r>
              <a:rPr lang="en-US" sz="1450" b="1" dirty="0">
                <a:solidFill>
                  <a:srgbClr val="0B63E5"/>
                </a:solidFill>
                <a:latin typeface="Aptos" pitchFamily="34" charset="0"/>
                <a:ea typeface="Aptos" pitchFamily="34" charset="-122"/>
                <a:cs typeface="Aptos" pitchFamily="34" charset="-120"/>
              </a:rPr>
              <a:t>WHY CREATIVE?</a:t>
            </a:r>
            <a:endParaRPr lang="en-US" sz="1450" dirty="0"/>
          </a:p>
        </p:txBody>
      </p:sp>
      <p:sp>
        <p:nvSpPr>
          <p:cNvPr id="71" name="Text 69"/>
          <p:cNvSpPr/>
          <p:nvPr/>
        </p:nvSpPr>
        <p:spPr>
          <a:xfrm>
            <a:off x="1399032" y="4654296"/>
            <a:ext cx="2322576" cy="566928"/>
          </a:xfrm>
          <a:prstGeom prst="rect">
            <a:avLst/>
          </a:prstGeom>
          <a:noFill/>
        </p:spPr>
        <p:txBody>
          <a:bodyPr wrap="square" lIns="0" tIns="0" rIns="0" bIns="0" rtlCol="0" anchor="ctr">
            <a:normAutofit/>
          </a:bodyPr>
          <a:lstStyle/>
          <a:p>
            <a:pPr marL="0" indent="0">
              <a:buNone/>
            </a:pPr>
            <a:r>
              <a:rPr lang="en-US" sz="1180" dirty="0">
                <a:solidFill>
                  <a:srgbClr val="08213C"/>
                </a:solidFill>
                <a:latin typeface="Aptos" pitchFamily="34" charset="0"/>
                <a:ea typeface="Aptos" pitchFamily="34" charset="-122"/>
                <a:cs typeface="Aptos" pitchFamily="34" charset="-120"/>
              </a:rPr>
              <a:t>Not a single prompt search.</a:t>
            </a:r>
            <a:endParaRPr lang="en-US" sz="1180" dirty="0"/>
          </a:p>
          <a:p>
            <a:pPr marL="0" indent="0">
              <a:buNone/>
            </a:pPr>
            <a:r>
              <a:rPr lang="en-US" sz="1180" dirty="0">
                <a:solidFill>
                  <a:srgbClr val="08213C"/>
                </a:solidFill>
                <a:latin typeface="Aptos" pitchFamily="34" charset="0"/>
                <a:ea typeface="Aptos" pitchFamily="34" charset="-122"/>
                <a:cs typeface="Aptos" pitchFamily="34" charset="-120"/>
              </a:rPr>
              <a:t>Each layer has a separate evolvable role.</a:t>
            </a:r>
            <a:endParaRPr lang="en-US" sz="1180" dirty="0"/>
          </a:p>
        </p:txBody>
      </p:sp>
      <p:sp>
        <p:nvSpPr>
          <p:cNvPr id="72" name="Shape 70"/>
          <p:cNvSpPr/>
          <p:nvPr/>
        </p:nvSpPr>
        <p:spPr>
          <a:xfrm>
            <a:off x="4407408" y="4160520"/>
            <a:ext cx="3401568" cy="1243584"/>
          </a:xfrm>
          <a:prstGeom prst="roundRect">
            <a:avLst>
              <a:gd name="adj" fmla="val 11029"/>
            </a:avLst>
          </a:prstGeom>
          <a:solidFill>
            <a:srgbClr val="FFF8E8"/>
          </a:solidFill>
          <a:ln w="15240">
            <a:solidFill>
              <a:srgbClr val="F59E0B"/>
            </a:solidFill>
            <a:prstDash val="solid"/>
          </a:ln>
        </p:spPr>
      </p:sp>
      <p:sp>
        <p:nvSpPr>
          <p:cNvPr id="73" name="Shape 71"/>
          <p:cNvSpPr/>
          <p:nvPr/>
        </p:nvSpPr>
        <p:spPr>
          <a:xfrm>
            <a:off x="4590288" y="4389120"/>
            <a:ext cx="566928" cy="566928"/>
          </a:xfrm>
          <a:prstGeom prst="ellipse">
            <a:avLst/>
          </a:prstGeom>
          <a:solidFill>
            <a:srgbClr val="F59E0B"/>
          </a:solidFill>
          <a:ln w="7620">
            <a:solidFill>
              <a:srgbClr val="F59E0B"/>
            </a:solidFill>
            <a:prstDash val="solid"/>
          </a:ln>
        </p:spPr>
      </p:sp>
      <p:sp>
        <p:nvSpPr>
          <p:cNvPr id="74" name="Text 72"/>
          <p:cNvSpPr/>
          <p:nvPr/>
        </p:nvSpPr>
        <p:spPr>
          <a:xfrm>
            <a:off x="4590288" y="4498848"/>
            <a:ext cx="566928" cy="219456"/>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75" name="Text 73"/>
          <p:cNvSpPr/>
          <p:nvPr/>
        </p:nvSpPr>
        <p:spPr>
          <a:xfrm>
            <a:off x="5303520" y="4389120"/>
            <a:ext cx="2350008" cy="246888"/>
          </a:xfrm>
          <a:prstGeom prst="rect">
            <a:avLst/>
          </a:prstGeom>
          <a:noFill/>
        </p:spPr>
        <p:txBody>
          <a:bodyPr wrap="square" lIns="0" tIns="0" rIns="0" bIns="0" rtlCol="0" anchor="ctr">
            <a:normAutofit/>
          </a:bodyPr>
          <a:lstStyle/>
          <a:p>
            <a:pPr marL="0" indent="0">
              <a:buNone/>
            </a:pPr>
            <a:r>
              <a:rPr lang="en-US" sz="1450" b="1" dirty="0">
                <a:solidFill>
                  <a:srgbClr val="F59E0B"/>
                </a:solidFill>
                <a:latin typeface="Aptos" pitchFamily="34" charset="0"/>
                <a:ea typeface="Aptos" pitchFamily="34" charset="-122"/>
                <a:cs typeface="Aptos" pitchFamily="34" charset="-120"/>
              </a:rPr>
              <a:t>WHY ANALYZABLE?</a:t>
            </a:r>
            <a:endParaRPr lang="en-US" sz="1450" dirty="0"/>
          </a:p>
        </p:txBody>
      </p:sp>
      <p:sp>
        <p:nvSpPr>
          <p:cNvPr id="76" name="Text 74"/>
          <p:cNvSpPr/>
          <p:nvPr/>
        </p:nvSpPr>
        <p:spPr>
          <a:xfrm>
            <a:off x="5303520" y="4654296"/>
            <a:ext cx="2322576" cy="566928"/>
          </a:xfrm>
          <a:prstGeom prst="rect">
            <a:avLst/>
          </a:prstGeom>
          <a:noFill/>
        </p:spPr>
        <p:txBody>
          <a:bodyPr wrap="square" lIns="0" tIns="0" rIns="0" bIns="0" rtlCol="0" anchor="ctr">
            <a:normAutofit/>
          </a:bodyPr>
          <a:lstStyle/>
          <a:p>
            <a:pPr marL="0" indent="0">
              <a:buNone/>
            </a:pPr>
            <a:r>
              <a:rPr lang="en-US" sz="1180" dirty="0">
                <a:solidFill>
                  <a:srgbClr val="08213C"/>
                </a:solidFill>
                <a:latin typeface="Aptos" pitchFamily="34" charset="0"/>
                <a:ea typeface="Aptos" pitchFamily="34" charset="-122"/>
                <a:cs typeface="Aptos" pitchFamily="34" charset="-120"/>
              </a:rPr>
              <a:t>Each run has checkpoint stats,</a:t>
            </a:r>
            <a:endParaRPr lang="en-US" sz="1180" dirty="0"/>
          </a:p>
          <a:p>
            <a:pPr marL="0" indent="0">
              <a:buNone/>
            </a:pPr>
            <a:r>
              <a:rPr lang="en-US" sz="1180" dirty="0">
                <a:solidFill>
                  <a:srgbClr val="08213C"/>
                </a:solidFill>
                <a:latin typeface="Aptos" pitchFamily="34" charset="0"/>
                <a:ea typeface="Aptos" pitchFamily="34" charset="-122"/>
                <a:cs typeface="Aptos" pitchFamily="34" charset="-120"/>
              </a:rPr>
              <a:t>visualizer paths, and Gen-0 comparisons.</a:t>
            </a:r>
            <a:endParaRPr lang="en-US" sz="1180" dirty="0"/>
          </a:p>
        </p:txBody>
      </p:sp>
      <p:sp>
        <p:nvSpPr>
          <p:cNvPr id="77" name="Shape 75"/>
          <p:cNvSpPr/>
          <p:nvPr/>
        </p:nvSpPr>
        <p:spPr>
          <a:xfrm>
            <a:off x="8311896" y="4160520"/>
            <a:ext cx="3401568" cy="1243584"/>
          </a:xfrm>
          <a:prstGeom prst="roundRect">
            <a:avLst>
              <a:gd name="adj" fmla="val 11029"/>
            </a:avLst>
          </a:prstGeom>
          <a:solidFill>
            <a:srgbClr val="E9FBF1"/>
          </a:solidFill>
          <a:ln w="15240">
            <a:solidFill>
              <a:srgbClr val="16A34A"/>
            </a:solidFill>
            <a:prstDash val="solid"/>
          </a:ln>
        </p:spPr>
      </p:sp>
      <p:sp>
        <p:nvSpPr>
          <p:cNvPr id="78" name="Shape 76"/>
          <p:cNvSpPr/>
          <p:nvPr/>
        </p:nvSpPr>
        <p:spPr>
          <a:xfrm>
            <a:off x="8494776" y="4389120"/>
            <a:ext cx="566928" cy="566928"/>
          </a:xfrm>
          <a:prstGeom prst="ellipse">
            <a:avLst/>
          </a:prstGeom>
          <a:solidFill>
            <a:srgbClr val="16A34A"/>
          </a:solidFill>
          <a:ln w="7620">
            <a:solidFill>
              <a:srgbClr val="16A34A"/>
            </a:solidFill>
            <a:prstDash val="solid"/>
          </a:ln>
        </p:spPr>
      </p:sp>
      <p:sp>
        <p:nvSpPr>
          <p:cNvPr id="79" name="Text 77"/>
          <p:cNvSpPr/>
          <p:nvPr/>
        </p:nvSpPr>
        <p:spPr>
          <a:xfrm>
            <a:off x="8494776" y="4498848"/>
            <a:ext cx="566928" cy="219456"/>
          </a:xfrm>
          <a:prstGeom prst="rect">
            <a:avLst/>
          </a:prstGeom>
          <a:noFill/>
        </p:spPr>
        <p:txBody>
          <a:bodyPr wrap="square" lIns="0" tIns="0" rIns="0" bIns="0" rtlCol="0" anchor="ctr">
            <a:normAutofit fontScale="90000"/>
          </a:bodyPr>
          <a:lstStyle/>
          <a:p>
            <a:pPr marL="0" indent="0" algn="ctr">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80" name="Text 78"/>
          <p:cNvSpPr/>
          <p:nvPr/>
        </p:nvSpPr>
        <p:spPr>
          <a:xfrm>
            <a:off x="9208008" y="4389120"/>
            <a:ext cx="2350008" cy="246888"/>
          </a:xfrm>
          <a:prstGeom prst="rect">
            <a:avLst/>
          </a:prstGeom>
          <a:noFill/>
        </p:spPr>
        <p:txBody>
          <a:bodyPr wrap="square" lIns="0" tIns="0" rIns="0" bIns="0" rtlCol="0" anchor="ctr">
            <a:normAutofit/>
          </a:bodyPr>
          <a:lstStyle/>
          <a:p>
            <a:pPr marL="0" indent="0">
              <a:buNone/>
            </a:pPr>
            <a:r>
              <a:rPr lang="en-US" sz="1450" b="1" dirty="0">
                <a:solidFill>
                  <a:srgbClr val="16A34A"/>
                </a:solidFill>
                <a:latin typeface="Aptos" pitchFamily="34" charset="0"/>
                <a:ea typeface="Aptos" pitchFamily="34" charset="-122"/>
                <a:cs typeface="Aptos" pitchFamily="34" charset="-120"/>
              </a:rPr>
              <a:t>WHY USEFUL?</a:t>
            </a:r>
            <a:endParaRPr lang="en-US" sz="1450" dirty="0"/>
          </a:p>
        </p:txBody>
      </p:sp>
      <p:sp>
        <p:nvSpPr>
          <p:cNvPr id="81" name="Text 79"/>
          <p:cNvSpPr/>
          <p:nvPr/>
        </p:nvSpPr>
        <p:spPr>
          <a:xfrm>
            <a:off x="9208008" y="4654296"/>
            <a:ext cx="2322576" cy="566928"/>
          </a:xfrm>
          <a:prstGeom prst="rect">
            <a:avLst/>
          </a:prstGeom>
          <a:noFill/>
        </p:spPr>
        <p:txBody>
          <a:bodyPr wrap="square" lIns="0" tIns="0" rIns="0" bIns="0" rtlCol="0" anchor="ctr">
            <a:normAutofit/>
          </a:bodyPr>
          <a:lstStyle/>
          <a:p>
            <a:pPr marL="0" indent="0">
              <a:buNone/>
            </a:pPr>
            <a:r>
              <a:rPr lang="en-US" sz="1180" dirty="0">
                <a:solidFill>
                  <a:srgbClr val="08213C"/>
                </a:solidFill>
                <a:latin typeface="Aptos" pitchFamily="34" charset="0"/>
                <a:ea typeface="Aptos" pitchFamily="34" charset="-122"/>
                <a:cs typeface="Aptos" pitchFamily="34" charset="-120"/>
              </a:rPr>
              <a:t>Round 2 exposes cross-layer effects</a:t>
            </a:r>
            <a:endParaRPr lang="en-US" sz="1180" dirty="0"/>
          </a:p>
          <a:p>
            <a:pPr marL="0" indent="0">
              <a:buNone/>
            </a:pPr>
            <a:r>
              <a:rPr lang="en-US" sz="1180" dirty="0">
                <a:solidFill>
                  <a:srgbClr val="08213C"/>
                </a:solidFill>
                <a:latin typeface="Aptos" pitchFamily="34" charset="0"/>
                <a:ea typeface="Aptos" pitchFamily="34" charset="-122"/>
                <a:cs typeface="Aptos" pitchFamily="34" charset="-120"/>
              </a:rPr>
              <a:t>after recomposition.</a:t>
            </a:r>
            <a:endParaRPr lang="en-US" sz="1180" dirty="0"/>
          </a:p>
        </p:txBody>
      </p:sp>
      <p:sp>
        <p:nvSpPr>
          <p:cNvPr id="82" name="Text 80"/>
          <p:cNvSpPr/>
          <p:nvPr/>
        </p:nvSpPr>
        <p:spPr>
          <a:xfrm>
            <a:off x="731520" y="6071616"/>
            <a:ext cx="10789920" cy="457200"/>
          </a:xfrm>
          <a:prstGeom prst="rect">
            <a:avLst/>
          </a:prstGeom>
          <a:noFill/>
        </p:spPr>
        <p:txBody>
          <a:bodyPr wrap="square" lIns="0" tIns="0" rIns="0" bIns="0" rtlCol="0" anchor="ctr">
            <a:normAutofit fontScale="90000"/>
          </a:bodyPr>
          <a:lstStyle/>
          <a:p>
            <a:pPr marL="0" indent="0" algn="ctr">
              <a:buNone/>
            </a:pPr>
            <a:r>
              <a:rPr lang="en-US" sz="2400" b="1" dirty="0">
                <a:solidFill>
                  <a:srgbClr val="08213C"/>
                </a:solidFill>
                <a:latin typeface="Aptos" pitchFamily="34" charset="0"/>
                <a:ea typeface="Aptos" pitchFamily="34" charset="-122"/>
                <a:cs typeface="Aptos" pitchFamily="34" charset="-120"/>
              </a:rPr>
              <a:t>Core idea: evolve each layer separately, compose the winners, then evolve again.</a:t>
            </a:r>
            <a:endParaRPr lang="en-US" sz="2400" dirty="0"/>
          </a:p>
        </p:txBody>
      </p:sp>
      <p:sp>
        <p:nvSpPr>
          <p:cNvPr id="83"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b="1" dirty="0">
                <a:solidFill>
                  <a:srgbClr val="64748B"/>
                </a:solidFill>
                <a:latin typeface="Aptos" pitchFamily="34" charset="0"/>
                <a:ea typeface="Aptos" pitchFamily="34" charset="-122"/>
                <a:cs typeface="Aptos" pitchFamily="34" charset="-120"/>
              </a:rPr>
              <a:t>19</a:t>
            </a:r>
            <a:endParaRPr lang="en-US" altLang="vi-VN" sz="1000" b="1" dirty="0">
              <a:solidFill>
                <a:srgbClr val="64748B"/>
              </a:solidFill>
              <a:latin typeface="Aptos" pitchFamily="34" charset="0"/>
              <a:ea typeface="Aptos" pitchFamily="34" charset="-122"/>
              <a:cs typeface="Aptos" pitchFamily="34" charset="-120"/>
            </a:endParaRPr>
          </a:p>
        </p:txBody>
      </p:sp>
      <p:sp>
        <p:nvSpPr>
          <p:cNvPr id="84" name="Text Box 83"/>
          <p:cNvSpPr txBox="1"/>
          <p:nvPr/>
        </p:nvSpPr>
        <p:spPr>
          <a:xfrm>
            <a:off x="8046720" y="1163955"/>
            <a:ext cx="3657600" cy="321945"/>
          </a:xfrm>
          <a:prstGeom prst="rect">
            <a:avLst/>
          </a:prstGeom>
          <a:noFill/>
        </p:spPr>
        <p:txBody>
          <a:bodyPr wrap="square" rtlCol="0" anchor="t">
            <a:spAutoFit/>
          </a:bodyPr>
          <a:p>
            <a:r>
              <a:rPr lang="vi-VN" altLang="en-US" sz="1500" b="1" dirty="0">
                <a:solidFill>
                  <a:srgbClr val="08213C"/>
                </a:solidFill>
                <a:latin typeface="Aptos" pitchFamily="34" charset="0"/>
                <a:ea typeface="Aptos" pitchFamily="34" charset="-122"/>
                <a:cs typeface="Aptos" pitchFamily="34" charset="-120"/>
                <a:sym typeface="+mn-ea"/>
              </a:rPr>
              <a:t>RPP: Rating Policy </a:t>
            </a:r>
            <a:r>
              <a:rPr lang="vi-VN" altLang="en-US" sz="1500" b="1" dirty="0">
                <a:solidFill>
                  <a:srgbClr val="08213C"/>
                </a:solidFill>
                <a:latin typeface="Aptos" pitchFamily="34" charset="0"/>
                <a:ea typeface="Aptos" pitchFamily="34" charset="-122"/>
                <a:cs typeface="Aptos" pitchFamily="34" charset="-120"/>
                <a:sym typeface="+mn-ea"/>
              </a:rPr>
              <a:t>Parameters</a:t>
            </a:r>
            <a:endParaRPr lang="vi-VN" altLang="en-US" sz="1500" b="1" dirty="0">
              <a:solidFill>
                <a:srgbClr val="08213C"/>
              </a:solidFill>
              <a:latin typeface="Aptos" pitchFamily="34" charset="0"/>
              <a:ea typeface="Aptos" pitchFamily="34" charset="-122"/>
              <a:cs typeface="Aptos" pitchFamily="34" charset="-12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hape 3"/>
          <p:cNvSpPr/>
          <p:nvPr/>
        </p:nvSpPr>
        <p:spPr>
          <a:xfrm>
            <a:off x="828675" y="1078865"/>
            <a:ext cx="10516235" cy="5773420"/>
          </a:xfrm>
          <a:prstGeom prst="roundRect">
            <a:avLst>
              <a:gd name="adj" fmla="val 2712"/>
            </a:avLst>
          </a:prstGeom>
          <a:solidFill>
            <a:srgbClr val="FFFFFF"/>
          </a:solidFill>
          <a:ln w="10160">
            <a:solidFill>
              <a:srgbClr val="C6D6E6"/>
            </a:solidFill>
            <a:prstDash val="solid"/>
          </a:ln>
          <a:effectLst>
            <a:outerShdw blurRad="12700" dist="50800" dir="2700000" algn="bl" rotWithShape="0">
              <a:srgbClr val="DCE7F2">
                <a:alpha val="24000"/>
              </a:srgbClr>
            </a:outerShdw>
          </a:effectLst>
        </p:spPr>
      </p:sp>
      <p:sp>
        <p:nvSpPr>
          <p:cNvPr id="2" name="Text 0"/>
          <p:cNvSpPr/>
          <p:nvPr/>
        </p:nvSpPr>
        <p:spPr>
          <a:xfrm>
            <a:off x="384048" y="201168"/>
            <a:ext cx="2743200" cy="182880"/>
          </a:xfrm>
          <a:prstGeom prst="rect">
            <a:avLst/>
          </a:prstGeom>
          <a:noFill/>
        </p:spPr>
        <p:txBody>
          <a:bodyPr wrap="square" lIns="0" tIns="0" rIns="0" bIns="0" rtlCol="0" anchor="ctr"/>
          <a:lstStyle/>
          <a:p>
            <a:pPr marL="0" indent="0">
              <a:buNone/>
            </a:pPr>
            <a:r>
              <a:rPr lang="en-US" sz="950" b="1" dirty="0">
                <a:solidFill>
                  <a:srgbClr val="0B63E5"/>
                </a:solidFill>
                <a:latin typeface="Aptos" pitchFamily="34" charset="0"/>
                <a:ea typeface="Aptos" pitchFamily="34" charset="-122"/>
                <a:cs typeface="Aptos" pitchFamily="34" charset="-120"/>
              </a:rPr>
              <a:t>EVOLUTION ANALYSIS</a:t>
            </a:r>
            <a:endParaRPr lang="en-US" sz="950" dirty="0"/>
          </a:p>
        </p:txBody>
      </p:sp>
      <p:sp>
        <p:nvSpPr>
          <p:cNvPr id="3" name="Text 1"/>
          <p:cNvSpPr/>
          <p:nvPr/>
        </p:nvSpPr>
        <p:spPr>
          <a:xfrm>
            <a:off x="384048" y="457200"/>
            <a:ext cx="11338560" cy="502920"/>
          </a:xfrm>
          <a:prstGeom prst="rect">
            <a:avLst/>
          </a:prstGeom>
          <a:noFill/>
        </p:spPr>
        <p:txBody>
          <a:bodyPr wrap="square" lIns="0" tIns="0" rIns="0" bIns="0" rtlCol="0" anchor="ctr">
            <a:normAutofit/>
          </a:bodyPr>
          <a:lstStyle/>
          <a:p>
            <a:pPr marL="0" indent="0">
              <a:buNone/>
            </a:pPr>
            <a:r>
              <a:rPr lang="en-US" sz="2900" b="1" dirty="0">
                <a:solidFill>
                  <a:srgbClr val="061E3A"/>
                </a:solidFill>
                <a:latin typeface="Aptos Display" pitchFamily="34" charset="0"/>
                <a:ea typeface="Aptos Display" pitchFamily="34" charset="-122"/>
                <a:cs typeface="Aptos Display" pitchFamily="34" charset="-120"/>
              </a:rPr>
              <a:t>Round 1 Agent</a:t>
            </a:r>
            <a:endParaRPr lang="en-US" sz="2900" dirty="0"/>
          </a:p>
        </p:txBody>
      </p:sp>
      <p:sp>
        <p:nvSpPr>
          <p:cNvPr id="4" name="Shape 2"/>
          <p:cNvSpPr/>
          <p:nvPr/>
        </p:nvSpPr>
        <p:spPr>
          <a:xfrm>
            <a:off x="384048" y="972566"/>
            <a:ext cx="11384280" cy="0"/>
          </a:xfrm>
          <a:prstGeom prst="line">
            <a:avLst/>
          </a:prstGeom>
          <a:noFill/>
          <a:ln w="12700">
            <a:solidFill>
              <a:srgbClr val="BBD1E8"/>
            </a:solidFill>
            <a:prstDash val="solid"/>
          </a:ln>
        </p:spPr>
      </p:sp>
      <p:sp>
        <p:nvSpPr>
          <p:cNvPr id="8" name="Shape 5"/>
          <p:cNvSpPr/>
          <p:nvPr/>
        </p:nvSpPr>
        <p:spPr>
          <a:xfrm>
            <a:off x="9418320" y="1426464"/>
            <a:ext cx="1143000" cy="274320"/>
          </a:xfrm>
          <a:prstGeom prst="roundRect">
            <a:avLst>
              <a:gd name="adj" fmla="val 26667"/>
            </a:avLst>
          </a:prstGeom>
          <a:solidFill>
            <a:srgbClr val="FFFFFF">
              <a:alpha val="94000"/>
            </a:srgbClr>
          </a:solidFill>
          <a:ln w="7620">
            <a:solidFill>
              <a:srgbClr val="DCE6F2"/>
            </a:solidFill>
            <a:prstDash val="solid"/>
          </a:ln>
        </p:spPr>
      </p:sp>
      <p:sp>
        <p:nvSpPr>
          <p:cNvPr id="10" name="Shape 7"/>
          <p:cNvSpPr/>
          <p:nvPr/>
        </p:nvSpPr>
        <p:spPr>
          <a:xfrm>
            <a:off x="1481328" y="1135380"/>
            <a:ext cx="2834640" cy="164592"/>
          </a:xfrm>
          <a:prstGeom prst="roundRect">
            <a:avLst>
              <a:gd name="adj" fmla="val 38889"/>
            </a:avLst>
          </a:prstGeom>
          <a:solidFill>
            <a:srgbClr val="F5F8FD"/>
          </a:solidFill>
          <a:ln w="5080">
            <a:solidFill>
              <a:srgbClr val="DCE6F2"/>
            </a:solidFill>
            <a:prstDash val="solid"/>
          </a:ln>
        </p:spPr>
      </p:sp>
      <p:sp>
        <p:nvSpPr>
          <p:cNvPr id="11" name="Shape 8"/>
          <p:cNvSpPr/>
          <p:nvPr/>
        </p:nvSpPr>
        <p:spPr>
          <a:xfrm>
            <a:off x="1645920" y="1185672"/>
            <a:ext cx="73152" cy="73152"/>
          </a:xfrm>
          <a:prstGeom prst="ellipse">
            <a:avLst/>
          </a:prstGeom>
          <a:solidFill>
            <a:srgbClr val="0B63E5"/>
          </a:solidFill>
          <a:ln w="12700">
            <a:solidFill>
              <a:srgbClr val="0B63E5">
                <a:alpha val="0"/>
              </a:srgbClr>
            </a:solidFill>
            <a:prstDash val="solid"/>
          </a:ln>
        </p:spPr>
      </p:sp>
      <p:sp>
        <p:nvSpPr>
          <p:cNvPr id="12" name="Text 9"/>
          <p:cNvSpPr/>
          <p:nvPr/>
        </p:nvSpPr>
        <p:spPr>
          <a:xfrm>
            <a:off x="1755648"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candidate</a:t>
            </a:r>
            <a:endParaRPr lang="en-US" sz="980" dirty="0">
              <a:solidFill>
                <a:srgbClr val="425A76"/>
              </a:solidFill>
            </a:endParaRPr>
          </a:p>
        </p:txBody>
      </p:sp>
      <p:sp>
        <p:nvSpPr>
          <p:cNvPr id="13" name="Shape 10"/>
          <p:cNvSpPr/>
          <p:nvPr/>
        </p:nvSpPr>
        <p:spPr>
          <a:xfrm>
            <a:off x="2542032" y="1185672"/>
            <a:ext cx="73152" cy="73152"/>
          </a:xfrm>
          <a:prstGeom prst="ellipse">
            <a:avLst/>
          </a:prstGeom>
          <a:solidFill>
            <a:srgbClr val="F28C00"/>
          </a:solidFill>
          <a:ln w="12700">
            <a:solidFill>
              <a:srgbClr val="F28C00">
                <a:alpha val="0"/>
              </a:srgbClr>
            </a:solidFill>
            <a:prstDash val="solid"/>
          </a:ln>
        </p:spPr>
      </p:sp>
      <p:sp>
        <p:nvSpPr>
          <p:cNvPr id="14" name="Text 11"/>
          <p:cNvSpPr/>
          <p:nvPr/>
        </p:nvSpPr>
        <p:spPr>
          <a:xfrm>
            <a:off x="2651760"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branch</a:t>
            </a:r>
            <a:endParaRPr lang="en-US" sz="980" dirty="0">
              <a:solidFill>
                <a:srgbClr val="425A76"/>
              </a:solidFill>
            </a:endParaRPr>
          </a:p>
        </p:txBody>
      </p:sp>
      <p:sp>
        <p:nvSpPr>
          <p:cNvPr id="15" name="Shape 12"/>
          <p:cNvSpPr/>
          <p:nvPr/>
        </p:nvSpPr>
        <p:spPr>
          <a:xfrm>
            <a:off x="3438144" y="1185672"/>
            <a:ext cx="73152" cy="73152"/>
          </a:xfrm>
          <a:prstGeom prst="ellipse">
            <a:avLst/>
          </a:prstGeom>
          <a:solidFill>
            <a:srgbClr val="00A34A"/>
          </a:solidFill>
          <a:ln w="12700">
            <a:solidFill>
              <a:srgbClr val="00A34A">
                <a:alpha val="0"/>
              </a:srgbClr>
            </a:solidFill>
            <a:prstDash val="solid"/>
          </a:ln>
        </p:spPr>
      </p:sp>
      <p:sp>
        <p:nvSpPr>
          <p:cNvPr id="16" name="Text 13"/>
          <p:cNvSpPr/>
          <p:nvPr/>
        </p:nvSpPr>
        <p:spPr>
          <a:xfrm>
            <a:off x="3547872"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parent</a:t>
            </a:r>
            <a:endParaRPr lang="en-US" sz="980" dirty="0">
              <a:solidFill>
                <a:srgbClr val="425A76"/>
              </a:solidFill>
            </a:endParaRPr>
          </a:p>
        </p:txBody>
      </p:sp>
      <p:sp>
        <p:nvSpPr>
          <p:cNvPr id="17" name="Text 14"/>
          <p:cNvSpPr/>
          <p:nvPr/>
        </p:nvSpPr>
        <p:spPr>
          <a:xfrm>
            <a:off x="3154680" y="4206240"/>
            <a:ext cx="3291840" cy="320040"/>
          </a:xfrm>
          <a:prstGeom prst="rect">
            <a:avLst/>
          </a:prstGeom>
          <a:noFill/>
        </p:spPr>
        <p:txBody>
          <a:bodyPr wrap="square" lIns="0" tIns="0" rIns="0" bIns="0" rtlCol="0" anchor="ctr"/>
          <a:lstStyle/>
          <a:p>
            <a:pPr marL="0" indent="0" algn="r">
              <a:buNone/>
            </a:pPr>
            <a:r>
              <a:rPr lang="en-US" sz="2100" b="1" dirty="0">
                <a:solidFill>
                  <a:srgbClr val="061E3A"/>
                </a:solidFill>
                <a:latin typeface="Aptos Display" pitchFamily="34" charset="0"/>
                <a:ea typeface="Aptos Display" pitchFamily="34" charset="-122"/>
                <a:cs typeface="Aptos Display" pitchFamily="34" charset="-120"/>
              </a:rPr>
              <a:t>Best combined score:</a:t>
            </a:r>
            <a:endParaRPr lang="en-US" sz="2100" dirty="0"/>
          </a:p>
        </p:txBody>
      </p:sp>
      <p:sp>
        <p:nvSpPr>
          <p:cNvPr id="18" name="Text 15"/>
          <p:cNvSpPr/>
          <p:nvPr/>
        </p:nvSpPr>
        <p:spPr>
          <a:xfrm>
            <a:off x="6492240" y="4206240"/>
            <a:ext cx="1143000" cy="320040"/>
          </a:xfrm>
          <a:prstGeom prst="rect">
            <a:avLst/>
          </a:prstGeom>
          <a:noFill/>
        </p:spPr>
        <p:txBody>
          <a:bodyPr wrap="square" lIns="0" tIns="0" rIns="0" bIns="0" rtlCol="0" anchor="ctr"/>
          <a:lstStyle/>
          <a:p>
            <a:pPr marL="0" indent="0">
              <a:buNone/>
            </a:pPr>
            <a:r>
              <a:rPr lang="en-US" sz="2100" b="1" dirty="0">
                <a:solidFill>
                  <a:srgbClr val="0B63E5"/>
                </a:solidFill>
                <a:latin typeface="Aptos Display" pitchFamily="34" charset="0"/>
                <a:ea typeface="Aptos Display" pitchFamily="34" charset="-122"/>
                <a:cs typeface="Aptos Display" pitchFamily="34" charset="-120"/>
              </a:rPr>
              <a:t>0.8677</a:t>
            </a:r>
            <a:endParaRPr lang="en-US" sz="2100" dirty="0"/>
          </a:p>
        </p:txBody>
      </p:sp>
      <p:pic>
        <p:nvPicPr>
          <p:cNvPr id="33" name="Picture 32" descr="round1_agent"/>
          <p:cNvPicPr>
            <a:picLocks noChangeAspect="1"/>
          </p:cNvPicPr>
          <p:nvPr/>
        </p:nvPicPr>
        <p:blipFill>
          <a:blip r:embed="rId1"/>
          <a:stretch>
            <a:fillRect/>
          </a:stretch>
        </p:blipFill>
        <p:spPr>
          <a:xfrm>
            <a:off x="1054735" y="1344295"/>
            <a:ext cx="9931400" cy="5424805"/>
          </a:xfrm>
          <a:prstGeom prst="rect">
            <a:avLst/>
          </a:prstGeom>
        </p:spPr>
      </p:pic>
      <p:sp>
        <p:nvSpPr>
          <p:cNvPr id="36"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b="1" dirty="0">
                <a:solidFill>
                  <a:srgbClr val="64748B"/>
                </a:solidFill>
                <a:latin typeface="Aptos" pitchFamily="34" charset="0"/>
                <a:ea typeface="Aptos" pitchFamily="34" charset="-122"/>
                <a:cs typeface="Aptos" pitchFamily="34" charset="-120"/>
              </a:rPr>
              <a:t>20</a:t>
            </a:r>
            <a:endParaRPr lang="en-US" altLang="vi-VN"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9184" y="164592"/>
            <a:ext cx="2194560" cy="201168"/>
          </a:xfrm>
          <a:prstGeom prst="rect">
            <a:avLst/>
          </a:prstGeom>
          <a:noFill/>
        </p:spPr>
        <p:txBody>
          <a:bodyPr wrap="square" lIns="0" tIns="0" rIns="0" bIns="0" rtlCol="0" anchor="ctr">
            <a:normAutofit/>
          </a:bodyPr>
          <a:lstStyle/>
          <a:p>
            <a:pPr marL="0" indent="0" algn="l">
              <a:buNone/>
            </a:pPr>
            <a:r>
              <a:rPr lang="en-US" sz="850" b="1" dirty="0">
                <a:solidFill>
                  <a:srgbClr val="0F66E8"/>
                </a:solidFill>
                <a:latin typeface="Aptos" pitchFamily="34" charset="0"/>
                <a:ea typeface="Aptos" pitchFamily="34" charset="-122"/>
                <a:cs typeface="Aptos" pitchFamily="34" charset="-120"/>
              </a:rPr>
              <a:t>EVOLUTION ANALYSIS</a:t>
            </a:r>
            <a:endParaRPr lang="en-US" sz="850" dirty="0"/>
          </a:p>
        </p:txBody>
      </p:sp>
      <p:sp>
        <p:nvSpPr>
          <p:cNvPr id="3" name="Text 1"/>
          <p:cNvSpPr/>
          <p:nvPr/>
        </p:nvSpPr>
        <p:spPr>
          <a:xfrm>
            <a:off x="329184" y="448056"/>
            <a:ext cx="11521440" cy="502920"/>
          </a:xfrm>
          <a:prstGeom prst="rect">
            <a:avLst/>
          </a:prstGeom>
          <a:noFill/>
        </p:spPr>
        <p:txBody>
          <a:bodyPr wrap="square" lIns="0" tIns="0" rIns="0" bIns="0" rtlCol="0" anchor="ctr">
            <a:normAutofit/>
          </a:bodyPr>
          <a:lstStyle/>
          <a:p>
            <a:pPr marL="0" indent="0" algn="l">
              <a:buNone/>
            </a:pPr>
            <a:r>
              <a:rPr lang="en-US" sz="2900" b="1" dirty="0">
                <a:solidFill>
                  <a:srgbClr val="061B33"/>
                </a:solidFill>
                <a:latin typeface="Aptos" pitchFamily="34" charset="0"/>
                <a:ea typeface="Aptos" pitchFamily="34" charset="-122"/>
                <a:cs typeface="Aptos" pitchFamily="34" charset="-120"/>
              </a:rPr>
              <a:t>Round 1 Agent</a:t>
            </a:r>
            <a:endParaRPr lang="en-US" sz="2900" dirty="0"/>
          </a:p>
        </p:txBody>
      </p:sp>
      <p:sp>
        <p:nvSpPr>
          <p:cNvPr id="4" name="Shape 2"/>
          <p:cNvSpPr/>
          <p:nvPr/>
        </p:nvSpPr>
        <p:spPr>
          <a:xfrm>
            <a:off x="329184" y="995680"/>
            <a:ext cx="11512296" cy="0"/>
          </a:xfrm>
          <a:prstGeom prst="line">
            <a:avLst/>
          </a:prstGeom>
          <a:noFill/>
          <a:ln w="15240">
            <a:solidFill>
              <a:srgbClr val="C6D6E6"/>
            </a:solidFill>
            <a:prstDash val="solid"/>
          </a:ln>
        </p:spPr>
      </p:sp>
      <p:sp>
        <p:nvSpPr>
          <p:cNvPr id="37" name="Shape 3"/>
          <p:cNvSpPr/>
          <p:nvPr/>
        </p:nvSpPr>
        <p:spPr>
          <a:xfrm>
            <a:off x="6172200" y="1239520"/>
            <a:ext cx="5819775" cy="2579370"/>
          </a:xfrm>
          <a:prstGeom prst="roundRect">
            <a:avLst/>
          </a:prstGeom>
          <a:solidFill>
            <a:srgbClr val="FFFFFF"/>
          </a:solidFill>
          <a:ln w="13970">
            <a:solidFill>
              <a:srgbClr val="C6D5E5"/>
            </a:solidFill>
            <a:prstDash val="solid"/>
          </a:ln>
        </p:spPr>
      </p:sp>
      <p:sp>
        <p:nvSpPr>
          <p:cNvPr id="38" name="Shape 3"/>
          <p:cNvSpPr/>
          <p:nvPr/>
        </p:nvSpPr>
        <p:spPr>
          <a:xfrm>
            <a:off x="2868930" y="3935730"/>
            <a:ext cx="6517640" cy="2827655"/>
          </a:xfrm>
          <a:prstGeom prst="roundRect">
            <a:avLst/>
          </a:prstGeom>
          <a:solidFill>
            <a:srgbClr val="FFFFFF"/>
          </a:solidFill>
          <a:ln w="13970">
            <a:solidFill>
              <a:srgbClr val="C6D5E5"/>
            </a:solidFill>
            <a:prstDash val="solid"/>
          </a:ln>
        </p:spPr>
      </p:sp>
      <p:sp>
        <p:nvSpPr>
          <p:cNvPr id="39" name="Shape 3"/>
          <p:cNvSpPr/>
          <p:nvPr/>
        </p:nvSpPr>
        <p:spPr>
          <a:xfrm>
            <a:off x="291465" y="1279525"/>
            <a:ext cx="5767070" cy="2559050"/>
          </a:xfrm>
          <a:prstGeom prst="roundRect">
            <a:avLst/>
          </a:prstGeom>
          <a:solidFill>
            <a:srgbClr val="FFFFFF"/>
          </a:solidFill>
          <a:ln w="13970" cap="flat" cmpd="sng">
            <a:solidFill>
              <a:schemeClr val="accent1"/>
            </a:solidFill>
            <a:prstDash val="solid"/>
          </a:ln>
        </p:spPr>
        <p:txBody>
          <a:bodyPr/>
          <a:p>
            <a:endParaRPr lang="en-US"/>
          </a:p>
        </p:txBody>
      </p:sp>
      <p:pic>
        <p:nvPicPr>
          <p:cNvPr id="49" name="Picture 48"/>
          <p:cNvPicPr>
            <a:picLocks noChangeAspect="1"/>
          </p:cNvPicPr>
          <p:nvPr/>
        </p:nvPicPr>
        <p:blipFill>
          <a:blip r:embed="rId1"/>
          <a:stretch>
            <a:fillRect/>
          </a:stretch>
        </p:blipFill>
        <p:spPr>
          <a:xfrm>
            <a:off x="441325" y="1413510"/>
            <a:ext cx="5538470" cy="2294890"/>
          </a:xfrm>
          <a:prstGeom prst="rect">
            <a:avLst/>
          </a:prstGeom>
        </p:spPr>
      </p:pic>
      <p:pic>
        <p:nvPicPr>
          <p:cNvPr id="50" name="Picture 49"/>
          <p:cNvPicPr>
            <a:picLocks noChangeAspect="1"/>
          </p:cNvPicPr>
          <p:nvPr/>
        </p:nvPicPr>
        <p:blipFill>
          <a:blip r:embed="rId2"/>
          <a:stretch>
            <a:fillRect/>
          </a:stretch>
        </p:blipFill>
        <p:spPr>
          <a:xfrm>
            <a:off x="6311265" y="1450340"/>
            <a:ext cx="5539105" cy="2294890"/>
          </a:xfrm>
          <a:prstGeom prst="rect">
            <a:avLst/>
          </a:prstGeom>
        </p:spPr>
      </p:pic>
      <p:pic>
        <p:nvPicPr>
          <p:cNvPr id="51" name="Picture 50"/>
          <p:cNvPicPr>
            <a:picLocks noChangeAspect="1"/>
          </p:cNvPicPr>
          <p:nvPr/>
        </p:nvPicPr>
        <p:blipFill>
          <a:blip r:embed="rId3"/>
          <a:stretch>
            <a:fillRect/>
          </a:stretch>
        </p:blipFill>
        <p:spPr>
          <a:xfrm>
            <a:off x="3070860" y="4100195"/>
            <a:ext cx="6155690" cy="2550795"/>
          </a:xfrm>
          <a:prstGeom prst="rect">
            <a:avLst/>
          </a:prstGeom>
        </p:spPr>
      </p:pic>
      <p:sp>
        <p:nvSpPr>
          <p:cNvPr id="43" name="Text 4"/>
          <p:cNvSpPr/>
          <p:nvPr/>
        </p:nvSpPr>
        <p:spPr>
          <a:xfrm>
            <a:off x="3804285" y="3953510"/>
            <a:ext cx="2987675" cy="290830"/>
          </a:xfrm>
          <a:prstGeom prst="rect">
            <a:avLst/>
          </a:prstGeom>
          <a:noFill/>
        </p:spPr>
        <p:txBody>
          <a:bodyPr wrap="square" lIns="0" tIns="0" rIns="0" bIns="0" rtlCol="0" anchor="ctr"/>
          <a:lstStyle/>
          <a:p>
            <a:pPr marL="0" indent="0" algn="r">
              <a:buNone/>
            </a:pPr>
            <a:r>
              <a:rPr lang="en-US" sz="2200" dirty="0"/>
              <a:t>Review generation</a:t>
            </a:r>
            <a:endParaRPr lang="en-US" sz="2200" dirty="0"/>
          </a:p>
        </p:txBody>
      </p:sp>
      <p:sp>
        <p:nvSpPr>
          <p:cNvPr id="44" name="Text 5"/>
          <p:cNvSpPr/>
          <p:nvPr/>
        </p:nvSpPr>
        <p:spPr>
          <a:xfrm>
            <a:off x="6855651" y="3933063"/>
            <a:ext cx="914400" cy="310896"/>
          </a:xfrm>
          <a:prstGeom prst="rect">
            <a:avLst/>
          </a:prstGeom>
          <a:noFill/>
        </p:spPr>
        <p:txBody>
          <a:bodyPr wrap="square" lIns="0" tIns="0" rIns="0" bIns="0" rtlCol="0" anchor="ctr"/>
          <a:lstStyle/>
          <a:p>
            <a:pPr marL="0" indent="0">
              <a:buNone/>
            </a:pPr>
            <a:r>
              <a:rPr lang="en-US" sz="2200" b="1" dirty="0">
                <a:solidFill>
                  <a:srgbClr val="078A67"/>
                </a:solidFill>
              </a:rPr>
              <a:t>0.</a:t>
            </a:r>
            <a:r>
              <a:rPr lang="vi-VN" sz="2200" b="1" dirty="0">
                <a:solidFill>
                  <a:srgbClr val="078A67"/>
                </a:solidFill>
              </a:rPr>
              <a:t>8554</a:t>
            </a:r>
            <a:endParaRPr lang="vi-VN" sz="2200" b="1" dirty="0">
              <a:solidFill>
                <a:srgbClr val="078A67"/>
              </a:solidFill>
            </a:endParaRPr>
          </a:p>
        </p:txBody>
      </p:sp>
      <p:sp>
        <p:nvSpPr>
          <p:cNvPr id="47" name="Text 4"/>
          <p:cNvSpPr/>
          <p:nvPr/>
        </p:nvSpPr>
        <p:spPr>
          <a:xfrm>
            <a:off x="1741170" y="1322070"/>
            <a:ext cx="2186940" cy="290830"/>
          </a:xfrm>
          <a:prstGeom prst="rect">
            <a:avLst/>
          </a:prstGeom>
          <a:noFill/>
        </p:spPr>
        <p:txBody>
          <a:bodyPr wrap="square" lIns="0" tIns="0" rIns="0" bIns="0" rtlCol="0" anchor="ctr"/>
          <a:lstStyle/>
          <a:p>
            <a:pPr marL="0" indent="0" algn="r">
              <a:buNone/>
            </a:pPr>
            <a:r>
              <a:rPr lang="en-US" sz="2200" dirty="0"/>
              <a:t>Combined score</a:t>
            </a:r>
            <a:endParaRPr lang="en-US" sz="2200" dirty="0"/>
          </a:p>
        </p:txBody>
      </p:sp>
      <p:sp>
        <p:nvSpPr>
          <p:cNvPr id="48" name="Text 5"/>
          <p:cNvSpPr/>
          <p:nvPr/>
        </p:nvSpPr>
        <p:spPr>
          <a:xfrm>
            <a:off x="3991801" y="1301623"/>
            <a:ext cx="914400" cy="310896"/>
          </a:xfrm>
          <a:prstGeom prst="rect">
            <a:avLst/>
          </a:prstGeom>
          <a:noFill/>
        </p:spPr>
        <p:txBody>
          <a:bodyPr wrap="square" lIns="0" tIns="0" rIns="0" bIns="0" rtlCol="0" anchor="ctr"/>
          <a:lstStyle/>
          <a:p>
            <a:pPr marL="0" indent="0">
              <a:buNone/>
            </a:pPr>
            <a:r>
              <a:rPr lang="en-US" sz="2200" b="1" dirty="0">
                <a:solidFill>
                  <a:srgbClr val="078A67"/>
                </a:solidFill>
              </a:rPr>
              <a:t>0.</a:t>
            </a:r>
            <a:r>
              <a:rPr lang="vi-VN" sz="2200" b="1" dirty="0">
                <a:solidFill>
                  <a:srgbClr val="078A67"/>
                </a:solidFill>
              </a:rPr>
              <a:t>8677</a:t>
            </a:r>
            <a:endParaRPr lang="vi-VN" sz="2200" b="1" dirty="0">
              <a:solidFill>
                <a:srgbClr val="078A67"/>
              </a:solidFill>
            </a:endParaRPr>
          </a:p>
        </p:txBody>
      </p:sp>
      <p:sp>
        <p:nvSpPr>
          <p:cNvPr id="45" name="Text 4"/>
          <p:cNvSpPr/>
          <p:nvPr/>
        </p:nvSpPr>
        <p:spPr>
          <a:xfrm>
            <a:off x="6899910" y="1271905"/>
            <a:ext cx="3101975" cy="306705"/>
          </a:xfrm>
          <a:prstGeom prst="rect">
            <a:avLst/>
          </a:prstGeom>
          <a:noFill/>
        </p:spPr>
        <p:txBody>
          <a:bodyPr wrap="square" lIns="0" tIns="0" rIns="0" bIns="0" rtlCol="0" anchor="ctr"/>
          <a:lstStyle/>
          <a:p>
            <a:pPr marL="0" indent="0" algn="r">
              <a:buNone/>
            </a:pPr>
            <a:r>
              <a:rPr lang="en-US" sz="2200" dirty="0"/>
              <a:t>Preference_estimation</a:t>
            </a:r>
            <a:endParaRPr lang="en-US" sz="2200" dirty="0"/>
          </a:p>
        </p:txBody>
      </p:sp>
      <p:sp>
        <p:nvSpPr>
          <p:cNvPr id="46" name="Text 5"/>
          <p:cNvSpPr/>
          <p:nvPr/>
        </p:nvSpPr>
        <p:spPr>
          <a:xfrm>
            <a:off x="10051606" y="1281303"/>
            <a:ext cx="914400" cy="310896"/>
          </a:xfrm>
          <a:prstGeom prst="rect">
            <a:avLst/>
          </a:prstGeom>
          <a:noFill/>
        </p:spPr>
        <p:txBody>
          <a:bodyPr wrap="square" lIns="0" tIns="0" rIns="0" bIns="0" rtlCol="0" anchor="ctr"/>
          <a:lstStyle/>
          <a:p>
            <a:pPr marL="0" indent="0">
              <a:buNone/>
            </a:pPr>
            <a:r>
              <a:rPr lang="en-US" sz="2200" b="1" dirty="0">
                <a:solidFill>
                  <a:srgbClr val="078A67"/>
                </a:solidFill>
              </a:rPr>
              <a:t>0.8</a:t>
            </a:r>
            <a:r>
              <a:rPr lang="vi-VN" altLang="en-US" sz="2200" b="1" dirty="0">
                <a:solidFill>
                  <a:srgbClr val="078A67"/>
                </a:solidFill>
              </a:rPr>
              <a:t>800</a:t>
            </a:r>
            <a:endParaRPr lang="vi-VN" altLang="en-US" sz="2200" b="1" dirty="0">
              <a:solidFill>
                <a:srgbClr val="078A67"/>
              </a:solidFill>
            </a:endParaRPr>
          </a:p>
        </p:txBody>
      </p:sp>
      <p:sp>
        <p:nvSpPr>
          <p:cNvPr id="5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dirty="0"/>
              <a:t>21</a:t>
            </a:r>
            <a:endParaRPr lang="en-US" altLang="vi-VN"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3"/>
          <p:cNvSpPr/>
          <p:nvPr/>
        </p:nvSpPr>
        <p:spPr>
          <a:xfrm>
            <a:off x="1088390" y="1101090"/>
            <a:ext cx="9499600" cy="5773420"/>
          </a:xfrm>
          <a:prstGeom prst="roundRect">
            <a:avLst>
              <a:gd name="adj" fmla="val 2712"/>
            </a:avLst>
          </a:prstGeom>
          <a:solidFill>
            <a:srgbClr val="FFFFFF"/>
          </a:solidFill>
          <a:ln w="10160">
            <a:solidFill>
              <a:srgbClr val="C6D6E6"/>
            </a:solidFill>
            <a:prstDash val="solid"/>
          </a:ln>
          <a:effectLst>
            <a:outerShdw blurRad="12700" dist="50800" dir="2700000" algn="bl" rotWithShape="0">
              <a:srgbClr val="DCE7F2">
                <a:alpha val="24000"/>
              </a:srgbClr>
            </a:outerShdw>
          </a:effectLst>
        </p:spPr>
      </p:sp>
      <p:sp>
        <p:nvSpPr>
          <p:cNvPr id="2" name="Text 0"/>
          <p:cNvSpPr/>
          <p:nvPr/>
        </p:nvSpPr>
        <p:spPr>
          <a:xfrm>
            <a:off x="384048" y="201168"/>
            <a:ext cx="2743200" cy="182880"/>
          </a:xfrm>
          <a:prstGeom prst="rect">
            <a:avLst/>
          </a:prstGeom>
          <a:noFill/>
        </p:spPr>
        <p:txBody>
          <a:bodyPr wrap="square" lIns="0" tIns="0" rIns="0" bIns="0" rtlCol="0" anchor="ctr"/>
          <a:lstStyle/>
          <a:p>
            <a:pPr marL="0" indent="0">
              <a:buNone/>
            </a:pPr>
            <a:r>
              <a:rPr lang="en-US" sz="950" b="1" dirty="0">
                <a:solidFill>
                  <a:srgbClr val="0B63E5"/>
                </a:solidFill>
                <a:latin typeface="Aptos" pitchFamily="34" charset="0"/>
                <a:ea typeface="Aptos" pitchFamily="34" charset="-122"/>
                <a:cs typeface="Aptos" pitchFamily="34" charset="-120"/>
              </a:rPr>
              <a:t>EVOLUTION ANALYSIS</a:t>
            </a:r>
            <a:endParaRPr lang="en-US" sz="950" dirty="0"/>
          </a:p>
        </p:txBody>
      </p:sp>
      <p:sp>
        <p:nvSpPr>
          <p:cNvPr id="3" name="Text 1"/>
          <p:cNvSpPr/>
          <p:nvPr/>
        </p:nvSpPr>
        <p:spPr>
          <a:xfrm>
            <a:off x="384048" y="457200"/>
            <a:ext cx="11338560" cy="502920"/>
          </a:xfrm>
          <a:prstGeom prst="rect">
            <a:avLst/>
          </a:prstGeom>
          <a:noFill/>
        </p:spPr>
        <p:txBody>
          <a:bodyPr wrap="square" lIns="0" tIns="0" rIns="0" bIns="0" rtlCol="0" anchor="ctr">
            <a:normAutofit/>
          </a:bodyPr>
          <a:lstStyle/>
          <a:p>
            <a:pPr marL="0" indent="0">
              <a:buNone/>
            </a:pPr>
            <a:r>
              <a:rPr lang="en-US" sz="2900" b="1" dirty="0">
                <a:solidFill>
                  <a:srgbClr val="061E3A"/>
                </a:solidFill>
                <a:latin typeface="Aptos Display" pitchFamily="34" charset="0"/>
                <a:ea typeface="Aptos Display" pitchFamily="34" charset="-122"/>
                <a:cs typeface="Aptos Display" pitchFamily="34" charset="-120"/>
              </a:rPr>
              <a:t>Round 1 Task</a:t>
            </a:r>
            <a:endParaRPr lang="en-US" sz="2900" dirty="0"/>
          </a:p>
        </p:txBody>
      </p:sp>
      <p:sp>
        <p:nvSpPr>
          <p:cNvPr id="4" name="Shape 2"/>
          <p:cNvSpPr/>
          <p:nvPr/>
        </p:nvSpPr>
        <p:spPr>
          <a:xfrm>
            <a:off x="384048" y="958596"/>
            <a:ext cx="11384280" cy="0"/>
          </a:xfrm>
          <a:prstGeom prst="line">
            <a:avLst/>
          </a:prstGeom>
          <a:noFill/>
          <a:ln w="12700">
            <a:solidFill>
              <a:srgbClr val="BBD1E8"/>
            </a:solidFill>
            <a:prstDash val="solid"/>
          </a:ln>
        </p:spPr>
      </p:sp>
      <p:sp>
        <p:nvSpPr>
          <p:cNvPr id="42" name="Shape 7"/>
          <p:cNvSpPr/>
          <p:nvPr/>
        </p:nvSpPr>
        <p:spPr>
          <a:xfrm>
            <a:off x="1481328" y="1135380"/>
            <a:ext cx="2834640" cy="164592"/>
          </a:xfrm>
          <a:prstGeom prst="roundRect">
            <a:avLst>
              <a:gd name="adj" fmla="val 38889"/>
            </a:avLst>
          </a:prstGeom>
          <a:solidFill>
            <a:srgbClr val="F5F8FD"/>
          </a:solidFill>
          <a:ln w="5080">
            <a:solidFill>
              <a:srgbClr val="DCE6F2"/>
            </a:solidFill>
            <a:prstDash val="solid"/>
          </a:ln>
        </p:spPr>
      </p:sp>
      <p:sp>
        <p:nvSpPr>
          <p:cNvPr id="43" name="Shape 8"/>
          <p:cNvSpPr/>
          <p:nvPr/>
        </p:nvSpPr>
        <p:spPr>
          <a:xfrm>
            <a:off x="1645920" y="1185672"/>
            <a:ext cx="73152" cy="73152"/>
          </a:xfrm>
          <a:prstGeom prst="ellipse">
            <a:avLst/>
          </a:prstGeom>
          <a:solidFill>
            <a:srgbClr val="0B63E5"/>
          </a:solidFill>
          <a:ln w="12700">
            <a:solidFill>
              <a:srgbClr val="0B63E5">
                <a:alpha val="0"/>
              </a:srgbClr>
            </a:solidFill>
            <a:prstDash val="solid"/>
          </a:ln>
        </p:spPr>
      </p:sp>
      <p:sp>
        <p:nvSpPr>
          <p:cNvPr id="44" name="Text 9"/>
          <p:cNvSpPr/>
          <p:nvPr/>
        </p:nvSpPr>
        <p:spPr>
          <a:xfrm>
            <a:off x="1755648"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candidate</a:t>
            </a:r>
            <a:endParaRPr lang="en-US" sz="980" dirty="0">
              <a:solidFill>
                <a:srgbClr val="425A76"/>
              </a:solidFill>
            </a:endParaRPr>
          </a:p>
        </p:txBody>
      </p:sp>
      <p:sp>
        <p:nvSpPr>
          <p:cNvPr id="45" name="Shape 10"/>
          <p:cNvSpPr/>
          <p:nvPr/>
        </p:nvSpPr>
        <p:spPr>
          <a:xfrm>
            <a:off x="2542032" y="1185672"/>
            <a:ext cx="73152" cy="73152"/>
          </a:xfrm>
          <a:prstGeom prst="ellipse">
            <a:avLst/>
          </a:prstGeom>
          <a:solidFill>
            <a:srgbClr val="F28C00"/>
          </a:solidFill>
          <a:ln w="12700">
            <a:solidFill>
              <a:srgbClr val="F28C00">
                <a:alpha val="0"/>
              </a:srgbClr>
            </a:solidFill>
            <a:prstDash val="solid"/>
          </a:ln>
        </p:spPr>
      </p:sp>
      <p:sp>
        <p:nvSpPr>
          <p:cNvPr id="46" name="Text 11"/>
          <p:cNvSpPr/>
          <p:nvPr/>
        </p:nvSpPr>
        <p:spPr>
          <a:xfrm>
            <a:off x="2651760"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branch</a:t>
            </a:r>
            <a:endParaRPr lang="en-US" sz="980" dirty="0">
              <a:solidFill>
                <a:srgbClr val="425A76"/>
              </a:solidFill>
            </a:endParaRPr>
          </a:p>
        </p:txBody>
      </p:sp>
      <p:sp>
        <p:nvSpPr>
          <p:cNvPr id="47" name="Shape 12"/>
          <p:cNvSpPr/>
          <p:nvPr/>
        </p:nvSpPr>
        <p:spPr>
          <a:xfrm>
            <a:off x="3438144" y="1185672"/>
            <a:ext cx="73152" cy="73152"/>
          </a:xfrm>
          <a:prstGeom prst="ellipse">
            <a:avLst/>
          </a:prstGeom>
          <a:solidFill>
            <a:srgbClr val="00A34A"/>
          </a:solidFill>
          <a:ln w="12700">
            <a:solidFill>
              <a:srgbClr val="00A34A">
                <a:alpha val="0"/>
              </a:srgbClr>
            </a:solidFill>
            <a:prstDash val="solid"/>
          </a:ln>
        </p:spPr>
      </p:sp>
      <p:sp>
        <p:nvSpPr>
          <p:cNvPr id="48" name="Text 13"/>
          <p:cNvSpPr/>
          <p:nvPr/>
        </p:nvSpPr>
        <p:spPr>
          <a:xfrm>
            <a:off x="3547872"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parent</a:t>
            </a:r>
            <a:endParaRPr lang="en-US" sz="980" dirty="0">
              <a:solidFill>
                <a:srgbClr val="425A76"/>
              </a:solidFill>
            </a:endParaRPr>
          </a:p>
        </p:txBody>
      </p:sp>
      <p:pic>
        <p:nvPicPr>
          <p:cNvPr id="49" name="Picture 48"/>
          <p:cNvPicPr>
            <a:picLocks noChangeAspect="1"/>
          </p:cNvPicPr>
          <p:nvPr/>
        </p:nvPicPr>
        <p:blipFill>
          <a:blip r:embed="rId1"/>
          <a:stretch>
            <a:fillRect/>
          </a:stretch>
        </p:blipFill>
        <p:spPr>
          <a:xfrm>
            <a:off x="1396365" y="1299845"/>
            <a:ext cx="8916670" cy="5498465"/>
          </a:xfrm>
          <a:prstGeom prst="rect">
            <a:avLst/>
          </a:prstGeom>
        </p:spPr>
      </p:pic>
      <p:sp>
        <p:nvSpPr>
          <p:cNvPr id="50"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84048" y="201168"/>
            <a:ext cx="2560320" cy="201168"/>
          </a:xfrm>
          <a:prstGeom prst="rect">
            <a:avLst/>
          </a:prstGeom>
          <a:noFill/>
        </p:spPr>
        <p:txBody>
          <a:bodyPr wrap="square" lIns="0" tIns="0" rIns="0" bIns="0" rtlCol="0" anchor="ctr">
            <a:normAutofit/>
          </a:bodyPr>
          <a:lstStyle/>
          <a:p>
            <a:pPr marL="0" indent="0" algn="l">
              <a:buNone/>
            </a:pPr>
            <a:r>
              <a:rPr lang="en-US" sz="1100" b="1" dirty="0">
                <a:solidFill>
                  <a:srgbClr val="0064D8"/>
                </a:solidFill>
                <a:latin typeface="Aptos" pitchFamily="34" charset="0"/>
                <a:ea typeface="Aptos" pitchFamily="34" charset="-122"/>
                <a:cs typeface="Aptos" pitchFamily="34" charset="-120"/>
              </a:rPr>
              <a:t>EVOLUTION ANALYSIS</a:t>
            </a:r>
            <a:endParaRPr lang="en-US" sz="1100" dirty="0"/>
          </a:p>
        </p:txBody>
      </p:sp>
      <p:sp>
        <p:nvSpPr>
          <p:cNvPr id="3" name="Text 1"/>
          <p:cNvSpPr/>
          <p:nvPr/>
        </p:nvSpPr>
        <p:spPr>
          <a:xfrm>
            <a:off x="384048" y="548640"/>
            <a:ext cx="8046720" cy="502920"/>
          </a:xfrm>
          <a:prstGeom prst="rect">
            <a:avLst/>
          </a:prstGeom>
          <a:noFill/>
        </p:spPr>
        <p:txBody>
          <a:bodyPr wrap="square" lIns="0" tIns="0" rIns="0" bIns="0" rtlCol="0" anchor="ctr"/>
          <a:lstStyle/>
          <a:p>
            <a:pPr marL="0" indent="0">
              <a:buNone/>
            </a:pPr>
            <a:r>
              <a:rPr lang="en-US" sz="3100" b="1" dirty="0">
                <a:solidFill>
                  <a:srgbClr val="062642"/>
                </a:solidFill>
                <a:latin typeface="Aptos Display" pitchFamily="34" charset="0"/>
                <a:ea typeface="Aptos Display" pitchFamily="34" charset="-122"/>
                <a:cs typeface="Aptos Display" pitchFamily="34" charset="-120"/>
              </a:rPr>
              <a:t>Round 1 Agent Evolution</a:t>
            </a:r>
            <a:endParaRPr lang="en-US" sz="3100" dirty="0"/>
          </a:p>
        </p:txBody>
      </p:sp>
      <p:sp>
        <p:nvSpPr>
          <p:cNvPr id="4" name="Shape 2"/>
          <p:cNvSpPr/>
          <p:nvPr/>
        </p:nvSpPr>
        <p:spPr>
          <a:xfrm>
            <a:off x="384048" y="1115568"/>
            <a:ext cx="11430000" cy="0"/>
          </a:xfrm>
          <a:prstGeom prst="line">
            <a:avLst/>
          </a:prstGeom>
          <a:noFill/>
          <a:ln w="16510">
            <a:solidFill>
              <a:srgbClr val="BDD6EA"/>
            </a:solidFill>
            <a:prstDash val="solid"/>
          </a:ln>
        </p:spPr>
      </p:sp>
      <p:sp>
        <p:nvSpPr>
          <p:cNvPr id="5" name="Shape 3"/>
          <p:cNvSpPr/>
          <p:nvPr/>
        </p:nvSpPr>
        <p:spPr>
          <a:xfrm>
            <a:off x="384048" y="1417320"/>
            <a:ext cx="3703320" cy="530352"/>
          </a:xfrm>
          <a:prstGeom prst="rect">
            <a:avLst/>
          </a:prstGeom>
          <a:solidFill>
            <a:srgbClr val="0064D8"/>
          </a:solidFill>
          <a:ln w="10160">
            <a:solidFill>
              <a:srgbClr val="FFFFFF"/>
            </a:solidFill>
            <a:prstDash val="solid"/>
          </a:ln>
        </p:spPr>
      </p:sp>
      <p:sp>
        <p:nvSpPr>
          <p:cNvPr id="6" name="Text 4"/>
          <p:cNvSpPr/>
          <p:nvPr/>
        </p:nvSpPr>
        <p:spPr>
          <a:xfrm>
            <a:off x="493776" y="1545336"/>
            <a:ext cx="3483864" cy="228600"/>
          </a:xfrm>
          <a:prstGeom prst="rect">
            <a:avLst/>
          </a:prstGeom>
          <a:noFill/>
        </p:spPr>
        <p:txBody>
          <a:bodyPr wrap="square" lIns="0" tIns="0" rIns="0" bIns="0" rtlCol="0" anchor="ctr">
            <a:normAutofit/>
          </a:bodyPr>
          <a:lstStyle/>
          <a:p>
            <a:pPr marL="0" indent="0" algn="l">
              <a:buNone/>
            </a:pPr>
            <a:r>
              <a:rPr lang="en-US" sz="1500" b="1" dirty="0">
                <a:solidFill>
                  <a:srgbClr val="FFFFFF"/>
                </a:solidFill>
                <a:latin typeface="Aptos" pitchFamily="34" charset="0"/>
                <a:ea typeface="Aptos" pitchFamily="34" charset="-122"/>
                <a:cs typeface="Aptos" pitchFamily="34" charset="-120"/>
              </a:rPr>
              <a:t>WHAT CHANGED</a:t>
            </a:r>
            <a:endParaRPr lang="en-US" sz="1500" dirty="0"/>
          </a:p>
        </p:txBody>
      </p:sp>
      <p:sp>
        <p:nvSpPr>
          <p:cNvPr id="7" name="Shape 5"/>
          <p:cNvSpPr/>
          <p:nvPr/>
        </p:nvSpPr>
        <p:spPr>
          <a:xfrm>
            <a:off x="4087368" y="1417320"/>
            <a:ext cx="3886200" cy="530352"/>
          </a:xfrm>
          <a:prstGeom prst="rect">
            <a:avLst/>
          </a:prstGeom>
          <a:solidFill>
            <a:srgbClr val="07896E"/>
          </a:solidFill>
          <a:ln w="10160">
            <a:solidFill>
              <a:srgbClr val="FFFFFF"/>
            </a:solidFill>
            <a:prstDash val="solid"/>
          </a:ln>
        </p:spPr>
      </p:sp>
      <p:sp>
        <p:nvSpPr>
          <p:cNvPr id="8" name="Text 6"/>
          <p:cNvSpPr/>
          <p:nvPr/>
        </p:nvSpPr>
        <p:spPr>
          <a:xfrm>
            <a:off x="4197096" y="1545336"/>
            <a:ext cx="3666744" cy="228600"/>
          </a:xfrm>
          <a:prstGeom prst="rect">
            <a:avLst/>
          </a:prstGeom>
          <a:noFill/>
        </p:spPr>
        <p:txBody>
          <a:bodyPr wrap="square" lIns="0" tIns="0" rIns="0" bIns="0" rtlCol="0" anchor="ctr">
            <a:normAutofit/>
          </a:bodyPr>
          <a:lstStyle/>
          <a:p>
            <a:pPr marL="0" indent="0" algn="l">
              <a:buNone/>
            </a:pPr>
            <a:r>
              <a:rPr lang="en-US" sz="1500" b="1" dirty="0">
                <a:solidFill>
                  <a:srgbClr val="FFFFFF"/>
                </a:solidFill>
                <a:latin typeface="Aptos" pitchFamily="34" charset="0"/>
                <a:ea typeface="Aptos" pitchFamily="34" charset="-122"/>
                <a:cs typeface="Aptos" pitchFamily="34" charset="-120"/>
              </a:rPr>
              <a:t>WHY IT HELPED</a:t>
            </a:r>
            <a:endParaRPr lang="en-US" sz="1500" dirty="0"/>
          </a:p>
        </p:txBody>
      </p:sp>
      <p:sp>
        <p:nvSpPr>
          <p:cNvPr id="9" name="Shape 7"/>
          <p:cNvSpPr/>
          <p:nvPr/>
        </p:nvSpPr>
        <p:spPr>
          <a:xfrm>
            <a:off x="7973568" y="1417320"/>
            <a:ext cx="3840480" cy="530352"/>
          </a:xfrm>
          <a:prstGeom prst="rect">
            <a:avLst/>
          </a:prstGeom>
          <a:solidFill>
            <a:srgbClr val="FF7A00"/>
          </a:solidFill>
          <a:ln w="10160">
            <a:solidFill>
              <a:srgbClr val="FFFFFF"/>
            </a:solidFill>
            <a:prstDash val="solid"/>
          </a:ln>
        </p:spPr>
      </p:sp>
      <p:sp>
        <p:nvSpPr>
          <p:cNvPr id="10" name="Text 8"/>
          <p:cNvSpPr/>
          <p:nvPr/>
        </p:nvSpPr>
        <p:spPr>
          <a:xfrm>
            <a:off x="8083296" y="1545336"/>
            <a:ext cx="3621024" cy="228600"/>
          </a:xfrm>
          <a:prstGeom prst="rect">
            <a:avLst/>
          </a:prstGeom>
          <a:noFill/>
        </p:spPr>
        <p:txBody>
          <a:bodyPr wrap="square" lIns="0" tIns="0" rIns="0" bIns="0" rtlCol="0" anchor="ctr">
            <a:normAutofit/>
          </a:bodyPr>
          <a:lstStyle/>
          <a:p>
            <a:pPr marL="0" indent="0" algn="l">
              <a:buNone/>
            </a:pPr>
            <a:r>
              <a:rPr lang="en-US" sz="1500" b="1" dirty="0">
                <a:solidFill>
                  <a:srgbClr val="FFFFFF"/>
                </a:solidFill>
                <a:latin typeface="Aptos" pitchFamily="34" charset="0"/>
                <a:ea typeface="Aptos" pitchFamily="34" charset="-122"/>
                <a:cs typeface="Aptos" pitchFamily="34" charset="-120"/>
              </a:rPr>
              <a:t>TRADE-OFF</a:t>
            </a:r>
            <a:endParaRPr lang="en-US" sz="1500" dirty="0"/>
          </a:p>
        </p:txBody>
      </p:sp>
      <p:sp>
        <p:nvSpPr>
          <p:cNvPr id="11" name="Shape 9"/>
          <p:cNvSpPr/>
          <p:nvPr/>
        </p:nvSpPr>
        <p:spPr>
          <a:xfrm>
            <a:off x="384048" y="1947672"/>
            <a:ext cx="3703320" cy="1078992"/>
          </a:xfrm>
          <a:prstGeom prst="rect">
            <a:avLst/>
          </a:prstGeom>
          <a:solidFill>
            <a:srgbClr val="FFFFFF"/>
          </a:solidFill>
          <a:ln w="10160">
            <a:solidFill>
              <a:srgbClr val="BDD6EA"/>
            </a:solidFill>
            <a:prstDash val="solid"/>
          </a:ln>
        </p:spPr>
      </p:sp>
      <p:sp>
        <p:nvSpPr>
          <p:cNvPr id="12" name="Text 10"/>
          <p:cNvSpPr/>
          <p:nvPr/>
        </p:nvSpPr>
        <p:spPr>
          <a:xfrm>
            <a:off x="530352" y="2057400"/>
            <a:ext cx="3410712" cy="859536"/>
          </a:xfrm>
          <a:prstGeom prst="rect">
            <a:avLst/>
          </a:prstGeom>
          <a:noFill/>
        </p:spPr>
        <p:txBody>
          <a:bodyPr wrap="square" lIns="0" tIns="0" rIns="0" bIns="0" rtlCol="0" anchor="ctr">
            <a:normAutofit/>
          </a:bodyPr>
          <a:lstStyle/>
          <a:p>
            <a:pPr marL="0" indent="0" algn="l">
              <a:buNone/>
            </a:pPr>
            <a:r>
              <a:rPr lang="en-US" sz="1520" b="1" dirty="0">
                <a:solidFill>
                  <a:srgbClr val="062642"/>
                </a:solidFill>
                <a:latin typeface="Aptos" pitchFamily="34" charset="0"/>
                <a:ea typeface="Aptos" pitchFamily="34" charset="-122"/>
                <a:cs typeface="Aptos" pitchFamily="34" charset="-120"/>
              </a:rPr>
              <a:t>Final simulator became style-aware: openings, detail density, closing patterns.</a:t>
            </a:r>
            <a:endParaRPr lang="en-US" sz="1520" dirty="0"/>
          </a:p>
        </p:txBody>
      </p:sp>
      <p:sp>
        <p:nvSpPr>
          <p:cNvPr id="13" name="Shape 11"/>
          <p:cNvSpPr/>
          <p:nvPr/>
        </p:nvSpPr>
        <p:spPr>
          <a:xfrm>
            <a:off x="4087368" y="1947672"/>
            <a:ext cx="3886200" cy="1078992"/>
          </a:xfrm>
          <a:prstGeom prst="rect">
            <a:avLst/>
          </a:prstGeom>
          <a:solidFill>
            <a:srgbClr val="FFFFFF"/>
          </a:solidFill>
          <a:ln w="10160">
            <a:solidFill>
              <a:srgbClr val="BDD6EA"/>
            </a:solidFill>
            <a:prstDash val="solid"/>
          </a:ln>
        </p:spPr>
      </p:sp>
      <p:sp>
        <p:nvSpPr>
          <p:cNvPr id="14" name="Text 12"/>
          <p:cNvSpPr/>
          <p:nvPr/>
        </p:nvSpPr>
        <p:spPr>
          <a:xfrm>
            <a:off x="4233672" y="2057400"/>
            <a:ext cx="3593592" cy="859536"/>
          </a:xfrm>
          <a:prstGeom prst="rect">
            <a:avLst/>
          </a:prstGeom>
          <a:noFill/>
        </p:spPr>
        <p:txBody>
          <a:bodyPr wrap="square" lIns="0" tIns="0" rIns="0" bIns="0" rtlCol="0" anchor="ctr">
            <a:normAutofit/>
          </a:bodyPr>
          <a:lstStyle/>
          <a:p>
            <a:pPr marL="0" indent="0" algn="l">
              <a:buNone/>
            </a:pPr>
            <a:r>
              <a:rPr lang="en-US" sz="1520" dirty="0">
                <a:solidFill>
                  <a:srgbClr val="062642"/>
                </a:solidFill>
                <a:latin typeface="Aptos" pitchFamily="34" charset="0"/>
                <a:ea typeface="Aptos" pitchFamily="34" charset="-122"/>
                <a:cs typeface="Aptos" pitchFamily="34" charset="-120"/>
              </a:rPr>
              <a:t>Review sounds closer to the target user instead of generic Yelp text.</a:t>
            </a:r>
            <a:endParaRPr lang="en-US" sz="1520" dirty="0"/>
          </a:p>
        </p:txBody>
      </p:sp>
      <p:sp>
        <p:nvSpPr>
          <p:cNvPr id="15" name="Shape 13"/>
          <p:cNvSpPr/>
          <p:nvPr/>
        </p:nvSpPr>
        <p:spPr>
          <a:xfrm>
            <a:off x="7973568" y="1947672"/>
            <a:ext cx="3840480" cy="1078992"/>
          </a:xfrm>
          <a:prstGeom prst="rect">
            <a:avLst/>
          </a:prstGeom>
          <a:solidFill>
            <a:srgbClr val="FFFFFF"/>
          </a:solidFill>
          <a:ln w="10160">
            <a:solidFill>
              <a:srgbClr val="BDD6EA"/>
            </a:solidFill>
            <a:prstDash val="solid"/>
          </a:ln>
        </p:spPr>
      </p:sp>
      <p:sp>
        <p:nvSpPr>
          <p:cNvPr id="16" name="Text 14"/>
          <p:cNvSpPr/>
          <p:nvPr/>
        </p:nvSpPr>
        <p:spPr>
          <a:xfrm>
            <a:off x="8119872" y="2057400"/>
            <a:ext cx="3547872" cy="859536"/>
          </a:xfrm>
          <a:prstGeom prst="rect">
            <a:avLst/>
          </a:prstGeom>
          <a:noFill/>
        </p:spPr>
        <p:txBody>
          <a:bodyPr wrap="square" lIns="0" tIns="0" rIns="0" bIns="0" rtlCol="0" anchor="ctr">
            <a:normAutofit/>
          </a:bodyPr>
          <a:lstStyle/>
          <a:p>
            <a:pPr marL="0" indent="0" algn="l">
              <a:buNone/>
            </a:pPr>
            <a:r>
              <a:rPr lang="en-US" sz="1520" dirty="0">
                <a:solidFill>
                  <a:srgbClr val="062642"/>
                </a:solidFill>
                <a:latin typeface="Aptos" pitchFamily="34" charset="0"/>
                <a:ea typeface="Aptos" pitchFamily="34" charset="-122"/>
                <a:cs typeface="Aptos" pitchFamily="34" charset="-120"/>
              </a:rPr>
              <a:t>Can feel formulaic if style rules are applied too rigidly.</a:t>
            </a:r>
            <a:endParaRPr lang="en-US" sz="1520" dirty="0"/>
          </a:p>
        </p:txBody>
      </p:sp>
      <p:sp>
        <p:nvSpPr>
          <p:cNvPr id="17" name="Shape 15"/>
          <p:cNvSpPr/>
          <p:nvPr/>
        </p:nvSpPr>
        <p:spPr>
          <a:xfrm>
            <a:off x="384048" y="3026664"/>
            <a:ext cx="3703320" cy="1078992"/>
          </a:xfrm>
          <a:prstGeom prst="rect">
            <a:avLst/>
          </a:prstGeom>
          <a:solidFill>
            <a:srgbClr val="F3F8FC"/>
          </a:solidFill>
          <a:ln w="10160">
            <a:solidFill>
              <a:srgbClr val="BDD6EA"/>
            </a:solidFill>
            <a:prstDash val="solid"/>
          </a:ln>
        </p:spPr>
      </p:sp>
      <p:sp>
        <p:nvSpPr>
          <p:cNvPr id="18" name="Text 16"/>
          <p:cNvSpPr/>
          <p:nvPr/>
        </p:nvSpPr>
        <p:spPr>
          <a:xfrm>
            <a:off x="530352" y="3136392"/>
            <a:ext cx="3410712" cy="859536"/>
          </a:xfrm>
          <a:prstGeom prst="rect">
            <a:avLst/>
          </a:prstGeom>
          <a:noFill/>
        </p:spPr>
        <p:txBody>
          <a:bodyPr wrap="square" lIns="0" tIns="0" rIns="0" bIns="0" rtlCol="0" anchor="ctr">
            <a:normAutofit/>
          </a:bodyPr>
          <a:lstStyle/>
          <a:p>
            <a:pPr marL="0" indent="0" algn="l">
              <a:buNone/>
            </a:pPr>
            <a:r>
              <a:rPr lang="en-US" sz="1520" b="1" dirty="0">
                <a:solidFill>
                  <a:srgbClr val="062642"/>
                </a:solidFill>
                <a:latin typeface="Aptos" pitchFamily="34" charset="0"/>
                <a:ea typeface="Aptos" pitchFamily="34" charset="-122"/>
                <a:cs typeface="Aptos" pitchFamily="34" charset="-120"/>
              </a:rPr>
              <a:t>Grounding rule became stricter: use only verified item evidence.</a:t>
            </a:r>
            <a:endParaRPr lang="en-US" sz="1520" dirty="0"/>
          </a:p>
        </p:txBody>
      </p:sp>
      <p:sp>
        <p:nvSpPr>
          <p:cNvPr id="19" name="Shape 17"/>
          <p:cNvSpPr/>
          <p:nvPr/>
        </p:nvSpPr>
        <p:spPr>
          <a:xfrm>
            <a:off x="4087368" y="3026664"/>
            <a:ext cx="3886200" cy="1078992"/>
          </a:xfrm>
          <a:prstGeom prst="rect">
            <a:avLst/>
          </a:prstGeom>
          <a:solidFill>
            <a:srgbClr val="F3F8FC"/>
          </a:solidFill>
          <a:ln w="10160">
            <a:solidFill>
              <a:srgbClr val="BDD6EA"/>
            </a:solidFill>
            <a:prstDash val="solid"/>
          </a:ln>
        </p:spPr>
      </p:sp>
      <p:sp>
        <p:nvSpPr>
          <p:cNvPr id="20" name="Text 18"/>
          <p:cNvSpPr/>
          <p:nvPr/>
        </p:nvSpPr>
        <p:spPr>
          <a:xfrm>
            <a:off x="4233672" y="3136392"/>
            <a:ext cx="3593592" cy="859536"/>
          </a:xfrm>
          <a:prstGeom prst="rect">
            <a:avLst/>
          </a:prstGeom>
          <a:noFill/>
        </p:spPr>
        <p:txBody>
          <a:bodyPr wrap="square" lIns="0" tIns="0" rIns="0" bIns="0" rtlCol="0" anchor="ctr">
            <a:normAutofit/>
          </a:bodyPr>
          <a:lstStyle/>
          <a:p>
            <a:pPr marL="0" indent="0" algn="l">
              <a:buNone/>
            </a:pPr>
            <a:r>
              <a:rPr lang="en-US" sz="1520" dirty="0">
                <a:solidFill>
                  <a:srgbClr val="062642"/>
                </a:solidFill>
                <a:latin typeface="Aptos" pitchFamily="34" charset="0"/>
                <a:ea typeface="Aptos" pitchFamily="34" charset="-122"/>
                <a:cs typeface="Aptos" pitchFamily="34" charset="-120"/>
              </a:rPr>
              <a:t>Reduces hallucinated dishes, service issues, names, or unsupported facts.</a:t>
            </a:r>
            <a:endParaRPr lang="en-US" sz="1520" dirty="0"/>
          </a:p>
        </p:txBody>
      </p:sp>
      <p:sp>
        <p:nvSpPr>
          <p:cNvPr id="21" name="Shape 19"/>
          <p:cNvSpPr/>
          <p:nvPr/>
        </p:nvSpPr>
        <p:spPr>
          <a:xfrm>
            <a:off x="7973568" y="3026664"/>
            <a:ext cx="3840480" cy="1078992"/>
          </a:xfrm>
          <a:prstGeom prst="rect">
            <a:avLst/>
          </a:prstGeom>
          <a:solidFill>
            <a:srgbClr val="F3F8FC"/>
          </a:solidFill>
          <a:ln w="10160">
            <a:solidFill>
              <a:srgbClr val="BDD6EA"/>
            </a:solidFill>
            <a:prstDash val="solid"/>
          </a:ln>
        </p:spPr>
      </p:sp>
      <p:sp>
        <p:nvSpPr>
          <p:cNvPr id="22" name="Text 20"/>
          <p:cNvSpPr/>
          <p:nvPr/>
        </p:nvSpPr>
        <p:spPr>
          <a:xfrm>
            <a:off x="8119872" y="3136392"/>
            <a:ext cx="3547872" cy="859536"/>
          </a:xfrm>
          <a:prstGeom prst="rect">
            <a:avLst/>
          </a:prstGeom>
          <a:noFill/>
        </p:spPr>
        <p:txBody>
          <a:bodyPr wrap="square" lIns="0" tIns="0" rIns="0" bIns="0" rtlCol="0" anchor="ctr">
            <a:normAutofit/>
          </a:bodyPr>
          <a:lstStyle/>
          <a:p>
            <a:pPr marL="0" indent="0" algn="l">
              <a:buNone/>
            </a:pPr>
            <a:r>
              <a:rPr lang="en-US" sz="1520" dirty="0">
                <a:solidFill>
                  <a:srgbClr val="062642"/>
                </a:solidFill>
                <a:latin typeface="Aptos" pitchFamily="34" charset="0"/>
                <a:ea typeface="Aptos" pitchFamily="34" charset="-122"/>
                <a:cs typeface="Aptos" pitchFamily="34" charset="-120"/>
              </a:rPr>
              <a:t>Sparse evidence leads to less detailed reviews.</a:t>
            </a:r>
            <a:endParaRPr lang="en-US" sz="1520" dirty="0"/>
          </a:p>
        </p:txBody>
      </p:sp>
      <p:sp>
        <p:nvSpPr>
          <p:cNvPr id="23" name="Shape 21"/>
          <p:cNvSpPr/>
          <p:nvPr/>
        </p:nvSpPr>
        <p:spPr>
          <a:xfrm>
            <a:off x="384048" y="4105656"/>
            <a:ext cx="3703320" cy="1078992"/>
          </a:xfrm>
          <a:prstGeom prst="rect">
            <a:avLst/>
          </a:prstGeom>
          <a:solidFill>
            <a:srgbClr val="FFFFFF"/>
          </a:solidFill>
          <a:ln w="10160">
            <a:solidFill>
              <a:srgbClr val="BDD6EA"/>
            </a:solidFill>
            <a:prstDash val="solid"/>
          </a:ln>
        </p:spPr>
      </p:sp>
      <p:sp>
        <p:nvSpPr>
          <p:cNvPr id="24" name="Text 22"/>
          <p:cNvSpPr/>
          <p:nvPr/>
        </p:nvSpPr>
        <p:spPr>
          <a:xfrm>
            <a:off x="530352" y="4215384"/>
            <a:ext cx="3410712" cy="859536"/>
          </a:xfrm>
          <a:prstGeom prst="rect">
            <a:avLst/>
          </a:prstGeom>
          <a:noFill/>
        </p:spPr>
        <p:txBody>
          <a:bodyPr wrap="square" lIns="0" tIns="0" rIns="0" bIns="0" rtlCol="0" anchor="ctr">
            <a:normAutofit/>
          </a:bodyPr>
          <a:lstStyle/>
          <a:p>
            <a:pPr marL="0" indent="0" algn="l">
              <a:buNone/>
            </a:pPr>
            <a:r>
              <a:rPr lang="en-US" sz="1520" b="1" dirty="0">
                <a:solidFill>
                  <a:srgbClr val="062642"/>
                </a:solidFill>
                <a:latin typeface="Aptos" pitchFamily="34" charset="0"/>
                <a:ea typeface="Aptos" pitchFamily="34" charset="-122"/>
                <a:cs typeface="Aptos" pitchFamily="34" charset="-120"/>
              </a:rPr>
              <a:t>Added sentiment intensity and leniency / harshness behavior.</a:t>
            </a:r>
            <a:endParaRPr lang="en-US" sz="1520" dirty="0"/>
          </a:p>
        </p:txBody>
      </p:sp>
      <p:sp>
        <p:nvSpPr>
          <p:cNvPr id="25" name="Shape 23"/>
          <p:cNvSpPr/>
          <p:nvPr/>
        </p:nvSpPr>
        <p:spPr>
          <a:xfrm>
            <a:off x="4087368" y="4105656"/>
            <a:ext cx="3886200" cy="1078992"/>
          </a:xfrm>
          <a:prstGeom prst="rect">
            <a:avLst/>
          </a:prstGeom>
          <a:solidFill>
            <a:srgbClr val="FFFFFF"/>
          </a:solidFill>
          <a:ln w="10160">
            <a:solidFill>
              <a:srgbClr val="BDD6EA"/>
            </a:solidFill>
            <a:prstDash val="solid"/>
          </a:ln>
        </p:spPr>
      </p:sp>
      <p:sp>
        <p:nvSpPr>
          <p:cNvPr id="26" name="Text 24"/>
          <p:cNvSpPr/>
          <p:nvPr/>
        </p:nvSpPr>
        <p:spPr>
          <a:xfrm>
            <a:off x="4233672" y="4215384"/>
            <a:ext cx="3593592" cy="859536"/>
          </a:xfrm>
          <a:prstGeom prst="rect">
            <a:avLst/>
          </a:prstGeom>
          <a:noFill/>
        </p:spPr>
        <p:txBody>
          <a:bodyPr wrap="square" lIns="0" tIns="0" rIns="0" bIns="0" rtlCol="0" anchor="ctr">
            <a:normAutofit/>
          </a:bodyPr>
          <a:lstStyle/>
          <a:p>
            <a:pPr marL="0" indent="0" algn="l">
              <a:buNone/>
            </a:pPr>
            <a:r>
              <a:rPr lang="en-US" sz="1520" dirty="0">
                <a:solidFill>
                  <a:srgbClr val="062642"/>
                </a:solidFill>
                <a:latin typeface="Aptos" pitchFamily="34" charset="0"/>
                <a:ea typeface="Aptos" pitchFamily="34" charset="-122"/>
                <a:cs typeface="Aptos" pitchFamily="34" charset="-120"/>
              </a:rPr>
              <a:t>Tone better matches user personality while stars stay locked.</a:t>
            </a:r>
            <a:endParaRPr lang="en-US" sz="1520" dirty="0"/>
          </a:p>
        </p:txBody>
      </p:sp>
      <p:sp>
        <p:nvSpPr>
          <p:cNvPr id="27" name="Shape 25"/>
          <p:cNvSpPr/>
          <p:nvPr/>
        </p:nvSpPr>
        <p:spPr>
          <a:xfrm>
            <a:off x="7973568" y="4105656"/>
            <a:ext cx="3840480" cy="1078992"/>
          </a:xfrm>
          <a:prstGeom prst="rect">
            <a:avLst/>
          </a:prstGeom>
          <a:solidFill>
            <a:srgbClr val="FFFFFF"/>
          </a:solidFill>
          <a:ln w="10160">
            <a:solidFill>
              <a:srgbClr val="BDD6EA"/>
            </a:solidFill>
            <a:prstDash val="solid"/>
          </a:ln>
        </p:spPr>
      </p:sp>
      <p:sp>
        <p:nvSpPr>
          <p:cNvPr id="28" name="Text 26"/>
          <p:cNvSpPr/>
          <p:nvPr/>
        </p:nvSpPr>
        <p:spPr>
          <a:xfrm>
            <a:off x="8119872" y="4215384"/>
            <a:ext cx="3547872" cy="859536"/>
          </a:xfrm>
          <a:prstGeom prst="rect">
            <a:avLst/>
          </a:prstGeom>
          <a:noFill/>
        </p:spPr>
        <p:txBody>
          <a:bodyPr wrap="square" lIns="0" tIns="0" rIns="0" bIns="0" rtlCol="0" anchor="ctr">
            <a:normAutofit/>
          </a:bodyPr>
          <a:lstStyle/>
          <a:p>
            <a:pPr marL="0" indent="0" algn="l">
              <a:buNone/>
            </a:pPr>
            <a:r>
              <a:rPr lang="en-US" sz="1520" dirty="0">
                <a:solidFill>
                  <a:srgbClr val="062642"/>
                </a:solidFill>
                <a:latin typeface="Aptos" pitchFamily="34" charset="0"/>
                <a:ea typeface="Aptos" pitchFamily="34" charset="-122"/>
                <a:cs typeface="Aptos" pitchFamily="34" charset="-120"/>
              </a:rPr>
              <a:t>May exaggerate user bias when evidence is weak.</a:t>
            </a:r>
            <a:endParaRPr lang="en-US" sz="1520" dirty="0"/>
          </a:p>
        </p:txBody>
      </p:sp>
      <p:sp>
        <p:nvSpPr>
          <p:cNvPr id="29" name="Shape 27"/>
          <p:cNvSpPr/>
          <p:nvPr/>
        </p:nvSpPr>
        <p:spPr>
          <a:xfrm>
            <a:off x="384048" y="5687568"/>
            <a:ext cx="11430000" cy="548640"/>
          </a:xfrm>
          <a:prstGeom prst="roundRect">
            <a:avLst>
              <a:gd name="adj" fmla="val 13333"/>
            </a:avLst>
          </a:prstGeom>
          <a:solidFill>
            <a:srgbClr val="EAF6FF"/>
          </a:solidFill>
          <a:ln w="15240">
            <a:solidFill>
              <a:srgbClr val="B8D5EC"/>
            </a:solidFill>
            <a:prstDash val="solid"/>
          </a:ln>
        </p:spPr>
      </p:sp>
      <p:sp>
        <p:nvSpPr>
          <p:cNvPr id="30" name="Text 28"/>
          <p:cNvSpPr/>
          <p:nvPr/>
        </p:nvSpPr>
        <p:spPr>
          <a:xfrm>
            <a:off x="603504" y="5852160"/>
            <a:ext cx="960120" cy="182880"/>
          </a:xfrm>
          <a:prstGeom prst="rect">
            <a:avLst/>
          </a:prstGeom>
          <a:noFill/>
        </p:spPr>
        <p:txBody>
          <a:bodyPr wrap="square" lIns="0" tIns="0" rIns="0" bIns="0" rtlCol="0" anchor="ctr">
            <a:normAutofit/>
          </a:bodyPr>
          <a:lstStyle/>
          <a:p>
            <a:pPr marL="0" indent="0" algn="l">
              <a:buNone/>
            </a:pPr>
            <a:r>
              <a:rPr lang="en-US" sz="960" b="1" dirty="0">
                <a:solidFill>
                  <a:srgbClr val="0064D8"/>
                </a:solidFill>
                <a:latin typeface="Aptos" pitchFamily="34" charset="0"/>
                <a:ea typeface="Aptos" pitchFamily="34" charset="-122"/>
                <a:cs typeface="Aptos" pitchFamily="34" charset="-120"/>
              </a:rPr>
              <a:t>KEY MESSAGE</a:t>
            </a:r>
            <a:endParaRPr lang="en-US" sz="960" dirty="0"/>
          </a:p>
        </p:txBody>
      </p:sp>
      <p:sp>
        <p:nvSpPr>
          <p:cNvPr id="31" name="Text 29"/>
          <p:cNvSpPr/>
          <p:nvPr/>
        </p:nvSpPr>
        <p:spPr>
          <a:xfrm>
            <a:off x="1755648" y="5797296"/>
            <a:ext cx="9738360" cy="292608"/>
          </a:xfrm>
          <a:prstGeom prst="rect">
            <a:avLst/>
          </a:prstGeom>
          <a:noFill/>
        </p:spPr>
        <p:txBody>
          <a:bodyPr wrap="square" lIns="0" tIns="0" rIns="0" bIns="0" rtlCol="0" anchor="ctr">
            <a:normAutofit fontScale="90000"/>
          </a:bodyPr>
          <a:lstStyle/>
          <a:p>
            <a:pPr marL="0" indent="0" algn="l">
              <a:buNone/>
            </a:pPr>
            <a:r>
              <a:rPr lang="en-US" sz="1280" b="1" dirty="0">
                <a:solidFill>
                  <a:srgbClr val="062642"/>
                </a:solidFill>
                <a:latin typeface="Aptos" pitchFamily="34" charset="0"/>
                <a:ea typeface="Aptos" pitchFamily="34" charset="-122"/>
                <a:cs typeface="Aptos" pitchFamily="34" charset="-120"/>
              </a:rPr>
              <a:t>OpenEvolve improved the final writer, not the rating formula — style became more authentic while predicted_stars stayed locked.</a:t>
            </a:r>
            <a:endParaRPr lang="en-US" sz="1280" dirty="0"/>
          </a:p>
        </p:txBody>
      </p:sp>
      <p:sp>
        <p:nvSpPr>
          <p:cNvPr id="3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9184" y="164592"/>
            <a:ext cx="2194560" cy="201168"/>
          </a:xfrm>
          <a:prstGeom prst="rect">
            <a:avLst/>
          </a:prstGeom>
          <a:noFill/>
        </p:spPr>
        <p:txBody>
          <a:bodyPr wrap="square" lIns="0" tIns="0" rIns="0" bIns="0" rtlCol="0" anchor="ctr">
            <a:normAutofit/>
          </a:bodyPr>
          <a:lstStyle/>
          <a:p>
            <a:pPr marL="0" indent="0" algn="l">
              <a:buNone/>
            </a:pPr>
            <a:r>
              <a:rPr lang="en-US" sz="850" b="1" dirty="0">
                <a:solidFill>
                  <a:srgbClr val="0F66E8"/>
                </a:solidFill>
                <a:latin typeface="Aptos" pitchFamily="34" charset="0"/>
                <a:ea typeface="Aptos" pitchFamily="34" charset="-122"/>
                <a:cs typeface="Aptos" pitchFamily="34" charset="-120"/>
              </a:rPr>
              <a:t>EVOLUTION ANALYSIS</a:t>
            </a:r>
            <a:endParaRPr lang="en-US" sz="850" dirty="0"/>
          </a:p>
        </p:txBody>
      </p:sp>
      <p:sp>
        <p:nvSpPr>
          <p:cNvPr id="3" name="Text 1"/>
          <p:cNvSpPr/>
          <p:nvPr/>
        </p:nvSpPr>
        <p:spPr>
          <a:xfrm>
            <a:off x="329184" y="448056"/>
            <a:ext cx="11521440" cy="502920"/>
          </a:xfrm>
          <a:prstGeom prst="rect">
            <a:avLst/>
          </a:prstGeom>
          <a:noFill/>
        </p:spPr>
        <p:txBody>
          <a:bodyPr wrap="square" lIns="0" tIns="0" rIns="0" bIns="0" rtlCol="0" anchor="ctr">
            <a:normAutofit/>
          </a:bodyPr>
          <a:lstStyle/>
          <a:p>
            <a:pPr marL="0" indent="0" algn="l">
              <a:buNone/>
            </a:pPr>
            <a:r>
              <a:rPr lang="en-US" sz="2900" b="1" dirty="0">
                <a:solidFill>
                  <a:srgbClr val="061B33"/>
                </a:solidFill>
                <a:latin typeface="Aptos" pitchFamily="34" charset="0"/>
                <a:ea typeface="Aptos" pitchFamily="34" charset="-122"/>
                <a:cs typeface="Aptos" pitchFamily="34" charset="-120"/>
              </a:rPr>
              <a:t>Round 1 Task</a:t>
            </a:r>
            <a:endParaRPr lang="en-US" sz="2900" dirty="0"/>
          </a:p>
        </p:txBody>
      </p:sp>
      <p:sp>
        <p:nvSpPr>
          <p:cNvPr id="4" name="Shape 2"/>
          <p:cNvSpPr/>
          <p:nvPr/>
        </p:nvSpPr>
        <p:spPr>
          <a:xfrm>
            <a:off x="329184" y="967740"/>
            <a:ext cx="11512296" cy="0"/>
          </a:xfrm>
          <a:prstGeom prst="line">
            <a:avLst/>
          </a:prstGeom>
          <a:noFill/>
          <a:ln w="15240">
            <a:solidFill>
              <a:srgbClr val="C6D6E6"/>
            </a:solidFill>
            <a:prstDash val="solid"/>
          </a:ln>
        </p:spPr>
      </p:sp>
      <p:sp>
        <p:nvSpPr>
          <p:cNvPr id="18" name="Shape 3"/>
          <p:cNvSpPr/>
          <p:nvPr/>
        </p:nvSpPr>
        <p:spPr>
          <a:xfrm>
            <a:off x="6265545" y="1239520"/>
            <a:ext cx="5766435" cy="2330450"/>
          </a:xfrm>
          <a:prstGeom prst="roundRect">
            <a:avLst/>
          </a:prstGeom>
          <a:solidFill>
            <a:srgbClr val="FFFFFF"/>
          </a:solidFill>
          <a:ln w="13970">
            <a:solidFill>
              <a:srgbClr val="C6D5E5"/>
            </a:solidFill>
            <a:prstDash val="solid"/>
          </a:ln>
        </p:spPr>
      </p:sp>
      <p:sp>
        <p:nvSpPr>
          <p:cNvPr id="17" name="Shape 3"/>
          <p:cNvSpPr/>
          <p:nvPr/>
        </p:nvSpPr>
        <p:spPr>
          <a:xfrm>
            <a:off x="2571750" y="3935730"/>
            <a:ext cx="7605395" cy="2809875"/>
          </a:xfrm>
          <a:prstGeom prst="roundRect">
            <a:avLst/>
          </a:prstGeom>
          <a:solidFill>
            <a:srgbClr val="FFFFFF"/>
          </a:solidFill>
          <a:ln w="13970">
            <a:solidFill>
              <a:srgbClr val="C6D5E5"/>
            </a:solidFill>
            <a:prstDash val="solid"/>
          </a:ln>
        </p:spPr>
      </p:sp>
      <p:sp>
        <p:nvSpPr>
          <p:cNvPr id="29" name="Shape 3"/>
          <p:cNvSpPr/>
          <p:nvPr/>
        </p:nvSpPr>
        <p:spPr>
          <a:xfrm>
            <a:off x="225425" y="1279525"/>
            <a:ext cx="5871210" cy="2290445"/>
          </a:xfrm>
          <a:prstGeom prst="roundRect">
            <a:avLst/>
          </a:prstGeom>
          <a:solidFill>
            <a:srgbClr val="FFFFFF"/>
          </a:solidFill>
          <a:ln w="13970" cap="flat" cmpd="sng">
            <a:solidFill>
              <a:schemeClr val="accent1"/>
            </a:solidFill>
            <a:prstDash val="solid"/>
          </a:ln>
        </p:spPr>
        <p:txBody>
          <a:bodyPr/>
          <a:p>
            <a:endParaRPr lang="en-US"/>
          </a:p>
        </p:txBody>
      </p:sp>
      <p:pic>
        <p:nvPicPr>
          <p:cNvPr id="30" name="Picture 29"/>
          <p:cNvPicPr>
            <a:picLocks noChangeAspect="1"/>
          </p:cNvPicPr>
          <p:nvPr/>
        </p:nvPicPr>
        <p:blipFill>
          <a:blip r:embed="rId1"/>
          <a:stretch>
            <a:fillRect/>
          </a:stretch>
        </p:blipFill>
        <p:spPr>
          <a:xfrm>
            <a:off x="328930" y="1513840"/>
            <a:ext cx="5640705" cy="1965325"/>
          </a:xfrm>
          <a:prstGeom prst="rect">
            <a:avLst/>
          </a:prstGeom>
        </p:spPr>
      </p:pic>
      <p:pic>
        <p:nvPicPr>
          <p:cNvPr id="31" name="Picture 30"/>
          <p:cNvPicPr>
            <a:picLocks noChangeAspect="1"/>
          </p:cNvPicPr>
          <p:nvPr/>
        </p:nvPicPr>
        <p:blipFill>
          <a:blip r:embed="rId2"/>
          <a:stretch>
            <a:fillRect/>
          </a:stretch>
        </p:blipFill>
        <p:spPr>
          <a:xfrm>
            <a:off x="6381750" y="1515745"/>
            <a:ext cx="5530215" cy="1927225"/>
          </a:xfrm>
          <a:prstGeom prst="rect">
            <a:avLst/>
          </a:prstGeom>
        </p:spPr>
      </p:pic>
      <p:pic>
        <p:nvPicPr>
          <p:cNvPr id="32" name="Picture 31"/>
          <p:cNvPicPr>
            <a:picLocks noChangeAspect="1"/>
          </p:cNvPicPr>
          <p:nvPr/>
        </p:nvPicPr>
        <p:blipFill>
          <a:blip r:embed="rId3"/>
          <a:stretch>
            <a:fillRect/>
          </a:stretch>
        </p:blipFill>
        <p:spPr>
          <a:xfrm>
            <a:off x="2708910" y="4102735"/>
            <a:ext cx="7323455" cy="2513965"/>
          </a:xfrm>
          <a:prstGeom prst="rect">
            <a:avLst/>
          </a:prstGeom>
        </p:spPr>
      </p:pic>
      <p:sp>
        <p:nvSpPr>
          <p:cNvPr id="33" name="Text 4"/>
          <p:cNvSpPr/>
          <p:nvPr/>
        </p:nvSpPr>
        <p:spPr>
          <a:xfrm>
            <a:off x="3804285" y="3953510"/>
            <a:ext cx="2987675" cy="290830"/>
          </a:xfrm>
          <a:prstGeom prst="rect">
            <a:avLst/>
          </a:prstGeom>
          <a:noFill/>
        </p:spPr>
        <p:txBody>
          <a:bodyPr wrap="square" lIns="0" tIns="0" rIns="0" bIns="0" rtlCol="0" anchor="ctr"/>
          <a:lstStyle/>
          <a:p>
            <a:pPr marL="0" indent="0" algn="r">
              <a:buNone/>
            </a:pPr>
            <a:r>
              <a:rPr lang="en-US" sz="2200" dirty="0"/>
              <a:t>Review generation</a:t>
            </a:r>
            <a:endParaRPr lang="en-US" sz="2200" dirty="0"/>
          </a:p>
        </p:txBody>
      </p:sp>
      <p:sp>
        <p:nvSpPr>
          <p:cNvPr id="34" name="Text 5"/>
          <p:cNvSpPr/>
          <p:nvPr/>
        </p:nvSpPr>
        <p:spPr>
          <a:xfrm>
            <a:off x="6855651" y="3933063"/>
            <a:ext cx="914400" cy="310896"/>
          </a:xfrm>
          <a:prstGeom prst="rect">
            <a:avLst/>
          </a:prstGeom>
          <a:noFill/>
        </p:spPr>
        <p:txBody>
          <a:bodyPr wrap="square" lIns="0" tIns="0" rIns="0" bIns="0" rtlCol="0" anchor="ctr"/>
          <a:lstStyle/>
          <a:p>
            <a:pPr marL="0" indent="0">
              <a:buNone/>
            </a:pPr>
            <a:r>
              <a:rPr lang="en-US" sz="2200" b="1" dirty="0">
                <a:solidFill>
                  <a:srgbClr val="078A67"/>
                </a:solidFill>
              </a:rPr>
              <a:t>0.</a:t>
            </a:r>
            <a:r>
              <a:rPr lang="vi-VN" sz="2200" b="1" dirty="0">
                <a:solidFill>
                  <a:srgbClr val="078A67"/>
                </a:solidFill>
              </a:rPr>
              <a:t>8582</a:t>
            </a:r>
            <a:endParaRPr lang="vi-VN" sz="2200" b="1" dirty="0">
              <a:solidFill>
                <a:srgbClr val="078A67"/>
              </a:solidFill>
            </a:endParaRPr>
          </a:p>
        </p:txBody>
      </p:sp>
      <p:sp>
        <p:nvSpPr>
          <p:cNvPr id="35" name="Text 4"/>
          <p:cNvSpPr/>
          <p:nvPr/>
        </p:nvSpPr>
        <p:spPr>
          <a:xfrm>
            <a:off x="6899910" y="1271905"/>
            <a:ext cx="3101975" cy="306705"/>
          </a:xfrm>
          <a:prstGeom prst="rect">
            <a:avLst/>
          </a:prstGeom>
          <a:noFill/>
        </p:spPr>
        <p:txBody>
          <a:bodyPr wrap="square" lIns="0" tIns="0" rIns="0" bIns="0" rtlCol="0" anchor="ctr"/>
          <a:lstStyle/>
          <a:p>
            <a:pPr marL="0" indent="0" algn="r">
              <a:buNone/>
            </a:pPr>
            <a:r>
              <a:rPr lang="en-US" sz="2200" dirty="0"/>
              <a:t>Preference_estimation</a:t>
            </a:r>
            <a:endParaRPr lang="en-US" sz="2200" dirty="0"/>
          </a:p>
        </p:txBody>
      </p:sp>
      <p:sp>
        <p:nvSpPr>
          <p:cNvPr id="36" name="Text 5"/>
          <p:cNvSpPr/>
          <p:nvPr/>
        </p:nvSpPr>
        <p:spPr>
          <a:xfrm>
            <a:off x="10051606" y="1281303"/>
            <a:ext cx="914400" cy="310896"/>
          </a:xfrm>
          <a:prstGeom prst="rect">
            <a:avLst/>
          </a:prstGeom>
          <a:noFill/>
        </p:spPr>
        <p:txBody>
          <a:bodyPr wrap="square" lIns="0" tIns="0" rIns="0" bIns="0" rtlCol="0" anchor="ctr"/>
          <a:lstStyle/>
          <a:p>
            <a:pPr marL="0" indent="0">
              <a:buNone/>
            </a:pPr>
            <a:r>
              <a:rPr lang="en-US" sz="2200" b="1" dirty="0">
                <a:solidFill>
                  <a:srgbClr val="078A67"/>
                </a:solidFill>
              </a:rPr>
              <a:t>0.8</a:t>
            </a:r>
            <a:r>
              <a:rPr lang="vi-VN" altLang="en-US" sz="2200" b="1" dirty="0">
                <a:solidFill>
                  <a:srgbClr val="078A67"/>
                </a:solidFill>
              </a:rPr>
              <a:t>800</a:t>
            </a:r>
            <a:endParaRPr lang="vi-VN" altLang="en-US" sz="2200" b="1" dirty="0">
              <a:solidFill>
                <a:srgbClr val="078A67"/>
              </a:solidFill>
            </a:endParaRPr>
          </a:p>
        </p:txBody>
      </p:sp>
      <p:sp>
        <p:nvSpPr>
          <p:cNvPr id="37" name="Text 4"/>
          <p:cNvSpPr/>
          <p:nvPr/>
        </p:nvSpPr>
        <p:spPr>
          <a:xfrm>
            <a:off x="1741170" y="1322070"/>
            <a:ext cx="2186940" cy="290830"/>
          </a:xfrm>
          <a:prstGeom prst="rect">
            <a:avLst/>
          </a:prstGeom>
          <a:noFill/>
        </p:spPr>
        <p:txBody>
          <a:bodyPr wrap="square" lIns="0" tIns="0" rIns="0" bIns="0" rtlCol="0" anchor="ctr"/>
          <a:lstStyle/>
          <a:p>
            <a:pPr marL="0" indent="0" algn="r">
              <a:buNone/>
            </a:pPr>
            <a:r>
              <a:rPr lang="en-US" sz="2200" dirty="0"/>
              <a:t>Combined score</a:t>
            </a:r>
            <a:endParaRPr lang="en-US" sz="2200" dirty="0"/>
          </a:p>
        </p:txBody>
      </p:sp>
      <p:sp>
        <p:nvSpPr>
          <p:cNvPr id="38" name="Text 5"/>
          <p:cNvSpPr/>
          <p:nvPr/>
        </p:nvSpPr>
        <p:spPr>
          <a:xfrm>
            <a:off x="3991801" y="1301623"/>
            <a:ext cx="914400" cy="310896"/>
          </a:xfrm>
          <a:prstGeom prst="rect">
            <a:avLst/>
          </a:prstGeom>
          <a:noFill/>
        </p:spPr>
        <p:txBody>
          <a:bodyPr wrap="square" lIns="0" tIns="0" rIns="0" bIns="0" rtlCol="0" anchor="ctr"/>
          <a:lstStyle/>
          <a:p>
            <a:pPr marL="0" indent="0">
              <a:buNone/>
            </a:pPr>
            <a:r>
              <a:rPr lang="en-US" sz="2200" b="1" dirty="0">
                <a:solidFill>
                  <a:srgbClr val="078A67"/>
                </a:solidFill>
              </a:rPr>
              <a:t>0.</a:t>
            </a:r>
            <a:r>
              <a:rPr lang="vi-VN" sz="2200" b="1" dirty="0">
                <a:solidFill>
                  <a:srgbClr val="078A67"/>
                </a:solidFill>
              </a:rPr>
              <a:t>8691</a:t>
            </a:r>
            <a:endParaRPr lang="vi-VN" sz="2200" b="1" dirty="0">
              <a:solidFill>
                <a:srgbClr val="078A67"/>
              </a:solidFill>
            </a:endParaRPr>
          </a:p>
        </p:txBody>
      </p:sp>
      <p:sp>
        <p:nvSpPr>
          <p:cNvPr id="4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dirty="0"/>
              <a:t>24</a:t>
            </a:r>
            <a:endParaRPr lang="en-US" altLang="vi-VN"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3"/>
          <p:cNvSpPr/>
          <p:nvPr/>
        </p:nvSpPr>
        <p:spPr>
          <a:xfrm>
            <a:off x="981710" y="1068705"/>
            <a:ext cx="10090785" cy="5740400"/>
          </a:xfrm>
          <a:prstGeom prst="roundRect">
            <a:avLst>
              <a:gd name="adj" fmla="val 2712"/>
            </a:avLst>
          </a:prstGeom>
          <a:solidFill>
            <a:srgbClr val="FFFFFF"/>
          </a:solidFill>
          <a:ln w="10160">
            <a:solidFill>
              <a:srgbClr val="C6D6E6"/>
            </a:solidFill>
            <a:prstDash val="solid"/>
          </a:ln>
          <a:effectLst>
            <a:outerShdw blurRad="12700" dist="50800" dir="2700000" algn="bl" rotWithShape="0">
              <a:srgbClr val="DCE7F2">
                <a:alpha val="24000"/>
              </a:srgbClr>
            </a:outerShdw>
          </a:effectLst>
        </p:spPr>
      </p:sp>
      <p:sp>
        <p:nvSpPr>
          <p:cNvPr id="2" name="Text 0"/>
          <p:cNvSpPr/>
          <p:nvPr/>
        </p:nvSpPr>
        <p:spPr>
          <a:xfrm>
            <a:off x="384048" y="201168"/>
            <a:ext cx="2743200" cy="182880"/>
          </a:xfrm>
          <a:prstGeom prst="rect">
            <a:avLst/>
          </a:prstGeom>
          <a:noFill/>
        </p:spPr>
        <p:txBody>
          <a:bodyPr wrap="square" lIns="0" tIns="0" rIns="0" bIns="0" rtlCol="0" anchor="ctr"/>
          <a:lstStyle/>
          <a:p>
            <a:pPr marL="0" indent="0">
              <a:buNone/>
            </a:pPr>
            <a:r>
              <a:rPr lang="en-US" sz="950" b="1" dirty="0">
                <a:solidFill>
                  <a:srgbClr val="0B63E5"/>
                </a:solidFill>
                <a:latin typeface="Aptos" pitchFamily="34" charset="0"/>
                <a:ea typeface="Aptos" pitchFamily="34" charset="-122"/>
                <a:cs typeface="Aptos" pitchFamily="34" charset="-120"/>
              </a:rPr>
              <a:t>EVOLUTION ANALYSIS</a:t>
            </a:r>
            <a:endParaRPr lang="en-US" sz="950" dirty="0"/>
          </a:p>
        </p:txBody>
      </p:sp>
      <p:sp>
        <p:nvSpPr>
          <p:cNvPr id="3" name="Text 1"/>
          <p:cNvSpPr/>
          <p:nvPr/>
        </p:nvSpPr>
        <p:spPr>
          <a:xfrm>
            <a:off x="384048" y="457200"/>
            <a:ext cx="11338560" cy="502920"/>
          </a:xfrm>
          <a:prstGeom prst="rect">
            <a:avLst/>
          </a:prstGeom>
          <a:noFill/>
        </p:spPr>
        <p:txBody>
          <a:bodyPr wrap="square" lIns="0" tIns="0" rIns="0" bIns="0" rtlCol="0" anchor="ctr">
            <a:normAutofit/>
          </a:bodyPr>
          <a:lstStyle/>
          <a:p>
            <a:pPr marL="0" indent="0">
              <a:buNone/>
            </a:pPr>
            <a:r>
              <a:rPr lang="en-US" sz="2900" b="1" dirty="0">
                <a:solidFill>
                  <a:srgbClr val="061E3A"/>
                </a:solidFill>
                <a:latin typeface="Aptos Display" pitchFamily="34" charset="0"/>
                <a:ea typeface="Aptos Display" pitchFamily="34" charset="-122"/>
                <a:cs typeface="Aptos Display" pitchFamily="34" charset="-120"/>
              </a:rPr>
              <a:t>Round 1 </a:t>
            </a:r>
            <a:r>
              <a:rPr lang="vi-VN" altLang="en-US" sz="2900" b="1" dirty="0">
                <a:solidFill>
                  <a:srgbClr val="061E3A"/>
                </a:solidFill>
                <a:latin typeface="Aptos Display" pitchFamily="34" charset="0"/>
                <a:ea typeface="Aptos Display" pitchFamily="34" charset="-122"/>
                <a:cs typeface="Aptos Display" pitchFamily="34" charset="-120"/>
              </a:rPr>
              <a:t>RPP</a:t>
            </a:r>
            <a:endParaRPr lang="vi-VN" altLang="en-US" sz="2900" b="1" dirty="0">
              <a:solidFill>
                <a:srgbClr val="061E3A"/>
              </a:solidFill>
              <a:latin typeface="Aptos Display" pitchFamily="34" charset="0"/>
              <a:ea typeface="Aptos Display" pitchFamily="34" charset="-122"/>
              <a:cs typeface="Aptos Display" pitchFamily="34" charset="-120"/>
            </a:endParaRPr>
          </a:p>
        </p:txBody>
      </p:sp>
      <p:sp>
        <p:nvSpPr>
          <p:cNvPr id="4" name="Shape 2"/>
          <p:cNvSpPr/>
          <p:nvPr/>
        </p:nvSpPr>
        <p:spPr>
          <a:xfrm>
            <a:off x="384048" y="958596"/>
            <a:ext cx="11384280" cy="0"/>
          </a:xfrm>
          <a:prstGeom prst="line">
            <a:avLst/>
          </a:prstGeom>
          <a:noFill/>
          <a:ln w="12700">
            <a:solidFill>
              <a:srgbClr val="BBD1E8"/>
            </a:solidFill>
            <a:prstDash val="solid"/>
          </a:ln>
        </p:spPr>
      </p:sp>
      <p:pic>
        <p:nvPicPr>
          <p:cNvPr id="33" name="Picture 32" descr="round1_eval"/>
          <p:cNvPicPr>
            <a:picLocks noChangeAspect="1"/>
          </p:cNvPicPr>
          <p:nvPr/>
        </p:nvPicPr>
        <p:blipFill>
          <a:blip r:embed="rId1"/>
          <a:stretch>
            <a:fillRect/>
          </a:stretch>
        </p:blipFill>
        <p:spPr>
          <a:xfrm>
            <a:off x="1092835" y="1384300"/>
            <a:ext cx="9892665" cy="5334000"/>
          </a:xfrm>
          <a:prstGeom prst="rect">
            <a:avLst/>
          </a:prstGeom>
        </p:spPr>
      </p:pic>
      <p:sp>
        <p:nvSpPr>
          <p:cNvPr id="42" name="Shape 7"/>
          <p:cNvSpPr/>
          <p:nvPr/>
        </p:nvSpPr>
        <p:spPr>
          <a:xfrm>
            <a:off x="2026158" y="1135380"/>
            <a:ext cx="2834640" cy="164592"/>
          </a:xfrm>
          <a:prstGeom prst="roundRect">
            <a:avLst>
              <a:gd name="adj" fmla="val 38889"/>
            </a:avLst>
          </a:prstGeom>
          <a:solidFill>
            <a:srgbClr val="F5F8FD"/>
          </a:solidFill>
          <a:ln w="5080">
            <a:solidFill>
              <a:srgbClr val="DCE6F2"/>
            </a:solidFill>
            <a:prstDash val="solid"/>
          </a:ln>
        </p:spPr>
      </p:sp>
      <p:sp>
        <p:nvSpPr>
          <p:cNvPr id="43" name="Shape 8"/>
          <p:cNvSpPr/>
          <p:nvPr/>
        </p:nvSpPr>
        <p:spPr>
          <a:xfrm>
            <a:off x="2190750" y="1185672"/>
            <a:ext cx="73152" cy="73152"/>
          </a:xfrm>
          <a:prstGeom prst="ellipse">
            <a:avLst/>
          </a:prstGeom>
          <a:solidFill>
            <a:srgbClr val="0B63E5"/>
          </a:solidFill>
          <a:ln w="12700">
            <a:solidFill>
              <a:srgbClr val="0B63E5">
                <a:alpha val="0"/>
              </a:srgbClr>
            </a:solidFill>
            <a:prstDash val="solid"/>
          </a:ln>
        </p:spPr>
      </p:sp>
      <p:sp>
        <p:nvSpPr>
          <p:cNvPr id="44" name="Text 9"/>
          <p:cNvSpPr/>
          <p:nvPr/>
        </p:nvSpPr>
        <p:spPr>
          <a:xfrm>
            <a:off x="2300478"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candidate</a:t>
            </a:r>
            <a:endParaRPr lang="en-US" sz="980" dirty="0">
              <a:solidFill>
                <a:srgbClr val="425A76"/>
              </a:solidFill>
            </a:endParaRPr>
          </a:p>
        </p:txBody>
      </p:sp>
      <p:sp>
        <p:nvSpPr>
          <p:cNvPr id="45" name="Shape 10"/>
          <p:cNvSpPr/>
          <p:nvPr/>
        </p:nvSpPr>
        <p:spPr>
          <a:xfrm>
            <a:off x="3086862" y="1185672"/>
            <a:ext cx="73152" cy="73152"/>
          </a:xfrm>
          <a:prstGeom prst="ellipse">
            <a:avLst/>
          </a:prstGeom>
          <a:solidFill>
            <a:srgbClr val="F28C00"/>
          </a:solidFill>
          <a:ln w="12700">
            <a:solidFill>
              <a:srgbClr val="F28C00">
                <a:alpha val="0"/>
              </a:srgbClr>
            </a:solidFill>
            <a:prstDash val="solid"/>
          </a:ln>
        </p:spPr>
      </p:sp>
      <p:sp>
        <p:nvSpPr>
          <p:cNvPr id="46" name="Text 11"/>
          <p:cNvSpPr/>
          <p:nvPr/>
        </p:nvSpPr>
        <p:spPr>
          <a:xfrm>
            <a:off x="3196590"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branch</a:t>
            </a:r>
            <a:endParaRPr lang="en-US" sz="980" dirty="0">
              <a:solidFill>
                <a:srgbClr val="425A76"/>
              </a:solidFill>
            </a:endParaRPr>
          </a:p>
        </p:txBody>
      </p:sp>
      <p:sp>
        <p:nvSpPr>
          <p:cNvPr id="47" name="Shape 12"/>
          <p:cNvSpPr/>
          <p:nvPr/>
        </p:nvSpPr>
        <p:spPr>
          <a:xfrm>
            <a:off x="3982974" y="1185672"/>
            <a:ext cx="73152" cy="73152"/>
          </a:xfrm>
          <a:prstGeom prst="ellipse">
            <a:avLst/>
          </a:prstGeom>
          <a:solidFill>
            <a:srgbClr val="00A34A"/>
          </a:solidFill>
          <a:ln w="12700">
            <a:solidFill>
              <a:srgbClr val="00A34A">
                <a:alpha val="0"/>
              </a:srgbClr>
            </a:solidFill>
            <a:prstDash val="solid"/>
          </a:ln>
        </p:spPr>
      </p:sp>
      <p:sp>
        <p:nvSpPr>
          <p:cNvPr id="48" name="Text 13"/>
          <p:cNvSpPr/>
          <p:nvPr/>
        </p:nvSpPr>
        <p:spPr>
          <a:xfrm>
            <a:off x="4092702"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parent</a:t>
            </a:r>
            <a:endParaRPr lang="en-US" sz="980" dirty="0">
              <a:solidFill>
                <a:srgbClr val="425A76"/>
              </a:solidFill>
            </a:endParaRPr>
          </a:p>
        </p:txBody>
      </p:sp>
      <p:sp>
        <p:nvSpPr>
          <p:cNvPr id="49"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b="1" dirty="0">
                <a:solidFill>
                  <a:srgbClr val="64748B"/>
                </a:solidFill>
                <a:latin typeface="Aptos" pitchFamily="34" charset="0"/>
                <a:ea typeface="Aptos" pitchFamily="34" charset="-122"/>
                <a:cs typeface="Aptos" pitchFamily="34" charset="-120"/>
              </a:rPr>
              <a:t>25</a:t>
            </a:r>
            <a:endParaRPr lang="en-US" altLang="vi-VN"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84048" y="201168"/>
            <a:ext cx="2560320" cy="201168"/>
          </a:xfrm>
          <a:prstGeom prst="rect">
            <a:avLst/>
          </a:prstGeom>
          <a:noFill/>
        </p:spPr>
        <p:txBody>
          <a:bodyPr wrap="square" lIns="0" tIns="0" rIns="0" bIns="0" rtlCol="0" anchor="ctr">
            <a:normAutofit/>
          </a:bodyPr>
          <a:lstStyle/>
          <a:p>
            <a:pPr marL="0" indent="0" algn="l">
              <a:buNone/>
            </a:pPr>
            <a:r>
              <a:rPr lang="en-US" sz="1100" b="1" dirty="0">
                <a:solidFill>
                  <a:srgbClr val="0064D8"/>
                </a:solidFill>
                <a:latin typeface="Aptos" pitchFamily="34" charset="0"/>
                <a:ea typeface="Aptos" pitchFamily="34" charset="-122"/>
                <a:cs typeface="Aptos" pitchFamily="34" charset="-120"/>
              </a:rPr>
              <a:t>EVOLUTION ANALYSIS</a:t>
            </a:r>
            <a:endParaRPr lang="en-US" sz="1100" dirty="0"/>
          </a:p>
        </p:txBody>
      </p:sp>
      <p:sp>
        <p:nvSpPr>
          <p:cNvPr id="3" name="Text 1"/>
          <p:cNvSpPr/>
          <p:nvPr/>
        </p:nvSpPr>
        <p:spPr>
          <a:xfrm>
            <a:off x="384048" y="548640"/>
            <a:ext cx="10698480" cy="530352"/>
          </a:xfrm>
          <a:prstGeom prst="rect">
            <a:avLst/>
          </a:prstGeom>
          <a:noFill/>
        </p:spPr>
        <p:txBody>
          <a:bodyPr wrap="square" lIns="0" tIns="0" rIns="0" bIns="0" rtlCol="0" anchor="ctr">
            <a:normAutofit/>
          </a:bodyPr>
          <a:lstStyle/>
          <a:p>
            <a:pPr marL="0" indent="0">
              <a:buNone/>
            </a:pPr>
            <a:r>
              <a:rPr lang="en-US" sz="3000" b="1" dirty="0">
                <a:solidFill>
                  <a:srgbClr val="062642"/>
                </a:solidFill>
                <a:latin typeface="Aptos Display" pitchFamily="34" charset="0"/>
                <a:ea typeface="Aptos Display" pitchFamily="34" charset="-122"/>
                <a:cs typeface="Aptos Display" pitchFamily="34" charset="-120"/>
              </a:rPr>
              <a:t>Task evolution: clearer contracts, safer final output</a:t>
            </a:r>
            <a:endParaRPr lang="en-US" sz="3000" dirty="0"/>
          </a:p>
        </p:txBody>
      </p:sp>
      <p:sp>
        <p:nvSpPr>
          <p:cNvPr id="4" name="Shape 2"/>
          <p:cNvSpPr/>
          <p:nvPr/>
        </p:nvSpPr>
        <p:spPr>
          <a:xfrm>
            <a:off x="384048" y="1115568"/>
            <a:ext cx="11430000" cy="0"/>
          </a:xfrm>
          <a:prstGeom prst="line">
            <a:avLst/>
          </a:prstGeom>
          <a:noFill/>
          <a:ln w="16510">
            <a:solidFill>
              <a:srgbClr val="BDD6EA"/>
            </a:solidFill>
            <a:prstDash val="solid"/>
          </a:ln>
        </p:spPr>
      </p:sp>
      <p:sp>
        <p:nvSpPr>
          <p:cNvPr id="5" name="Shape 3"/>
          <p:cNvSpPr/>
          <p:nvPr/>
        </p:nvSpPr>
        <p:spPr>
          <a:xfrm>
            <a:off x="384048" y="1417320"/>
            <a:ext cx="3703320" cy="530352"/>
          </a:xfrm>
          <a:prstGeom prst="rect">
            <a:avLst/>
          </a:prstGeom>
          <a:solidFill>
            <a:srgbClr val="0064D8"/>
          </a:solidFill>
          <a:ln w="10160">
            <a:solidFill>
              <a:srgbClr val="FFFFFF"/>
            </a:solidFill>
            <a:prstDash val="solid"/>
          </a:ln>
        </p:spPr>
      </p:sp>
      <p:sp>
        <p:nvSpPr>
          <p:cNvPr id="6" name="Text 4"/>
          <p:cNvSpPr/>
          <p:nvPr/>
        </p:nvSpPr>
        <p:spPr>
          <a:xfrm>
            <a:off x="512064" y="1554480"/>
            <a:ext cx="3447288" cy="228600"/>
          </a:xfrm>
          <a:prstGeom prst="rect">
            <a:avLst/>
          </a:prstGeom>
          <a:noFill/>
        </p:spPr>
        <p:txBody>
          <a:bodyPr wrap="square" lIns="0" tIns="0" rIns="0" bIns="0" rtlCol="0" anchor="ctr">
            <a:normAutofit lnSpcReduction="20000"/>
          </a:bodyPr>
          <a:lstStyle/>
          <a:p>
            <a:pPr marL="0" indent="0" algn="l">
              <a:buNone/>
            </a:pPr>
            <a:r>
              <a:rPr lang="en-US" sz="1550" b="1" dirty="0">
                <a:solidFill>
                  <a:srgbClr val="FFFFFF"/>
                </a:solidFill>
                <a:latin typeface="Aptos" pitchFamily="34" charset="0"/>
                <a:ea typeface="Aptos" pitchFamily="34" charset="-122"/>
                <a:cs typeface="Aptos" pitchFamily="34" charset="-120"/>
              </a:rPr>
              <a:t>WHAT CHANGED</a:t>
            </a:r>
            <a:endParaRPr lang="en-US" sz="1550" dirty="0"/>
          </a:p>
        </p:txBody>
      </p:sp>
      <p:sp>
        <p:nvSpPr>
          <p:cNvPr id="7" name="Shape 5"/>
          <p:cNvSpPr/>
          <p:nvPr/>
        </p:nvSpPr>
        <p:spPr>
          <a:xfrm>
            <a:off x="4087368" y="1417320"/>
            <a:ext cx="3886200" cy="530352"/>
          </a:xfrm>
          <a:prstGeom prst="rect">
            <a:avLst/>
          </a:prstGeom>
          <a:solidFill>
            <a:srgbClr val="07896E"/>
          </a:solidFill>
          <a:ln w="10160">
            <a:solidFill>
              <a:srgbClr val="FFFFFF"/>
            </a:solidFill>
            <a:prstDash val="solid"/>
          </a:ln>
        </p:spPr>
      </p:sp>
      <p:sp>
        <p:nvSpPr>
          <p:cNvPr id="8" name="Text 6"/>
          <p:cNvSpPr/>
          <p:nvPr/>
        </p:nvSpPr>
        <p:spPr>
          <a:xfrm>
            <a:off x="4215384" y="1554480"/>
            <a:ext cx="3630168" cy="228600"/>
          </a:xfrm>
          <a:prstGeom prst="rect">
            <a:avLst/>
          </a:prstGeom>
          <a:noFill/>
        </p:spPr>
        <p:txBody>
          <a:bodyPr wrap="square" lIns="0" tIns="0" rIns="0" bIns="0" rtlCol="0" anchor="ctr">
            <a:normAutofit lnSpcReduction="20000"/>
          </a:bodyPr>
          <a:lstStyle/>
          <a:p>
            <a:pPr marL="0" indent="0" algn="l">
              <a:buNone/>
            </a:pPr>
            <a:r>
              <a:rPr lang="en-US" sz="1550" b="1" dirty="0">
                <a:solidFill>
                  <a:srgbClr val="FFFFFF"/>
                </a:solidFill>
                <a:latin typeface="Aptos" pitchFamily="34" charset="0"/>
                <a:ea typeface="Aptos" pitchFamily="34" charset="-122"/>
                <a:cs typeface="Aptos" pitchFamily="34" charset="-120"/>
              </a:rPr>
              <a:t>WHY IT HELPED</a:t>
            </a:r>
            <a:endParaRPr lang="en-US" sz="1550" dirty="0"/>
          </a:p>
        </p:txBody>
      </p:sp>
      <p:sp>
        <p:nvSpPr>
          <p:cNvPr id="9" name="Shape 7"/>
          <p:cNvSpPr/>
          <p:nvPr/>
        </p:nvSpPr>
        <p:spPr>
          <a:xfrm>
            <a:off x="7973568" y="1417320"/>
            <a:ext cx="3840480" cy="530352"/>
          </a:xfrm>
          <a:prstGeom prst="rect">
            <a:avLst/>
          </a:prstGeom>
          <a:solidFill>
            <a:srgbClr val="FF7A00"/>
          </a:solidFill>
          <a:ln w="10160">
            <a:solidFill>
              <a:srgbClr val="FFFFFF"/>
            </a:solidFill>
            <a:prstDash val="solid"/>
          </a:ln>
        </p:spPr>
      </p:sp>
      <p:sp>
        <p:nvSpPr>
          <p:cNvPr id="10" name="Text 8"/>
          <p:cNvSpPr/>
          <p:nvPr/>
        </p:nvSpPr>
        <p:spPr>
          <a:xfrm>
            <a:off x="8101584" y="1554480"/>
            <a:ext cx="3584448" cy="228600"/>
          </a:xfrm>
          <a:prstGeom prst="rect">
            <a:avLst/>
          </a:prstGeom>
          <a:noFill/>
        </p:spPr>
        <p:txBody>
          <a:bodyPr wrap="square" lIns="0" tIns="0" rIns="0" bIns="0" rtlCol="0" anchor="ctr">
            <a:normAutofit lnSpcReduction="20000"/>
          </a:bodyPr>
          <a:lstStyle/>
          <a:p>
            <a:pPr marL="0" indent="0" algn="l">
              <a:buNone/>
            </a:pPr>
            <a:r>
              <a:rPr lang="en-US" sz="1550" b="1" dirty="0">
                <a:solidFill>
                  <a:srgbClr val="FFFFFF"/>
                </a:solidFill>
                <a:latin typeface="Aptos" pitchFamily="34" charset="0"/>
                <a:ea typeface="Aptos" pitchFamily="34" charset="-122"/>
                <a:cs typeface="Aptos" pitchFamily="34" charset="-120"/>
              </a:rPr>
              <a:t>TRADE-OFF</a:t>
            </a:r>
            <a:endParaRPr lang="en-US" sz="1550" dirty="0"/>
          </a:p>
        </p:txBody>
      </p:sp>
      <p:sp>
        <p:nvSpPr>
          <p:cNvPr id="11" name="Shape 9"/>
          <p:cNvSpPr/>
          <p:nvPr/>
        </p:nvSpPr>
        <p:spPr>
          <a:xfrm>
            <a:off x="384048" y="1947672"/>
            <a:ext cx="3703320" cy="1124712"/>
          </a:xfrm>
          <a:prstGeom prst="rect">
            <a:avLst/>
          </a:prstGeom>
          <a:solidFill>
            <a:srgbClr val="FFFFFF"/>
          </a:solidFill>
          <a:ln w="10160">
            <a:solidFill>
              <a:srgbClr val="BDD6EA"/>
            </a:solidFill>
            <a:prstDash val="solid"/>
          </a:ln>
        </p:spPr>
      </p:sp>
      <p:sp>
        <p:nvSpPr>
          <p:cNvPr id="12" name="Text 10"/>
          <p:cNvSpPr/>
          <p:nvPr/>
        </p:nvSpPr>
        <p:spPr>
          <a:xfrm>
            <a:off x="530352" y="2057400"/>
            <a:ext cx="3410712" cy="905256"/>
          </a:xfrm>
          <a:prstGeom prst="rect">
            <a:avLst/>
          </a:prstGeom>
          <a:noFill/>
        </p:spPr>
        <p:txBody>
          <a:bodyPr wrap="square" lIns="0" tIns="0" rIns="0" bIns="0" rtlCol="0" anchor="ctr">
            <a:normAutofit/>
          </a:bodyPr>
          <a:lstStyle/>
          <a:p>
            <a:pPr marL="0" indent="0" algn="l">
              <a:buNone/>
            </a:pPr>
            <a:r>
              <a:rPr lang="en-US" sz="1540" b="1" dirty="0">
                <a:solidFill>
                  <a:srgbClr val="062642"/>
                </a:solidFill>
                <a:latin typeface="Aptos" pitchFamily="34" charset="0"/>
                <a:ea typeface="Aptos" pitchFamily="34" charset="-122"/>
                <a:cs typeface="Aptos" pitchFamily="34" charset="-120"/>
              </a:rPr>
              <a:t>User task became signal-based: user average, deviation, bias, style markers.</a:t>
            </a:r>
            <a:endParaRPr lang="en-US" sz="1540" dirty="0"/>
          </a:p>
        </p:txBody>
      </p:sp>
      <p:sp>
        <p:nvSpPr>
          <p:cNvPr id="13" name="Shape 11"/>
          <p:cNvSpPr/>
          <p:nvPr/>
        </p:nvSpPr>
        <p:spPr>
          <a:xfrm>
            <a:off x="4087368" y="1947672"/>
            <a:ext cx="3886200" cy="1124712"/>
          </a:xfrm>
          <a:prstGeom prst="rect">
            <a:avLst/>
          </a:prstGeom>
          <a:solidFill>
            <a:srgbClr val="FFFFFF"/>
          </a:solidFill>
          <a:ln w="10160">
            <a:solidFill>
              <a:srgbClr val="BDD6EA"/>
            </a:solidFill>
            <a:prstDash val="solid"/>
          </a:ln>
        </p:spPr>
      </p:sp>
      <p:sp>
        <p:nvSpPr>
          <p:cNvPr id="14" name="Text 12"/>
          <p:cNvSpPr/>
          <p:nvPr/>
        </p:nvSpPr>
        <p:spPr>
          <a:xfrm>
            <a:off x="4233672" y="2057400"/>
            <a:ext cx="3593592" cy="905256"/>
          </a:xfrm>
          <a:prstGeom prst="rect">
            <a:avLst/>
          </a:prstGeom>
          <a:noFill/>
        </p:spPr>
        <p:txBody>
          <a:bodyPr wrap="square" lIns="0" tIns="0" rIns="0" bIns="0" rtlCol="0" anchor="ctr">
            <a:normAutofit/>
          </a:bodyPr>
          <a:lstStyle/>
          <a:p>
            <a:pPr marL="0" indent="0" algn="l">
              <a:buNone/>
            </a:pPr>
            <a:r>
              <a:rPr lang="en-US" sz="1540" dirty="0">
                <a:solidFill>
                  <a:srgbClr val="062642"/>
                </a:solidFill>
                <a:latin typeface="Aptos" pitchFamily="34" charset="0"/>
                <a:ea typeface="Aptos" pitchFamily="34" charset="-122"/>
                <a:cs typeface="Aptos" pitchFamily="34" charset="-120"/>
              </a:rPr>
              <a:t>Gives downstream agents clear behavioral signals.</a:t>
            </a:r>
            <a:endParaRPr lang="en-US" sz="1540" dirty="0"/>
          </a:p>
        </p:txBody>
      </p:sp>
      <p:sp>
        <p:nvSpPr>
          <p:cNvPr id="15" name="Shape 13"/>
          <p:cNvSpPr/>
          <p:nvPr/>
        </p:nvSpPr>
        <p:spPr>
          <a:xfrm>
            <a:off x="7973568" y="1947672"/>
            <a:ext cx="3840480" cy="1124712"/>
          </a:xfrm>
          <a:prstGeom prst="rect">
            <a:avLst/>
          </a:prstGeom>
          <a:solidFill>
            <a:srgbClr val="FFFFFF"/>
          </a:solidFill>
          <a:ln w="10160">
            <a:solidFill>
              <a:srgbClr val="BDD6EA"/>
            </a:solidFill>
            <a:prstDash val="solid"/>
          </a:ln>
        </p:spPr>
      </p:sp>
      <p:sp>
        <p:nvSpPr>
          <p:cNvPr id="16" name="Text 14"/>
          <p:cNvSpPr/>
          <p:nvPr/>
        </p:nvSpPr>
        <p:spPr>
          <a:xfrm>
            <a:off x="8119872" y="2057400"/>
            <a:ext cx="3547872" cy="905256"/>
          </a:xfrm>
          <a:prstGeom prst="rect">
            <a:avLst/>
          </a:prstGeom>
          <a:noFill/>
        </p:spPr>
        <p:txBody>
          <a:bodyPr wrap="square" lIns="0" tIns="0" rIns="0" bIns="0" rtlCol="0" anchor="ctr">
            <a:normAutofit/>
          </a:bodyPr>
          <a:lstStyle/>
          <a:p>
            <a:pPr marL="0" indent="0" algn="l">
              <a:buNone/>
            </a:pPr>
            <a:r>
              <a:rPr lang="en-US" sz="1540" dirty="0">
                <a:solidFill>
                  <a:srgbClr val="062642"/>
                </a:solidFill>
                <a:latin typeface="Aptos" pitchFamily="34" charset="0"/>
                <a:ea typeface="Aptos" pitchFamily="34" charset="-122"/>
                <a:cs typeface="Aptos" pitchFamily="34" charset="-120"/>
              </a:rPr>
              <a:t>Less useful when user history is sparse.</a:t>
            </a:r>
            <a:endParaRPr lang="en-US" sz="1540" dirty="0"/>
          </a:p>
        </p:txBody>
      </p:sp>
      <p:sp>
        <p:nvSpPr>
          <p:cNvPr id="17" name="Shape 15"/>
          <p:cNvSpPr/>
          <p:nvPr/>
        </p:nvSpPr>
        <p:spPr>
          <a:xfrm>
            <a:off x="384048" y="3072384"/>
            <a:ext cx="3703320" cy="1124712"/>
          </a:xfrm>
          <a:prstGeom prst="rect">
            <a:avLst/>
          </a:prstGeom>
          <a:solidFill>
            <a:srgbClr val="F3F8FC"/>
          </a:solidFill>
          <a:ln w="10160">
            <a:solidFill>
              <a:srgbClr val="BDD6EA"/>
            </a:solidFill>
            <a:prstDash val="solid"/>
          </a:ln>
        </p:spPr>
      </p:sp>
      <p:sp>
        <p:nvSpPr>
          <p:cNvPr id="18" name="Text 16"/>
          <p:cNvSpPr/>
          <p:nvPr/>
        </p:nvSpPr>
        <p:spPr>
          <a:xfrm>
            <a:off x="530352" y="3182112"/>
            <a:ext cx="3410712" cy="905256"/>
          </a:xfrm>
          <a:prstGeom prst="rect">
            <a:avLst/>
          </a:prstGeom>
          <a:noFill/>
        </p:spPr>
        <p:txBody>
          <a:bodyPr wrap="square" lIns="0" tIns="0" rIns="0" bIns="0" rtlCol="0" anchor="ctr">
            <a:normAutofit/>
          </a:bodyPr>
          <a:lstStyle/>
          <a:p>
            <a:pPr marL="0" indent="0" algn="l">
              <a:buNone/>
            </a:pPr>
            <a:r>
              <a:rPr lang="en-US" sz="1540" b="1" dirty="0">
                <a:solidFill>
                  <a:srgbClr val="062642"/>
                </a:solidFill>
                <a:latin typeface="Aptos" pitchFamily="34" charset="0"/>
                <a:ea typeface="Aptos" pitchFamily="34" charset="-122"/>
                <a:cs typeface="Aptos" pitchFamily="34" charset="-120"/>
              </a:rPr>
              <a:t>Item task became review-writing guidance: anchors, constraints, emotional arc.</a:t>
            </a:r>
            <a:endParaRPr lang="en-US" sz="1540" dirty="0"/>
          </a:p>
        </p:txBody>
      </p:sp>
      <p:sp>
        <p:nvSpPr>
          <p:cNvPr id="19" name="Shape 17"/>
          <p:cNvSpPr/>
          <p:nvPr/>
        </p:nvSpPr>
        <p:spPr>
          <a:xfrm>
            <a:off x="4087368" y="3072384"/>
            <a:ext cx="3886200" cy="1124712"/>
          </a:xfrm>
          <a:prstGeom prst="rect">
            <a:avLst/>
          </a:prstGeom>
          <a:solidFill>
            <a:srgbClr val="F3F8FC"/>
          </a:solidFill>
          <a:ln w="10160">
            <a:solidFill>
              <a:srgbClr val="BDD6EA"/>
            </a:solidFill>
            <a:prstDash val="solid"/>
          </a:ln>
        </p:spPr>
      </p:sp>
      <p:sp>
        <p:nvSpPr>
          <p:cNvPr id="20" name="Text 18"/>
          <p:cNvSpPr/>
          <p:nvPr/>
        </p:nvSpPr>
        <p:spPr>
          <a:xfrm>
            <a:off x="4233672" y="3182112"/>
            <a:ext cx="3593592" cy="905256"/>
          </a:xfrm>
          <a:prstGeom prst="rect">
            <a:avLst/>
          </a:prstGeom>
          <a:noFill/>
        </p:spPr>
        <p:txBody>
          <a:bodyPr wrap="square" lIns="0" tIns="0" rIns="0" bIns="0" rtlCol="0" anchor="ctr">
            <a:normAutofit/>
          </a:bodyPr>
          <a:lstStyle/>
          <a:p>
            <a:pPr marL="0" indent="0" algn="l">
              <a:buNone/>
            </a:pPr>
            <a:r>
              <a:rPr lang="en-US" sz="1540" dirty="0">
                <a:solidFill>
                  <a:srgbClr val="062642"/>
                </a:solidFill>
                <a:latin typeface="Aptos" pitchFamily="34" charset="0"/>
                <a:ea typeface="Aptos" pitchFamily="34" charset="-122"/>
                <a:cs typeface="Aptos" pitchFamily="34" charset="-120"/>
              </a:rPr>
              <a:t>Converts item/direct evidence into safe wording cues.</a:t>
            </a:r>
            <a:endParaRPr lang="en-US" sz="1540" dirty="0"/>
          </a:p>
        </p:txBody>
      </p:sp>
      <p:sp>
        <p:nvSpPr>
          <p:cNvPr id="21" name="Shape 19"/>
          <p:cNvSpPr/>
          <p:nvPr/>
        </p:nvSpPr>
        <p:spPr>
          <a:xfrm>
            <a:off x="7973568" y="3072384"/>
            <a:ext cx="3840480" cy="1124712"/>
          </a:xfrm>
          <a:prstGeom prst="rect">
            <a:avLst/>
          </a:prstGeom>
          <a:solidFill>
            <a:srgbClr val="F3F8FC"/>
          </a:solidFill>
          <a:ln w="10160">
            <a:solidFill>
              <a:srgbClr val="BDD6EA"/>
            </a:solidFill>
            <a:prstDash val="solid"/>
          </a:ln>
        </p:spPr>
      </p:sp>
      <p:sp>
        <p:nvSpPr>
          <p:cNvPr id="22" name="Text 20"/>
          <p:cNvSpPr/>
          <p:nvPr/>
        </p:nvSpPr>
        <p:spPr>
          <a:xfrm>
            <a:off x="8119872" y="3182112"/>
            <a:ext cx="3547872" cy="905256"/>
          </a:xfrm>
          <a:prstGeom prst="rect">
            <a:avLst/>
          </a:prstGeom>
          <a:noFill/>
        </p:spPr>
        <p:txBody>
          <a:bodyPr wrap="square" lIns="0" tIns="0" rIns="0" bIns="0" rtlCol="0" anchor="ctr">
            <a:normAutofit/>
          </a:bodyPr>
          <a:lstStyle/>
          <a:p>
            <a:pPr marL="0" indent="0" algn="l">
              <a:buNone/>
            </a:pPr>
            <a:r>
              <a:rPr lang="en-US" sz="1540" dirty="0">
                <a:solidFill>
                  <a:srgbClr val="062642"/>
                </a:solidFill>
                <a:latin typeface="Aptos" pitchFamily="34" charset="0"/>
                <a:ea typeface="Aptos" pitchFamily="34" charset="-122"/>
                <a:cs typeface="Aptos" pitchFamily="34" charset="-120"/>
              </a:rPr>
              <a:t>Improves review text more than rating accuracy.</a:t>
            </a:r>
            <a:endParaRPr lang="en-US" sz="1540" dirty="0"/>
          </a:p>
        </p:txBody>
      </p:sp>
      <p:sp>
        <p:nvSpPr>
          <p:cNvPr id="23" name="Shape 21"/>
          <p:cNvSpPr/>
          <p:nvPr/>
        </p:nvSpPr>
        <p:spPr>
          <a:xfrm>
            <a:off x="384048" y="4197096"/>
            <a:ext cx="3703320" cy="1124712"/>
          </a:xfrm>
          <a:prstGeom prst="rect">
            <a:avLst/>
          </a:prstGeom>
          <a:solidFill>
            <a:srgbClr val="FFFFFF"/>
          </a:solidFill>
          <a:ln w="10160">
            <a:solidFill>
              <a:srgbClr val="BDD6EA"/>
            </a:solidFill>
            <a:prstDash val="solid"/>
          </a:ln>
        </p:spPr>
      </p:sp>
      <p:sp>
        <p:nvSpPr>
          <p:cNvPr id="24" name="Text 22"/>
          <p:cNvSpPr/>
          <p:nvPr/>
        </p:nvSpPr>
        <p:spPr>
          <a:xfrm>
            <a:off x="530352" y="4306824"/>
            <a:ext cx="3410712" cy="905256"/>
          </a:xfrm>
          <a:prstGeom prst="rect">
            <a:avLst/>
          </a:prstGeom>
          <a:noFill/>
        </p:spPr>
        <p:txBody>
          <a:bodyPr wrap="square" lIns="0" tIns="0" rIns="0" bIns="0" rtlCol="0" anchor="ctr">
            <a:normAutofit/>
          </a:bodyPr>
          <a:lstStyle/>
          <a:p>
            <a:pPr marL="0" indent="0" algn="l">
              <a:buNone/>
            </a:pPr>
            <a:r>
              <a:rPr lang="en-US" sz="1540" b="1" dirty="0">
                <a:solidFill>
                  <a:srgbClr val="062642"/>
                </a:solidFill>
                <a:latin typeface="Aptos" pitchFamily="34" charset="0"/>
                <a:ea typeface="Aptos" pitchFamily="34" charset="-122"/>
                <a:cs typeface="Aptos" pitchFamily="34" charset="-120"/>
              </a:rPr>
              <a:t>Final task locked stars and simplified output to raw JSON.</a:t>
            </a:r>
            <a:endParaRPr lang="en-US" sz="1540" dirty="0"/>
          </a:p>
        </p:txBody>
      </p:sp>
      <p:sp>
        <p:nvSpPr>
          <p:cNvPr id="25" name="Shape 23"/>
          <p:cNvSpPr/>
          <p:nvPr/>
        </p:nvSpPr>
        <p:spPr>
          <a:xfrm>
            <a:off x="4087368" y="4197096"/>
            <a:ext cx="3886200" cy="1124712"/>
          </a:xfrm>
          <a:prstGeom prst="rect">
            <a:avLst/>
          </a:prstGeom>
          <a:solidFill>
            <a:srgbClr val="FFFFFF"/>
          </a:solidFill>
          <a:ln w="10160">
            <a:solidFill>
              <a:srgbClr val="BDD6EA"/>
            </a:solidFill>
            <a:prstDash val="solid"/>
          </a:ln>
        </p:spPr>
      </p:sp>
      <p:sp>
        <p:nvSpPr>
          <p:cNvPr id="26" name="Text 24"/>
          <p:cNvSpPr/>
          <p:nvPr/>
        </p:nvSpPr>
        <p:spPr>
          <a:xfrm>
            <a:off x="4233672" y="4306824"/>
            <a:ext cx="3593592" cy="905256"/>
          </a:xfrm>
          <a:prstGeom prst="rect">
            <a:avLst/>
          </a:prstGeom>
          <a:noFill/>
        </p:spPr>
        <p:txBody>
          <a:bodyPr wrap="square" lIns="0" tIns="0" rIns="0" bIns="0" rtlCol="0" anchor="ctr">
            <a:normAutofit/>
          </a:bodyPr>
          <a:lstStyle/>
          <a:p>
            <a:pPr marL="0" indent="0" algn="l">
              <a:buNone/>
            </a:pPr>
            <a:r>
              <a:rPr lang="en-US" sz="1540" dirty="0">
                <a:solidFill>
                  <a:srgbClr val="062642"/>
                </a:solidFill>
                <a:latin typeface="Aptos" pitchFamily="34" charset="0"/>
                <a:ea typeface="Aptos" pitchFamily="34" charset="-122"/>
                <a:cs typeface="Aptos" pitchFamily="34" charset="-120"/>
              </a:rPr>
              <a:t>Prevents rating drift and schema errors.</a:t>
            </a:r>
            <a:endParaRPr lang="en-US" sz="1540" dirty="0"/>
          </a:p>
        </p:txBody>
      </p:sp>
      <p:sp>
        <p:nvSpPr>
          <p:cNvPr id="27" name="Shape 25"/>
          <p:cNvSpPr/>
          <p:nvPr/>
        </p:nvSpPr>
        <p:spPr>
          <a:xfrm>
            <a:off x="7973568" y="4197096"/>
            <a:ext cx="3840480" cy="1124712"/>
          </a:xfrm>
          <a:prstGeom prst="rect">
            <a:avLst/>
          </a:prstGeom>
          <a:solidFill>
            <a:srgbClr val="FFFFFF"/>
          </a:solidFill>
          <a:ln w="10160">
            <a:solidFill>
              <a:srgbClr val="BDD6EA"/>
            </a:solidFill>
            <a:prstDash val="solid"/>
          </a:ln>
        </p:spPr>
      </p:sp>
      <p:sp>
        <p:nvSpPr>
          <p:cNvPr id="28" name="Text 26"/>
          <p:cNvSpPr/>
          <p:nvPr/>
        </p:nvSpPr>
        <p:spPr>
          <a:xfrm>
            <a:off x="8119872" y="4306824"/>
            <a:ext cx="3547872" cy="905256"/>
          </a:xfrm>
          <a:prstGeom prst="rect">
            <a:avLst/>
          </a:prstGeom>
          <a:noFill/>
        </p:spPr>
        <p:txBody>
          <a:bodyPr wrap="square" lIns="0" tIns="0" rIns="0" bIns="0" rtlCol="0" anchor="ctr">
            <a:normAutofit/>
          </a:bodyPr>
          <a:lstStyle/>
          <a:p>
            <a:pPr marL="0" indent="0" algn="l">
              <a:buNone/>
            </a:pPr>
            <a:r>
              <a:rPr lang="en-US" sz="1540" dirty="0">
                <a:solidFill>
                  <a:srgbClr val="062642"/>
                </a:solidFill>
                <a:latin typeface="Aptos" pitchFamily="34" charset="0"/>
                <a:ea typeface="Aptos" pitchFamily="34" charset="-122"/>
                <a:cs typeface="Aptos" pitchFamily="34" charset="-120"/>
              </a:rPr>
              <a:t>Final agent cannot repair wrong predicted_stars.</a:t>
            </a:r>
            <a:endParaRPr lang="en-US" sz="1540" dirty="0"/>
          </a:p>
        </p:txBody>
      </p:sp>
      <p:sp>
        <p:nvSpPr>
          <p:cNvPr id="29" name="Shape 27"/>
          <p:cNvSpPr/>
          <p:nvPr/>
        </p:nvSpPr>
        <p:spPr>
          <a:xfrm>
            <a:off x="384048" y="5623560"/>
            <a:ext cx="11430000" cy="658368"/>
          </a:xfrm>
          <a:prstGeom prst="roundRect">
            <a:avLst>
              <a:gd name="adj" fmla="val 11111"/>
            </a:avLst>
          </a:prstGeom>
          <a:solidFill>
            <a:srgbClr val="EAF6FF"/>
          </a:solidFill>
          <a:ln w="15240">
            <a:solidFill>
              <a:srgbClr val="B8D5EC"/>
            </a:solidFill>
            <a:prstDash val="solid"/>
          </a:ln>
        </p:spPr>
      </p:sp>
      <p:sp>
        <p:nvSpPr>
          <p:cNvPr id="30" name="Text 28"/>
          <p:cNvSpPr/>
          <p:nvPr/>
        </p:nvSpPr>
        <p:spPr>
          <a:xfrm>
            <a:off x="603504" y="5852160"/>
            <a:ext cx="1024128" cy="182880"/>
          </a:xfrm>
          <a:prstGeom prst="rect">
            <a:avLst/>
          </a:prstGeom>
          <a:noFill/>
        </p:spPr>
        <p:txBody>
          <a:bodyPr wrap="square" lIns="0" tIns="0" rIns="0" bIns="0" rtlCol="0" anchor="ctr">
            <a:normAutofit/>
          </a:bodyPr>
          <a:lstStyle/>
          <a:p>
            <a:pPr marL="0" indent="0" algn="l">
              <a:buNone/>
            </a:pPr>
            <a:r>
              <a:rPr lang="en-US" sz="960" b="1" dirty="0">
                <a:solidFill>
                  <a:srgbClr val="0064D8"/>
                </a:solidFill>
                <a:latin typeface="Aptos" pitchFamily="34" charset="0"/>
                <a:ea typeface="Aptos" pitchFamily="34" charset="-122"/>
                <a:cs typeface="Aptos" pitchFamily="34" charset="-120"/>
              </a:rPr>
              <a:t>KEY MESSAGE</a:t>
            </a:r>
            <a:endParaRPr lang="en-US" sz="960" dirty="0"/>
          </a:p>
        </p:txBody>
      </p:sp>
      <p:sp>
        <p:nvSpPr>
          <p:cNvPr id="31" name="Text 29"/>
          <p:cNvSpPr/>
          <p:nvPr/>
        </p:nvSpPr>
        <p:spPr>
          <a:xfrm>
            <a:off x="1755648" y="5797296"/>
            <a:ext cx="9646920" cy="310896"/>
          </a:xfrm>
          <a:prstGeom prst="rect">
            <a:avLst/>
          </a:prstGeom>
          <a:noFill/>
        </p:spPr>
        <p:txBody>
          <a:bodyPr wrap="square" lIns="0" tIns="0" rIns="0" bIns="0" rtlCol="0" anchor="ctr">
            <a:normAutofit/>
          </a:bodyPr>
          <a:lstStyle/>
          <a:p>
            <a:pPr marL="0" indent="0" algn="l">
              <a:buNone/>
            </a:pPr>
            <a:r>
              <a:rPr lang="en-US" sz="1300" b="1" dirty="0">
                <a:solidFill>
                  <a:srgbClr val="062642"/>
                </a:solidFill>
                <a:latin typeface="Aptos" pitchFamily="34" charset="0"/>
                <a:ea typeface="Aptos" pitchFamily="34" charset="-122"/>
                <a:cs typeface="Aptos" pitchFamily="34" charset="-120"/>
              </a:rPr>
              <a:t>Tasks evolved from vague summaries into reusable signal interfaces; the final agent became a constrained JSON writer.</a:t>
            </a:r>
            <a:endParaRPr lang="en-US" sz="1300" dirty="0"/>
          </a:p>
        </p:txBody>
      </p:sp>
      <p:sp>
        <p:nvSpPr>
          <p:cNvPr id="3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9184" y="164592"/>
            <a:ext cx="2194560" cy="201168"/>
          </a:xfrm>
          <a:prstGeom prst="rect">
            <a:avLst/>
          </a:prstGeom>
          <a:noFill/>
        </p:spPr>
        <p:txBody>
          <a:bodyPr wrap="square" lIns="0" tIns="0" rIns="0" bIns="0" rtlCol="0" anchor="ctr">
            <a:normAutofit/>
          </a:bodyPr>
          <a:lstStyle/>
          <a:p>
            <a:pPr marL="0" indent="0" algn="l">
              <a:buNone/>
            </a:pPr>
            <a:r>
              <a:rPr lang="en-US" sz="850" b="1" dirty="0">
                <a:solidFill>
                  <a:srgbClr val="0F66E8"/>
                </a:solidFill>
                <a:latin typeface="Aptos" pitchFamily="34" charset="0"/>
                <a:ea typeface="Aptos" pitchFamily="34" charset="-122"/>
                <a:cs typeface="Aptos" pitchFamily="34" charset="-120"/>
              </a:rPr>
              <a:t>EVOLUTION ANALYSIS</a:t>
            </a:r>
            <a:endParaRPr lang="en-US" sz="850" dirty="0"/>
          </a:p>
        </p:txBody>
      </p:sp>
      <p:sp>
        <p:nvSpPr>
          <p:cNvPr id="3" name="Text 1"/>
          <p:cNvSpPr/>
          <p:nvPr/>
        </p:nvSpPr>
        <p:spPr>
          <a:xfrm>
            <a:off x="329184" y="448056"/>
            <a:ext cx="11521440" cy="502920"/>
          </a:xfrm>
          <a:prstGeom prst="rect">
            <a:avLst/>
          </a:prstGeom>
          <a:noFill/>
        </p:spPr>
        <p:txBody>
          <a:bodyPr wrap="square" lIns="0" tIns="0" rIns="0" bIns="0" rtlCol="0" anchor="ctr">
            <a:normAutofit/>
          </a:bodyPr>
          <a:lstStyle/>
          <a:p>
            <a:pPr marL="0" indent="0" algn="l">
              <a:buNone/>
            </a:pPr>
            <a:r>
              <a:rPr lang="en-US" sz="2900" b="1" dirty="0">
                <a:solidFill>
                  <a:srgbClr val="061B33"/>
                </a:solidFill>
                <a:latin typeface="Aptos" pitchFamily="34" charset="0"/>
                <a:ea typeface="Aptos" pitchFamily="34" charset="-122"/>
                <a:cs typeface="Aptos" pitchFamily="34" charset="-120"/>
              </a:rPr>
              <a:t>Round 1 </a:t>
            </a:r>
            <a:r>
              <a:rPr lang="vi-VN" altLang="en-US" sz="2900" b="1" dirty="0">
                <a:solidFill>
                  <a:srgbClr val="061B33"/>
                </a:solidFill>
                <a:latin typeface="Aptos" pitchFamily="34" charset="0"/>
                <a:ea typeface="Aptos" pitchFamily="34" charset="-122"/>
                <a:cs typeface="Aptos" pitchFamily="34" charset="-120"/>
              </a:rPr>
              <a:t>RPP</a:t>
            </a:r>
            <a:endParaRPr lang="vi-VN" altLang="en-US" sz="2900" b="1" dirty="0">
              <a:solidFill>
                <a:srgbClr val="061B33"/>
              </a:solidFill>
              <a:latin typeface="Aptos" pitchFamily="34" charset="0"/>
              <a:ea typeface="Aptos" pitchFamily="34" charset="-122"/>
              <a:cs typeface="Aptos" pitchFamily="34" charset="-120"/>
            </a:endParaRPr>
          </a:p>
        </p:txBody>
      </p:sp>
      <p:sp>
        <p:nvSpPr>
          <p:cNvPr id="4" name="Shape 2"/>
          <p:cNvSpPr/>
          <p:nvPr/>
        </p:nvSpPr>
        <p:spPr>
          <a:xfrm>
            <a:off x="329184" y="981710"/>
            <a:ext cx="11512296" cy="0"/>
          </a:xfrm>
          <a:prstGeom prst="line">
            <a:avLst/>
          </a:prstGeom>
          <a:noFill/>
          <a:ln w="15240">
            <a:solidFill>
              <a:srgbClr val="C6D6E6"/>
            </a:solidFill>
            <a:prstDash val="solid"/>
          </a:ln>
        </p:spPr>
      </p:sp>
      <p:sp>
        <p:nvSpPr>
          <p:cNvPr id="18" name="Shape 3"/>
          <p:cNvSpPr/>
          <p:nvPr/>
        </p:nvSpPr>
        <p:spPr>
          <a:xfrm>
            <a:off x="6243955" y="1212850"/>
            <a:ext cx="5788025" cy="2513965"/>
          </a:xfrm>
          <a:prstGeom prst="roundRect">
            <a:avLst/>
          </a:prstGeom>
          <a:solidFill>
            <a:srgbClr val="FFFFFF"/>
          </a:solidFill>
          <a:ln w="13970">
            <a:solidFill>
              <a:srgbClr val="C6D5E5"/>
            </a:solidFill>
            <a:prstDash val="solid"/>
          </a:ln>
        </p:spPr>
      </p:sp>
      <p:sp>
        <p:nvSpPr>
          <p:cNvPr id="17" name="Shape 3"/>
          <p:cNvSpPr/>
          <p:nvPr/>
        </p:nvSpPr>
        <p:spPr>
          <a:xfrm>
            <a:off x="2708910" y="3949065"/>
            <a:ext cx="6823075" cy="2809875"/>
          </a:xfrm>
          <a:prstGeom prst="roundRect">
            <a:avLst/>
          </a:prstGeom>
          <a:solidFill>
            <a:srgbClr val="FFFFFF"/>
          </a:solidFill>
          <a:ln w="13970">
            <a:solidFill>
              <a:srgbClr val="C6D5E5"/>
            </a:solidFill>
            <a:prstDash val="solid"/>
          </a:ln>
        </p:spPr>
      </p:sp>
      <p:sp>
        <p:nvSpPr>
          <p:cNvPr id="29" name="Shape 3"/>
          <p:cNvSpPr/>
          <p:nvPr/>
        </p:nvSpPr>
        <p:spPr>
          <a:xfrm>
            <a:off x="225425" y="1252855"/>
            <a:ext cx="5775325" cy="2473960"/>
          </a:xfrm>
          <a:prstGeom prst="roundRect">
            <a:avLst/>
          </a:prstGeom>
          <a:solidFill>
            <a:srgbClr val="FFFFFF"/>
          </a:solidFill>
          <a:ln w="13970" cap="flat" cmpd="sng">
            <a:solidFill>
              <a:schemeClr val="accent1"/>
            </a:solidFill>
            <a:prstDash val="solid"/>
          </a:ln>
        </p:spPr>
        <p:txBody>
          <a:bodyPr/>
          <a:p>
            <a:endParaRPr lang="en-US"/>
          </a:p>
        </p:txBody>
      </p:sp>
      <p:pic>
        <p:nvPicPr>
          <p:cNvPr id="39" name="Picture 38"/>
          <p:cNvPicPr>
            <a:picLocks noChangeAspect="1"/>
          </p:cNvPicPr>
          <p:nvPr/>
        </p:nvPicPr>
        <p:blipFill>
          <a:blip r:embed="rId1"/>
          <a:stretch>
            <a:fillRect/>
          </a:stretch>
        </p:blipFill>
        <p:spPr>
          <a:xfrm>
            <a:off x="351155" y="1452245"/>
            <a:ext cx="5476875" cy="2125345"/>
          </a:xfrm>
          <a:prstGeom prst="rect">
            <a:avLst/>
          </a:prstGeom>
        </p:spPr>
      </p:pic>
      <p:pic>
        <p:nvPicPr>
          <p:cNvPr id="40" name="Picture 39"/>
          <p:cNvPicPr>
            <a:picLocks noChangeAspect="1"/>
          </p:cNvPicPr>
          <p:nvPr/>
        </p:nvPicPr>
        <p:blipFill>
          <a:blip r:embed="rId2"/>
          <a:stretch>
            <a:fillRect/>
          </a:stretch>
        </p:blipFill>
        <p:spPr>
          <a:xfrm>
            <a:off x="6405245" y="1423035"/>
            <a:ext cx="5478780" cy="2125980"/>
          </a:xfrm>
          <a:prstGeom prst="rect">
            <a:avLst/>
          </a:prstGeom>
        </p:spPr>
      </p:pic>
      <p:pic>
        <p:nvPicPr>
          <p:cNvPr id="41" name="Picture 40"/>
          <p:cNvPicPr>
            <a:picLocks noChangeAspect="1"/>
          </p:cNvPicPr>
          <p:nvPr/>
        </p:nvPicPr>
        <p:blipFill>
          <a:blip r:embed="rId3"/>
          <a:stretch>
            <a:fillRect/>
          </a:stretch>
        </p:blipFill>
        <p:spPr>
          <a:xfrm>
            <a:off x="2814955" y="4086225"/>
            <a:ext cx="6475095" cy="2512695"/>
          </a:xfrm>
          <a:prstGeom prst="rect">
            <a:avLst/>
          </a:prstGeom>
        </p:spPr>
      </p:pic>
      <p:sp>
        <p:nvSpPr>
          <p:cNvPr id="33" name="Text 4"/>
          <p:cNvSpPr/>
          <p:nvPr/>
        </p:nvSpPr>
        <p:spPr>
          <a:xfrm>
            <a:off x="3804285" y="3966845"/>
            <a:ext cx="2987675" cy="290830"/>
          </a:xfrm>
          <a:prstGeom prst="rect">
            <a:avLst/>
          </a:prstGeom>
          <a:noFill/>
        </p:spPr>
        <p:txBody>
          <a:bodyPr wrap="square" lIns="0" tIns="0" rIns="0" bIns="0" rtlCol="0" anchor="ctr"/>
          <a:lstStyle/>
          <a:p>
            <a:pPr marL="0" indent="0" algn="r">
              <a:buNone/>
            </a:pPr>
            <a:r>
              <a:rPr lang="en-US" sz="2200" dirty="0"/>
              <a:t>Review generation</a:t>
            </a:r>
            <a:endParaRPr lang="en-US" sz="2200" dirty="0"/>
          </a:p>
        </p:txBody>
      </p:sp>
      <p:sp>
        <p:nvSpPr>
          <p:cNvPr id="34" name="Text 5"/>
          <p:cNvSpPr/>
          <p:nvPr/>
        </p:nvSpPr>
        <p:spPr>
          <a:xfrm>
            <a:off x="6855651" y="3946398"/>
            <a:ext cx="914400" cy="310896"/>
          </a:xfrm>
          <a:prstGeom prst="rect">
            <a:avLst/>
          </a:prstGeom>
          <a:noFill/>
        </p:spPr>
        <p:txBody>
          <a:bodyPr wrap="square" lIns="0" tIns="0" rIns="0" bIns="0" rtlCol="0" anchor="ctr"/>
          <a:lstStyle/>
          <a:p>
            <a:pPr marL="0" indent="0">
              <a:buNone/>
            </a:pPr>
            <a:r>
              <a:rPr lang="en-US" sz="2200" b="1" dirty="0">
                <a:solidFill>
                  <a:srgbClr val="078A67"/>
                </a:solidFill>
              </a:rPr>
              <a:t>0.</a:t>
            </a:r>
            <a:r>
              <a:rPr lang="vi-VN" sz="2200" b="1" dirty="0">
                <a:solidFill>
                  <a:srgbClr val="078A67"/>
                </a:solidFill>
              </a:rPr>
              <a:t>8605</a:t>
            </a:r>
            <a:endParaRPr lang="vi-VN" sz="2200" b="1" dirty="0">
              <a:solidFill>
                <a:srgbClr val="078A67"/>
              </a:solidFill>
            </a:endParaRPr>
          </a:p>
        </p:txBody>
      </p:sp>
      <p:sp>
        <p:nvSpPr>
          <p:cNvPr id="37" name="Text 4"/>
          <p:cNvSpPr/>
          <p:nvPr/>
        </p:nvSpPr>
        <p:spPr>
          <a:xfrm>
            <a:off x="1741170" y="1295400"/>
            <a:ext cx="2186940" cy="290830"/>
          </a:xfrm>
          <a:prstGeom prst="rect">
            <a:avLst/>
          </a:prstGeom>
          <a:noFill/>
        </p:spPr>
        <p:txBody>
          <a:bodyPr wrap="square" lIns="0" tIns="0" rIns="0" bIns="0" rtlCol="0" anchor="ctr"/>
          <a:lstStyle/>
          <a:p>
            <a:pPr marL="0" indent="0" algn="r">
              <a:buNone/>
            </a:pPr>
            <a:r>
              <a:rPr lang="en-US" sz="2200" dirty="0"/>
              <a:t>Combined score</a:t>
            </a:r>
            <a:endParaRPr lang="en-US" sz="2200" dirty="0"/>
          </a:p>
        </p:txBody>
      </p:sp>
      <p:sp>
        <p:nvSpPr>
          <p:cNvPr id="38" name="Text 5"/>
          <p:cNvSpPr/>
          <p:nvPr/>
        </p:nvSpPr>
        <p:spPr>
          <a:xfrm>
            <a:off x="3991801" y="1274953"/>
            <a:ext cx="914400" cy="310896"/>
          </a:xfrm>
          <a:prstGeom prst="rect">
            <a:avLst/>
          </a:prstGeom>
          <a:noFill/>
        </p:spPr>
        <p:txBody>
          <a:bodyPr wrap="square" lIns="0" tIns="0" rIns="0" bIns="0" rtlCol="0" anchor="ctr"/>
          <a:lstStyle/>
          <a:p>
            <a:pPr marL="0" indent="0">
              <a:buNone/>
            </a:pPr>
            <a:r>
              <a:rPr lang="en-US" sz="2200" b="1" dirty="0">
                <a:solidFill>
                  <a:srgbClr val="078A67"/>
                </a:solidFill>
              </a:rPr>
              <a:t>0.</a:t>
            </a:r>
            <a:r>
              <a:rPr lang="vi-VN" sz="2200" b="1" dirty="0">
                <a:solidFill>
                  <a:srgbClr val="078A67"/>
                </a:solidFill>
              </a:rPr>
              <a:t>8702</a:t>
            </a:r>
            <a:endParaRPr lang="vi-VN" sz="2200" b="1" dirty="0">
              <a:solidFill>
                <a:srgbClr val="078A67"/>
              </a:solidFill>
            </a:endParaRPr>
          </a:p>
        </p:txBody>
      </p:sp>
      <p:sp>
        <p:nvSpPr>
          <p:cNvPr id="35" name="Text 4"/>
          <p:cNvSpPr/>
          <p:nvPr/>
        </p:nvSpPr>
        <p:spPr>
          <a:xfrm>
            <a:off x="6899910" y="1245235"/>
            <a:ext cx="3101975" cy="306705"/>
          </a:xfrm>
          <a:prstGeom prst="rect">
            <a:avLst/>
          </a:prstGeom>
          <a:noFill/>
        </p:spPr>
        <p:txBody>
          <a:bodyPr wrap="square" lIns="0" tIns="0" rIns="0" bIns="0" rtlCol="0" anchor="ctr"/>
          <a:lstStyle/>
          <a:p>
            <a:pPr marL="0" indent="0" algn="r">
              <a:buNone/>
            </a:pPr>
            <a:r>
              <a:rPr lang="en-US" sz="2200" dirty="0"/>
              <a:t>Preference_estimation</a:t>
            </a:r>
            <a:endParaRPr lang="en-US" sz="2200" dirty="0"/>
          </a:p>
        </p:txBody>
      </p:sp>
      <p:sp>
        <p:nvSpPr>
          <p:cNvPr id="36" name="Text 5"/>
          <p:cNvSpPr/>
          <p:nvPr/>
        </p:nvSpPr>
        <p:spPr>
          <a:xfrm>
            <a:off x="10051606" y="1254633"/>
            <a:ext cx="914400" cy="310896"/>
          </a:xfrm>
          <a:prstGeom prst="rect">
            <a:avLst/>
          </a:prstGeom>
          <a:noFill/>
        </p:spPr>
        <p:txBody>
          <a:bodyPr wrap="square" lIns="0" tIns="0" rIns="0" bIns="0" rtlCol="0" anchor="ctr"/>
          <a:lstStyle/>
          <a:p>
            <a:pPr marL="0" indent="0">
              <a:buNone/>
            </a:pPr>
            <a:r>
              <a:rPr lang="en-US" sz="2200" b="1" dirty="0">
                <a:solidFill>
                  <a:srgbClr val="078A67"/>
                </a:solidFill>
              </a:rPr>
              <a:t>0.8</a:t>
            </a:r>
            <a:r>
              <a:rPr lang="vi-VN" altLang="en-US" sz="2200" b="1" dirty="0">
                <a:solidFill>
                  <a:srgbClr val="078A67"/>
                </a:solidFill>
              </a:rPr>
              <a:t>800</a:t>
            </a:r>
            <a:endParaRPr lang="vi-VN" altLang="en-US" sz="2200" b="1" dirty="0">
              <a:solidFill>
                <a:srgbClr val="078A67"/>
              </a:solidFill>
            </a:endParaRPr>
          </a:p>
        </p:txBody>
      </p:sp>
      <p:sp>
        <p:nvSpPr>
          <p:cNvPr id="4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b="1" dirty="0">
                <a:solidFill>
                  <a:srgbClr val="64748B"/>
                </a:solidFill>
                <a:latin typeface="Aptos" pitchFamily="34" charset="0"/>
                <a:ea typeface="Aptos" pitchFamily="34" charset="-122"/>
                <a:cs typeface="Aptos" pitchFamily="34" charset="-120"/>
              </a:rPr>
              <a:t>27</a:t>
            </a:r>
            <a:endParaRPr lang="en-US" altLang="vi-VN"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84048" y="201168"/>
            <a:ext cx="2560320" cy="201168"/>
          </a:xfrm>
          <a:prstGeom prst="rect">
            <a:avLst/>
          </a:prstGeom>
          <a:noFill/>
        </p:spPr>
        <p:txBody>
          <a:bodyPr wrap="square" lIns="0" tIns="0" rIns="0" bIns="0" rtlCol="0" anchor="ctr">
            <a:normAutofit/>
          </a:bodyPr>
          <a:lstStyle/>
          <a:p>
            <a:pPr marL="0" indent="0" algn="l">
              <a:buNone/>
            </a:pPr>
            <a:r>
              <a:rPr lang="en-US" sz="1100" b="1" dirty="0">
                <a:solidFill>
                  <a:srgbClr val="0064D8"/>
                </a:solidFill>
                <a:latin typeface="Aptos" pitchFamily="34" charset="0"/>
                <a:ea typeface="Aptos" pitchFamily="34" charset="-122"/>
                <a:cs typeface="Aptos" pitchFamily="34" charset="-120"/>
              </a:rPr>
              <a:t>EVOLUTION ANALYSIS</a:t>
            </a:r>
            <a:endParaRPr lang="en-US" sz="1100" dirty="0"/>
          </a:p>
        </p:txBody>
      </p:sp>
      <p:sp>
        <p:nvSpPr>
          <p:cNvPr id="3" name="Text 1"/>
          <p:cNvSpPr/>
          <p:nvPr/>
        </p:nvSpPr>
        <p:spPr>
          <a:xfrm>
            <a:off x="384048" y="548640"/>
            <a:ext cx="10972800" cy="530352"/>
          </a:xfrm>
          <a:prstGeom prst="rect">
            <a:avLst/>
          </a:prstGeom>
          <a:noFill/>
        </p:spPr>
        <p:txBody>
          <a:bodyPr wrap="square" lIns="0" tIns="0" rIns="0" bIns="0" rtlCol="0" anchor="ctr">
            <a:normAutofit/>
          </a:bodyPr>
          <a:lstStyle/>
          <a:p>
            <a:pPr marL="0" indent="0">
              <a:buNone/>
            </a:pPr>
            <a:r>
              <a:rPr lang="en-US" sz="3000" b="1" dirty="0">
                <a:solidFill>
                  <a:srgbClr val="062642"/>
                </a:solidFill>
                <a:latin typeface="Aptos Display" pitchFamily="34" charset="0"/>
                <a:ea typeface="Aptos Display" pitchFamily="34" charset="-122"/>
                <a:cs typeface="Aptos Display" pitchFamily="34" charset="-120"/>
              </a:rPr>
              <a:t>Eval policy evolution: stable, evidence-aware scoring</a:t>
            </a:r>
            <a:endParaRPr lang="en-US" sz="3000" dirty="0"/>
          </a:p>
        </p:txBody>
      </p:sp>
      <p:sp>
        <p:nvSpPr>
          <p:cNvPr id="4" name="Shape 2"/>
          <p:cNvSpPr/>
          <p:nvPr/>
        </p:nvSpPr>
        <p:spPr>
          <a:xfrm>
            <a:off x="384048" y="1115568"/>
            <a:ext cx="11430000" cy="0"/>
          </a:xfrm>
          <a:prstGeom prst="line">
            <a:avLst/>
          </a:prstGeom>
          <a:noFill/>
          <a:ln w="16510">
            <a:solidFill>
              <a:srgbClr val="BDD6EA"/>
            </a:solidFill>
            <a:prstDash val="solid"/>
          </a:ln>
        </p:spPr>
      </p:sp>
      <p:sp>
        <p:nvSpPr>
          <p:cNvPr id="5" name="Shape 3"/>
          <p:cNvSpPr/>
          <p:nvPr/>
        </p:nvSpPr>
        <p:spPr>
          <a:xfrm>
            <a:off x="384048" y="1417320"/>
            <a:ext cx="3703320" cy="530352"/>
          </a:xfrm>
          <a:prstGeom prst="rect">
            <a:avLst/>
          </a:prstGeom>
          <a:solidFill>
            <a:srgbClr val="0064D8"/>
          </a:solidFill>
          <a:ln w="10160">
            <a:solidFill>
              <a:srgbClr val="FFFFFF"/>
            </a:solidFill>
            <a:prstDash val="solid"/>
          </a:ln>
        </p:spPr>
      </p:sp>
      <p:sp>
        <p:nvSpPr>
          <p:cNvPr id="6" name="Text 4"/>
          <p:cNvSpPr/>
          <p:nvPr/>
        </p:nvSpPr>
        <p:spPr>
          <a:xfrm>
            <a:off x="512064" y="1554480"/>
            <a:ext cx="3447288" cy="228600"/>
          </a:xfrm>
          <a:prstGeom prst="rect">
            <a:avLst/>
          </a:prstGeom>
          <a:noFill/>
        </p:spPr>
        <p:txBody>
          <a:bodyPr wrap="square" lIns="0" tIns="0" rIns="0" bIns="0" rtlCol="0" anchor="ctr">
            <a:normAutofit lnSpcReduction="20000"/>
          </a:bodyPr>
          <a:lstStyle/>
          <a:p>
            <a:pPr marL="0" indent="0" algn="l">
              <a:buNone/>
            </a:pPr>
            <a:r>
              <a:rPr lang="en-US" sz="1550" b="1" dirty="0">
                <a:solidFill>
                  <a:srgbClr val="FFFFFF"/>
                </a:solidFill>
                <a:latin typeface="Aptos" pitchFamily="34" charset="0"/>
                <a:ea typeface="Aptos" pitchFamily="34" charset="-122"/>
                <a:cs typeface="Aptos" pitchFamily="34" charset="-120"/>
              </a:rPr>
              <a:t>WHAT CHANGED</a:t>
            </a:r>
            <a:endParaRPr lang="en-US" sz="1550" dirty="0"/>
          </a:p>
        </p:txBody>
      </p:sp>
      <p:sp>
        <p:nvSpPr>
          <p:cNvPr id="7" name="Shape 5"/>
          <p:cNvSpPr/>
          <p:nvPr/>
        </p:nvSpPr>
        <p:spPr>
          <a:xfrm>
            <a:off x="4087368" y="1417320"/>
            <a:ext cx="3886200" cy="530352"/>
          </a:xfrm>
          <a:prstGeom prst="rect">
            <a:avLst/>
          </a:prstGeom>
          <a:solidFill>
            <a:srgbClr val="07896E"/>
          </a:solidFill>
          <a:ln w="10160">
            <a:solidFill>
              <a:srgbClr val="FFFFFF"/>
            </a:solidFill>
            <a:prstDash val="solid"/>
          </a:ln>
        </p:spPr>
      </p:sp>
      <p:sp>
        <p:nvSpPr>
          <p:cNvPr id="8" name="Text 6"/>
          <p:cNvSpPr/>
          <p:nvPr/>
        </p:nvSpPr>
        <p:spPr>
          <a:xfrm>
            <a:off x="4215384" y="1554480"/>
            <a:ext cx="3630168" cy="228600"/>
          </a:xfrm>
          <a:prstGeom prst="rect">
            <a:avLst/>
          </a:prstGeom>
          <a:noFill/>
        </p:spPr>
        <p:txBody>
          <a:bodyPr wrap="square" lIns="0" tIns="0" rIns="0" bIns="0" rtlCol="0" anchor="ctr">
            <a:normAutofit lnSpcReduction="20000"/>
          </a:bodyPr>
          <a:lstStyle/>
          <a:p>
            <a:pPr marL="0" indent="0" algn="l">
              <a:buNone/>
            </a:pPr>
            <a:r>
              <a:rPr lang="en-US" sz="1550" b="1" dirty="0">
                <a:solidFill>
                  <a:srgbClr val="FFFFFF"/>
                </a:solidFill>
                <a:latin typeface="Aptos" pitchFamily="34" charset="0"/>
                <a:ea typeface="Aptos" pitchFamily="34" charset="-122"/>
                <a:cs typeface="Aptos" pitchFamily="34" charset="-120"/>
              </a:rPr>
              <a:t>WHY IT HELPED</a:t>
            </a:r>
            <a:endParaRPr lang="en-US" sz="1550" dirty="0"/>
          </a:p>
        </p:txBody>
      </p:sp>
      <p:sp>
        <p:nvSpPr>
          <p:cNvPr id="9" name="Shape 7"/>
          <p:cNvSpPr/>
          <p:nvPr/>
        </p:nvSpPr>
        <p:spPr>
          <a:xfrm>
            <a:off x="7973568" y="1417320"/>
            <a:ext cx="3840480" cy="530352"/>
          </a:xfrm>
          <a:prstGeom prst="rect">
            <a:avLst/>
          </a:prstGeom>
          <a:solidFill>
            <a:srgbClr val="FF7A00"/>
          </a:solidFill>
          <a:ln w="10160">
            <a:solidFill>
              <a:srgbClr val="FFFFFF"/>
            </a:solidFill>
            <a:prstDash val="solid"/>
          </a:ln>
        </p:spPr>
      </p:sp>
      <p:sp>
        <p:nvSpPr>
          <p:cNvPr id="10" name="Text 8"/>
          <p:cNvSpPr/>
          <p:nvPr/>
        </p:nvSpPr>
        <p:spPr>
          <a:xfrm>
            <a:off x="8101584" y="1554480"/>
            <a:ext cx="3584448" cy="228600"/>
          </a:xfrm>
          <a:prstGeom prst="rect">
            <a:avLst/>
          </a:prstGeom>
          <a:noFill/>
        </p:spPr>
        <p:txBody>
          <a:bodyPr wrap="square" lIns="0" tIns="0" rIns="0" bIns="0" rtlCol="0" anchor="ctr">
            <a:normAutofit lnSpcReduction="20000"/>
          </a:bodyPr>
          <a:lstStyle/>
          <a:p>
            <a:pPr marL="0" indent="0" algn="l">
              <a:buNone/>
            </a:pPr>
            <a:r>
              <a:rPr lang="en-US" sz="1550" b="1" dirty="0">
                <a:solidFill>
                  <a:srgbClr val="FFFFFF"/>
                </a:solidFill>
                <a:latin typeface="Aptos" pitchFamily="34" charset="0"/>
                <a:ea typeface="Aptos" pitchFamily="34" charset="-122"/>
                <a:cs typeface="Aptos" pitchFamily="34" charset="-120"/>
              </a:rPr>
              <a:t>TRADE-OFF</a:t>
            </a:r>
            <a:endParaRPr lang="en-US" sz="1550" dirty="0"/>
          </a:p>
        </p:txBody>
      </p:sp>
      <p:sp>
        <p:nvSpPr>
          <p:cNvPr id="11" name="Shape 9"/>
          <p:cNvSpPr/>
          <p:nvPr/>
        </p:nvSpPr>
        <p:spPr>
          <a:xfrm>
            <a:off x="384048" y="1947672"/>
            <a:ext cx="3703320" cy="1124712"/>
          </a:xfrm>
          <a:prstGeom prst="rect">
            <a:avLst/>
          </a:prstGeom>
          <a:solidFill>
            <a:srgbClr val="FFFFFF"/>
          </a:solidFill>
          <a:ln w="10160">
            <a:solidFill>
              <a:srgbClr val="BDD6EA"/>
            </a:solidFill>
            <a:prstDash val="solid"/>
          </a:ln>
        </p:spPr>
      </p:sp>
      <p:sp>
        <p:nvSpPr>
          <p:cNvPr id="12" name="Text 10"/>
          <p:cNvSpPr/>
          <p:nvPr/>
        </p:nvSpPr>
        <p:spPr>
          <a:xfrm>
            <a:off x="530352" y="2057400"/>
            <a:ext cx="3410712" cy="905256"/>
          </a:xfrm>
          <a:prstGeom prst="rect">
            <a:avLst/>
          </a:prstGeom>
          <a:noFill/>
        </p:spPr>
        <p:txBody>
          <a:bodyPr wrap="square" lIns="0" tIns="0" rIns="0" bIns="0" rtlCol="0" anchor="ctr">
            <a:normAutofit/>
          </a:bodyPr>
          <a:lstStyle/>
          <a:p>
            <a:pPr marL="0" indent="0" algn="l">
              <a:buNone/>
            </a:pPr>
            <a:r>
              <a:rPr lang="en-US" sz="1580" b="1" dirty="0">
                <a:solidFill>
                  <a:srgbClr val="062642"/>
                </a:solidFill>
                <a:latin typeface="Aptos" pitchFamily="34" charset="0"/>
                <a:ea typeface="Aptos" pitchFamily="34" charset="-122"/>
                <a:cs typeface="Aptos" pitchFamily="34" charset="-120"/>
              </a:rPr>
              <a:t>Direct review became dominant.</a:t>
            </a:r>
            <a:endParaRPr lang="en-US" sz="1580" dirty="0"/>
          </a:p>
        </p:txBody>
      </p:sp>
      <p:sp>
        <p:nvSpPr>
          <p:cNvPr id="13" name="Shape 11"/>
          <p:cNvSpPr/>
          <p:nvPr/>
        </p:nvSpPr>
        <p:spPr>
          <a:xfrm>
            <a:off x="4087368" y="1947672"/>
            <a:ext cx="3886200" cy="1124712"/>
          </a:xfrm>
          <a:prstGeom prst="rect">
            <a:avLst/>
          </a:prstGeom>
          <a:solidFill>
            <a:srgbClr val="FFFFFF"/>
          </a:solidFill>
          <a:ln w="10160">
            <a:solidFill>
              <a:srgbClr val="BDD6EA"/>
            </a:solidFill>
            <a:prstDash val="solid"/>
          </a:ln>
        </p:spPr>
      </p:sp>
      <p:sp>
        <p:nvSpPr>
          <p:cNvPr id="14" name="Text 12"/>
          <p:cNvSpPr/>
          <p:nvPr/>
        </p:nvSpPr>
        <p:spPr>
          <a:xfrm>
            <a:off x="4233672" y="2057400"/>
            <a:ext cx="3593592" cy="905256"/>
          </a:xfrm>
          <a:prstGeom prst="rect">
            <a:avLst/>
          </a:prstGeom>
          <a:noFill/>
        </p:spPr>
        <p:txBody>
          <a:bodyPr wrap="square" lIns="0" tIns="0" rIns="0" bIns="0" rtlCol="0" anchor="ctr">
            <a:normAutofit/>
          </a:bodyPr>
          <a:lstStyle/>
          <a:p>
            <a:pPr marL="0" indent="0" algn="l">
              <a:buNone/>
            </a:pPr>
            <a:r>
              <a:rPr lang="en-US" sz="1580" dirty="0">
                <a:solidFill>
                  <a:srgbClr val="062642"/>
                </a:solidFill>
                <a:latin typeface="Aptos" pitchFamily="34" charset="0"/>
                <a:ea typeface="Aptos" pitchFamily="34" charset="-122"/>
                <a:cs typeface="Aptos" pitchFamily="34" charset="-120"/>
              </a:rPr>
              <a:t>Exact user–item evidence gives the most reliable rating signal.</a:t>
            </a:r>
            <a:endParaRPr lang="en-US" sz="1580" dirty="0"/>
          </a:p>
        </p:txBody>
      </p:sp>
      <p:sp>
        <p:nvSpPr>
          <p:cNvPr id="15" name="Shape 13"/>
          <p:cNvSpPr/>
          <p:nvPr/>
        </p:nvSpPr>
        <p:spPr>
          <a:xfrm>
            <a:off x="7973568" y="1947672"/>
            <a:ext cx="3840480" cy="1124712"/>
          </a:xfrm>
          <a:prstGeom prst="rect">
            <a:avLst/>
          </a:prstGeom>
          <a:solidFill>
            <a:srgbClr val="FFFFFF"/>
          </a:solidFill>
          <a:ln w="10160">
            <a:solidFill>
              <a:srgbClr val="BDD6EA"/>
            </a:solidFill>
            <a:prstDash val="solid"/>
          </a:ln>
        </p:spPr>
      </p:sp>
      <p:sp>
        <p:nvSpPr>
          <p:cNvPr id="16" name="Text 14"/>
          <p:cNvSpPr/>
          <p:nvPr/>
        </p:nvSpPr>
        <p:spPr>
          <a:xfrm>
            <a:off x="8119872" y="2057400"/>
            <a:ext cx="3547872" cy="905256"/>
          </a:xfrm>
          <a:prstGeom prst="rect">
            <a:avLst/>
          </a:prstGeom>
          <a:noFill/>
        </p:spPr>
        <p:txBody>
          <a:bodyPr wrap="square" lIns="0" tIns="0" rIns="0" bIns="0" rtlCol="0" anchor="ctr">
            <a:normAutofit/>
          </a:bodyPr>
          <a:lstStyle/>
          <a:p>
            <a:pPr marL="0" indent="0" algn="l">
              <a:buNone/>
            </a:pPr>
            <a:r>
              <a:rPr lang="en-US" sz="1580" dirty="0">
                <a:solidFill>
                  <a:srgbClr val="062642"/>
                </a:solidFill>
                <a:latin typeface="Aptos" pitchFamily="34" charset="0"/>
                <a:ea typeface="Aptos" pitchFamily="34" charset="-122"/>
                <a:cs typeface="Aptos" pitchFamily="34" charset="-120"/>
              </a:rPr>
              <a:t>User/item context has less influence.</a:t>
            </a:r>
            <a:endParaRPr lang="en-US" sz="1580" dirty="0"/>
          </a:p>
        </p:txBody>
      </p:sp>
      <p:sp>
        <p:nvSpPr>
          <p:cNvPr id="17" name="Shape 15"/>
          <p:cNvSpPr/>
          <p:nvPr/>
        </p:nvSpPr>
        <p:spPr>
          <a:xfrm>
            <a:off x="384048" y="3072384"/>
            <a:ext cx="3703320" cy="1124712"/>
          </a:xfrm>
          <a:prstGeom prst="rect">
            <a:avLst/>
          </a:prstGeom>
          <a:solidFill>
            <a:srgbClr val="F3F8FC"/>
          </a:solidFill>
          <a:ln w="10160">
            <a:solidFill>
              <a:srgbClr val="BDD6EA"/>
            </a:solidFill>
            <a:prstDash val="solid"/>
          </a:ln>
        </p:spPr>
      </p:sp>
      <p:sp>
        <p:nvSpPr>
          <p:cNvPr id="18" name="Text 16"/>
          <p:cNvSpPr/>
          <p:nvPr/>
        </p:nvSpPr>
        <p:spPr>
          <a:xfrm>
            <a:off x="530352" y="3182112"/>
            <a:ext cx="3410712" cy="905256"/>
          </a:xfrm>
          <a:prstGeom prst="rect">
            <a:avLst/>
          </a:prstGeom>
          <a:noFill/>
        </p:spPr>
        <p:txBody>
          <a:bodyPr wrap="square" lIns="0" tIns="0" rIns="0" bIns="0" rtlCol="0" anchor="ctr">
            <a:normAutofit/>
          </a:bodyPr>
          <a:lstStyle/>
          <a:p>
            <a:pPr marL="0" indent="0" algn="l">
              <a:buNone/>
            </a:pPr>
            <a:r>
              <a:rPr lang="en-US" sz="1580" b="1" dirty="0">
                <a:solidFill>
                  <a:srgbClr val="062642"/>
                </a:solidFill>
                <a:latin typeface="Aptos" pitchFamily="34" charset="0"/>
                <a:ea typeface="Aptos" pitchFamily="34" charset="-122"/>
                <a:cs typeface="Aptos" pitchFamily="34" charset="-120"/>
              </a:rPr>
              <a:t>Prior, anchors, and anti-saturation became stricter.</a:t>
            </a:r>
            <a:endParaRPr lang="en-US" sz="1580" dirty="0"/>
          </a:p>
        </p:txBody>
      </p:sp>
      <p:sp>
        <p:nvSpPr>
          <p:cNvPr id="19" name="Shape 17"/>
          <p:cNvSpPr/>
          <p:nvPr/>
        </p:nvSpPr>
        <p:spPr>
          <a:xfrm>
            <a:off x="4087368" y="3072384"/>
            <a:ext cx="3886200" cy="1124712"/>
          </a:xfrm>
          <a:prstGeom prst="rect">
            <a:avLst/>
          </a:prstGeom>
          <a:solidFill>
            <a:srgbClr val="F3F8FC"/>
          </a:solidFill>
          <a:ln w="10160">
            <a:solidFill>
              <a:srgbClr val="BDD6EA"/>
            </a:solidFill>
            <a:prstDash val="solid"/>
          </a:ln>
        </p:spPr>
      </p:sp>
      <p:sp>
        <p:nvSpPr>
          <p:cNvPr id="20" name="Text 18"/>
          <p:cNvSpPr/>
          <p:nvPr/>
        </p:nvSpPr>
        <p:spPr>
          <a:xfrm>
            <a:off x="4233672" y="3182112"/>
            <a:ext cx="3593592" cy="905256"/>
          </a:xfrm>
          <a:prstGeom prst="rect">
            <a:avLst/>
          </a:prstGeom>
          <a:noFill/>
        </p:spPr>
        <p:txBody>
          <a:bodyPr wrap="square" lIns="0" tIns="0" rIns="0" bIns="0" rtlCol="0" anchor="ctr">
            <a:normAutofit/>
          </a:bodyPr>
          <a:lstStyle/>
          <a:p>
            <a:pPr marL="0" indent="0" algn="l">
              <a:buNone/>
            </a:pPr>
            <a:r>
              <a:rPr lang="en-US" sz="1580" dirty="0">
                <a:solidFill>
                  <a:srgbClr val="062642"/>
                </a:solidFill>
                <a:latin typeface="Aptos" pitchFamily="34" charset="0"/>
                <a:ea typeface="Aptos" pitchFamily="34" charset="-122"/>
                <a:cs typeface="Aptos" pitchFamily="34" charset="-120"/>
              </a:rPr>
              <a:t>Avoids unstable jumps and unsupported 5.0 ratings.</a:t>
            </a:r>
            <a:endParaRPr lang="en-US" sz="1580" dirty="0"/>
          </a:p>
        </p:txBody>
      </p:sp>
      <p:sp>
        <p:nvSpPr>
          <p:cNvPr id="21" name="Shape 19"/>
          <p:cNvSpPr/>
          <p:nvPr/>
        </p:nvSpPr>
        <p:spPr>
          <a:xfrm>
            <a:off x="7973568" y="3072384"/>
            <a:ext cx="3840480" cy="1124712"/>
          </a:xfrm>
          <a:prstGeom prst="rect">
            <a:avLst/>
          </a:prstGeom>
          <a:solidFill>
            <a:srgbClr val="F3F8FC"/>
          </a:solidFill>
          <a:ln w="10160">
            <a:solidFill>
              <a:srgbClr val="BDD6EA"/>
            </a:solidFill>
            <a:prstDash val="solid"/>
          </a:ln>
        </p:spPr>
      </p:sp>
      <p:sp>
        <p:nvSpPr>
          <p:cNvPr id="22" name="Text 20"/>
          <p:cNvSpPr/>
          <p:nvPr/>
        </p:nvSpPr>
        <p:spPr>
          <a:xfrm>
            <a:off x="8119872" y="3182112"/>
            <a:ext cx="3547872" cy="905256"/>
          </a:xfrm>
          <a:prstGeom prst="rect">
            <a:avLst/>
          </a:prstGeom>
          <a:noFill/>
        </p:spPr>
        <p:txBody>
          <a:bodyPr wrap="square" lIns="0" tIns="0" rIns="0" bIns="0" rtlCol="0" anchor="ctr">
            <a:normAutofit/>
          </a:bodyPr>
          <a:lstStyle/>
          <a:p>
            <a:pPr marL="0" indent="0" algn="l">
              <a:buNone/>
            </a:pPr>
            <a:r>
              <a:rPr lang="en-US" sz="1580" dirty="0">
                <a:solidFill>
                  <a:srgbClr val="062642"/>
                </a:solidFill>
                <a:latin typeface="Aptos" pitchFamily="34" charset="0"/>
                <a:ea typeface="Aptos" pitchFamily="34" charset="-122"/>
                <a:cs typeface="Aptos" pitchFamily="34" charset="-120"/>
              </a:rPr>
              <a:t>More conservative in sparse-evidence cases.</a:t>
            </a:r>
            <a:endParaRPr lang="en-US" sz="1580" dirty="0"/>
          </a:p>
        </p:txBody>
      </p:sp>
      <p:sp>
        <p:nvSpPr>
          <p:cNvPr id="23" name="Shape 21"/>
          <p:cNvSpPr/>
          <p:nvPr/>
        </p:nvSpPr>
        <p:spPr>
          <a:xfrm>
            <a:off x="384048" y="4197096"/>
            <a:ext cx="3703320" cy="1124712"/>
          </a:xfrm>
          <a:prstGeom prst="rect">
            <a:avLst/>
          </a:prstGeom>
          <a:solidFill>
            <a:srgbClr val="FFFFFF"/>
          </a:solidFill>
          <a:ln w="10160">
            <a:solidFill>
              <a:srgbClr val="BDD6EA"/>
            </a:solidFill>
            <a:prstDash val="solid"/>
          </a:ln>
        </p:spPr>
      </p:sp>
      <p:sp>
        <p:nvSpPr>
          <p:cNvPr id="24" name="Text 22"/>
          <p:cNvSpPr/>
          <p:nvPr/>
        </p:nvSpPr>
        <p:spPr>
          <a:xfrm>
            <a:off x="530352" y="4306824"/>
            <a:ext cx="3410712" cy="905256"/>
          </a:xfrm>
          <a:prstGeom prst="rect">
            <a:avLst/>
          </a:prstGeom>
          <a:noFill/>
        </p:spPr>
        <p:txBody>
          <a:bodyPr wrap="square" lIns="0" tIns="0" rIns="0" bIns="0" rtlCol="0" anchor="ctr">
            <a:normAutofit/>
          </a:bodyPr>
          <a:lstStyle/>
          <a:p>
            <a:pPr marL="0" indent="0" algn="l">
              <a:buNone/>
            </a:pPr>
            <a:r>
              <a:rPr lang="en-US" sz="1580" b="1" dirty="0">
                <a:solidFill>
                  <a:srgbClr val="062642"/>
                </a:solidFill>
                <a:latin typeface="Aptos" pitchFamily="34" charset="0"/>
                <a:ea typeface="Aptos" pitchFamily="34" charset="-122"/>
                <a:cs typeface="Aptos" pitchFamily="34" charset="-120"/>
              </a:rPr>
              <a:t>Tone and case guidance became more detailed.</a:t>
            </a:r>
            <a:endParaRPr lang="en-US" sz="1580" dirty="0"/>
          </a:p>
        </p:txBody>
      </p:sp>
      <p:sp>
        <p:nvSpPr>
          <p:cNvPr id="25" name="Shape 23"/>
          <p:cNvSpPr/>
          <p:nvPr/>
        </p:nvSpPr>
        <p:spPr>
          <a:xfrm>
            <a:off x="4087368" y="4197096"/>
            <a:ext cx="3886200" cy="1124712"/>
          </a:xfrm>
          <a:prstGeom prst="rect">
            <a:avLst/>
          </a:prstGeom>
          <a:solidFill>
            <a:srgbClr val="FFFFFF"/>
          </a:solidFill>
          <a:ln w="10160">
            <a:solidFill>
              <a:srgbClr val="BDD6EA"/>
            </a:solidFill>
            <a:prstDash val="solid"/>
          </a:ln>
        </p:spPr>
      </p:sp>
      <p:sp>
        <p:nvSpPr>
          <p:cNvPr id="26" name="Text 24"/>
          <p:cNvSpPr/>
          <p:nvPr/>
        </p:nvSpPr>
        <p:spPr>
          <a:xfrm>
            <a:off x="4233672" y="4306824"/>
            <a:ext cx="3593592" cy="905256"/>
          </a:xfrm>
          <a:prstGeom prst="rect">
            <a:avLst/>
          </a:prstGeom>
          <a:noFill/>
        </p:spPr>
        <p:txBody>
          <a:bodyPr wrap="square" lIns="0" tIns="0" rIns="0" bIns="0" rtlCol="0" anchor="ctr">
            <a:normAutofit/>
          </a:bodyPr>
          <a:lstStyle/>
          <a:p>
            <a:pPr marL="0" indent="0" algn="l">
              <a:buNone/>
            </a:pPr>
            <a:r>
              <a:rPr lang="en-US" sz="1580" dirty="0">
                <a:solidFill>
                  <a:srgbClr val="062642"/>
                </a:solidFill>
                <a:latin typeface="Aptos" pitchFamily="34" charset="0"/>
                <a:ea typeface="Aptos" pitchFamily="34" charset="-122"/>
                <a:cs typeface="Aptos" pitchFamily="34" charset="-120"/>
              </a:rPr>
              <a:t>Review text better matches stars and evidence case.</a:t>
            </a:r>
            <a:endParaRPr lang="en-US" sz="1580" dirty="0"/>
          </a:p>
        </p:txBody>
      </p:sp>
      <p:sp>
        <p:nvSpPr>
          <p:cNvPr id="27" name="Shape 25"/>
          <p:cNvSpPr/>
          <p:nvPr/>
        </p:nvSpPr>
        <p:spPr>
          <a:xfrm>
            <a:off x="7973568" y="4197096"/>
            <a:ext cx="3840480" cy="1124712"/>
          </a:xfrm>
          <a:prstGeom prst="rect">
            <a:avLst/>
          </a:prstGeom>
          <a:solidFill>
            <a:srgbClr val="FFFFFF"/>
          </a:solidFill>
          <a:ln w="10160">
            <a:solidFill>
              <a:srgbClr val="BDD6EA"/>
            </a:solidFill>
            <a:prstDash val="solid"/>
          </a:ln>
        </p:spPr>
      </p:sp>
      <p:sp>
        <p:nvSpPr>
          <p:cNvPr id="28" name="Text 26"/>
          <p:cNvSpPr/>
          <p:nvPr/>
        </p:nvSpPr>
        <p:spPr>
          <a:xfrm>
            <a:off x="8119872" y="4306824"/>
            <a:ext cx="3547872" cy="905256"/>
          </a:xfrm>
          <a:prstGeom prst="rect">
            <a:avLst/>
          </a:prstGeom>
          <a:noFill/>
        </p:spPr>
        <p:txBody>
          <a:bodyPr wrap="square" lIns="0" tIns="0" rIns="0" bIns="0" rtlCol="0" anchor="ctr">
            <a:normAutofit/>
          </a:bodyPr>
          <a:lstStyle/>
          <a:p>
            <a:pPr marL="0" indent="0" algn="l">
              <a:buNone/>
            </a:pPr>
            <a:r>
              <a:rPr lang="en-US" sz="1580" dirty="0">
                <a:solidFill>
                  <a:srgbClr val="062642"/>
                </a:solidFill>
                <a:latin typeface="Aptos" pitchFamily="34" charset="0"/>
                <a:ea typeface="Aptos" pitchFamily="34" charset="-122"/>
                <a:cs typeface="Aptos" pitchFamily="34" charset="-120"/>
              </a:rPr>
              <a:t>Reviews can become more formulaic.</a:t>
            </a:r>
            <a:endParaRPr lang="en-US" sz="1580" dirty="0"/>
          </a:p>
        </p:txBody>
      </p:sp>
      <p:sp>
        <p:nvSpPr>
          <p:cNvPr id="29" name="Shape 27"/>
          <p:cNvSpPr/>
          <p:nvPr/>
        </p:nvSpPr>
        <p:spPr>
          <a:xfrm>
            <a:off x="384048" y="5623560"/>
            <a:ext cx="11430000" cy="658368"/>
          </a:xfrm>
          <a:prstGeom prst="roundRect">
            <a:avLst>
              <a:gd name="adj" fmla="val 11111"/>
            </a:avLst>
          </a:prstGeom>
          <a:solidFill>
            <a:srgbClr val="EAF6FF"/>
          </a:solidFill>
          <a:ln w="15240">
            <a:solidFill>
              <a:srgbClr val="B8D5EC"/>
            </a:solidFill>
            <a:prstDash val="solid"/>
          </a:ln>
        </p:spPr>
      </p:sp>
      <p:sp>
        <p:nvSpPr>
          <p:cNvPr id="30" name="Text 28"/>
          <p:cNvSpPr/>
          <p:nvPr/>
        </p:nvSpPr>
        <p:spPr>
          <a:xfrm>
            <a:off x="603504" y="5852160"/>
            <a:ext cx="1143000" cy="182880"/>
          </a:xfrm>
          <a:prstGeom prst="rect">
            <a:avLst/>
          </a:prstGeom>
          <a:noFill/>
        </p:spPr>
        <p:txBody>
          <a:bodyPr wrap="square" lIns="0" tIns="0" rIns="0" bIns="0" rtlCol="0" anchor="ctr">
            <a:normAutofit/>
          </a:bodyPr>
          <a:lstStyle/>
          <a:p>
            <a:pPr marL="0" indent="0" algn="l">
              <a:buNone/>
            </a:pPr>
            <a:r>
              <a:rPr lang="en-US" sz="960" b="1" dirty="0">
                <a:solidFill>
                  <a:srgbClr val="0064D8"/>
                </a:solidFill>
                <a:latin typeface="Aptos" pitchFamily="34" charset="0"/>
                <a:ea typeface="Aptos" pitchFamily="34" charset="-122"/>
                <a:cs typeface="Aptos" pitchFamily="34" charset="-120"/>
              </a:rPr>
              <a:t>KEY MESSAGE</a:t>
            </a:r>
            <a:endParaRPr lang="en-US" sz="960" dirty="0"/>
          </a:p>
        </p:txBody>
      </p:sp>
      <p:sp>
        <p:nvSpPr>
          <p:cNvPr id="31" name="Text 29"/>
          <p:cNvSpPr/>
          <p:nvPr/>
        </p:nvSpPr>
        <p:spPr>
          <a:xfrm>
            <a:off x="1755648" y="5797296"/>
            <a:ext cx="9784080" cy="310896"/>
          </a:xfrm>
          <a:prstGeom prst="rect">
            <a:avLst/>
          </a:prstGeom>
          <a:noFill/>
        </p:spPr>
        <p:txBody>
          <a:bodyPr wrap="square" lIns="0" tIns="0" rIns="0" bIns="0" rtlCol="0" anchor="ctr">
            <a:normAutofit/>
          </a:bodyPr>
          <a:lstStyle/>
          <a:p>
            <a:pPr marL="0" indent="0" algn="l">
              <a:buNone/>
            </a:pPr>
            <a:r>
              <a:rPr lang="en-US" sz="1300" b="1" dirty="0">
                <a:solidFill>
                  <a:srgbClr val="062642"/>
                </a:solidFill>
                <a:latin typeface="Aptos" pitchFamily="34" charset="0"/>
                <a:ea typeface="Aptos" pitchFamily="34" charset="-122"/>
                <a:cs typeface="Aptos" pitchFamily="34" charset="-120"/>
              </a:rPr>
              <a:t>The evolved eval policy became more stable and evidence-aware, but less flexible when direct review is missing.</a:t>
            </a:r>
            <a:endParaRPr lang="en-US" sz="1300" dirty="0"/>
          </a:p>
        </p:txBody>
      </p:sp>
      <p:sp>
        <p:nvSpPr>
          <p:cNvPr id="3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28</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84366" y="164592"/>
            <a:ext cx="2286000" cy="219456"/>
          </a:xfrm>
          <a:prstGeom prst="rect">
            <a:avLst/>
          </a:prstGeom>
          <a:noFill/>
        </p:spPr>
        <p:txBody>
          <a:bodyPr wrap="square" lIns="0" tIns="0" rIns="0" bIns="0" rtlCol="0" anchor="ctr">
            <a:normAutofit/>
          </a:bodyPr>
          <a:lstStyle/>
          <a:p>
            <a:pPr marL="0" indent="0" algn="l">
              <a:buNone/>
            </a:pPr>
            <a:r>
              <a:rPr lang="en-US" sz="1200" b="1" dirty="0">
                <a:solidFill>
                  <a:srgbClr val="0B64E9"/>
                </a:solidFill>
                <a:latin typeface="Aptos" pitchFamily="34" charset="0"/>
                <a:ea typeface="Aptos" pitchFamily="34" charset="-122"/>
                <a:cs typeface="Aptos" pitchFamily="34" charset="-120"/>
              </a:rPr>
              <a:t>ROUND 1 IMPROVEMENTS</a:t>
            </a:r>
            <a:endParaRPr lang="en-US" sz="1200" dirty="0"/>
          </a:p>
        </p:txBody>
      </p:sp>
      <p:sp>
        <p:nvSpPr>
          <p:cNvPr id="3" name="Text 1"/>
          <p:cNvSpPr/>
          <p:nvPr/>
        </p:nvSpPr>
        <p:spPr>
          <a:xfrm>
            <a:off x="384493" y="475615"/>
            <a:ext cx="11568430" cy="567055"/>
          </a:xfrm>
          <a:prstGeom prst="rect">
            <a:avLst/>
          </a:prstGeom>
          <a:noFill/>
        </p:spPr>
        <p:txBody>
          <a:bodyPr wrap="square" lIns="0" tIns="0" rIns="0" bIns="0" rtlCol="0" anchor="ctr">
            <a:normAutofit/>
          </a:bodyPr>
          <a:lstStyle/>
          <a:p>
            <a:pPr marL="0" indent="0" algn="l">
              <a:buNone/>
            </a:pPr>
            <a:r>
              <a:rPr lang="en-US" sz="3200" b="1" dirty="0">
                <a:solidFill>
                  <a:srgbClr val="08233F"/>
                </a:solidFill>
                <a:latin typeface="Aptos" pitchFamily="34" charset="0"/>
                <a:ea typeface="Aptos" pitchFamily="34" charset="-122"/>
                <a:cs typeface="Aptos" pitchFamily="34" charset="-120"/>
              </a:rPr>
              <a:t>Gen-0 vs evolved</a:t>
            </a:r>
            <a:endParaRPr lang="en-US" sz="3200" b="1" dirty="0">
              <a:solidFill>
                <a:srgbClr val="08233F"/>
              </a:solidFill>
              <a:latin typeface="Aptos" pitchFamily="34" charset="0"/>
              <a:ea typeface="Aptos" pitchFamily="34" charset="-122"/>
              <a:cs typeface="Aptos" pitchFamily="34" charset="-120"/>
            </a:endParaRPr>
          </a:p>
        </p:txBody>
      </p:sp>
      <p:sp>
        <p:nvSpPr>
          <p:cNvPr id="4" name="Shape 2"/>
          <p:cNvSpPr/>
          <p:nvPr/>
        </p:nvSpPr>
        <p:spPr>
          <a:xfrm>
            <a:off x="384366" y="1124712"/>
            <a:ext cx="11064240" cy="0"/>
          </a:xfrm>
          <a:prstGeom prst="line">
            <a:avLst/>
          </a:prstGeom>
          <a:noFill/>
          <a:ln w="12700">
            <a:solidFill>
              <a:srgbClr val="C8D8E8"/>
            </a:solidFill>
            <a:prstDash val="solid"/>
          </a:ln>
        </p:spPr>
      </p:sp>
      <p:sp>
        <p:nvSpPr>
          <p:cNvPr id="5" name="Shape 3"/>
          <p:cNvSpPr/>
          <p:nvPr/>
        </p:nvSpPr>
        <p:spPr>
          <a:xfrm>
            <a:off x="567246" y="1604010"/>
            <a:ext cx="1965960" cy="530352"/>
          </a:xfrm>
          <a:prstGeom prst="rect">
            <a:avLst/>
          </a:prstGeom>
          <a:solidFill>
            <a:srgbClr val="08233F"/>
          </a:solidFill>
          <a:ln w="8890">
            <a:solidFill>
              <a:srgbClr val="C8D8E8"/>
            </a:solidFill>
            <a:prstDash val="solid"/>
          </a:ln>
        </p:spPr>
      </p:sp>
      <p:sp>
        <p:nvSpPr>
          <p:cNvPr id="6" name="Text 4"/>
          <p:cNvSpPr/>
          <p:nvPr/>
        </p:nvSpPr>
        <p:spPr>
          <a:xfrm>
            <a:off x="622109" y="1640586"/>
            <a:ext cx="1856232" cy="457200"/>
          </a:xfrm>
          <a:prstGeom prst="rect">
            <a:avLst/>
          </a:prstGeom>
          <a:noFill/>
        </p:spPr>
        <p:txBody>
          <a:bodyPr wrap="square" lIns="254" tIns="254" rIns="254" bIns="254"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Run</a:t>
            </a:r>
            <a:endParaRPr lang="en-US" sz="2000" dirty="0"/>
          </a:p>
        </p:txBody>
      </p:sp>
      <p:sp>
        <p:nvSpPr>
          <p:cNvPr id="7" name="Shape 5"/>
          <p:cNvSpPr/>
          <p:nvPr/>
        </p:nvSpPr>
        <p:spPr>
          <a:xfrm>
            <a:off x="2533205" y="1604010"/>
            <a:ext cx="1874520" cy="530352"/>
          </a:xfrm>
          <a:prstGeom prst="rect">
            <a:avLst/>
          </a:prstGeom>
          <a:solidFill>
            <a:srgbClr val="08233F"/>
          </a:solidFill>
          <a:ln w="8890">
            <a:solidFill>
              <a:srgbClr val="C8D8E8"/>
            </a:solidFill>
            <a:prstDash val="solid"/>
          </a:ln>
        </p:spPr>
      </p:sp>
      <p:sp>
        <p:nvSpPr>
          <p:cNvPr id="8" name="Text 6"/>
          <p:cNvSpPr/>
          <p:nvPr/>
        </p:nvSpPr>
        <p:spPr>
          <a:xfrm>
            <a:off x="2588069" y="1640586"/>
            <a:ext cx="1764792" cy="457200"/>
          </a:xfrm>
          <a:prstGeom prst="rect">
            <a:avLst/>
          </a:prstGeom>
          <a:noFill/>
        </p:spPr>
        <p:txBody>
          <a:bodyPr wrap="square" lIns="254" tIns="254" rIns="254" bIns="254"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Gen-0</a:t>
            </a:r>
            <a:endParaRPr lang="en-US" sz="2000" dirty="0"/>
          </a:p>
        </p:txBody>
      </p:sp>
      <p:sp>
        <p:nvSpPr>
          <p:cNvPr id="9" name="Shape 7"/>
          <p:cNvSpPr/>
          <p:nvPr/>
        </p:nvSpPr>
        <p:spPr>
          <a:xfrm>
            <a:off x="4407726" y="1604010"/>
            <a:ext cx="1874520" cy="530352"/>
          </a:xfrm>
          <a:prstGeom prst="rect">
            <a:avLst/>
          </a:prstGeom>
          <a:solidFill>
            <a:srgbClr val="08233F"/>
          </a:solidFill>
          <a:ln w="8890">
            <a:solidFill>
              <a:srgbClr val="C8D8E8"/>
            </a:solidFill>
            <a:prstDash val="solid"/>
          </a:ln>
        </p:spPr>
      </p:sp>
      <p:sp>
        <p:nvSpPr>
          <p:cNvPr id="10" name="Text 8"/>
          <p:cNvSpPr/>
          <p:nvPr/>
        </p:nvSpPr>
        <p:spPr>
          <a:xfrm>
            <a:off x="4462589" y="1640586"/>
            <a:ext cx="1764792" cy="457200"/>
          </a:xfrm>
          <a:prstGeom prst="rect">
            <a:avLst/>
          </a:prstGeom>
          <a:noFill/>
        </p:spPr>
        <p:txBody>
          <a:bodyPr wrap="square" lIns="254" tIns="254" rIns="254" bIns="254"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Best</a:t>
            </a:r>
            <a:endParaRPr lang="en-US" sz="2000" dirty="0"/>
          </a:p>
        </p:txBody>
      </p:sp>
      <p:sp>
        <p:nvSpPr>
          <p:cNvPr id="11" name="Shape 9"/>
          <p:cNvSpPr/>
          <p:nvPr/>
        </p:nvSpPr>
        <p:spPr>
          <a:xfrm>
            <a:off x="6282246" y="1604010"/>
            <a:ext cx="1737360" cy="530352"/>
          </a:xfrm>
          <a:prstGeom prst="rect">
            <a:avLst/>
          </a:prstGeom>
          <a:solidFill>
            <a:srgbClr val="08233F"/>
          </a:solidFill>
          <a:ln w="8890">
            <a:solidFill>
              <a:srgbClr val="C8D8E8"/>
            </a:solidFill>
            <a:prstDash val="solid"/>
          </a:ln>
        </p:spPr>
      </p:sp>
      <p:sp>
        <p:nvSpPr>
          <p:cNvPr id="12" name="Text 10"/>
          <p:cNvSpPr/>
          <p:nvPr/>
        </p:nvSpPr>
        <p:spPr>
          <a:xfrm>
            <a:off x="6337110" y="1640586"/>
            <a:ext cx="1627632" cy="457200"/>
          </a:xfrm>
          <a:prstGeom prst="rect">
            <a:avLst/>
          </a:prstGeom>
          <a:noFill/>
        </p:spPr>
        <p:txBody>
          <a:bodyPr wrap="square" lIns="254" tIns="254" rIns="254" bIns="254"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Δ</a:t>
            </a:r>
            <a:endParaRPr lang="en-US" sz="2000" dirty="0"/>
          </a:p>
        </p:txBody>
      </p:sp>
      <p:sp>
        <p:nvSpPr>
          <p:cNvPr id="13" name="Shape 11"/>
          <p:cNvSpPr/>
          <p:nvPr/>
        </p:nvSpPr>
        <p:spPr>
          <a:xfrm>
            <a:off x="8019606" y="1604010"/>
            <a:ext cx="3602736" cy="530352"/>
          </a:xfrm>
          <a:prstGeom prst="rect">
            <a:avLst/>
          </a:prstGeom>
          <a:solidFill>
            <a:srgbClr val="08233F"/>
          </a:solidFill>
          <a:ln w="8890">
            <a:solidFill>
              <a:srgbClr val="C8D8E8"/>
            </a:solidFill>
            <a:prstDash val="solid"/>
          </a:ln>
        </p:spPr>
      </p:sp>
      <p:sp>
        <p:nvSpPr>
          <p:cNvPr id="14" name="Text 12"/>
          <p:cNvSpPr/>
          <p:nvPr/>
        </p:nvSpPr>
        <p:spPr>
          <a:xfrm>
            <a:off x="8074470" y="1640586"/>
            <a:ext cx="3493008" cy="457200"/>
          </a:xfrm>
          <a:prstGeom prst="rect">
            <a:avLst/>
          </a:prstGeom>
          <a:noFill/>
        </p:spPr>
        <p:txBody>
          <a:bodyPr wrap="square" lIns="254" tIns="254" rIns="254" bIns="254" rtlCol="0" anchor="ctr">
            <a:normAutofit/>
          </a:bodyPr>
          <a:lstStyle/>
          <a:p>
            <a:pPr marL="0" indent="0" algn="l">
              <a:buNone/>
            </a:pPr>
            <a:r>
              <a:rPr lang="en-US" sz="2000" b="1" dirty="0">
                <a:solidFill>
                  <a:srgbClr val="FFFFFF"/>
                </a:solidFill>
                <a:latin typeface="Aptos" pitchFamily="34" charset="0"/>
                <a:ea typeface="Aptos" pitchFamily="34" charset="-122"/>
                <a:cs typeface="Aptos" pitchFamily="34" charset="-120"/>
              </a:rPr>
              <a:t>Main improvement</a:t>
            </a:r>
            <a:endParaRPr lang="en-US" sz="2000" dirty="0"/>
          </a:p>
        </p:txBody>
      </p:sp>
      <p:sp>
        <p:nvSpPr>
          <p:cNvPr id="15" name="Shape 13"/>
          <p:cNvSpPr/>
          <p:nvPr/>
        </p:nvSpPr>
        <p:spPr>
          <a:xfrm>
            <a:off x="567246" y="2134362"/>
            <a:ext cx="1965960" cy="585216"/>
          </a:xfrm>
          <a:prstGeom prst="rect">
            <a:avLst/>
          </a:prstGeom>
          <a:solidFill>
            <a:srgbClr val="FFFFFF"/>
          </a:solidFill>
          <a:ln w="8890">
            <a:solidFill>
              <a:srgbClr val="D9E3EF"/>
            </a:solidFill>
            <a:prstDash val="solid"/>
          </a:ln>
        </p:spPr>
      </p:sp>
      <p:sp>
        <p:nvSpPr>
          <p:cNvPr id="16" name="Text 14"/>
          <p:cNvSpPr/>
          <p:nvPr/>
        </p:nvSpPr>
        <p:spPr>
          <a:xfrm>
            <a:off x="622109" y="2170938"/>
            <a:ext cx="1856232" cy="512064"/>
          </a:xfrm>
          <a:prstGeom prst="rect">
            <a:avLst/>
          </a:prstGeom>
          <a:noFill/>
        </p:spPr>
        <p:txBody>
          <a:bodyPr wrap="square" lIns="254" tIns="254" rIns="254" bIns="254" rtlCol="0" anchor="ctr">
            <a:normAutofit/>
          </a:bodyPr>
          <a:lstStyle/>
          <a:p>
            <a:pPr marL="0" indent="0" algn="l">
              <a:buNone/>
            </a:pPr>
            <a:r>
              <a:rPr lang="en-US" sz="2000" b="1" dirty="0">
                <a:solidFill>
                  <a:srgbClr val="0B1526"/>
                </a:solidFill>
                <a:latin typeface="Aptos" pitchFamily="34" charset="0"/>
                <a:ea typeface="Aptos" pitchFamily="34" charset="-122"/>
                <a:cs typeface="Aptos" pitchFamily="34" charset="-120"/>
              </a:rPr>
              <a:t>R1 Agent</a:t>
            </a:r>
            <a:endParaRPr lang="en-US" sz="2000" dirty="0"/>
          </a:p>
        </p:txBody>
      </p:sp>
      <p:sp>
        <p:nvSpPr>
          <p:cNvPr id="17" name="Shape 15"/>
          <p:cNvSpPr/>
          <p:nvPr/>
        </p:nvSpPr>
        <p:spPr>
          <a:xfrm>
            <a:off x="2533205" y="2134362"/>
            <a:ext cx="1874520" cy="585216"/>
          </a:xfrm>
          <a:prstGeom prst="rect">
            <a:avLst/>
          </a:prstGeom>
          <a:solidFill>
            <a:srgbClr val="FFFFFF"/>
          </a:solidFill>
          <a:ln w="8890">
            <a:solidFill>
              <a:srgbClr val="D9E3EF"/>
            </a:solidFill>
            <a:prstDash val="solid"/>
          </a:ln>
        </p:spPr>
      </p:sp>
      <p:sp>
        <p:nvSpPr>
          <p:cNvPr id="18" name="Text 16"/>
          <p:cNvSpPr/>
          <p:nvPr/>
        </p:nvSpPr>
        <p:spPr>
          <a:xfrm>
            <a:off x="2588069" y="2170938"/>
            <a:ext cx="1764792" cy="512064"/>
          </a:xfrm>
          <a:prstGeom prst="rect">
            <a:avLst/>
          </a:prstGeom>
          <a:noFill/>
        </p:spPr>
        <p:txBody>
          <a:bodyPr wrap="square" lIns="254" tIns="254" rIns="254" bIns="254" rtlCol="0" anchor="ctr">
            <a:normAutofit/>
          </a:bodyPr>
          <a:lstStyle/>
          <a:p>
            <a:pPr marL="0" indent="0" algn="ctr">
              <a:buNone/>
            </a:pPr>
            <a:r>
              <a:rPr lang="en-US" sz="1900" dirty="0">
                <a:solidFill>
                  <a:srgbClr val="0B1526"/>
                </a:solidFill>
                <a:latin typeface="Aptos" pitchFamily="34" charset="0"/>
                <a:ea typeface="Aptos" pitchFamily="34" charset="-122"/>
                <a:cs typeface="Aptos" pitchFamily="34" charset="-120"/>
              </a:rPr>
              <a:t>0.8160</a:t>
            </a:r>
            <a:endParaRPr lang="en-US" sz="1900" dirty="0"/>
          </a:p>
        </p:txBody>
      </p:sp>
      <p:sp>
        <p:nvSpPr>
          <p:cNvPr id="19" name="Shape 17"/>
          <p:cNvSpPr/>
          <p:nvPr/>
        </p:nvSpPr>
        <p:spPr>
          <a:xfrm>
            <a:off x="4407726" y="2134362"/>
            <a:ext cx="1874520" cy="585216"/>
          </a:xfrm>
          <a:prstGeom prst="rect">
            <a:avLst/>
          </a:prstGeom>
          <a:solidFill>
            <a:srgbClr val="FFFFFF"/>
          </a:solidFill>
          <a:ln w="8890">
            <a:solidFill>
              <a:srgbClr val="D9E3EF"/>
            </a:solidFill>
            <a:prstDash val="solid"/>
          </a:ln>
        </p:spPr>
      </p:sp>
      <p:sp>
        <p:nvSpPr>
          <p:cNvPr id="20" name="Text 18"/>
          <p:cNvSpPr/>
          <p:nvPr/>
        </p:nvSpPr>
        <p:spPr>
          <a:xfrm>
            <a:off x="4462589" y="2170938"/>
            <a:ext cx="1764792" cy="512064"/>
          </a:xfrm>
          <a:prstGeom prst="rect">
            <a:avLst/>
          </a:prstGeom>
          <a:noFill/>
        </p:spPr>
        <p:txBody>
          <a:bodyPr wrap="square" lIns="254" tIns="254" rIns="254" bIns="254" rtlCol="0" anchor="ctr">
            <a:normAutofit/>
          </a:bodyPr>
          <a:lstStyle/>
          <a:p>
            <a:pPr marL="0" indent="0" algn="ctr">
              <a:buNone/>
            </a:pPr>
            <a:r>
              <a:rPr lang="en-US" sz="1900" dirty="0">
                <a:solidFill>
                  <a:srgbClr val="0B1526"/>
                </a:solidFill>
                <a:latin typeface="Aptos" pitchFamily="34" charset="0"/>
                <a:ea typeface="Aptos" pitchFamily="34" charset="-122"/>
                <a:cs typeface="Aptos" pitchFamily="34" charset="-120"/>
              </a:rPr>
              <a:t>0.8677</a:t>
            </a:r>
            <a:endParaRPr lang="en-US" sz="1900" dirty="0"/>
          </a:p>
        </p:txBody>
      </p:sp>
      <p:sp>
        <p:nvSpPr>
          <p:cNvPr id="21" name="Shape 19"/>
          <p:cNvSpPr/>
          <p:nvPr/>
        </p:nvSpPr>
        <p:spPr>
          <a:xfrm>
            <a:off x="6282246" y="2134362"/>
            <a:ext cx="1737360" cy="585216"/>
          </a:xfrm>
          <a:prstGeom prst="rect">
            <a:avLst/>
          </a:prstGeom>
          <a:solidFill>
            <a:srgbClr val="FFFFFF"/>
          </a:solidFill>
          <a:ln w="8890">
            <a:solidFill>
              <a:srgbClr val="D9E3EF"/>
            </a:solidFill>
            <a:prstDash val="solid"/>
          </a:ln>
        </p:spPr>
      </p:sp>
      <p:sp>
        <p:nvSpPr>
          <p:cNvPr id="22" name="Text 20"/>
          <p:cNvSpPr/>
          <p:nvPr/>
        </p:nvSpPr>
        <p:spPr>
          <a:xfrm>
            <a:off x="6337110" y="2170938"/>
            <a:ext cx="1627632" cy="512064"/>
          </a:xfrm>
          <a:prstGeom prst="rect">
            <a:avLst/>
          </a:prstGeom>
          <a:noFill/>
        </p:spPr>
        <p:txBody>
          <a:bodyPr wrap="square" lIns="254" tIns="254" rIns="254" bIns="254" rtlCol="0" anchor="ctr">
            <a:normAutofit/>
          </a:bodyPr>
          <a:lstStyle/>
          <a:p>
            <a:pPr marL="0" indent="0" algn="ctr">
              <a:buNone/>
            </a:pPr>
            <a:r>
              <a:rPr lang="en-US" sz="2000" b="1" dirty="0">
                <a:solidFill>
                  <a:srgbClr val="008053"/>
                </a:solidFill>
                <a:latin typeface="Aptos" pitchFamily="34" charset="0"/>
                <a:ea typeface="Aptos" pitchFamily="34" charset="-122"/>
                <a:cs typeface="Aptos" pitchFamily="34" charset="-120"/>
              </a:rPr>
              <a:t>+0.0517</a:t>
            </a:r>
            <a:endParaRPr lang="en-US" sz="2000" dirty="0"/>
          </a:p>
        </p:txBody>
      </p:sp>
      <p:sp>
        <p:nvSpPr>
          <p:cNvPr id="23" name="Shape 21"/>
          <p:cNvSpPr/>
          <p:nvPr/>
        </p:nvSpPr>
        <p:spPr>
          <a:xfrm>
            <a:off x="8019606" y="2134362"/>
            <a:ext cx="3602736" cy="585216"/>
          </a:xfrm>
          <a:prstGeom prst="rect">
            <a:avLst/>
          </a:prstGeom>
          <a:solidFill>
            <a:srgbClr val="FFFFFF"/>
          </a:solidFill>
          <a:ln w="8890">
            <a:solidFill>
              <a:srgbClr val="D9E3EF"/>
            </a:solidFill>
            <a:prstDash val="solid"/>
          </a:ln>
        </p:spPr>
      </p:sp>
      <p:sp>
        <p:nvSpPr>
          <p:cNvPr id="24" name="Text 22"/>
          <p:cNvSpPr/>
          <p:nvPr/>
        </p:nvSpPr>
        <p:spPr>
          <a:xfrm>
            <a:off x="8074470" y="2170938"/>
            <a:ext cx="3493008" cy="512064"/>
          </a:xfrm>
          <a:prstGeom prst="rect">
            <a:avLst/>
          </a:prstGeom>
          <a:noFill/>
        </p:spPr>
        <p:txBody>
          <a:bodyPr wrap="square" lIns="254" tIns="254" rIns="254" bIns="254" rtlCol="0" anchor="ctr">
            <a:normAutofit/>
          </a:bodyPr>
          <a:lstStyle/>
          <a:p>
            <a:pPr marL="0" indent="0" algn="l">
              <a:buNone/>
            </a:pPr>
            <a:r>
              <a:rPr lang="en-US" sz="1800" dirty="0">
                <a:solidFill>
                  <a:srgbClr val="0B1526"/>
                </a:solidFill>
                <a:latin typeface="Aptos" pitchFamily="34" charset="0"/>
                <a:ea typeface="Aptos" pitchFamily="34" charset="-122"/>
                <a:cs typeface="Aptos" pitchFamily="34" charset="-120"/>
              </a:rPr>
              <a:t>specialization</a:t>
            </a:r>
            <a:endParaRPr lang="en-US" sz="1800" dirty="0"/>
          </a:p>
        </p:txBody>
      </p:sp>
      <p:sp>
        <p:nvSpPr>
          <p:cNvPr id="25" name="Shape 23"/>
          <p:cNvSpPr/>
          <p:nvPr/>
        </p:nvSpPr>
        <p:spPr>
          <a:xfrm>
            <a:off x="567246" y="2719578"/>
            <a:ext cx="1965960" cy="585216"/>
          </a:xfrm>
          <a:prstGeom prst="rect">
            <a:avLst/>
          </a:prstGeom>
          <a:solidFill>
            <a:srgbClr val="F6FAFE"/>
          </a:solidFill>
          <a:ln w="8890">
            <a:solidFill>
              <a:srgbClr val="D9E3EF"/>
            </a:solidFill>
            <a:prstDash val="solid"/>
          </a:ln>
        </p:spPr>
      </p:sp>
      <p:sp>
        <p:nvSpPr>
          <p:cNvPr id="26" name="Text 24"/>
          <p:cNvSpPr/>
          <p:nvPr/>
        </p:nvSpPr>
        <p:spPr>
          <a:xfrm>
            <a:off x="622109" y="2756154"/>
            <a:ext cx="1856232" cy="512064"/>
          </a:xfrm>
          <a:prstGeom prst="rect">
            <a:avLst/>
          </a:prstGeom>
          <a:noFill/>
        </p:spPr>
        <p:txBody>
          <a:bodyPr wrap="square" lIns="254" tIns="254" rIns="254" bIns="254" rtlCol="0" anchor="ctr">
            <a:normAutofit/>
          </a:bodyPr>
          <a:lstStyle/>
          <a:p>
            <a:pPr marL="0" indent="0" algn="l">
              <a:buNone/>
            </a:pPr>
            <a:r>
              <a:rPr lang="en-US" sz="2000" b="1" dirty="0">
                <a:solidFill>
                  <a:srgbClr val="0B1526"/>
                </a:solidFill>
                <a:latin typeface="Aptos" pitchFamily="34" charset="0"/>
                <a:ea typeface="Aptos" pitchFamily="34" charset="-122"/>
                <a:cs typeface="Aptos" pitchFamily="34" charset="-120"/>
              </a:rPr>
              <a:t>R1 Task</a:t>
            </a:r>
            <a:endParaRPr lang="en-US" sz="2000" dirty="0"/>
          </a:p>
        </p:txBody>
      </p:sp>
      <p:sp>
        <p:nvSpPr>
          <p:cNvPr id="27" name="Shape 25"/>
          <p:cNvSpPr/>
          <p:nvPr/>
        </p:nvSpPr>
        <p:spPr>
          <a:xfrm>
            <a:off x="2533205" y="2719578"/>
            <a:ext cx="1874520" cy="585216"/>
          </a:xfrm>
          <a:prstGeom prst="rect">
            <a:avLst/>
          </a:prstGeom>
          <a:solidFill>
            <a:srgbClr val="F6FAFE"/>
          </a:solidFill>
          <a:ln w="8890">
            <a:solidFill>
              <a:srgbClr val="D9E3EF"/>
            </a:solidFill>
            <a:prstDash val="solid"/>
          </a:ln>
        </p:spPr>
      </p:sp>
      <p:sp>
        <p:nvSpPr>
          <p:cNvPr id="28" name="Text 26"/>
          <p:cNvSpPr/>
          <p:nvPr/>
        </p:nvSpPr>
        <p:spPr>
          <a:xfrm>
            <a:off x="2588069" y="2756154"/>
            <a:ext cx="1764792" cy="512064"/>
          </a:xfrm>
          <a:prstGeom prst="rect">
            <a:avLst/>
          </a:prstGeom>
          <a:noFill/>
        </p:spPr>
        <p:txBody>
          <a:bodyPr wrap="square" lIns="254" tIns="254" rIns="254" bIns="254" rtlCol="0" anchor="ctr">
            <a:normAutofit/>
          </a:bodyPr>
          <a:lstStyle/>
          <a:p>
            <a:pPr marL="0" indent="0" algn="ctr">
              <a:buNone/>
            </a:pPr>
            <a:r>
              <a:rPr lang="en-US" sz="1900" dirty="0">
                <a:solidFill>
                  <a:srgbClr val="0B1526"/>
                </a:solidFill>
                <a:latin typeface="Aptos" pitchFamily="34" charset="0"/>
                <a:ea typeface="Aptos" pitchFamily="34" charset="-122"/>
                <a:cs typeface="Aptos" pitchFamily="34" charset="-120"/>
              </a:rPr>
              <a:t>0.8086</a:t>
            </a:r>
            <a:endParaRPr lang="en-US" sz="1900" dirty="0"/>
          </a:p>
        </p:txBody>
      </p:sp>
      <p:sp>
        <p:nvSpPr>
          <p:cNvPr id="29" name="Shape 27"/>
          <p:cNvSpPr/>
          <p:nvPr/>
        </p:nvSpPr>
        <p:spPr>
          <a:xfrm>
            <a:off x="4407726" y="2719578"/>
            <a:ext cx="1874520" cy="585216"/>
          </a:xfrm>
          <a:prstGeom prst="rect">
            <a:avLst/>
          </a:prstGeom>
          <a:solidFill>
            <a:srgbClr val="F6FAFE"/>
          </a:solidFill>
          <a:ln w="8890">
            <a:solidFill>
              <a:srgbClr val="D9E3EF"/>
            </a:solidFill>
            <a:prstDash val="solid"/>
          </a:ln>
        </p:spPr>
      </p:sp>
      <p:sp>
        <p:nvSpPr>
          <p:cNvPr id="30" name="Text 28"/>
          <p:cNvSpPr/>
          <p:nvPr/>
        </p:nvSpPr>
        <p:spPr>
          <a:xfrm>
            <a:off x="4462589" y="2756154"/>
            <a:ext cx="1764792" cy="512064"/>
          </a:xfrm>
          <a:prstGeom prst="rect">
            <a:avLst/>
          </a:prstGeom>
          <a:noFill/>
        </p:spPr>
        <p:txBody>
          <a:bodyPr wrap="square" lIns="254" tIns="254" rIns="254" bIns="254" rtlCol="0" anchor="ctr">
            <a:normAutofit/>
          </a:bodyPr>
          <a:lstStyle/>
          <a:p>
            <a:pPr marL="0" indent="0" algn="ctr">
              <a:buNone/>
            </a:pPr>
            <a:r>
              <a:rPr lang="en-US" sz="1900" dirty="0">
                <a:solidFill>
                  <a:srgbClr val="0B1526"/>
                </a:solidFill>
                <a:latin typeface="Aptos" pitchFamily="34" charset="0"/>
                <a:ea typeface="Aptos" pitchFamily="34" charset="-122"/>
                <a:cs typeface="Aptos" pitchFamily="34" charset="-120"/>
              </a:rPr>
              <a:t>0.8691</a:t>
            </a:r>
            <a:endParaRPr lang="en-US" sz="1900" dirty="0"/>
          </a:p>
        </p:txBody>
      </p:sp>
      <p:sp>
        <p:nvSpPr>
          <p:cNvPr id="31" name="Shape 29"/>
          <p:cNvSpPr/>
          <p:nvPr/>
        </p:nvSpPr>
        <p:spPr>
          <a:xfrm>
            <a:off x="6282246" y="2719578"/>
            <a:ext cx="1737360" cy="585216"/>
          </a:xfrm>
          <a:prstGeom prst="rect">
            <a:avLst/>
          </a:prstGeom>
          <a:solidFill>
            <a:srgbClr val="F6FAFE"/>
          </a:solidFill>
          <a:ln w="8890">
            <a:solidFill>
              <a:srgbClr val="D9E3EF"/>
            </a:solidFill>
            <a:prstDash val="solid"/>
          </a:ln>
        </p:spPr>
      </p:sp>
      <p:sp>
        <p:nvSpPr>
          <p:cNvPr id="32" name="Text 30"/>
          <p:cNvSpPr/>
          <p:nvPr/>
        </p:nvSpPr>
        <p:spPr>
          <a:xfrm>
            <a:off x="6337110" y="2756154"/>
            <a:ext cx="1627632" cy="512064"/>
          </a:xfrm>
          <a:prstGeom prst="rect">
            <a:avLst/>
          </a:prstGeom>
          <a:noFill/>
        </p:spPr>
        <p:txBody>
          <a:bodyPr wrap="square" lIns="254" tIns="254" rIns="254" bIns="254" rtlCol="0" anchor="ctr">
            <a:normAutofit/>
          </a:bodyPr>
          <a:lstStyle/>
          <a:p>
            <a:pPr marL="0" indent="0" algn="ctr">
              <a:buNone/>
            </a:pPr>
            <a:r>
              <a:rPr lang="en-US" sz="2000" b="1" dirty="0">
                <a:solidFill>
                  <a:srgbClr val="008053"/>
                </a:solidFill>
                <a:latin typeface="Aptos" pitchFamily="34" charset="0"/>
                <a:ea typeface="Aptos" pitchFamily="34" charset="-122"/>
                <a:cs typeface="Aptos" pitchFamily="34" charset="-120"/>
              </a:rPr>
              <a:t>+0.0605</a:t>
            </a:r>
            <a:endParaRPr lang="en-US" sz="2000" dirty="0"/>
          </a:p>
        </p:txBody>
      </p:sp>
      <p:sp>
        <p:nvSpPr>
          <p:cNvPr id="33" name="Shape 31"/>
          <p:cNvSpPr/>
          <p:nvPr/>
        </p:nvSpPr>
        <p:spPr>
          <a:xfrm>
            <a:off x="8019606" y="2719578"/>
            <a:ext cx="3602736" cy="585216"/>
          </a:xfrm>
          <a:prstGeom prst="rect">
            <a:avLst/>
          </a:prstGeom>
          <a:solidFill>
            <a:srgbClr val="F6FAFE"/>
          </a:solidFill>
          <a:ln w="8890">
            <a:solidFill>
              <a:srgbClr val="D9E3EF"/>
            </a:solidFill>
            <a:prstDash val="solid"/>
          </a:ln>
        </p:spPr>
      </p:sp>
      <p:sp>
        <p:nvSpPr>
          <p:cNvPr id="34" name="Text 32"/>
          <p:cNvSpPr/>
          <p:nvPr/>
        </p:nvSpPr>
        <p:spPr>
          <a:xfrm>
            <a:off x="8074470" y="2756154"/>
            <a:ext cx="3493008" cy="512064"/>
          </a:xfrm>
          <a:prstGeom prst="rect">
            <a:avLst/>
          </a:prstGeom>
          <a:noFill/>
        </p:spPr>
        <p:txBody>
          <a:bodyPr wrap="square" lIns="254" tIns="254" rIns="254" bIns="254" rtlCol="0" anchor="ctr">
            <a:normAutofit/>
          </a:bodyPr>
          <a:lstStyle/>
          <a:p>
            <a:pPr marL="0" indent="0" algn="l">
              <a:buNone/>
            </a:pPr>
            <a:r>
              <a:rPr lang="en-US" sz="1800" dirty="0">
                <a:solidFill>
                  <a:srgbClr val="0B1526"/>
                </a:solidFill>
                <a:latin typeface="Aptos" pitchFamily="34" charset="0"/>
                <a:ea typeface="Aptos" pitchFamily="34" charset="-122"/>
                <a:cs typeface="Aptos" pitchFamily="34" charset="-120"/>
              </a:rPr>
              <a:t>structured outputs</a:t>
            </a:r>
            <a:endParaRPr lang="en-US" sz="1800" dirty="0"/>
          </a:p>
        </p:txBody>
      </p:sp>
      <p:sp>
        <p:nvSpPr>
          <p:cNvPr id="35" name="Shape 33"/>
          <p:cNvSpPr/>
          <p:nvPr/>
        </p:nvSpPr>
        <p:spPr>
          <a:xfrm>
            <a:off x="567246" y="3304794"/>
            <a:ext cx="1965960" cy="585216"/>
          </a:xfrm>
          <a:prstGeom prst="rect">
            <a:avLst/>
          </a:prstGeom>
          <a:solidFill>
            <a:srgbClr val="FFFFFF"/>
          </a:solidFill>
          <a:ln w="8890">
            <a:solidFill>
              <a:srgbClr val="D9E3EF"/>
            </a:solidFill>
            <a:prstDash val="solid"/>
          </a:ln>
        </p:spPr>
      </p:sp>
      <p:sp>
        <p:nvSpPr>
          <p:cNvPr id="36" name="Text 34"/>
          <p:cNvSpPr/>
          <p:nvPr/>
        </p:nvSpPr>
        <p:spPr>
          <a:xfrm>
            <a:off x="622109" y="3341370"/>
            <a:ext cx="1856232" cy="512064"/>
          </a:xfrm>
          <a:prstGeom prst="rect">
            <a:avLst/>
          </a:prstGeom>
          <a:noFill/>
        </p:spPr>
        <p:txBody>
          <a:bodyPr wrap="square" lIns="254" tIns="254" rIns="254" bIns="254" rtlCol="0" anchor="ctr">
            <a:normAutofit/>
          </a:bodyPr>
          <a:lstStyle/>
          <a:p>
            <a:pPr marL="0" indent="0" algn="l">
              <a:buNone/>
            </a:pPr>
            <a:r>
              <a:rPr lang="en-US" sz="2000" b="1" dirty="0">
                <a:solidFill>
                  <a:srgbClr val="0B1526"/>
                </a:solidFill>
                <a:latin typeface="Aptos" pitchFamily="34" charset="0"/>
                <a:ea typeface="Aptos" pitchFamily="34" charset="-122"/>
                <a:cs typeface="Aptos" pitchFamily="34" charset="-120"/>
              </a:rPr>
              <a:t>R1 </a:t>
            </a:r>
            <a:r>
              <a:rPr lang="vi-VN" altLang="en-US" sz="2000" b="1" dirty="0">
                <a:solidFill>
                  <a:srgbClr val="0B1526"/>
                </a:solidFill>
                <a:latin typeface="Aptos" pitchFamily="34" charset="0"/>
                <a:ea typeface="Aptos" pitchFamily="34" charset="-122"/>
                <a:cs typeface="Aptos" pitchFamily="34" charset="-120"/>
              </a:rPr>
              <a:t>RPP</a:t>
            </a:r>
            <a:endParaRPr lang="vi-VN" altLang="en-US" sz="2000" b="1" dirty="0">
              <a:solidFill>
                <a:srgbClr val="0B1526"/>
              </a:solidFill>
              <a:latin typeface="Aptos" pitchFamily="34" charset="0"/>
              <a:ea typeface="Aptos" pitchFamily="34" charset="-122"/>
              <a:cs typeface="Aptos" pitchFamily="34" charset="-120"/>
            </a:endParaRPr>
          </a:p>
        </p:txBody>
      </p:sp>
      <p:sp>
        <p:nvSpPr>
          <p:cNvPr id="37" name="Shape 35"/>
          <p:cNvSpPr/>
          <p:nvPr/>
        </p:nvSpPr>
        <p:spPr>
          <a:xfrm>
            <a:off x="2533205" y="3304794"/>
            <a:ext cx="1874520" cy="585216"/>
          </a:xfrm>
          <a:prstGeom prst="rect">
            <a:avLst/>
          </a:prstGeom>
          <a:solidFill>
            <a:srgbClr val="FFFFFF"/>
          </a:solidFill>
          <a:ln w="8890">
            <a:solidFill>
              <a:srgbClr val="D9E3EF"/>
            </a:solidFill>
            <a:prstDash val="solid"/>
          </a:ln>
        </p:spPr>
      </p:sp>
      <p:sp>
        <p:nvSpPr>
          <p:cNvPr id="38" name="Text 36"/>
          <p:cNvSpPr/>
          <p:nvPr/>
        </p:nvSpPr>
        <p:spPr>
          <a:xfrm>
            <a:off x="2588069" y="3341370"/>
            <a:ext cx="1764792" cy="512064"/>
          </a:xfrm>
          <a:prstGeom prst="rect">
            <a:avLst/>
          </a:prstGeom>
          <a:noFill/>
        </p:spPr>
        <p:txBody>
          <a:bodyPr wrap="square" lIns="254" tIns="254" rIns="254" bIns="254" rtlCol="0" anchor="ctr">
            <a:normAutofit/>
          </a:bodyPr>
          <a:lstStyle/>
          <a:p>
            <a:pPr marL="0" indent="0" algn="ctr">
              <a:buNone/>
            </a:pPr>
            <a:r>
              <a:rPr lang="en-US" sz="1900" dirty="0">
                <a:solidFill>
                  <a:srgbClr val="0B1526"/>
                </a:solidFill>
                <a:latin typeface="Aptos" pitchFamily="34" charset="0"/>
                <a:ea typeface="Aptos" pitchFamily="34" charset="-122"/>
                <a:cs typeface="Aptos" pitchFamily="34" charset="-120"/>
              </a:rPr>
              <a:t>0.8204</a:t>
            </a:r>
            <a:endParaRPr lang="en-US" sz="1900" dirty="0"/>
          </a:p>
        </p:txBody>
      </p:sp>
      <p:sp>
        <p:nvSpPr>
          <p:cNvPr id="39" name="Shape 37"/>
          <p:cNvSpPr/>
          <p:nvPr/>
        </p:nvSpPr>
        <p:spPr>
          <a:xfrm>
            <a:off x="4407726" y="3304794"/>
            <a:ext cx="1874520" cy="585216"/>
          </a:xfrm>
          <a:prstGeom prst="rect">
            <a:avLst/>
          </a:prstGeom>
          <a:solidFill>
            <a:srgbClr val="FFFFFF"/>
          </a:solidFill>
          <a:ln w="8890">
            <a:solidFill>
              <a:srgbClr val="D9E3EF"/>
            </a:solidFill>
            <a:prstDash val="solid"/>
          </a:ln>
        </p:spPr>
      </p:sp>
      <p:sp>
        <p:nvSpPr>
          <p:cNvPr id="40" name="Text 38"/>
          <p:cNvSpPr/>
          <p:nvPr/>
        </p:nvSpPr>
        <p:spPr>
          <a:xfrm>
            <a:off x="4462589" y="3341370"/>
            <a:ext cx="1764792" cy="512064"/>
          </a:xfrm>
          <a:prstGeom prst="rect">
            <a:avLst/>
          </a:prstGeom>
          <a:noFill/>
        </p:spPr>
        <p:txBody>
          <a:bodyPr wrap="square" lIns="254" tIns="254" rIns="254" bIns="254" rtlCol="0" anchor="ctr">
            <a:normAutofit/>
          </a:bodyPr>
          <a:lstStyle/>
          <a:p>
            <a:pPr marL="0" indent="0" algn="ctr">
              <a:buNone/>
            </a:pPr>
            <a:r>
              <a:rPr lang="en-US" sz="1900" dirty="0">
                <a:solidFill>
                  <a:srgbClr val="0B1526"/>
                </a:solidFill>
                <a:latin typeface="Aptos" pitchFamily="34" charset="0"/>
                <a:ea typeface="Aptos" pitchFamily="34" charset="-122"/>
                <a:cs typeface="Aptos" pitchFamily="34" charset="-120"/>
              </a:rPr>
              <a:t>0.8702</a:t>
            </a:r>
            <a:endParaRPr lang="en-US" sz="1900" dirty="0"/>
          </a:p>
        </p:txBody>
      </p:sp>
      <p:sp>
        <p:nvSpPr>
          <p:cNvPr id="41" name="Shape 39"/>
          <p:cNvSpPr/>
          <p:nvPr/>
        </p:nvSpPr>
        <p:spPr>
          <a:xfrm>
            <a:off x="6282246" y="3304794"/>
            <a:ext cx="1737360" cy="585216"/>
          </a:xfrm>
          <a:prstGeom prst="rect">
            <a:avLst/>
          </a:prstGeom>
          <a:solidFill>
            <a:srgbClr val="FFFFFF"/>
          </a:solidFill>
          <a:ln w="8890">
            <a:solidFill>
              <a:srgbClr val="D9E3EF"/>
            </a:solidFill>
            <a:prstDash val="solid"/>
          </a:ln>
        </p:spPr>
      </p:sp>
      <p:sp>
        <p:nvSpPr>
          <p:cNvPr id="42" name="Text 40"/>
          <p:cNvSpPr/>
          <p:nvPr/>
        </p:nvSpPr>
        <p:spPr>
          <a:xfrm>
            <a:off x="6337110" y="3341370"/>
            <a:ext cx="1627632" cy="512064"/>
          </a:xfrm>
          <a:prstGeom prst="rect">
            <a:avLst/>
          </a:prstGeom>
          <a:noFill/>
        </p:spPr>
        <p:txBody>
          <a:bodyPr wrap="square" lIns="254" tIns="254" rIns="254" bIns="254" rtlCol="0" anchor="ctr">
            <a:normAutofit/>
          </a:bodyPr>
          <a:lstStyle/>
          <a:p>
            <a:pPr marL="0" indent="0" algn="ctr">
              <a:buNone/>
            </a:pPr>
            <a:r>
              <a:rPr lang="en-US" sz="2000" b="1" dirty="0">
                <a:solidFill>
                  <a:srgbClr val="008053"/>
                </a:solidFill>
                <a:latin typeface="Aptos" pitchFamily="34" charset="0"/>
                <a:ea typeface="Aptos" pitchFamily="34" charset="-122"/>
                <a:cs typeface="Aptos" pitchFamily="34" charset="-120"/>
              </a:rPr>
              <a:t>+0.0498</a:t>
            </a:r>
            <a:endParaRPr lang="en-US" sz="2000" dirty="0"/>
          </a:p>
        </p:txBody>
      </p:sp>
      <p:sp>
        <p:nvSpPr>
          <p:cNvPr id="43" name="Shape 41"/>
          <p:cNvSpPr/>
          <p:nvPr/>
        </p:nvSpPr>
        <p:spPr>
          <a:xfrm>
            <a:off x="8019606" y="3304794"/>
            <a:ext cx="3602736" cy="585216"/>
          </a:xfrm>
          <a:prstGeom prst="rect">
            <a:avLst/>
          </a:prstGeom>
          <a:solidFill>
            <a:srgbClr val="FFFFFF"/>
          </a:solidFill>
          <a:ln w="8890">
            <a:solidFill>
              <a:srgbClr val="D9E3EF"/>
            </a:solidFill>
            <a:prstDash val="solid"/>
          </a:ln>
        </p:spPr>
      </p:sp>
      <p:sp>
        <p:nvSpPr>
          <p:cNvPr id="44" name="Text 42"/>
          <p:cNvSpPr/>
          <p:nvPr/>
        </p:nvSpPr>
        <p:spPr>
          <a:xfrm>
            <a:off x="8074470" y="3341370"/>
            <a:ext cx="3493008" cy="512064"/>
          </a:xfrm>
          <a:prstGeom prst="rect">
            <a:avLst/>
          </a:prstGeom>
          <a:noFill/>
        </p:spPr>
        <p:txBody>
          <a:bodyPr wrap="square" lIns="254" tIns="254" rIns="254" bIns="254" rtlCol="0" anchor="ctr">
            <a:normAutofit/>
          </a:bodyPr>
          <a:lstStyle/>
          <a:p>
            <a:pPr marL="0" indent="0" algn="l">
              <a:buNone/>
            </a:pPr>
            <a:r>
              <a:rPr lang="en-US" sz="1800" dirty="0">
                <a:solidFill>
                  <a:srgbClr val="0B1526"/>
                </a:solidFill>
                <a:latin typeface="Aptos" pitchFamily="34" charset="0"/>
                <a:ea typeface="Aptos" pitchFamily="34" charset="-122"/>
                <a:cs typeface="Aptos" pitchFamily="34" charset="-120"/>
              </a:rPr>
              <a:t>direct-review weights</a:t>
            </a:r>
            <a:endParaRPr lang="en-US" sz="1800" dirty="0"/>
          </a:p>
        </p:txBody>
      </p:sp>
      <p:sp>
        <p:nvSpPr>
          <p:cNvPr id="51"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b="1" dirty="0">
                <a:solidFill>
                  <a:srgbClr val="64748B"/>
                </a:solidFill>
                <a:latin typeface="Aptos" pitchFamily="34" charset="0"/>
                <a:ea typeface="Aptos" pitchFamily="34" charset="-122"/>
                <a:cs typeface="Aptos" pitchFamily="34" charset="-120"/>
              </a:rPr>
              <a:t>29</a:t>
            </a:r>
            <a:endParaRPr lang="en-US" altLang="vi-VN"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9230" y="201168"/>
            <a:ext cx="2743200" cy="164592"/>
          </a:xfrm>
          <a:prstGeom prst="rect">
            <a:avLst/>
          </a:prstGeom>
          <a:noFill/>
        </p:spPr>
        <p:txBody>
          <a:bodyPr wrap="square" lIns="0" tIns="0" rIns="0" bIns="0" rtlCol="0" anchor="ctr"/>
          <a:lstStyle/>
          <a:p>
            <a:pPr marL="0" indent="0">
              <a:buNone/>
            </a:pPr>
            <a:r>
              <a:rPr lang="en-US" sz="900" b="1" dirty="0">
                <a:solidFill>
                  <a:srgbClr val="1265E8"/>
                </a:solidFill>
              </a:rPr>
              <a:t>EVOLUTION ANALYSIS</a:t>
            </a:r>
            <a:endParaRPr lang="en-US" sz="900" dirty="0"/>
          </a:p>
        </p:txBody>
      </p:sp>
      <p:sp>
        <p:nvSpPr>
          <p:cNvPr id="3" name="Text 1"/>
          <p:cNvSpPr/>
          <p:nvPr/>
        </p:nvSpPr>
        <p:spPr>
          <a:xfrm>
            <a:off x="439230" y="448056"/>
            <a:ext cx="11292840" cy="502920"/>
          </a:xfrm>
          <a:prstGeom prst="rect">
            <a:avLst/>
          </a:prstGeom>
          <a:noFill/>
        </p:spPr>
        <p:txBody>
          <a:bodyPr wrap="square" lIns="0" tIns="0" rIns="0" bIns="0" rtlCol="0" anchor="ctr">
            <a:normAutofit/>
          </a:bodyPr>
          <a:lstStyle/>
          <a:p>
            <a:pPr marL="0" indent="0">
              <a:buNone/>
            </a:pPr>
            <a:r>
              <a:rPr lang="en-US" sz="2900" b="1" dirty="0">
                <a:solidFill>
                  <a:srgbClr val="08233F"/>
                </a:solidFill>
                <a:latin typeface="Aptos Display" pitchFamily="34" charset="0"/>
                <a:ea typeface="Aptos Display" pitchFamily="34" charset="-122"/>
                <a:cs typeface="Aptos Display" pitchFamily="34" charset="-120"/>
              </a:rPr>
              <a:t>Round 2 Agent</a:t>
            </a:r>
            <a:endParaRPr lang="en-US" sz="2900" dirty="0"/>
          </a:p>
        </p:txBody>
      </p:sp>
      <p:sp>
        <p:nvSpPr>
          <p:cNvPr id="4" name="Shape 2"/>
          <p:cNvSpPr/>
          <p:nvPr/>
        </p:nvSpPr>
        <p:spPr>
          <a:xfrm>
            <a:off x="439230" y="954278"/>
            <a:ext cx="11201400" cy="0"/>
          </a:xfrm>
          <a:prstGeom prst="line">
            <a:avLst/>
          </a:prstGeom>
          <a:noFill/>
          <a:ln w="12700">
            <a:solidFill>
              <a:srgbClr val="C6D5E5"/>
            </a:solidFill>
            <a:prstDash val="solid"/>
          </a:ln>
        </p:spPr>
      </p:sp>
      <p:sp>
        <p:nvSpPr>
          <p:cNvPr id="41" name="Shape 3"/>
          <p:cNvSpPr/>
          <p:nvPr/>
        </p:nvSpPr>
        <p:spPr>
          <a:xfrm>
            <a:off x="1322070" y="1068705"/>
            <a:ext cx="9566910" cy="5740400"/>
          </a:xfrm>
          <a:prstGeom prst="roundRect">
            <a:avLst>
              <a:gd name="adj" fmla="val 2712"/>
            </a:avLst>
          </a:prstGeom>
          <a:solidFill>
            <a:srgbClr val="FFFFFF"/>
          </a:solidFill>
          <a:ln w="10160">
            <a:solidFill>
              <a:srgbClr val="C6D6E6"/>
            </a:solidFill>
            <a:prstDash val="solid"/>
          </a:ln>
          <a:effectLst>
            <a:outerShdw blurRad="12700" dist="50800" dir="2700000" algn="bl" rotWithShape="0">
              <a:srgbClr val="DCE7F2">
                <a:alpha val="24000"/>
              </a:srgbClr>
            </a:outerShdw>
          </a:effectLst>
        </p:spPr>
      </p:sp>
      <p:sp>
        <p:nvSpPr>
          <p:cNvPr id="42" name="Shape 7"/>
          <p:cNvSpPr/>
          <p:nvPr/>
        </p:nvSpPr>
        <p:spPr>
          <a:xfrm>
            <a:off x="2026158" y="1135380"/>
            <a:ext cx="2834640" cy="164592"/>
          </a:xfrm>
          <a:prstGeom prst="roundRect">
            <a:avLst>
              <a:gd name="adj" fmla="val 38889"/>
            </a:avLst>
          </a:prstGeom>
          <a:solidFill>
            <a:srgbClr val="F5F8FD"/>
          </a:solidFill>
          <a:ln w="5080">
            <a:solidFill>
              <a:srgbClr val="DCE6F2"/>
            </a:solidFill>
            <a:prstDash val="solid"/>
          </a:ln>
        </p:spPr>
      </p:sp>
      <p:sp>
        <p:nvSpPr>
          <p:cNvPr id="43" name="Shape 8"/>
          <p:cNvSpPr/>
          <p:nvPr/>
        </p:nvSpPr>
        <p:spPr>
          <a:xfrm>
            <a:off x="2190750" y="1185672"/>
            <a:ext cx="73152" cy="73152"/>
          </a:xfrm>
          <a:prstGeom prst="ellipse">
            <a:avLst/>
          </a:prstGeom>
          <a:solidFill>
            <a:srgbClr val="0B63E5"/>
          </a:solidFill>
          <a:ln w="12700">
            <a:solidFill>
              <a:srgbClr val="0B63E5">
                <a:alpha val="0"/>
              </a:srgbClr>
            </a:solidFill>
            <a:prstDash val="solid"/>
          </a:ln>
        </p:spPr>
      </p:sp>
      <p:sp>
        <p:nvSpPr>
          <p:cNvPr id="44" name="Text 9"/>
          <p:cNvSpPr/>
          <p:nvPr/>
        </p:nvSpPr>
        <p:spPr>
          <a:xfrm>
            <a:off x="2300478"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candidate</a:t>
            </a:r>
            <a:endParaRPr lang="en-US" sz="980" dirty="0">
              <a:solidFill>
                <a:srgbClr val="425A76"/>
              </a:solidFill>
            </a:endParaRPr>
          </a:p>
        </p:txBody>
      </p:sp>
      <p:sp>
        <p:nvSpPr>
          <p:cNvPr id="45" name="Shape 10"/>
          <p:cNvSpPr/>
          <p:nvPr/>
        </p:nvSpPr>
        <p:spPr>
          <a:xfrm>
            <a:off x="3086862" y="1185672"/>
            <a:ext cx="73152" cy="73152"/>
          </a:xfrm>
          <a:prstGeom prst="ellipse">
            <a:avLst/>
          </a:prstGeom>
          <a:solidFill>
            <a:srgbClr val="F28C00"/>
          </a:solidFill>
          <a:ln w="12700">
            <a:solidFill>
              <a:srgbClr val="F28C00">
                <a:alpha val="0"/>
              </a:srgbClr>
            </a:solidFill>
            <a:prstDash val="solid"/>
          </a:ln>
        </p:spPr>
      </p:sp>
      <p:sp>
        <p:nvSpPr>
          <p:cNvPr id="46" name="Text 11"/>
          <p:cNvSpPr/>
          <p:nvPr/>
        </p:nvSpPr>
        <p:spPr>
          <a:xfrm>
            <a:off x="3196590"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branch</a:t>
            </a:r>
            <a:endParaRPr lang="en-US" sz="980" dirty="0">
              <a:solidFill>
                <a:srgbClr val="425A76"/>
              </a:solidFill>
            </a:endParaRPr>
          </a:p>
        </p:txBody>
      </p:sp>
      <p:sp>
        <p:nvSpPr>
          <p:cNvPr id="47" name="Shape 12"/>
          <p:cNvSpPr/>
          <p:nvPr/>
        </p:nvSpPr>
        <p:spPr>
          <a:xfrm>
            <a:off x="3982974" y="1185672"/>
            <a:ext cx="73152" cy="73152"/>
          </a:xfrm>
          <a:prstGeom prst="ellipse">
            <a:avLst/>
          </a:prstGeom>
          <a:solidFill>
            <a:srgbClr val="00A34A"/>
          </a:solidFill>
          <a:ln w="12700">
            <a:solidFill>
              <a:srgbClr val="00A34A">
                <a:alpha val="0"/>
              </a:srgbClr>
            </a:solidFill>
            <a:prstDash val="solid"/>
          </a:ln>
        </p:spPr>
      </p:sp>
      <p:sp>
        <p:nvSpPr>
          <p:cNvPr id="48" name="Text 13"/>
          <p:cNvSpPr/>
          <p:nvPr/>
        </p:nvSpPr>
        <p:spPr>
          <a:xfrm>
            <a:off x="4092702"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parent</a:t>
            </a:r>
            <a:endParaRPr lang="en-US" sz="980" dirty="0">
              <a:solidFill>
                <a:srgbClr val="425A76"/>
              </a:solidFill>
            </a:endParaRPr>
          </a:p>
        </p:txBody>
      </p:sp>
      <p:pic>
        <p:nvPicPr>
          <p:cNvPr id="16" name="Picture 15" descr="round2_agent"/>
          <p:cNvPicPr>
            <a:picLocks noChangeAspect="1"/>
          </p:cNvPicPr>
          <p:nvPr/>
        </p:nvPicPr>
        <p:blipFill>
          <a:blip r:embed="rId1"/>
          <a:stretch>
            <a:fillRect/>
          </a:stretch>
        </p:blipFill>
        <p:spPr>
          <a:xfrm>
            <a:off x="1449070" y="1410970"/>
            <a:ext cx="9293860" cy="5284470"/>
          </a:xfrm>
          <a:prstGeom prst="rect">
            <a:avLst/>
          </a:prstGeom>
        </p:spPr>
      </p:pic>
      <p:sp>
        <p:nvSpPr>
          <p:cNvPr id="24"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b="1" dirty="0">
                <a:solidFill>
                  <a:srgbClr val="64748B"/>
                </a:solidFill>
                <a:latin typeface="Aptos" pitchFamily="34" charset="0"/>
                <a:ea typeface="Aptos" pitchFamily="34" charset="-122"/>
                <a:cs typeface="Aptos" pitchFamily="34" charset="-120"/>
              </a:rPr>
              <a:t>30</a:t>
            </a:r>
            <a:endParaRPr lang="en-US" altLang="vi-VN"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9230" y="201168"/>
            <a:ext cx="2743200" cy="164592"/>
          </a:xfrm>
          <a:prstGeom prst="rect">
            <a:avLst/>
          </a:prstGeom>
          <a:noFill/>
        </p:spPr>
        <p:txBody>
          <a:bodyPr wrap="square" lIns="0" tIns="0" rIns="0" bIns="0" rtlCol="0" anchor="ctr"/>
          <a:lstStyle/>
          <a:p>
            <a:pPr marL="0" indent="0">
              <a:buNone/>
            </a:pPr>
            <a:r>
              <a:rPr lang="en-US" sz="900" b="1" dirty="0">
                <a:solidFill>
                  <a:srgbClr val="1265E8"/>
                </a:solidFill>
              </a:rPr>
              <a:t>EVOLUTION ANALYSIS</a:t>
            </a:r>
            <a:endParaRPr lang="en-US" sz="900" dirty="0"/>
          </a:p>
        </p:txBody>
      </p:sp>
      <p:sp>
        <p:nvSpPr>
          <p:cNvPr id="3" name="Text 1"/>
          <p:cNvSpPr/>
          <p:nvPr/>
        </p:nvSpPr>
        <p:spPr>
          <a:xfrm>
            <a:off x="439230" y="408051"/>
            <a:ext cx="11292840" cy="502920"/>
          </a:xfrm>
          <a:prstGeom prst="rect">
            <a:avLst/>
          </a:prstGeom>
          <a:noFill/>
        </p:spPr>
        <p:txBody>
          <a:bodyPr wrap="square" lIns="0" tIns="0" rIns="0" bIns="0" rtlCol="0" anchor="ctr">
            <a:normAutofit/>
          </a:bodyPr>
          <a:lstStyle/>
          <a:p>
            <a:pPr marL="0" indent="0">
              <a:buNone/>
            </a:pPr>
            <a:r>
              <a:rPr lang="en-US" sz="2900" b="1" dirty="0">
                <a:solidFill>
                  <a:srgbClr val="08233F"/>
                </a:solidFill>
                <a:latin typeface="Aptos Display" pitchFamily="34" charset="0"/>
                <a:ea typeface="Aptos Display" pitchFamily="34" charset="-122"/>
                <a:cs typeface="Aptos Display" pitchFamily="34" charset="-120"/>
              </a:rPr>
              <a:t>Round 2 Agent</a:t>
            </a:r>
            <a:endParaRPr lang="en-US" sz="2900" dirty="0"/>
          </a:p>
        </p:txBody>
      </p:sp>
      <p:sp>
        <p:nvSpPr>
          <p:cNvPr id="18" name="Shape 3"/>
          <p:cNvSpPr/>
          <p:nvPr/>
        </p:nvSpPr>
        <p:spPr>
          <a:xfrm>
            <a:off x="6283960" y="1292860"/>
            <a:ext cx="5814695" cy="2293620"/>
          </a:xfrm>
          <a:prstGeom prst="roundRect">
            <a:avLst/>
          </a:prstGeom>
          <a:solidFill>
            <a:srgbClr val="FFFFFF"/>
          </a:solidFill>
          <a:ln w="13970">
            <a:solidFill>
              <a:srgbClr val="C6D5E5"/>
            </a:solidFill>
            <a:prstDash val="solid"/>
          </a:ln>
        </p:spPr>
      </p:sp>
      <p:sp>
        <p:nvSpPr>
          <p:cNvPr id="19" name="Shape 3"/>
          <p:cNvSpPr/>
          <p:nvPr/>
        </p:nvSpPr>
        <p:spPr>
          <a:xfrm>
            <a:off x="2963545" y="3895725"/>
            <a:ext cx="6702425" cy="2417445"/>
          </a:xfrm>
          <a:prstGeom prst="roundRect">
            <a:avLst/>
          </a:prstGeom>
          <a:solidFill>
            <a:srgbClr val="FFFFFF"/>
          </a:solidFill>
          <a:ln w="13970">
            <a:solidFill>
              <a:srgbClr val="C6D5E5"/>
            </a:solidFill>
            <a:prstDash val="solid"/>
          </a:ln>
        </p:spPr>
      </p:sp>
      <p:sp>
        <p:nvSpPr>
          <p:cNvPr id="17" name="Shape 2"/>
          <p:cNvSpPr/>
          <p:nvPr/>
        </p:nvSpPr>
        <p:spPr>
          <a:xfrm>
            <a:off x="439230" y="965708"/>
            <a:ext cx="11201400" cy="0"/>
          </a:xfrm>
          <a:prstGeom prst="line">
            <a:avLst/>
          </a:prstGeom>
          <a:noFill/>
          <a:ln w="12700">
            <a:solidFill>
              <a:srgbClr val="C6D5E5"/>
            </a:solidFill>
            <a:prstDash val="solid"/>
          </a:ln>
        </p:spPr>
      </p:sp>
      <p:sp>
        <p:nvSpPr>
          <p:cNvPr id="20" name="Shape 3"/>
          <p:cNvSpPr/>
          <p:nvPr/>
        </p:nvSpPr>
        <p:spPr>
          <a:xfrm>
            <a:off x="92075" y="1332865"/>
            <a:ext cx="6003925" cy="2253615"/>
          </a:xfrm>
          <a:prstGeom prst="roundRect">
            <a:avLst/>
          </a:prstGeom>
          <a:solidFill>
            <a:srgbClr val="FFFFFF"/>
          </a:solidFill>
          <a:ln w="13970" cap="flat" cmpd="sng">
            <a:solidFill>
              <a:schemeClr val="accent1"/>
            </a:solidFill>
            <a:prstDash val="solid"/>
          </a:ln>
        </p:spPr>
        <p:txBody>
          <a:bodyPr/>
          <a:p>
            <a:endParaRPr lang="en-US"/>
          </a:p>
        </p:txBody>
      </p:sp>
      <p:pic>
        <p:nvPicPr>
          <p:cNvPr id="23" name="Picture 22"/>
          <p:cNvPicPr>
            <a:picLocks noChangeAspect="1"/>
          </p:cNvPicPr>
          <p:nvPr/>
        </p:nvPicPr>
        <p:blipFill>
          <a:blip r:embed="rId1"/>
          <a:stretch>
            <a:fillRect/>
          </a:stretch>
        </p:blipFill>
        <p:spPr>
          <a:xfrm>
            <a:off x="184785" y="1530350"/>
            <a:ext cx="5815965" cy="1933575"/>
          </a:xfrm>
          <a:prstGeom prst="rect">
            <a:avLst/>
          </a:prstGeom>
        </p:spPr>
      </p:pic>
      <p:pic>
        <p:nvPicPr>
          <p:cNvPr id="24" name="Picture 23"/>
          <p:cNvPicPr>
            <a:picLocks noChangeAspect="1"/>
          </p:cNvPicPr>
          <p:nvPr/>
        </p:nvPicPr>
        <p:blipFill>
          <a:blip r:embed="rId2"/>
          <a:stretch>
            <a:fillRect/>
          </a:stretch>
        </p:blipFill>
        <p:spPr>
          <a:xfrm>
            <a:off x="6408420" y="1514475"/>
            <a:ext cx="5572760" cy="1896745"/>
          </a:xfrm>
          <a:prstGeom prst="rect">
            <a:avLst/>
          </a:prstGeom>
        </p:spPr>
      </p:pic>
      <p:pic>
        <p:nvPicPr>
          <p:cNvPr id="32" name="Picture 31"/>
          <p:cNvPicPr>
            <a:picLocks noChangeAspect="1"/>
          </p:cNvPicPr>
          <p:nvPr/>
        </p:nvPicPr>
        <p:blipFill>
          <a:blip r:embed="rId3"/>
          <a:stretch>
            <a:fillRect/>
          </a:stretch>
        </p:blipFill>
        <p:spPr>
          <a:xfrm>
            <a:off x="3083560" y="4068445"/>
            <a:ext cx="6394450" cy="2109470"/>
          </a:xfrm>
          <a:prstGeom prst="rect">
            <a:avLst/>
          </a:prstGeom>
        </p:spPr>
      </p:pic>
      <p:sp>
        <p:nvSpPr>
          <p:cNvPr id="27" name="Text 4"/>
          <p:cNvSpPr/>
          <p:nvPr/>
        </p:nvSpPr>
        <p:spPr>
          <a:xfrm>
            <a:off x="3804285" y="3913505"/>
            <a:ext cx="2987675" cy="290830"/>
          </a:xfrm>
          <a:prstGeom prst="rect">
            <a:avLst/>
          </a:prstGeom>
          <a:noFill/>
        </p:spPr>
        <p:txBody>
          <a:bodyPr wrap="square" lIns="0" tIns="0" rIns="0" bIns="0" rtlCol="0" anchor="ctr"/>
          <a:lstStyle/>
          <a:p>
            <a:pPr marL="0" indent="0" algn="r">
              <a:buNone/>
            </a:pPr>
            <a:r>
              <a:rPr lang="en-US" sz="2200" dirty="0"/>
              <a:t>Review generation</a:t>
            </a:r>
            <a:endParaRPr lang="en-US" sz="2200" dirty="0"/>
          </a:p>
        </p:txBody>
      </p:sp>
      <p:sp>
        <p:nvSpPr>
          <p:cNvPr id="28" name="Text 5"/>
          <p:cNvSpPr/>
          <p:nvPr/>
        </p:nvSpPr>
        <p:spPr>
          <a:xfrm>
            <a:off x="6855651" y="3893058"/>
            <a:ext cx="914400" cy="310896"/>
          </a:xfrm>
          <a:prstGeom prst="rect">
            <a:avLst/>
          </a:prstGeom>
          <a:noFill/>
        </p:spPr>
        <p:txBody>
          <a:bodyPr wrap="square" lIns="0" tIns="0" rIns="0" bIns="0" rtlCol="0" anchor="ctr"/>
          <a:lstStyle/>
          <a:p>
            <a:pPr marL="0" indent="0">
              <a:buNone/>
            </a:pPr>
            <a:r>
              <a:rPr lang="en-US" sz="2200" b="1" dirty="0">
                <a:solidFill>
                  <a:srgbClr val="078A67"/>
                </a:solidFill>
              </a:rPr>
              <a:t>0.8</a:t>
            </a:r>
            <a:r>
              <a:rPr lang="vi-VN" altLang="en-US" sz="2200" b="1" dirty="0">
                <a:solidFill>
                  <a:srgbClr val="078A67"/>
                </a:solidFill>
              </a:rPr>
              <a:t>769</a:t>
            </a:r>
            <a:endParaRPr lang="vi-VN" altLang="en-US" sz="2200" b="1" dirty="0">
              <a:solidFill>
                <a:srgbClr val="078A67"/>
              </a:solidFill>
            </a:endParaRPr>
          </a:p>
        </p:txBody>
      </p:sp>
      <p:sp>
        <p:nvSpPr>
          <p:cNvPr id="25" name="Text 4"/>
          <p:cNvSpPr/>
          <p:nvPr/>
        </p:nvSpPr>
        <p:spPr>
          <a:xfrm>
            <a:off x="6966585" y="1325245"/>
            <a:ext cx="3101975" cy="306705"/>
          </a:xfrm>
          <a:prstGeom prst="rect">
            <a:avLst/>
          </a:prstGeom>
          <a:noFill/>
        </p:spPr>
        <p:txBody>
          <a:bodyPr wrap="square" lIns="0" tIns="0" rIns="0" bIns="0" rtlCol="0" anchor="ctr"/>
          <a:lstStyle/>
          <a:p>
            <a:pPr marL="0" indent="0" algn="r">
              <a:buNone/>
            </a:pPr>
            <a:r>
              <a:rPr lang="en-US" sz="2200" dirty="0"/>
              <a:t>Preference_estimation</a:t>
            </a:r>
            <a:endParaRPr lang="en-US" sz="2200" dirty="0"/>
          </a:p>
        </p:txBody>
      </p:sp>
      <p:sp>
        <p:nvSpPr>
          <p:cNvPr id="26" name="Text 5"/>
          <p:cNvSpPr/>
          <p:nvPr/>
        </p:nvSpPr>
        <p:spPr>
          <a:xfrm>
            <a:off x="10118281" y="1334643"/>
            <a:ext cx="914400" cy="310896"/>
          </a:xfrm>
          <a:prstGeom prst="rect">
            <a:avLst/>
          </a:prstGeom>
          <a:noFill/>
        </p:spPr>
        <p:txBody>
          <a:bodyPr wrap="square" lIns="0" tIns="0" rIns="0" bIns="0" rtlCol="0" anchor="ctr"/>
          <a:lstStyle/>
          <a:p>
            <a:pPr marL="0" indent="0">
              <a:buNone/>
            </a:pPr>
            <a:r>
              <a:rPr lang="en-US" sz="2200" b="1" dirty="0">
                <a:solidFill>
                  <a:srgbClr val="078A67"/>
                </a:solidFill>
              </a:rPr>
              <a:t>0.8</a:t>
            </a:r>
            <a:r>
              <a:rPr lang="vi-VN" altLang="en-US" sz="2200" b="1" dirty="0">
                <a:solidFill>
                  <a:srgbClr val="078A67"/>
                </a:solidFill>
              </a:rPr>
              <a:t>800</a:t>
            </a:r>
            <a:endParaRPr lang="vi-VN" altLang="en-US" sz="2200" b="1" dirty="0">
              <a:solidFill>
                <a:srgbClr val="078A67"/>
              </a:solidFill>
            </a:endParaRPr>
          </a:p>
        </p:txBody>
      </p:sp>
      <p:sp>
        <p:nvSpPr>
          <p:cNvPr id="21" name="Text 4"/>
          <p:cNvSpPr/>
          <p:nvPr/>
        </p:nvSpPr>
        <p:spPr>
          <a:xfrm>
            <a:off x="1607820" y="1375410"/>
            <a:ext cx="2186940" cy="290830"/>
          </a:xfrm>
          <a:prstGeom prst="rect">
            <a:avLst/>
          </a:prstGeom>
          <a:noFill/>
        </p:spPr>
        <p:txBody>
          <a:bodyPr wrap="square" lIns="0" tIns="0" rIns="0" bIns="0" rtlCol="0" anchor="ctr"/>
          <a:lstStyle/>
          <a:p>
            <a:pPr marL="0" indent="0" algn="r">
              <a:buNone/>
            </a:pPr>
            <a:r>
              <a:rPr lang="en-US" sz="2200" dirty="0"/>
              <a:t>Combined score</a:t>
            </a:r>
            <a:endParaRPr lang="en-US" sz="2200" dirty="0"/>
          </a:p>
        </p:txBody>
      </p:sp>
      <p:sp>
        <p:nvSpPr>
          <p:cNvPr id="22" name="Text 5"/>
          <p:cNvSpPr/>
          <p:nvPr/>
        </p:nvSpPr>
        <p:spPr>
          <a:xfrm>
            <a:off x="3858451" y="1354963"/>
            <a:ext cx="914400" cy="310896"/>
          </a:xfrm>
          <a:prstGeom prst="rect">
            <a:avLst/>
          </a:prstGeom>
          <a:noFill/>
        </p:spPr>
        <p:txBody>
          <a:bodyPr wrap="square" lIns="0" tIns="0" rIns="0" bIns="0" rtlCol="0" anchor="ctr"/>
          <a:lstStyle/>
          <a:p>
            <a:pPr marL="0" indent="0">
              <a:buNone/>
            </a:pPr>
            <a:r>
              <a:rPr lang="en-US" sz="2200" b="1" dirty="0">
                <a:solidFill>
                  <a:srgbClr val="078A67"/>
                </a:solidFill>
              </a:rPr>
              <a:t>0.8</a:t>
            </a:r>
            <a:r>
              <a:rPr lang="vi-VN" altLang="en-US" sz="2200" b="1" dirty="0">
                <a:solidFill>
                  <a:srgbClr val="078A67"/>
                </a:solidFill>
              </a:rPr>
              <a:t>785</a:t>
            </a:r>
            <a:endParaRPr lang="vi-VN" altLang="en-US" sz="2200" b="1" dirty="0">
              <a:solidFill>
                <a:srgbClr val="078A67"/>
              </a:solidFill>
            </a:endParaRPr>
          </a:p>
        </p:txBody>
      </p:sp>
      <p:sp>
        <p:nvSpPr>
          <p:cNvPr id="33"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31</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9230" y="146304"/>
            <a:ext cx="2743200" cy="228600"/>
          </a:xfrm>
          <a:prstGeom prst="rect">
            <a:avLst/>
          </a:prstGeom>
          <a:noFill/>
        </p:spPr>
        <p:txBody>
          <a:bodyPr wrap="square" lIns="0" tIns="0" rIns="0" bIns="0" rtlCol="0" anchor="ctr">
            <a:normAutofit/>
          </a:bodyPr>
          <a:lstStyle/>
          <a:p>
            <a:pPr marL="0" indent="0" algn="l">
              <a:buNone/>
            </a:pPr>
            <a:r>
              <a:rPr lang="en-US" sz="1000" b="1" dirty="0">
                <a:solidFill>
                  <a:srgbClr val="0B6BEA"/>
                </a:solidFill>
                <a:latin typeface="Aptos" pitchFamily="34" charset="0"/>
                <a:ea typeface="Aptos" pitchFamily="34" charset="-122"/>
                <a:cs typeface="Aptos" pitchFamily="34" charset="-120"/>
              </a:rPr>
              <a:t>EVOLUTION ANALYSIS</a:t>
            </a:r>
            <a:endParaRPr lang="en-US" sz="1000" dirty="0"/>
          </a:p>
        </p:txBody>
      </p:sp>
      <p:sp>
        <p:nvSpPr>
          <p:cNvPr id="3" name="Text 1"/>
          <p:cNvSpPr/>
          <p:nvPr/>
        </p:nvSpPr>
        <p:spPr>
          <a:xfrm>
            <a:off x="439230" y="502920"/>
            <a:ext cx="6583680" cy="502920"/>
          </a:xfrm>
          <a:prstGeom prst="rect">
            <a:avLst/>
          </a:prstGeom>
          <a:noFill/>
        </p:spPr>
        <p:txBody>
          <a:bodyPr wrap="square" lIns="0" tIns="0" rIns="0" bIns="0" rtlCol="0" anchor="ctr">
            <a:normAutofit lnSpcReduction="20000"/>
          </a:bodyPr>
          <a:lstStyle/>
          <a:p>
            <a:pPr marL="0" indent="0" algn="l">
              <a:buNone/>
            </a:pPr>
            <a:r>
              <a:rPr lang="en-US" sz="3400" b="1" dirty="0">
                <a:solidFill>
                  <a:srgbClr val="062A44"/>
                </a:solidFill>
                <a:latin typeface="Aptos" pitchFamily="34" charset="0"/>
                <a:ea typeface="Aptos" pitchFamily="34" charset="-122"/>
                <a:cs typeface="Aptos" pitchFamily="34" charset="-120"/>
              </a:rPr>
              <a:t>R2 Agent Evolution</a:t>
            </a:r>
            <a:endParaRPr lang="en-US" sz="3400" dirty="0"/>
          </a:p>
        </p:txBody>
      </p:sp>
      <p:sp>
        <p:nvSpPr>
          <p:cNvPr id="4" name="Shape 2"/>
          <p:cNvSpPr/>
          <p:nvPr/>
        </p:nvSpPr>
        <p:spPr>
          <a:xfrm>
            <a:off x="439230" y="1170432"/>
            <a:ext cx="11292840" cy="0"/>
          </a:xfrm>
          <a:prstGeom prst="line">
            <a:avLst/>
          </a:prstGeom>
          <a:noFill/>
          <a:ln w="15240">
            <a:solidFill>
              <a:srgbClr val="B8D0E3"/>
            </a:solidFill>
            <a:prstDash val="solid"/>
          </a:ln>
        </p:spPr>
      </p:sp>
      <p:sp>
        <p:nvSpPr>
          <p:cNvPr id="5" name="Shape 3"/>
          <p:cNvSpPr/>
          <p:nvPr/>
        </p:nvSpPr>
        <p:spPr>
          <a:xfrm>
            <a:off x="8367078" y="457200"/>
            <a:ext cx="3364992" cy="566928"/>
          </a:xfrm>
          <a:prstGeom prst="roundRect">
            <a:avLst>
              <a:gd name="adj" fmla="val 12903"/>
            </a:avLst>
          </a:prstGeom>
          <a:solidFill>
            <a:srgbClr val="E8FAF4"/>
          </a:solidFill>
          <a:ln w="15240">
            <a:solidFill>
              <a:srgbClr val="B8D0E3"/>
            </a:solidFill>
            <a:prstDash val="solid"/>
          </a:ln>
        </p:spPr>
      </p:sp>
      <p:sp>
        <p:nvSpPr>
          <p:cNvPr id="6" name="Text 4"/>
          <p:cNvSpPr/>
          <p:nvPr/>
        </p:nvSpPr>
        <p:spPr>
          <a:xfrm>
            <a:off x="8549958" y="557784"/>
            <a:ext cx="1051560" cy="164592"/>
          </a:xfrm>
          <a:prstGeom prst="rect">
            <a:avLst/>
          </a:prstGeom>
          <a:noFill/>
        </p:spPr>
        <p:txBody>
          <a:bodyPr wrap="square" lIns="0" tIns="0" rIns="0" bIns="0" rtlCol="0" anchor="ctr">
            <a:normAutofit/>
          </a:bodyPr>
          <a:lstStyle/>
          <a:p>
            <a:pPr marL="0" indent="0" algn="l">
              <a:buNone/>
            </a:pPr>
            <a:r>
              <a:rPr lang="en-US" sz="900" b="1" dirty="0">
                <a:solidFill>
                  <a:srgbClr val="00856B"/>
                </a:solidFill>
                <a:latin typeface="Aptos" pitchFamily="34" charset="0"/>
                <a:ea typeface="Aptos" pitchFamily="34" charset="-122"/>
                <a:cs typeface="Aptos" pitchFamily="34" charset="-120"/>
              </a:rPr>
              <a:t>BEST RESULT</a:t>
            </a:r>
            <a:endParaRPr lang="en-US" sz="900" dirty="0"/>
          </a:p>
        </p:txBody>
      </p:sp>
      <p:sp>
        <p:nvSpPr>
          <p:cNvPr id="7" name="Text 5"/>
          <p:cNvSpPr/>
          <p:nvPr/>
        </p:nvSpPr>
        <p:spPr>
          <a:xfrm>
            <a:off x="8549958" y="731520"/>
            <a:ext cx="2834640" cy="201168"/>
          </a:xfrm>
          <a:prstGeom prst="rect">
            <a:avLst/>
          </a:prstGeom>
          <a:noFill/>
        </p:spPr>
        <p:txBody>
          <a:bodyPr wrap="square" lIns="0" tIns="0" rIns="0" bIns="0" rtlCol="0" anchor="ctr">
            <a:normAutofit/>
          </a:bodyPr>
          <a:lstStyle/>
          <a:p>
            <a:pPr marL="0" indent="0" algn="l">
              <a:buNone/>
            </a:pPr>
            <a:r>
              <a:rPr lang="en-US" sz="1300" b="1" dirty="0">
                <a:solidFill>
                  <a:srgbClr val="062A44"/>
                </a:solidFill>
                <a:latin typeface="Aptos" pitchFamily="34" charset="0"/>
                <a:ea typeface="Aptos" pitchFamily="34" charset="-122"/>
                <a:cs typeface="Aptos" pitchFamily="34" charset="-120"/>
              </a:rPr>
              <a:t>combined_score = 0.8785</a:t>
            </a:r>
            <a:endParaRPr lang="en-US" sz="1300" dirty="0"/>
          </a:p>
        </p:txBody>
      </p:sp>
      <p:sp>
        <p:nvSpPr>
          <p:cNvPr id="8" name="Shape 6"/>
          <p:cNvSpPr/>
          <p:nvPr/>
        </p:nvSpPr>
        <p:spPr>
          <a:xfrm>
            <a:off x="439230" y="1572768"/>
            <a:ext cx="3794760" cy="502920"/>
          </a:xfrm>
          <a:prstGeom prst="rect">
            <a:avLst/>
          </a:prstGeom>
          <a:solidFill>
            <a:srgbClr val="075CC9"/>
          </a:solidFill>
          <a:ln w="12700">
            <a:solidFill>
              <a:srgbClr val="FFFFFF"/>
            </a:solidFill>
            <a:prstDash val="solid"/>
          </a:ln>
        </p:spPr>
      </p:sp>
      <p:sp>
        <p:nvSpPr>
          <p:cNvPr id="9" name="Text 7"/>
          <p:cNvSpPr/>
          <p:nvPr/>
        </p:nvSpPr>
        <p:spPr>
          <a:xfrm>
            <a:off x="603822" y="1682496"/>
            <a:ext cx="3465576" cy="228600"/>
          </a:xfrm>
          <a:prstGeom prst="rect">
            <a:avLst/>
          </a:prstGeom>
          <a:noFill/>
        </p:spPr>
        <p:txBody>
          <a:bodyPr wrap="square" lIns="0" tIns="0" rIns="0" bIns="0" rtlCol="0" anchor="ctr">
            <a:normAutofit fontScale="90000"/>
          </a:bodyPr>
          <a:lstStyle/>
          <a:p>
            <a:pPr marL="0" indent="0" algn="l">
              <a:buNone/>
            </a:pPr>
            <a:r>
              <a:rPr lang="en-US" sz="1700" b="1" dirty="0">
                <a:solidFill>
                  <a:srgbClr val="FFFFFF"/>
                </a:solidFill>
                <a:latin typeface="Aptos" pitchFamily="34" charset="0"/>
                <a:ea typeface="Aptos" pitchFamily="34" charset="-122"/>
                <a:cs typeface="Aptos" pitchFamily="34" charset="-120"/>
              </a:rPr>
              <a:t>WHAT CHANGED</a:t>
            </a:r>
            <a:endParaRPr lang="en-US" sz="1700" dirty="0"/>
          </a:p>
        </p:txBody>
      </p:sp>
      <p:sp>
        <p:nvSpPr>
          <p:cNvPr id="10" name="Shape 8"/>
          <p:cNvSpPr/>
          <p:nvPr/>
        </p:nvSpPr>
        <p:spPr>
          <a:xfrm>
            <a:off x="4233990" y="1572768"/>
            <a:ext cx="3886200" cy="502920"/>
          </a:xfrm>
          <a:prstGeom prst="rect">
            <a:avLst/>
          </a:prstGeom>
          <a:solidFill>
            <a:srgbClr val="00856B"/>
          </a:solidFill>
          <a:ln w="12700">
            <a:solidFill>
              <a:srgbClr val="FFFFFF"/>
            </a:solidFill>
            <a:prstDash val="solid"/>
          </a:ln>
        </p:spPr>
      </p:sp>
      <p:sp>
        <p:nvSpPr>
          <p:cNvPr id="11" name="Text 9"/>
          <p:cNvSpPr/>
          <p:nvPr/>
        </p:nvSpPr>
        <p:spPr>
          <a:xfrm>
            <a:off x="4398582" y="1682496"/>
            <a:ext cx="3557016" cy="228600"/>
          </a:xfrm>
          <a:prstGeom prst="rect">
            <a:avLst/>
          </a:prstGeom>
          <a:noFill/>
        </p:spPr>
        <p:txBody>
          <a:bodyPr wrap="square" lIns="0" tIns="0" rIns="0" bIns="0" rtlCol="0" anchor="ctr">
            <a:normAutofit fontScale="90000"/>
          </a:bodyPr>
          <a:lstStyle/>
          <a:p>
            <a:pPr marL="0" indent="0" algn="l">
              <a:buNone/>
            </a:pPr>
            <a:r>
              <a:rPr lang="en-US" sz="1700" b="1" dirty="0">
                <a:solidFill>
                  <a:srgbClr val="FFFFFF"/>
                </a:solidFill>
                <a:latin typeface="Aptos" pitchFamily="34" charset="0"/>
                <a:ea typeface="Aptos" pitchFamily="34" charset="-122"/>
                <a:cs typeface="Aptos" pitchFamily="34" charset="-120"/>
              </a:rPr>
              <a:t>WHY IT HELPED</a:t>
            </a:r>
            <a:endParaRPr lang="en-US" sz="1700" dirty="0"/>
          </a:p>
        </p:txBody>
      </p:sp>
      <p:sp>
        <p:nvSpPr>
          <p:cNvPr id="12" name="Shape 10"/>
          <p:cNvSpPr/>
          <p:nvPr/>
        </p:nvSpPr>
        <p:spPr>
          <a:xfrm>
            <a:off x="8120190" y="1572768"/>
            <a:ext cx="3794760" cy="502920"/>
          </a:xfrm>
          <a:prstGeom prst="rect">
            <a:avLst/>
          </a:prstGeom>
          <a:solidFill>
            <a:srgbClr val="FF7A00"/>
          </a:solidFill>
          <a:ln w="12700">
            <a:solidFill>
              <a:srgbClr val="FFFFFF"/>
            </a:solidFill>
            <a:prstDash val="solid"/>
          </a:ln>
        </p:spPr>
      </p:sp>
      <p:sp>
        <p:nvSpPr>
          <p:cNvPr id="13" name="Text 11"/>
          <p:cNvSpPr/>
          <p:nvPr/>
        </p:nvSpPr>
        <p:spPr>
          <a:xfrm>
            <a:off x="8284782" y="1682496"/>
            <a:ext cx="3465576" cy="228600"/>
          </a:xfrm>
          <a:prstGeom prst="rect">
            <a:avLst/>
          </a:prstGeom>
          <a:noFill/>
        </p:spPr>
        <p:txBody>
          <a:bodyPr wrap="square" lIns="0" tIns="0" rIns="0" bIns="0" rtlCol="0" anchor="ctr">
            <a:normAutofit fontScale="90000"/>
          </a:bodyPr>
          <a:lstStyle/>
          <a:p>
            <a:pPr marL="0" indent="0" algn="l">
              <a:buNone/>
            </a:pPr>
            <a:r>
              <a:rPr lang="en-US" sz="1700" b="1" dirty="0">
                <a:solidFill>
                  <a:srgbClr val="FFFFFF"/>
                </a:solidFill>
                <a:latin typeface="Aptos" pitchFamily="34" charset="0"/>
                <a:ea typeface="Aptos" pitchFamily="34" charset="-122"/>
                <a:cs typeface="Aptos" pitchFamily="34" charset="-120"/>
              </a:rPr>
              <a:t>TRADE-OFF</a:t>
            </a:r>
            <a:endParaRPr lang="en-US" sz="1700" dirty="0"/>
          </a:p>
        </p:txBody>
      </p:sp>
      <p:sp>
        <p:nvSpPr>
          <p:cNvPr id="14" name="Shape 12"/>
          <p:cNvSpPr/>
          <p:nvPr/>
        </p:nvSpPr>
        <p:spPr>
          <a:xfrm>
            <a:off x="439230" y="2075688"/>
            <a:ext cx="3794760" cy="1143000"/>
          </a:xfrm>
          <a:prstGeom prst="rect">
            <a:avLst/>
          </a:prstGeom>
          <a:solidFill>
            <a:srgbClr val="FFFFFF"/>
          </a:solidFill>
          <a:ln w="10160">
            <a:solidFill>
              <a:srgbClr val="B8D0E3"/>
            </a:solidFill>
            <a:prstDash val="solid"/>
          </a:ln>
        </p:spPr>
      </p:sp>
      <p:sp>
        <p:nvSpPr>
          <p:cNvPr id="15" name="Shape 13"/>
          <p:cNvSpPr/>
          <p:nvPr/>
        </p:nvSpPr>
        <p:spPr>
          <a:xfrm>
            <a:off x="457518" y="2221992"/>
            <a:ext cx="36576" cy="850392"/>
          </a:xfrm>
          <a:prstGeom prst="rect">
            <a:avLst/>
          </a:prstGeom>
          <a:solidFill>
            <a:srgbClr val="0B6BEA"/>
          </a:solidFill>
          <a:ln w="12700">
            <a:solidFill>
              <a:srgbClr val="0B6BEA">
                <a:alpha val="0"/>
              </a:srgbClr>
            </a:solidFill>
            <a:prstDash val="solid"/>
          </a:ln>
        </p:spPr>
      </p:sp>
      <p:sp>
        <p:nvSpPr>
          <p:cNvPr id="16" name="Text 14"/>
          <p:cNvSpPr/>
          <p:nvPr/>
        </p:nvSpPr>
        <p:spPr>
          <a:xfrm>
            <a:off x="603822" y="2185416"/>
            <a:ext cx="3474720" cy="960120"/>
          </a:xfrm>
          <a:prstGeom prst="rect">
            <a:avLst/>
          </a:prstGeom>
          <a:noFill/>
        </p:spPr>
        <p:txBody>
          <a:bodyPr wrap="square" lIns="0" tIns="0" rIns="0" bIns="0" rtlCol="0" anchor="ctr">
            <a:normAutofit/>
          </a:bodyPr>
          <a:lstStyle/>
          <a:p>
            <a:pPr marL="0" indent="0" algn="l">
              <a:buNone/>
            </a:pPr>
            <a:r>
              <a:rPr lang="en-US" sz="1800" b="1" dirty="0">
                <a:solidFill>
                  <a:srgbClr val="08243D"/>
                </a:solidFill>
                <a:latin typeface="Aptos" pitchFamily="34" charset="0"/>
                <a:ea typeface="Aptos" pitchFamily="34" charset="-122"/>
                <a:cs typeface="Aptos" pitchFamily="34" charset="-120"/>
              </a:rPr>
              <a:t>User analyst became a preference + style profiler.</a:t>
            </a:r>
            <a:endParaRPr lang="en-US" sz="1800" dirty="0"/>
          </a:p>
        </p:txBody>
      </p:sp>
      <p:sp>
        <p:nvSpPr>
          <p:cNvPr id="17" name="Shape 15"/>
          <p:cNvSpPr/>
          <p:nvPr/>
        </p:nvSpPr>
        <p:spPr>
          <a:xfrm>
            <a:off x="4233990" y="2075688"/>
            <a:ext cx="3886200" cy="1143000"/>
          </a:xfrm>
          <a:prstGeom prst="rect">
            <a:avLst/>
          </a:prstGeom>
          <a:solidFill>
            <a:srgbClr val="FFFFFF"/>
          </a:solidFill>
          <a:ln w="10160">
            <a:solidFill>
              <a:srgbClr val="B8D0E3"/>
            </a:solidFill>
            <a:prstDash val="solid"/>
          </a:ln>
        </p:spPr>
      </p:sp>
      <p:sp>
        <p:nvSpPr>
          <p:cNvPr id="18" name="Shape 16"/>
          <p:cNvSpPr/>
          <p:nvPr/>
        </p:nvSpPr>
        <p:spPr>
          <a:xfrm>
            <a:off x="4252278" y="2221992"/>
            <a:ext cx="36576" cy="850392"/>
          </a:xfrm>
          <a:prstGeom prst="rect">
            <a:avLst/>
          </a:prstGeom>
          <a:solidFill>
            <a:srgbClr val="00856B"/>
          </a:solidFill>
          <a:ln w="12700">
            <a:solidFill>
              <a:srgbClr val="00856B">
                <a:alpha val="0"/>
              </a:srgbClr>
            </a:solidFill>
            <a:prstDash val="solid"/>
          </a:ln>
        </p:spPr>
      </p:sp>
      <p:sp>
        <p:nvSpPr>
          <p:cNvPr id="19" name="Text 17"/>
          <p:cNvSpPr/>
          <p:nvPr/>
        </p:nvSpPr>
        <p:spPr>
          <a:xfrm>
            <a:off x="4398582" y="2185416"/>
            <a:ext cx="3566160" cy="960120"/>
          </a:xfrm>
          <a:prstGeom prst="rect">
            <a:avLst/>
          </a:prstGeom>
          <a:noFill/>
        </p:spPr>
        <p:txBody>
          <a:bodyPr wrap="square" lIns="0" tIns="0" rIns="0" bIns="0" rtlCol="0" anchor="ctr">
            <a:normAutofit/>
          </a:bodyPr>
          <a:lstStyle/>
          <a:p>
            <a:pPr marL="0" indent="0" algn="l">
              <a:buNone/>
            </a:pPr>
            <a:r>
              <a:rPr lang="en-US" sz="1750" dirty="0">
                <a:solidFill>
                  <a:srgbClr val="08243D"/>
                </a:solidFill>
                <a:latin typeface="Aptos" pitchFamily="34" charset="0"/>
                <a:ea typeface="Aptos" pitchFamily="34" charset="-122"/>
                <a:cs typeface="Aptos" pitchFamily="34" charset="-120"/>
              </a:rPr>
              <a:t>Captures rating bias, sentiment strength, and writing fingerprints.</a:t>
            </a:r>
            <a:endParaRPr lang="en-US" sz="1750" dirty="0"/>
          </a:p>
        </p:txBody>
      </p:sp>
      <p:sp>
        <p:nvSpPr>
          <p:cNvPr id="20" name="Shape 18"/>
          <p:cNvSpPr/>
          <p:nvPr/>
        </p:nvSpPr>
        <p:spPr>
          <a:xfrm>
            <a:off x="8120190" y="2075688"/>
            <a:ext cx="3794760" cy="1143000"/>
          </a:xfrm>
          <a:prstGeom prst="rect">
            <a:avLst/>
          </a:prstGeom>
          <a:solidFill>
            <a:srgbClr val="FFFFFF"/>
          </a:solidFill>
          <a:ln w="10160">
            <a:solidFill>
              <a:srgbClr val="B8D0E3"/>
            </a:solidFill>
            <a:prstDash val="solid"/>
          </a:ln>
        </p:spPr>
      </p:sp>
      <p:sp>
        <p:nvSpPr>
          <p:cNvPr id="21" name="Shape 19"/>
          <p:cNvSpPr/>
          <p:nvPr/>
        </p:nvSpPr>
        <p:spPr>
          <a:xfrm>
            <a:off x="8138478" y="2221992"/>
            <a:ext cx="36576" cy="850392"/>
          </a:xfrm>
          <a:prstGeom prst="rect">
            <a:avLst/>
          </a:prstGeom>
          <a:solidFill>
            <a:srgbClr val="FF7A00"/>
          </a:solidFill>
          <a:ln w="12700">
            <a:solidFill>
              <a:srgbClr val="FF7A00">
                <a:alpha val="0"/>
              </a:srgbClr>
            </a:solidFill>
            <a:prstDash val="solid"/>
          </a:ln>
        </p:spPr>
      </p:sp>
      <p:sp>
        <p:nvSpPr>
          <p:cNvPr id="22" name="Text 20"/>
          <p:cNvSpPr/>
          <p:nvPr/>
        </p:nvSpPr>
        <p:spPr>
          <a:xfrm>
            <a:off x="8284782" y="2185416"/>
            <a:ext cx="3474720" cy="960120"/>
          </a:xfrm>
          <a:prstGeom prst="rect">
            <a:avLst/>
          </a:prstGeom>
          <a:noFill/>
        </p:spPr>
        <p:txBody>
          <a:bodyPr wrap="square" lIns="0" tIns="0" rIns="0" bIns="0" rtlCol="0" anchor="ctr">
            <a:normAutofit/>
          </a:bodyPr>
          <a:lstStyle/>
          <a:p>
            <a:pPr marL="0" indent="0" algn="l">
              <a:buNone/>
            </a:pPr>
            <a:r>
              <a:rPr lang="en-US" sz="1750" dirty="0">
                <a:solidFill>
                  <a:srgbClr val="08243D"/>
                </a:solidFill>
                <a:latin typeface="Aptos" pitchFamily="34" charset="0"/>
                <a:ea typeface="Aptos" pitchFamily="34" charset="-122"/>
                <a:cs typeface="Aptos" pitchFamily="34" charset="-120"/>
              </a:rPr>
              <a:t>Can overfit when user history is sparse.</a:t>
            </a:r>
            <a:endParaRPr lang="en-US" sz="1750" dirty="0"/>
          </a:p>
        </p:txBody>
      </p:sp>
      <p:sp>
        <p:nvSpPr>
          <p:cNvPr id="23" name="Shape 21"/>
          <p:cNvSpPr/>
          <p:nvPr/>
        </p:nvSpPr>
        <p:spPr>
          <a:xfrm>
            <a:off x="439230" y="3218688"/>
            <a:ext cx="3794760" cy="1143000"/>
          </a:xfrm>
          <a:prstGeom prst="rect">
            <a:avLst/>
          </a:prstGeom>
          <a:solidFill>
            <a:srgbClr val="F3F8FC"/>
          </a:solidFill>
          <a:ln w="10160">
            <a:solidFill>
              <a:srgbClr val="B8D0E3"/>
            </a:solidFill>
            <a:prstDash val="solid"/>
          </a:ln>
        </p:spPr>
      </p:sp>
      <p:sp>
        <p:nvSpPr>
          <p:cNvPr id="24" name="Shape 22"/>
          <p:cNvSpPr/>
          <p:nvPr/>
        </p:nvSpPr>
        <p:spPr>
          <a:xfrm>
            <a:off x="457518" y="3364992"/>
            <a:ext cx="36576" cy="850392"/>
          </a:xfrm>
          <a:prstGeom prst="rect">
            <a:avLst/>
          </a:prstGeom>
          <a:solidFill>
            <a:srgbClr val="0B6BEA"/>
          </a:solidFill>
          <a:ln w="12700">
            <a:solidFill>
              <a:srgbClr val="0B6BEA">
                <a:alpha val="0"/>
              </a:srgbClr>
            </a:solidFill>
            <a:prstDash val="solid"/>
          </a:ln>
        </p:spPr>
      </p:sp>
      <p:sp>
        <p:nvSpPr>
          <p:cNvPr id="25" name="Text 23"/>
          <p:cNvSpPr/>
          <p:nvPr/>
        </p:nvSpPr>
        <p:spPr>
          <a:xfrm>
            <a:off x="603822" y="3328416"/>
            <a:ext cx="3474720" cy="960120"/>
          </a:xfrm>
          <a:prstGeom prst="rect">
            <a:avLst/>
          </a:prstGeom>
          <a:noFill/>
        </p:spPr>
        <p:txBody>
          <a:bodyPr wrap="square" lIns="0" tIns="0" rIns="0" bIns="0" rtlCol="0" anchor="ctr">
            <a:normAutofit/>
          </a:bodyPr>
          <a:lstStyle/>
          <a:p>
            <a:pPr marL="0" indent="0" algn="l">
              <a:buNone/>
            </a:pPr>
            <a:r>
              <a:rPr lang="en-US" sz="1800" b="1" dirty="0">
                <a:solidFill>
                  <a:srgbClr val="08243D"/>
                </a:solidFill>
                <a:latin typeface="Aptos" pitchFamily="34" charset="0"/>
                <a:ea typeface="Aptos" pitchFamily="34" charset="-122"/>
                <a:cs typeface="Aptos" pitchFamily="34" charset="-120"/>
              </a:rPr>
              <a:t>Item analyst aligns safe item evidence with user preferences.</a:t>
            </a:r>
            <a:endParaRPr lang="en-US" sz="1800" dirty="0"/>
          </a:p>
        </p:txBody>
      </p:sp>
      <p:sp>
        <p:nvSpPr>
          <p:cNvPr id="26" name="Shape 24"/>
          <p:cNvSpPr/>
          <p:nvPr/>
        </p:nvSpPr>
        <p:spPr>
          <a:xfrm>
            <a:off x="4233990" y="3218688"/>
            <a:ext cx="3886200" cy="1143000"/>
          </a:xfrm>
          <a:prstGeom prst="rect">
            <a:avLst/>
          </a:prstGeom>
          <a:solidFill>
            <a:srgbClr val="F3F8FC"/>
          </a:solidFill>
          <a:ln w="10160">
            <a:solidFill>
              <a:srgbClr val="B8D0E3"/>
            </a:solidFill>
            <a:prstDash val="solid"/>
          </a:ln>
        </p:spPr>
      </p:sp>
      <p:sp>
        <p:nvSpPr>
          <p:cNvPr id="27" name="Shape 25"/>
          <p:cNvSpPr/>
          <p:nvPr/>
        </p:nvSpPr>
        <p:spPr>
          <a:xfrm>
            <a:off x="4252278" y="3364992"/>
            <a:ext cx="36576" cy="850392"/>
          </a:xfrm>
          <a:prstGeom prst="rect">
            <a:avLst/>
          </a:prstGeom>
          <a:solidFill>
            <a:srgbClr val="00856B"/>
          </a:solidFill>
          <a:ln w="12700">
            <a:solidFill>
              <a:srgbClr val="00856B">
                <a:alpha val="0"/>
              </a:srgbClr>
            </a:solidFill>
            <a:prstDash val="solid"/>
          </a:ln>
        </p:spPr>
      </p:sp>
      <p:sp>
        <p:nvSpPr>
          <p:cNvPr id="28" name="Text 26"/>
          <p:cNvSpPr/>
          <p:nvPr/>
        </p:nvSpPr>
        <p:spPr>
          <a:xfrm>
            <a:off x="4398582" y="3328416"/>
            <a:ext cx="3566160" cy="960120"/>
          </a:xfrm>
          <a:prstGeom prst="rect">
            <a:avLst/>
          </a:prstGeom>
          <a:noFill/>
        </p:spPr>
        <p:txBody>
          <a:bodyPr wrap="square" lIns="0" tIns="0" rIns="0" bIns="0" rtlCol="0" anchor="ctr">
            <a:normAutofit/>
          </a:bodyPr>
          <a:lstStyle/>
          <a:p>
            <a:pPr marL="0" indent="0" algn="l">
              <a:buNone/>
            </a:pPr>
            <a:r>
              <a:rPr lang="en-US" sz="1750" dirty="0">
                <a:solidFill>
                  <a:srgbClr val="08243D"/>
                </a:solidFill>
                <a:latin typeface="Aptos" pitchFamily="34" charset="0"/>
                <a:ea typeface="Aptos" pitchFamily="34" charset="-122"/>
                <a:cs typeface="Aptos" pitchFamily="34" charset="-120"/>
              </a:rPr>
              <a:t>Makes personalization grounded instead of generic.</a:t>
            </a:r>
            <a:endParaRPr lang="en-US" sz="1750" dirty="0"/>
          </a:p>
        </p:txBody>
      </p:sp>
      <p:sp>
        <p:nvSpPr>
          <p:cNvPr id="29" name="Shape 27"/>
          <p:cNvSpPr/>
          <p:nvPr/>
        </p:nvSpPr>
        <p:spPr>
          <a:xfrm>
            <a:off x="8120190" y="3218688"/>
            <a:ext cx="3794760" cy="1143000"/>
          </a:xfrm>
          <a:prstGeom prst="rect">
            <a:avLst/>
          </a:prstGeom>
          <a:solidFill>
            <a:srgbClr val="F3F8FC"/>
          </a:solidFill>
          <a:ln w="10160">
            <a:solidFill>
              <a:srgbClr val="B8D0E3"/>
            </a:solidFill>
            <a:prstDash val="solid"/>
          </a:ln>
        </p:spPr>
      </p:sp>
      <p:sp>
        <p:nvSpPr>
          <p:cNvPr id="30" name="Shape 28"/>
          <p:cNvSpPr/>
          <p:nvPr/>
        </p:nvSpPr>
        <p:spPr>
          <a:xfrm>
            <a:off x="8138478" y="3364992"/>
            <a:ext cx="36576" cy="850392"/>
          </a:xfrm>
          <a:prstGeom prst="rect">
            <a:avLst/>
          </a:prstGeom>
          <a:solidFill>
            <a:srgbClr val="FF7A00"/>
          </a:solidFill>
          <a:ln w="12700">
            <a:solidFill>
              <a:srgbClr val="FF7A00">
                <a:alpha val="0"/>
              </a:srgbClr>
            </a:solidFill>
            <a:prstDash val="solid"/>
          </a:ln>
        </p:spPr>
      </p:sp>
      <p:sp>
        <p:nvSpPr>
          <p:cNvPr id="31" name="Text 29"/>
          <p:cNvSpPr/>
          <p:nvPr/>
        </p:nvSpPr>
        <p:spPr>
          <a:xfrm>
            <a:off x="8284782" y="3328416"/>
            <a:ext cx="3474720" cy="960120"/>
          </a:xfrm>
          <a:prstGeom prst="rect">
            <a:avLst/>
          </a:prstGeom>
          <a:noFill/>
        </p:spPr>
        <p:txBody>
          <a:bodyPr wrap="square" lIns="0" tIns="0" rIns="0" bIns="0" rtlCol="0" anchor="ctr">
            <a:normAutofit/>
          </a:bodyPr>
          <a:lstStyle/>
          <a:p>
            <a:pPr marL="0" indent="0" algn="l">
              <a:buNone/>
            </a:pPr>
            <a:r>
              <a:rPr lang="en-US" sz="1750" dirty="0">
                <a:solidFill>
                  <a:srgbClr val="08243D"/>
                </a:solidFill>
                <a:latin typeface="Aptos" pitchFamily="34" charset="0"/>
                <a:ea typeface="Aptos" pitchFamily="34" charset="-122"/>
                <a:cs typeface="Aptos" pitchFamily="34" charset="-120"/>
              </a:rPr>
              <a:t>Sparse item evidence may limit detail.</a:t>
            </a:r>
            <a:endParaRPr lang="en-US" sz="1750" dirty="0"/>
          </a:p>
        </p:txBody>
      </p:sp>
      <p:sp>
        <p:nvSpPr>
          <p:cNvPr id="32" name="Shape 30"/>
          <p:cNvSpPr/>
          <p:nvPr/>
        </p:nvSpPr>
        <p:spPr>
          <a:xfrm>
            <a:off x="439230" y="4361688"/>
            <a:ext cx="3794760" cy="1143000"/>
          </a:xfrm>
          <a:prstGeom prst="rect">
            <a:avLst/>
          </a:prstGeom>
          <a:solidFill>
            <a:srgbClr val="FFFFFF"/>
          </a:solidFill>
          <a:ln w="10160">
            <a:solidFill>
              <a:srgbClr val="B8D0E3"/>
            </a:solidFill>
            <a:prstDash val="solid"/>
          </a:ln>
        </p:spPr>
      </p:sp>
      <p:sp>
        <p:nvSpPr>
          <p:cNvPr id="33" name="Shape 31"/>
          <p:cNvSpPr/>
          <p:nvPr/>
        </p:nvSpPr>
        <p:spPr>
          <a:xfrm>
            <a:off x="457518" y="4507992"/>
            <a:ext cx="36576" cy="850392"/>
          </a:xfrm>
          <a:prstGeom prst="rect">
            <a:avLst/>
          </a:prstGeom>
          <a:solidFill>
            <a:srgbClr val="0B6BEA"/>
          </a:solidFill>
          <a:ln w="12700">
            <a:solidFill>
              <a:srgbClr val="0B6BEA">
                <a:alpha val="0"/>
              </a:srgbClr>
            </a:solidFill>
            <a:prstDash val="solid"/>
          </a:ln>
        </p:spPr>
      </p:sp>
      <p:sp>
        <p:nvSpPr>
          <p:cNvPr id="34" name="Text 32"/>
          <p:cNvSpPr/>
          <p:nvPr/>
        </p:nvSpPr>
        <p:spPr>
          <a:xfrm>
            <a:off x="603822" y="4471416"/>
            <a:ext cx="3474720" cy="960120"/>
          </a:xfrm>
          <a:prstGeom prst="rect">
            <a:avLst/>
          </a:prstGeom>
          <a:noFill/>
        </p:spPr>
        <p:txBody>
          <a:bodyPr wrap="square" lIns="0" tIns="0" rIns="0" bIns="0" rtlCol="0" anchor="ctr">
            <a:normAutofit/>
          </a:bodyPr>
          <a:lstStyle/>
          <a:p>
            <a:pPr marL="0" indent="0" algn="l">
              <a:buNone/>
            </a:pPr>
            <a:r>
              <a:rPr lang="en-US" sz="1800" b="1" dirty="0">
                <a:solidFill>
                  <a:srgbClr val="08243D"/>
                </a:solidFill>
                <a:latin typeface="Aptos" pitchFamily="34" charset="0"/>
                <a:ea typeface="Aptos" pitchFamily="34" charset="-122"/>
                <a:cs typeface="Aptos" pitchFamily="34" charset="-120"/>
              </a:rPr>
              <a:t>Generator prioritizes user fingerprints while keeping predicted_stars locked.</a:t>
            </a:r>
            <a:endParaRPr lang="en-US" sz="1800" dirty="0"/>
          </a:p>
        </p:txBody>
      </p:sp>
      <p:sp>
        <p:nvSpPr>
          <p:cNvPr id="35" name="Shape 33"/>
          <p:cNvSpPr/>
          <p:nvPr/>
        </p:nvSpPr>
        <p:spPr>
          <a:xfrm>
            <a:off x="4233990" y="4361688"/>
            <a:ext cx="3886200" cy="1143000"/>
          </a:xfrm>
          <a:prstGeom prst="rect">
            <a:avLst/>
          </a:prstGeom>
          <a:solidFill>
            <a:srgbClr val="FFFFFF"/>
          </a:solidFill>
          <a:ln w="10160">
            <a:solidFill>
              <a:srgbClr val="B8D0E3"/>
            </a:solidFill>
            <a:prstDash val="solid"/>
          </a:ln>
        </p:spPr>
      </p:sp>
      <p:sp>
        <p:nvSpPr>
          <p:cNvPr id="36" name="Shape 34"/>
          <p:cNvSpPr/>
          <p:nvPr/>
        </p:nvSpPr>
        <p:spPr>
          <a:xfrm>
            <a:off x="4252278" y="4507992"/>
            <a:ext cx="36576" cy="850392"/>
          </a:xfrm>
          <a:prstGeom prst="rect">
            <a:avLst/>
          </a:prstGeom>
          <a:solidFill>
            <a:srgbClr val="00856B"/>
          </a:solidFill>
          <a:ln w="12700">
            <a:solidFill>
              <a:srgbClr val="00856B">
                <a:alpha val="0"/>
              </a:srgbClr>
            </a:solidFill>
            <a:prstDash val="solid"/>
          </a:ln>
        </p:spPr>
      </p:sp>
      <p:sp>
        <p:nvSpPr>
          <p:cNvPr id="37" name="Text 35"/>
          <p:cNvSpPr/>
          <p:nvPr/>
        </p:nvSpPr>
        <p:spPr>
          <a:xfrm>
            <a:off x="4398582" y="4471416"/>
            <a:ext cx="3566160" cy="960120"/>
          </a:xfrm>
          <a:prstGeom prst="rect">
            <a:avLst/>
          </a:prstGeom>
          <a:noFill/>
        </p:spPr>
        <p:txBody>
          <a:bodyPr wrap="square" lIns="0" tIns="0" rIns="0" bIns="0" rtlCol="0" anchor="ctr">
            <a:normAutofit/>
          </a:bodyPr>
          <a:lstStyle/>
          <a:p>
            <a:pPr marL="0" indent="0" algn="l">
              <a:buNone/>
            </a:pPr>
            <a:r>
              <a:rPr lang="en-US" sz="1750" dirty="0">
                <a:solidFill>
                  <a:srgbClr val="08243D"/>
                </a:solidFill>
                <a:latin typeface="Aptos" pitchFamily="34" charset="0"/>
                <a:ea typeface="Aptos" pitchFamily="34" charset="-122"/>
                <a:cs typeface="Aptos" pitchFamily="34" charset="-120"/>
              </a:rPr>
              <a:t>Improves review_generation and keeps schema stable.</a:t>
            </a:r>
            <a:endParaRPr lang="en-US" sz="1750" dirty="0"/>
          </a:p>
        </p:txBody>
      </p:sp>
      <p:sp>
        <p:nvSpPr>
          <p:cNvPr id="38" name="Shape 36"/>
          <p:cNvSpPr/>
          <p:nvPr/>
        </p:nvSpPr>
        <p:spPr>
          <a:xfrm>
            <a:off x="8120190" y="4361688"/>
            <a:ext cx="3794760" cy="1143000"/>
          </a:xfrm>
          <a:prstGeom prst="rect">
            <a:avLst/>
          </a:prstGeom>
          <a:solidFill>
            <a:srgbClr val="FFFFFF"/>
          </a:solidFill>
          <a:ln w="10160">
            <a:solidFill>
              <a:srgbClr val="B8D0E3"/>
            </a:solidFill>
            <a:prstDash val="solid"/>
          </a:ln>
        </p:spPr>
      </p:sp>
      <p:sp>
        <p:nvSpPr>
          <p:cNvPr id="39" name="Shape 37"/>
          <p:cNvSpPr/>
          <p:nvPr/>
        </p:nvSpPr>
        <p:spPr>
          <a:xfrm>
            <a:off x="8138478" y="4507992"/>
            <a:ext cx="36576" cy="850392"/>
          </a:xfrm>
          <a:prstGeom prst="rect">
            <a:avLst/>
          </a:prstGeom>
          <a:solidFill>
            <a:srgbClr val="FF7A00"/>
          </a:solidFill>
          <a:ln w="12700">
            <a:solidFill>
              <a:srgbClr val="FF7A00">
                <a:alpha val="0"/>
              </a:srgbClr>
            </a:solidFill>
            <a:prstDash val="solid"/>
          </a:ln>
        </p:spPr>
      </p:sp>
      <p:sp>
        <p:nvSpPr>
          <p:cNvPr id="40" name="Text 38"/>
          <p:cNvSpPr/>
          <p:nvPr/>
        </p:nvSpPr>
        <p:spPr>
          <a:xfrm>
            <a:off x="8284782" y="4471416"/>
            <a:ext cx="3474720" cy="960120"/>
          </a:xfrm>
          <a:prstGeom prst="rect">
            <a:avLst/>
          </a:prstGeom>
          <a:noFill/>
        </p:spPr>
        <p:txBody>
          <a:bodyPr wrap="square" lIns="0" tIns="0" rIns="0" bIns="0" rtlCol="0" anchor="ctr">
            <a:normAutofit/>
          </a:bodyPr>
          <a:lstStyle/>
          <a:p>
            <a:pPr marL="0" indent="0" algn="l">
              <a:buNone/>
            </a:pPr>
            <a:r>
              <a:rPr lang="en-US" sz="1750" dirty="0">
                <a:solidFill>
                  <a:srgbClr val="08243D"/>
                </a:solidFill>
                <a:latin typeface="Aptos" pitchFamily="34" charset="0"/>
                <a:ea typeface="Aptos" pitchFamily="34" charset="-122"/>
                <a:cs typeface="Aptos" pitchFamily="34" charset="-120"/>
              </a:rPr>
              <a:t>Too many style constraints can make output rigid.</a:t>
            </a:r>
            <a:endParaRPr lang="en-US" sz="1750" dirty="0"/>
          </a:p>
        </p:txBody>
      </p:sp>
      <p:sp>
        <p:nvSpPr>
          <p:cNvPr id="41" name="Shape 39"/>
          <p:cNvSpPr/>
          <p:nvPr/>
        </p:nvSpPr>
        <p:spPr>
          <a:xfrm>
            <a:off x="439230" y="5779135"/>
            <a:ext cx="11292840" cy="621792"/>
          </a:xfrm>
          <a:prstGeom prst="roundRect">
            <a:avLst>
              <a:gd name="adj" fmla="val 11765"/>
            </a:avLst>
          </a:prstGeom>
          <a:solidFill>
            <a:srgbClr val="EAF5FF"/>
          </a:solidFill>
          <a:ln w="15240">
            <a:solidFill>
              <a:srgbClr val="B8D0E3"/>
            </a:solidFill>
            <a:prstDash val="solid"/>
          </a:ln>
        </p:spPr>
      </p:sp>
      <p:sp>
        <p:nvSpPr>
          <p:cNvPr id="42" name="Shape 40"/>
          <p:cNvSpPr/>
          <p:nvPr/>
        </p:nvSpPr>
        <p:spPr>
          <a:xfrm>
            <a:off x="658686" y="5937885"/>
            <a:ext cx="292608" cy="292608"/>
          </a:xfrm>
          <a:prstGeom prst="ellipse">
            <a:avLst/>
          </a:prstGeom>
          <a:solidFill>
            <a:srgbClr val="0B6BEA"/>
          </a:solidFill>
          <a:ln w="12700">
            <a:solidFill>
              <a:srgbClr val="0B6BEA"/>
            </a:solidFill>
            <a:prstDash val="solid"/>
          </a:ln>
        </p:spPr>
      </p:sp>
      <p:sp>
        <p:nvSpPr>
          <p:cNvPr id="43" name="Text 41"/>
          <p:cNvSpPr/>
          <p:nvPr/>
        </p:nvSpPr>
        <p:spPr>
          <a:xfrm>
            <a:off x="740982" y="6019292"/>
            <a:ext cx="109728" cy="146304"/>
          </a:xfrm>
          <a:prstGeom prst="rect">
            <a:avLst/>
          </a:prstGeom>
          <a:noFill/>
        </p:spPr>
        <p:txBody>
          <a:bodyPr wrap="square" lIns="0" tIns="0" rIns="0" bIns="0" rtlCol="0" anchor="ctr">
            <a:normAutofit lnSpcReduction="20000"/>
          </a:bodyPr>
          <a:lstStyle/>
          <a:p>
            <a:pPr marL="0" indent="0" algn="ctr">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44" name="Text 42"/>
          <p:cNvSpPr/>
          <p:nvPr/>
        </p:nvSpPr>
        <p:spPr>
          <a:xfrm>
            <a:off x="1051878" y="5989320"/>
            <a:ext cx="1143000" cy="201168"/>
          </a:xfrm>
          <a:prstGeom prst="rect">
            <a:avLst/>
          </a:prstGeom>
          <a:noFill/>
        </p:spPr>
        <p:txBody>
          <a:bodyPr wrap="square" lIns="0" tIns="0" rIns="0" bIns="0" rtlCol="0" anchor="ctr">
            <a:normAutofit/>
          </a:bodyPr>
          <a:lstStyle/>
          <a:p>
            <a:pPr marL="0" indent="0" algn="l">
              <a:buNone/>
            </a:pPr>
            <a:r>
              <a:rPr lang="en-US" sz="1000" b="1" dirty="0">
                <a:solidFill>
                  <a:srgbClr val="0B6BEA"/>
                </a:solidFill>
                <a:latin typeface="Aptos" pitchFamily="34" charset="0"/>
                <a:ea typeface="Aptos" pitchFamily="34" charset="-122"/>
                <a:cs typeface="Aptos" pitchFamily="34" charset="-120"/>
              </a:rPr>
              <a:t>KEY MESSAGE</a:t>
            </a:r>
            <a:endParaRPr lang="en-US" sz="1000" dirty="0"/>
          </a:p>
        </p:txBody>
      </p:sp>
      <p:sp>
        <p:nvSpPr>
          <p:cNvPr id="45" name="Text 43"/>
          <p:cNvSpPr/>
          <p:nvPr/>
        </p:nvSpPr>
        <p:spPr>
          <a:xfrm>
            <a:off x="2332355" y="5980430"/>
            <a:ext cx="9333230" cy="233680"/>
          </a:xfrm>
          <a:prstGeom prst="rect">
            <a:avLst/>
          </a:prstGeom>
          <a:noFill/>
        </p:spPr>
        <p:txBody>
          <a:bodyPr wrap="square" lIns="0" tIns="0" rIns="0" bIns="0" rtlCol="0" anchor="ctr"/>
          <a:lstStyle/>
          <a:p>
            <a:pPr marL="0" indent="0" algn="l">
              <a:buNone/>
            </a:pPr>
            <a:r>
              <a:rPr lang="en-US" sz="1400" b="1" dirty="0">
                <a:solidFill>
                  <a:srgbClr val="062A44"/>
                </a:solidFill>
                <a:latin typeface="Aptos" pitchFamily="34" charset="0"/>
                <a:ea typeface="Aptos" pitchFamily="34" charset="-122"/>
                <a:cs typeface="Aptos" pitchFamily="34" charset="-120"/>
              </a:rPr>
              <a:t>R2 Agent improved personalization and review quality, but validators must still enforce schema and star-lock.</a:t>
            </a:r>
            <a:endParaRPr lang="en-US" sz="1400" b="1" dirty="0">
              <a:solidFill>
                <a:srgbClr val="062A44"/>
              </a:solidFill>
              <a:latin typeface="Aptos" pitchFamily="34" charset="0"/>
              <a:ea typeface="Aptos" pitchFamily="34" charset="-122"/>
              <a:cs typeface="Aptos" pitchFamily="34" charset="-120"/>
            </a:endParaRPr>
          </a:p>
        </p:txBody>
      </p:sp>
      <p:sp>
        <p:nvSpPr>
          <p:cNvPr id="46"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32</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9230" y="201168"/>
            <a:ext cx="2743200" cy="164592"/>
          </a:xfrm>
          <a:prstGeom prst="rect">
            <a:avLst/>
          </a:prstGeom>
          <a:noFill/>
        </p:spPr>
        <p:txBody>
          <a:bodyPr wrap="square" lIns="0" tIns="0" rIns="0" bIns="0" rtlCol="0" anchor="ctr"/>
          <a:lstStyle/>
          <a:p>
            <a:pPr marL="0" indent="0">
              <a:buNone/>
            </a:pPr>
            <a:r>
              <a:rPr lang="en-US" sz="900" b="1" dirty="0">
                <a:solidFill>
                  <a:srgbClr val="1265E8"/>
                </a:solidFill>
              </a:rPr>
              <a:t>EVOLUTION ANALYSIS</a:t>
            </a:r>
            <a:endParaRPr lang="en-US" sz="900" dirty="0"/>
          </a:p>
        </p:txBody>
      </p:sp>
      <p:sp>
        <p:nvSpPr>
          <p:cNvPr id="3" name="Text 1"/>
          <p:cNvSpPr/>
          <p:nvPr/>
        </p:nvSpPr>
        <p:spPr>
          <a:xfrm>
            <a:off x="439230" y="448056"/>
            <a:ext cx="11292840" cy="502920"/>
          </a:xfrm>
          <a:prstGeom prst="rect">
            <a:avLst/>
          </a:prstGeom>
          <a:noFill/>
        </p:spPr>
        <p:txBody>
          <a:bodyPr wrap="square" lIns="0" tIns="0" rIns="0" bIns="0" rtlCol="0" anchor="ctr">
            <a:normAutofit/>
          </a:bodyPr>
          <a:lstStyle/>
          <a:p>
            <a:pPr marL="0" indent="0">
              <a:buNone/>
            </a:pPr>
            <a:r>
              <a:rPr lang="en-US" sz="2900" b="1" dirty="0">
                <a:solidFill>
                  <a:srgbClr val="08233F"/>
                </a:solidFill>
                <a:latin typeface="Aptos Display" pitchFamily="34" charset="0"/>
                <a:ea typeface="Aptos Display" pitchFamily="34" charset="-122"/>
                <a:cs typeface="Aptos Display" pitchFamily="34" charset="-120"/>
              </a:rPr>
              <a:t>Round 2 Task</a:t>
            </a:r>
            <a:endParaRPr lang="en-US" sz="2900" dirty="0"/>
          </a:p>
        </p:txBody>
      </p:sp>
      <p:sp>
        <p:nvSpPr>
          <p:cNvPr id="4" name="Shape 2"/>
          <p:cNvSpPr/>
          <p:nvPr/>
        </p:nvSpPr>
        <p:spPr>
          <a:xfrm>
            <a:off x="439230" y="954278"/>
            <a:ext cx="11201400" cy="0"/>
          </a:xfrm>
          <a:prstGeom prst="line">
            <a:avLst/>
          </a:prstGeom>
          <a:noFill/>
          <a:ln w="12700">
            <a:solidFill>
              <a:srgbClr val="C6D5E5"/>
            </a:solidFill>
            <a:prstDash val="solid"/>
          </a:ln>
        </p:spPr>
      </p:sp>
      <p:sp>
        <p:nvSpPr>
          <p:cNvPr id="41" name="Shape 3"/>
          <p:cNvSpPr/>
          <p:nvPr/>
        </p:nvSpPr>
        <p:spPr>
          <a:xfrm>
            <a:off x="1449070" y="1068705"/>
            <a:ext cx="9323070" cy="5740400"/>
          </a:xfrm>
          <a:prstGeom prst="roundRect">
            <a:avLst>
              <a:gd name="adj" fmla="val 2712"/>
            </a:avLst>
          </a:prstGeom>
          <a:solidFill>
            <a:srgbClr val="FFFFFF"/>
          </a:solidFill>
          <a:ln w="10160">
            <a:solidFill>
              <a:srgbClr val="C6D6E6"/>
            </a:solidFill>
            <a:prstDash val="solid"/>
          </a:ln>
          <a:effectLst>
            <a:outerShdw blurRad="12700" dist="50800" dir="2700000" algn="bl" rotWithShape="0">
              <a:srgbClr val="DCE7F2">
                <a:alpha val="24000"/>
              </a:srgbClr>
            </a:outerShdw>
          </a:effectLst>
        </p:spPr>
      </p:sp>
      <p:sp>
        <p:nvSpPr>
          <p:cNvPr id="42" name="Shape 7"/>
          <p:cNvSpPr/>
          <p:nvPr/>
        </p:nvSpPr>
        <p:spPr>
          <a:xfrm>
            <a:off x="2026158" y="1135380"/>
            <a:ext cx="2834640" cy="164592"/>
          </a:xfrm>
          <a:prstGeom prst="roundRect">
            <a:avLst>
              <a:gd name="adj" fmla="val 38889"/>
            </a:avLst>
          </a:prstGeom>
          <a:solidFill>
            <a:srgbClr val="F5F8FD"/>
          </a:solidFill>
          <a:ln w="5080">
            <a:solidFill>
              <a:srgbClr val="DCE6F2"/>
            </a:solidFill>
            <a:prstDash val="solid"/>
          </a:ln>
        </p:spPr>
      </p:sp>
      <p:sp>
        <p:nvSpPr>
          <p:cNvPr id="43" name="Shape 8"/>
          <p:cNvSpPr/>
          <p:nvPr/>
        </p:nvSpPr>
        <p:spPr>
          <a:xfrm>
            <a:off x="2190750" y="1185672"/>
            <a:ext cx="73152" cy="73152"/>
          </a:xfrm>
          <a:prstGeom prst="ellipse">
            <a:avLst/>
          </a:prstGeom>
          <a:solidFill>
            <a:srgbClr val="0B63E5"/>
          </a:solidFill>
          <a:ln w="12700">
            <a:solidFill>
              <a:srgbClr val="0B63E5">
                <a:alpha val="0"/>
              </a:srgbClr>
            </a:solidFill>
            <a:prstDash val="solid"/>
          </a:ln>
        </p:spPr>
      </p:sp>
      <p:sp>
        <p:nvSpPr>
          <p:cNvPr id="44" name="Text 9"/>
          <p:cNvSpPr/>
          <p:nvPr/>
        </p:nvSpPr>
        <p:spPr>
          <a:xfrm>
            <a:off x="2300478"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candidate</a:t>
            </a:r>
            <a:endParaRPr lang="en-US" sz="980" dirty="0">
              <a:solidFill>
                <a:srgbClr val="425A76"/>
              </a:solidFill>
            </a:endParaRPr>
          </a:p>
        </p:txBody>
      </p:sp>
      <p:sp>
        <p:nvSpPr>
          <p:cNvPr id="45" name="Shape 10"/>
          <p:cNvSpPr/>
          <p:nvPr/>
        </p:nvSpPr>
        <p:spPr>
          <a:xfrm>
            <a:off x="3086862" y="1185672"/>
            <a:ext cx="73152" cy="73152"/>
          </a:xfrm>
          <a:prstGeom prst="ellipse">
            <a:avLst/>
          </a:prstGeom>
          <a:solidFill>
            <a:srgbClr val="F28C00"/>
          </a:solidFill>
          <a:ln w="12700">
            <a:solidFill>
              <a:srgbClr val="F28C00">
                <a:alpha val="0"/>
              </a:srgbClr>
            </a:solidFill>
            <a:prstDash val="solid"/>
          </a:ln>
        </p:spPr>
      </p:sp>
      <p:sp>
        <p:nvSpPr>
          <p:cNvPr id="46" name="Text 11"/>
          <p:cNvSpPr/>
          <p:nvPr/>
        </p:nvSpPr>
        <p:spPr>
          <a:xfrm>
            <a:off x="3196590"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branch</a:t>
            </a:r>
            <a:endParaRPr lang="en-US" sz="980" dirty="0">
              <a:solidFill>
                <a:srgbClr val="425A76"/>
              </a:solidFill>
            </a:endParaRPr>
          </a:p>
        </p:txBody>
      </p:sp>
      <p:sp>
        <p:nvSpPr>
          <p:cNvPr id="47" name="Shape 12"/>
          <p:cNvSpPr/>
          <p:nvPr/>
        </p:nvSpPr>
        <p:spPr>
          <a:xfrm>
            <a:off x="3982974" y="1185672"/>
            <a:ext cx="73152" cy="73152"/>
          </a:xfrm>
          <a:prstGeom prst="ellipse">
            <a:avLst/>
          </a:prstGeom>
          <a:solidFill>
            <a:srgbClr val="00A34A"/>
          </a:solidFill>
          <a:ln w="12700">
            <a:solidFill>
              <a:srgbClr val="00A34A">
                <a:alpha val="0"/>
              </a:srgbClr>
            </a:solidFill>
            <a:prstDash val="solid"/>
          </a:ln>
        </p:spPr>
      </p:sp>
      <p:sp>
        <p:nvSpPr>
          <p:cNvPr id="48" name="Text 13"/>
          <p:cNvSpPr/>
          <p:nvPr/>
        </p:nvSpPr>
        <p:spPr>
          <a:xfrm>
            <a:off x="4092702"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parent</a:t>
            </a:r>
            <a:endParaRPr lang="en-US" sz="980" dirty="0">
              <a:solidFill>
                <a:srgbClr val="425A76"/>
              </a:solidFill>
            </a:endParaRPr>
          </a:p>
        </p:txBody>
      </p:sp>
      <p:pic>
        <p:nvPicPr>
          <p:cNvPr id="16" name="Picture 15" descr="round2_task"/>
          <p:cNvPicPr>
            <a:picLocks noChangeAspect="1"/>
          </p:cNvPicPr>
          <p:nvPr/>
        </p:nvPicPr>
        <p:blipFill>
          <a:blip r:embed="rId1"/>
          <a:stretch>
            <a:fillRect/>
          </a:stretch>
        </p:blipFill>
        <p:spPr>
          <a:xfrm>
            <a:off x="1608455" y="1355090"/>
            <a:ext cx="9030970" cy="5386070"/>
          </a:xfrm>
          <a:prstGeom prst="rect">
            <a:avLst/>
          </a:prstGeom>
        </p:spPr>
      </p:pic>
      <p:sp>
        <p:nvSpPr>
          <p:cNvPr id="24"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b="1" dirty="0">
                <a:solidFill>
                  <a:srgbClr val="64748B"/>
                </a:solidFill>
                <a:latin typeface="Aptos" pitchFamily="34" charset="0"/>
                <a:ea typeface="Aptos" pitchFamily="34" charset="-122"/>
                <a:cs typeface="Aptos" pitchFamily="34" charset="-120"/>
              </a:rPr>
              <a:t>33</a:t>
            </a:r>
            <a:endParaRPr lang="en-US" altLang="vi-VN"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9230" y="201168"/>
            <a:ext cx="2743200" cy="164592"/>
          </a:xfrm>
          <a:prstGeom prst="rect">
            <a:avLst/>
          </a:prstGeom>
          <a:noFill/>
        </p:spPr>
        <p:txBody>
          <a:bodyPr wrap="square" lIns="0" tIns="0" rIns="0" bIns="0" rtlCol="0" anchor="ctr"/>
          <a:lstStyle/>
          <a:p>
            <a:pPr marL="0" indent="0">
              <a:buNone/>
            </a:pPr>
            <a:r>
              <a:rPr lang="en-US" sz="900" b="1" dirty="0">
                <a:solidFill>
                  <a:srgbClr val="1265E8"/>
                </a:solidFill>
              </a:rPr>
              <a:t>EVOLUTION ANALYSIS</a:t>
            </a:r>
            <a:endParaRPr lang="en-US" sz="900" dirty="0"/>
          </a:p>
        </p:txBody>
      </p:sp>
      <p:sp>
        <p:nvSpPr>
          <p:cNvPr id="3" name="Text 1"/>
          <p:cNvSpPr/>
          <p:nvPr/>
        </p:nvSpPr>
        <p:spPr>
          <a:xfrm>
            <a:off x="439230" y="448056"/>
            <a:ext cx="11292840" cy="502920"/>
          </a:xfrm>
          <a:prstGeom prst="rect">
            <a:avLst/>
          </a:prstGeom>
          <a:noFill/>
        </p:spPr>
        <p:txBody>
          <a:bodyPr wrap="square" lIns="0" tIns="0" rIns="0" bIns="0" rtlCol="0" anchor="ctr">
            <a:normAutofit/>
          </a:bodyPr>
          <a:lstStyle/>
          <a:p>
            <a:pPr marL="0" indent="0">
              <a:buNone/>
            </a:pPr>
            <a:r>
              <a:rPr lang="en-US" sz="2900" b="1" dirty="0">
                <a:solidFill>
                  <a:srgbClr val="08233F"/>
                </a:solidFill>
                <a:latin typeface="Aptos Display" pitchFamily="34" charset="0"/>
                <a:ea typeface="Aptos Display" pitchFamily="34" charset="-122"/>
                <a:cs typeface="Aptos Display" pitchFamily="34" charset="-120"/>
              </a:rPr>
              <a:t>Round 2 Task</a:t>
            </a:r>
            <a:endParaRPr lang="en-US" sz="2900" dirty="0"/>
          </a:p>
        </p:txBody>
      </p:sp>
      <p:sp>
        <p:nvSpPr>
          <p:cNvPr id="4" name="Shape 2"/>
          <p:cNvSpPr/>
          <p:nvPr/>
        </p:nvSpPr>
        <p:spPr>
          <a:xfrm>
            <a:off x="439230" y="996188"/>
            <a:ext cx="11201400" cy="0"/>
          </a:xfrm>
          <a:prstGeom prst="line">
            <a:avLst/>
          </a:prstGeom>
          <a:noFill/>
          <a:ln w="12700">
            <a:solidFill>
              <a:srgbClr val="C6D5E5"/>
            </a:solidFill>
            <a:prstDash val="solid"/>
          </a:ln>
        </p:spPr>
      </p:sp>
      <p:sp>
        <p:nvSpPr>
          <p:cNvPr id="18" name="Shape 3"/>
          <p:cNvSpPr/>
          <p:nvPr/>
        </p:nvSpPr>
        <p:spPr>
          <a:xfrm>
            <a:off x="6283960" y="1004570"/>
            <a:ext cx="5814695" cy="2602865"/>
          </a:xfrm>
          <a:prstGeom prst="roundRect">
            <a:avLst/>
          </a:prstGeom>
          <a:solidFill>
            <a:srgbClr val="FFFFFF"/>
          </a:solidFill>
          <a:ln w="13970">
            <a:solidFill>
              <a:srgbClr val="C6D5E5"/>
            </a:solidFill>
            <a:prstDash val="solid"/>
          </a:ln>
        </p:spPr>
      </p:sp>
      <p:sp>
        <p:nvSpPr>
          <p:cNvPr id="19" name="Shape 3"/>
          <p:cNvSpPr/>
          <p:nvPr/>
        </p:nvSpPr>
        <p:spPr>
          <a:xfrm>
            <a:off x="2963545" y="3855720"/>
            <a:ext cx="6702425" cy="2914650"/>
          </a:xfrm>
          <a:prstGeom prst="roundRect">
            <a:avLst/>
          </a:prstGeom>
          <a:solidFill>
            <a:srgbClr val="FFFFFF"/>
          </a:solidFill>
          <a:ln w="13970">
            <a:solidFill>
              <a:srgbClr val="C6D5E5"/>
            </a:solidFill>
            <a:prstDash val="solid"/>
          </a:ln>
        </p:spPr>
      </p:sp>
      <p:sp>
        <p:nvSpPr>
          <p:cNvPr id="16" name="Shape 2"/>
          <p:cNvSpPr/>
          <p:nvPr/>
        </p:nvSpPr>
        <p:spPr>
          <a:xfrm>
            <a:off x="439230" y="912368"/>
            <a:ext cx="11201400" cy="0"/>
          </a:xfrm>
          <a:prstGeom prst="line">
            <a:avLst/>
          </a:prstGeom>
          <a:noFill/>
          <a:ln w="12700">
            <a:solidFill>
              <a:srgbClr val="C6D5E5"/>
            </a:solidFill>
            <a:prstDash val="solid"/>
          </a:ln>
        </p:spPr>
      </p:sp>
      <p:sp>
        <p:nvSpPr>
          <p:cNvPr id="17" name="Shape 3"/>
          <p:cNvSpPr/>
          <p:nvPr/>
        </p:nvSpPr>
        <p:spPr>
          <a:xfrm>
            <a:off x="92075" y="1012825"/>
            <a:ext cx="6003925" cy="2602865"/>
          </a:xfrm>
          <a:prstGeom prst="roundRect">
            <a:avLst/>
          </a:prstGeom>
          <a:solidFill>
            <a:srgbClr val="FFFFFF"/>
          </a:solidFill>
          <a:ln w="13970" cap="flat" cmpd="sng">
            <a:solidFill>
              <a:schemeClr val="accent1"/>
            </a:solidFill>
            <a:prstDash val="solid"/>
          </a:ln>
        </p:spPr>
        <p:txBody>
          <a:bodyPr/>
          <a:p>
            <a:endParaRPr lang="en-US"/>
          </a:p>
        </p:txBody>
      </p:sp>
      <p:pic>
        <p:nvPicPr>
          <p:cNvPr id="29" name="Picture 28"/>
          <p:cNvPicPr>
            <a:picLocks noChangeAspect="1"/>
          </p:cNvPicPr>
          <p:nvPr/>
        </p:nvPicPr>
        <p:blipFill>
          <a:blip r:embed="rId1"/>
          <a:stretch>
            <a:fillRect/>
          </a:stretch>
        </p:blipFill>
        <p:spPr>
          <a:xfrm>
            <a:off x="283845" y="1229360"/>
            <a:ext cx="5576570" cy="2303145"/>
          </a:xfrm>
          <a:prstGeom prst="rect">
            <a:avLst/>
          </a:prstGeom>
        </p:spPr>
      </p:pic>
      <p:sp>
        <p:nvSpPr>
          <p:cNvPr id="21" name="Text 4"/>
          <p:cNvSpPr/>
          <p:nvPr/>
        </p:nvSpPr>
        <p:spPr>
          <a:xfrm>
            <a:off x="1607820" y="1055370"/>
            <a:ext cx="2186940" cy="290830"/>
          </a:xfrm>
          <a:prstGeom prst="rect">
            <a:avLst/>
          </a:prstGeom>
          <a:noFill/>
        </p:spPr>
        <p:txBody>
          <a:bodyPr wrap="square" lIns="0" tIns="0" rIns="0" bIns="0" rtlCol="0" anchor="ctr"/>
          <a:lstStyle/>
          <a:p>
            <a:pPr marL="0" indent="0" algn="r">
              <a:buNone/>
            </a:pPr>
            <a:r>
              <a:rPr lang="en-US" sz="2200" dirty="0"/>
              <a:t>Combined score</a:t>
            </a:r>
            <a:endParaRPr lang="en-US" sz="2200" dirty="0"/>
          </a:p>
        </p:txBody>
      </p:sp>
      <p:sp>
        <p:nvSpPr>
          <p:cNvPr id="22" name="Text 5"/>
          <p:cNvSpPr/>
          <p:nvPr/>
        </p:nvSpPr>
        <p:spPr>
          <a:xfrm>
            <a:off x="3858451" y="1034923"/>
            <a:ext cx="914400" cy="310896"/>
          </a:xfrm>
          <a:prstGeom prst="rect">
            <a:avLst/>
          </a:prstGeom>
          <a:noFill/>
        </p:spPr>
        <p:txBody>
          <a:bodyPr wrap="square" lIns="0" tIns="0" rIns="0" bIns="0" rtlCol="0" anchor="ctr"/>
          <a:lstStyle/>
          <a:p>
            <a:pPr marL="0" indent="0">
              <a:buNone/>
            </a:pPr>
            <a:r>
              <a:rPr lang="en-US" sz="2200" b="1" dirty="0">
                <a:solidFill>
                  <a:srgbClr val="078A67"/>
                </a:solidFill>
              </a:rPr>
              <a:t>0.8</a:t>
            </a:r>
            <a:r>
              <a:rPr lang="vi-VN" altLang="en-US" sz="2200" b="1" dirty="0">
                <a:solidFill>
                  <a:srgbClr val="078A67"/>
                </a:solidFill>
              </a:rPr>
              <a:t>634</a:t>
            </a:r>
            <a:endParaRPr lang="vi-VN" altLang="en-US" sz="2200" b="1" dirty="0">
              <a:solidFill>
                <a:srgbClr val="078A67"/>
              </a:solidFill>
            </a:endParaRPr>
          </a:p>
        </p:txBody>
      </p:sp>
      <p:pic>
        <p:nvPicPr>
          <p:cNvPr id="30" name="Picture 29"/>
          <p:cNvPicPr>
            <a:picLocks noChangeAspect="1"/>
          </p:cNvPicPr>
          <p:nvPr/>
        </p:nvPicPr>
        <p:blipFill>
          <a:blip r:embed="rId2"/>
          <a:stretch>
            <a:fillRect/>
          </a:stretch>
        </p:blipFill>
        <p:spPr>
          <a:xfrm>
            <a:off x="6464300" y="1242695"/>
            <a:ext cx="5459730" cy="2254250"/>
          </a:xfrm>
          <a:prstGeom prst="rect">
            <a:avLst/>
          </a:prstGeom>
        </p:spPr>
      </p:pic>
      <p:sp>
        <p:nvSpPr>
          <p:cNvPr id="25" name="Text 4"/>
          <p:cNvSpPr/>
          <p:nvPr/>
        </p:nvSpPr>
        <p:spPr>
          <a:xfrm>
            <a:off x="6966585" y="1005205"/>
            <a:ext cx="3101975" cy="306705"/>
          </a:xfrm>
          <a:prstGeom prst="rect">
            <a:avLst/>
          </a:prstGeom>
          <a:noFill/>
        </p:spPr>
        <p:txBody>
          <a:bodyPr wrap="square" lIns="0" tIns="0" rIns="0" bIns="0" rtlCol="0" anchor="ctr"/>
          <a:lstStyle/>
          <a:p>
            <a:pPr marL="0" indent="0" algn="r">
              <a:buNone/>
            </a:pPr>
            <a:r>
              <a:rPr lang="en-US" sz="2200" dirty="0"/>
              <a:t>Preference_estimation</a:t>
            </a:r>
            <a:endParaRPr lang="en-US" sz="2200" dirty="0"/>
          </a:p>
        </p:txBody>
      </p:sp>
      <p:sp>
        <p:nvSpPr>
          <p:cNvPr id="26" name="Text 5"/>
          <p:cNvSpPr/>
          <p:nvPr/>
        </p:nvSpPr>
        <p:spPr>
          <a:xfrm>
            <a:off x="10118281" y="1014603"/>
            <a:ext cx="914400" cy="310896"/>
          </a:xfrm>
          <a:prstGeom prst="rect">
            <a:avLst/>
          </a:prstGeom>
          <a:noFill/>
        </p:spPr>
        <p:txBody>
          <a:bodyPr wrap="square" lIns="0" tIns="0" rIns="0" bIns="0" rtlCol="0" anchor="ctr"/>
          <a:lstStyle/>
          <a:p>
            <a:pPr marL="0" indent="0">
              <a:buNone/>
            </a:pPr>
            <a:r>
              <a:rPr lang="en-US" sz="2200" b="1" dirty="0">
                <a:solidFill>
                  <a:srgbClr val="078A67"/>
                </a:solidFill>
              </a:rPr>
              <a:t>0.8</a:t>
            </a:r>
            <a:r>
              <a:rPr lang="vi-VN" altLang="en-US" sz="2200" b="1" dirty="0">
                <a:solidFill>
                  <a:srgbClr val="078A67"/>
                </a:solidFill>
              </a:rPr>
              <a:t>800</a:t>
            </a:r>
            <a:endParaRPr lang="vi-VN" altLang="en-US" sz="2200" b="1" dirty="0">
              <a:solidFill>
                <a:srgbClr val="078A67"/>
              </a:solidFill>
            </a:endParaRPr>
          </a:p>
        </p:txBody>
      </p:sp>
      <p:pic>
        <p:nvPicPr>
          <p:cNvPr id="31" name="Picture 30"/>
          <p:cNvPicPr>
            <a:picLocks noChangeAspect="1"/>
          </p:cNvPicPr>
          <p:nvPr/>
        </p:nvPicPr>
        <p:blipFill>
          <a:blip r:embed="rId3"/>
          <a:stretch>
            <a:fillRect/>
          </a:stretch>
        </p:blipFill>
        <p:spPr>
          <a:xfrm>
            <a:off x="3048635" y="4011930"/>
            <a:ext cx="6443345" cy="2646680"/>
          </a:xfrm>
          <a:prstGeom prst="rect">
            <a:avLst/>
          </a:prstGeom>
        </p:spPr>
      </p:pic>
      <p:sp>
        <p:nvSpPr>
          <p:cNvPr id="27" name="Text 4"/>
          <p:cNvSpPr/>
          <p:nvPr/>
        </p:nvSpPr>
        <p:spPr>
          <a:xfrm>
            <a:off x="3804285" y="3873500"/>
            <a:ext cx="2987675" cy="290830"/>
          </a:xfrm>
          <a:prstGeom prst="rect">
            <a:avLst/>
          </a:prstGeom>
          <a:noFill/>
        </p:spPr>
        <p:txBody>
          <a:bodyPr wrap="square" lIns="0" tIns="0" rIns="0" bIns="0" rtlCol="0" anchor="ctr"/>
          <a:lstStyle/>
          <a:p>
            <a:pPr marL="0" indent="0" algn="r">
              <a:buNone/>
            </a:pPr>
            <a:r>
              <a:rPr lang="en-US" sz="2200" dirty="0"/>
              <a:t>Review generation</a:t>
            </a:r>
            <a:endParaRPr lang="en-US" sz="2200" dirty="0"/>
          </a:p>
        </p:txBody>
      </p:sp>
      <p:sp>
        <p:nvSpPr>
          <p:cNvPr id="28" name="Text 5"/>
          <p:cNvSpPr/>
          <p:nvPr/>
        </p:nvSpPr>
        <p:spPr>
          <a:xfrm>
            <a:off x="6855651" y="3853053"/>
            <a:ext cx="914400" cy="310896"/>
          </a:xfrm>
          <a:prstGeom prst="rect">
            <a:avLst/>
          </a:prstGeom>
          <a:noFill/>
        </p:spPr>
        <p:txBody>
          <a:bodyPr wrap="square" lIns="0" tIns="0" rIns="0" bIns="0" rtlCol="0" anchor="ctr"/>
          <a:lstStyle/>
          <a:p>
            <a:pPr marL="0" indent="0">
              <a:buNone/>
            </a:pPr>
            <a:r>
              <a:rPr lang="en-US" sz="2200" b="1" dirty="0">
                <a:solidFill>
                  <a:srgbClr val="078A67"/>
                </a:solidFill>
              </a:rPr>
              <a:t>0.8</a:t>
            </a:r>
            <a:r>
              <a:rPr lang="vi-VN" altLang="en-US" sz="2200" b="1" dirty="0">
                <a:solidFill>
                  <a:srgbClr val="078A67"/>
                </a:solidFill>
              </a:rPr>
              <a:t>468</a:t>
            </a:r>
            <a:endParaRPr lang="en-US" sz="2200" dirty="0"/>
          </a:p>
        </p:txBody>
      </p:sp>
      <p:sp>
        <p:nvSpPr>
          <p:cNvPr id="32"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b="1" dirty="0">
                <a:solidFill>
                  <a:srgbClr val="64748B"/>
                </a:solidFill>
                <a:latin typeface="Aptos" pitchFamily="34" charset="0"/>
                <a:ea typeface="Aptos" pitchFamily="34" charset="-122"/>
                <a:cs typeface="Aptos" pitchFamily="34" charset="-120"/>
              </a:rPr>
              <a:t>34</a:t>
            </a:r>
            <a:endParaRPr lang="en-US" altLang="vi-VN"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228600"/>
            <a:ext cx="2743200" cy="201168"/>
          </a:xfrm>
          <a:prstGeom prst="rect">
            <a:avLst/>
          </a:prstGeom>
          <a:noFill/>
        </p:spPr>
        <p:txBody>
          <a:bodyPr wrap="square" lIns="0" tIns="0" rIns="0" bIns="0" rtlCol="0" anchor="ctr"/>
          <a:lstStyle/>
          <a:p>
            <a:pPr marL="0" indent="0">
              <a:buNone/>
            </a:pPr>
            <a:r>
              <a:rPr lang="en-US" sz="950" b="1" dirty="0">
                <a:solidFill>
                  <a:srgbClr val="0B67E3"/>
                </a:solidFill>
                <a:latin typeface="Aptos" pitchFamily="34" charset="0"/>
                <a:ea typeface="Aptos" pitchFamily="34" charset="-122"/>
                <a:cs typeface="Aptos" pitchFamily="34" charset="-120"/>
              </a:rPr>
              <a:t>EVOLUTION ANALYSIS</a:t>
            </a:r>
            <a:endParaRPr lang="en-US" sz="950" dirty="0"/>
          </a:p>
        </p:txBody>
      </p:sp>
      <p:sp>
        <p:nvSpPr>
          <p:cNvPr id="3" name="Text 1"/>
          <p:cNvSpPr/>
          <p:nvPr/>
        </p:nvSpPr>
        <p:spPr>
          <a:xfrm>
            <a:off x="438912" y="566928"/>
            <a:ext cx="11292840" cy="502920"/>
          </a:xfrm>
          <a:prstGeom prst="rect">
            <a:avLst/>
          </a:prstGeom>
          <a:noFill/>
        </p:spPr>
        <p:txBody>
          <a:bodyPr wrap="square" lIns="0" tIns="0" rIns="0" bIns="0" rtlCol="0" anchor="ctr">
            <a:normAutofit/>
          </a:bodyPr>
          <a:lstStyle/>
          <a:p>
            <a:pPr marL="0" indent="0">
              <a:buNone/>
            </a:pPr>
            <a:r>
              <a:rPr lang="en-US" sz="2800" b="1" dirty="0">
                <a:solidFill>
                  <a:srgbClr val="062B45"/>
                </a:solidFill>
                <a:latin typeface="Aptos Display" pitchFamily="34" charset="0"/>
                <a:ea typeface="Aptos Display" pitchFamily="34" charset="-122"/>
                <a:cs typeface="Aptos Display" pitchFamily="34" charset="-120"/>
              </a:rPr>
              <a:t>Task evolution: clearer contracts, safer final output</a:t>
            </a:r>
            <a:endParaRPr lang="en-US" sz="2800" dirty="0"/>
          </a:p>
        </p:txBody>
      </p:sp>
      <p:sp>
        <p:nvSpPr>
          <p:cNvPr id="4" name="Shape 2"/>
          <p:cNvSpPr/>
          <p:nvPr/>
        </p:nvSpPr>
        <p:spPr>
          <a:xfrm>
            <a:off x="438912" y="1124712"/>
            <a:ext cx="11292840" cy="0"/>
          </a:xfrm>
          <a:prstGeom prst="line">
            <a:avLst/>
          </a:prstGeom>
          <a:noFill/>
          <a:ln w="16510">
            <a:solidFill>
              <a:srgbClr val="BFD7EA"/>
            </a:solidFill>
            <a:prstDash val="solid"/>
          </a:ln>
        </p:spPr>
      </p:sp>
      <p:sp>
        <p:nvSpPr>
          <p:cNvPr id="5" name="Text 3"/>
          <p:cNvSpPr/>
          <p:nvPr/>
        </p:nvSpPr>
        <p:spPr>
          <a:xfrm>
            <a:off x="438912" y="1444752"/>
            <a:ext cx="3657600" cy="530352"/>
          </a:xfrm>
          <a:prstGeom prst="rect">
            <a:avLst/>
          </a:prstGeom>
          <a:solidFill>
            <a:srgbClr val="0B67E3"/>
          </a:solidFill>
          <a:ln w="8890">
            <a:solidFill>
              <a:srgbClr val="0B67E3"/>
            </a:solidFill>
          </a:ln>
        </p:spPr>
        <p:txBody>
          <a:bodyPr wrap="square" rtlCol="0" anchor="ctr">
            <a:normAutofit/>
          </a:bodyPr>
          <a:lstStyle/>
          <a:p>
            <a:pPr marL="0" indent="0" algn="ctr">
              <a:buNone/>
            </a:pPr>
            <a:r>
              <a:rPr lang="en-US" sz="1550" b="1" dirty="0">
                <a:solidFill>
                  <a:srgbClr val="FFFFFF"/>
                </a:solidFill>
                <a:latin typeface="Aptos" pitchFamily="34" charset="0"/>
                <a:ea typeface="Aptos" pitchFamily="34" charset="-122"/>
                <a:cs typeface="Aptos" pitchFamily="34" charset="-120"/>
              </a:rPr>
              <a:t>WHAT CHANGED</a:t>
            </a:r>
            <a:endParaRPr lang="en-US" sz="1550" dirty="0"/>
          </a:p>
        </p:txBody>
      </p:sp>
      <p:sp>
        <p:nvSpPr>
          <p:cNvPr id="6" name="Text 4"/>
          <p:cNvSpPr/>
          <p:nvPr/>
        </p:nvSpPr>
        <p:spPr>
          <a:xfrm>
            <a:off x="4187952" y="1444752"/>
            <a:ext cx="3840480" cy="530352"/>
          </a:xfrm>
          <a:prstGeom prst="rect">
            <a:avLst/>
          </a:prstGeom>
          <a:solidFill>
            <a:srgbClr val="00866B"/>
          </a:solidFill>
          <a:ln w="8890">
            <a:solidFill>
              <a:srgbClr val="00866B"/>
            </a:solidFill>
          </a:ln>
        </p:spPr>
        <p:txBody>
          <a:bodyPr wrap="square" rtlCol="0" anchor="ctr">
            <a:normAutofit/>
          </a:bodyPr>
          <a:lstStyle/>
          <a:p>
            <a:pPr marL="0" indent="0" algn="ctr">
              <a:buNone/>
            </a:pPr>
            <a:r>
              <a:rPr lang="en-US" sz="1550" b="1" dirty="0">
                <a:solidFill>
                  <a:srgbClr val="FFFFFF"/>
                </a:solidFill>
                <a:latin typeface="Aptos" pitchFamily="34" charset="0"/>
                <a:ea typeface="Aptos" pitchFamily="34" charset="-122"/>
                <a:cs typeface="Aptos" pitchFamily="34" charset="-120"/>
              </a:rPr>
              <a:t>WHY IT HELPED</a:t>
            </a:r>
            <a:endParaRPr lang="en-US" sz="1550" dirty="0"/>
          </a:p>
        </p:txBody>
      </p:sp>
      <p:sp>
        <p:nvSpPr>
          <p:cNvPr id="7" name="Text 5"/>
          <p:cNvSpPr/>
          <p:nvPr/>
        </p:nvSpPr>
        <p:spPr>
          <a:xfrm>
            <a:off x="8119872" y="1444752"/>
            <a:ext cx="3611880" cy="530352"/>
          </a:xfrm>
          <a:prstGeom prst="rect">
            <a:avLst/>
          </a:prstGeom>
          <a:solidFill>
            <a:srgbClr val="FF7A00"/>
          </a:solidFill>
          <a:ln w="8890">
            <a:solidFill>
              <a:srgbClr val="FF7A00"/>
            </a:solidFill>
          </a:ln>
        </p:spPr>
        <p:txBody>
          <a:bodyPr wrap="square" rtlCol="0" anchor="ctr">
            <a:normAutofit/>
          </a:bodyPr>
          <a:lstStyle/>
          <a:p>
            <a:pPr marL="0" indent="0" algn="ctr">
              <a:buNone/>
            </a:pPr>
            <a:r>
              <a:rPr lang="en-US" sz="1550" b="1" dirty="0">
                <a:solidFill>
                  <a:srgbClr val="FFFFFF"/>
                </a:solidFill>
                <a:latin typeface="Aptos" pitchFamily="34" charset="0"/>
                <a:ea typeface="Aptos" pitchFamily="34" charset="-122"/>
                <a:cs typeface="Aptos" pitchFamily="34" charset="-120"/>
              </a:rPr>
              <a:t>TRADE-OFF</a:t>
            </a:r>
            <a:endParaRPr lang="en-US" sz="1550" dirty="0"/>
          </a:p>
        </p:txBody>
      </p:sp>
      <p:sp>
        <p:nvSpPr>
          <p:cNvPr id="8" name="Text 6"/>
          <p:cNvSpPr/>
          <p:nvPr/>
        </p:nvSpPr>
        <p:spPr>
          <a:xfrm>
            <a:off x="438912" y="2048256"/>
            <a:ext cx="3657600" cy="1005840"/>
          </a:xfrm>
          <a:prstGeom prst="rect">
            <a:avLst/>
          </a:prstGeom>
          <a:solidFill>
            <a:srgbClr val="FFFFFF"/>
          </a:solidFill>
          <a:ln w="8890">
            <a:solidFill>
              <a:srgbClr val="BFD7EA"/>
            </a:solidFill>
          </a:ln>
        </p:spPr>
        <p:txBody>
          <a:bodyPr wrap="square" rtlCol="0" anchor="ctr">
            <a:normAutofit/>
          </a:bodyPr>
          <a:lstStyle/>
          <a:p>
            <a:pPr marL="0" indent="0" algn="l">
              <a:buNone/>
            </a:pPr>
            <a:r>
              <a:rPr lang="en-US" sz="1520" b="1" dirty="0">
                <a:solidFill>
                  <a:srgbClr val="062B45"/>
                </a:solidFill>
                <a:latin typeface="Aptos" pitchFamily="34" charset="0"/>
                <a:ea typeface="Aptos" pitchFamily="34" charset="-122"/>
                <a:cs typeface="Aptos" pitchFamily="34" charset="-120"/>
              </a:rPr>
              <a:t>Tasks output compact signals instead of long summaries.</a:t>
            </a:r>
            <a:endParaRPr lang="en-US" sz="1520" dirty="0"/>
          </a:p>
        </p:txBody>
      </p:sp>
      <p:sp>
        <p:nvSpPr>
          <p:cNvPr id="9" name="Text 7"/>
          <p:cNvSpPr/>
          <p:nvPr/>
        </p:nvSpPr>
        <p:spPr>
          <a:xfrm>
            <a:off x="4187952" y="2048256"/>
            <a:ext cx="3840480" cy="1005840"/>
          </a:xfrm>
          <a:prstGeom prst="rect">
            <a:avLst/>
          </a:prstGeom>
          <a:solidFill>
            <a:srgbClr val="FFFFFF"/>
          </a:solidFill>
          <a:ln w="8890">
            <a:solidFill>
              <a:srgbClr val="BFD7EA"/>
            </a:solidFill>
          </a:ln>
        </p:spPr>
        <p:txBody>
          <a:bodyPr wrap="square" rtlCol="0" anchor="ctr">
            <a:normAutofit/>
          </a:bodyPr>
          <a:lstStyle/>
          <a:p>
            <a:pPr marL="0" indent="0" algn="l">
              <a:buNone/>
            </a:pPr>
            <a:r>
              <a:rPr lang="en-US" sz="1520" dirty="0">
                <a:solidFill>
                  <a:srgbClr val="062B45"/>
                </a:solidFill>
                <a:latin typeface="Aptos" pitchFamily="34" charset="0"/>
                <a:ea typeface="Aptos" pitchFamily="34" charset="-122"/>
                <a:cs typeface="Aptos" pitchFamily="34" charset="-120"/>
              </a:rPr>
              <a:t>Gives downstream agents clearer reusable guidance.</a:t>
            </a:r>
            <a:endParaRPr lang="en-US" sz="1520" dirty="0"/>
          </a:p>
        </p:txBody>
      </p:sp>
      <p:sp>
        <p:nvSpPr>
          <p:cNvPr id="10" name="Text 8"/>
          <p:cNvSpPr/>
          <p:nvPr/>
        </p:nvSpPr>
        <p:spPr>
          <a:xfrm>
            <a:off x="8119872" y="2048256"/>
            <a:ext cx="3611880" cy="1005840"/>
          </a:xfrm>
          <a:prstGeom prst="rect">
            <a:avLst/>
          </a:prstGeom>
          <a:solidFill>
            <a:srgbClr val="FFFFFF"/>
          </a:solidFill>
          <a:ln w="8890">
            <a:solidFill>
              <a:srgbClr val="BFD7EA"/>
            </a:solidFill>
          </a:ln>
        </p:spPr>
        <p:txBody>
          <a:bodyPr wrap="square" rtlCol="0" anchor="ctr">
            <a:normAutofit/>
          </a:bodyPr>
          <a:lstStyle/>
          <a:p>
            <a:pPr marL="0" indent="0" algn="l">
              <a:buNone/>
            </a:pPr>
            <a:r>
              <a:rPr lang="en-US" sz="1520" dirty="0">
                <a:solidFill>
                  <a:srgbClr val="062B45"/>
                </a:solidFill>
                <a:latin typeface="Aptos" pitchFamily="34" charset="0"/>
                <a:ea typeface="Aptos" pitchFamily="34" charset="-122"/>
                <a:cs typeface="Aptos" pitchFamily="34" charset="-120"/>
              </a:rPr>
              <a:t>Less nuance in user/item analysis.</a:t>
            </a:r>
            <a:endParaRPr lang="en-US" sz="1520" dirty="0"/>
          </a:p>
        </p:txBody>
      </p:sp>
      <p:sp>
        <p:nvSpPr>
          <p:cNvPr id="11" name="Text 9"/>
          <p:cNvSpPr/>
          <p:nvPr/>
        </p:nvSpPr>
        <p:spPr>
          <a:xfrm>
            <a:off x="438912" y="3127248"/>
            <a:ext cx="3657600" cy="1005840"/>
          </a:xfrm>
          <a:prstGeom prst="rect">
            <a:avLst/>
          </a:prstGeom>
          <a:solidFill>
            <a:srgbClr val="F1F7FC"/>
          </a:solidFill>
          <a:ln w="8890">
            <a:solidFill>
              <a:srgbClr val="BFD7EA"/>
            </a:solidFill>
          </a:ln>
        </p:spPr>
        <p:txBody>
          <a:bodyPr wrap="square" rtlCol="0" anchor="ctr">
            <a:normAutofit/>
          </a:bodyPr>
          <a:lstStyle/>
          <a:p>
            <a:pPr marL="0" indent="0" algn="l">
              <a:buNone/>
            </a:pPr>
            <a:r>
              <a:rPr lang="en-US" sz="1520" b="1" dirty="0">
                <a:solidFill>
                  <a:srgbClr val="062B45"/>
                </a:solidFill>
                <a:latin typeface="Aptos" pitchFamily="34" charset="0"/>
                <a:ea typeface="Aptos" pitchFamily="34" charset="-122"/>
                <a:cs typeface="Aptos" pitchFamily="34" charset="-120"/>
              </a:rPr>
              <a:t>Item/direct evidence became safer wording guidance.</a:t>
            </a:r>
            <a:endParaRPr lang="en-US" sz="1520" dirty="0"/>
          </a:p>
        </p:txBody>
      </p:sp>
      <p:sp>
        <p:nvSpPr>
          <p:cNvPr id="12" name="Text 10"/>
          <p:cNvSpPr/>
          <p:nvPr/>
        </p:nvSpPr>
        <p:spPr>
          <a:xfrm>
            <a:off x="4187952" y="3127248"/>
            <a:ext cx="3840480" cy="1005840"/>
          </a:xfrm>
          <a:prstGeom prst="rect">
            <a:avLst/>
          </a:prstGeom>
          <a:solidFill>
            <a:srgbClr val="F1F7FC"/>
          </a:solidFill>
          <a:ln w="8890">
            <a:solidFill>
              <a:srgbClr val="BFD7EA"/>
            </a:solidFill>
          </a:ln>
        </p:spPr>
        <p:txBody>
          <a:bodyPr wrap="square" rtlCol="0" anchor="ctr">
            <a:normAutofit/>
          </a:bodyPr>
          <a:lstStyle/>
          <a:p>
            <a:pPr marL="0" indent="0" algn="l">
              <a:buNone/>
            </a:pPr>
            <a:r>
              <a:rPr lang="en-US" sz="1520" dirty="0">
                <a:solidFill>
                  <a:srgbClr val="062B45"/>
                </a:solidFill>
                <a:latin typeface="Aptos" pitchFamily="34" charset="0"/>
                <a:ea typeface="Aptos" pitchFamily="34" charset="-122"/>
                <a:cs typeface="Aptos" pitchFamily="34" charset="-120"/>
              </a:rPr>
              <a:t>Reduces hallucinated facts and improves grounded review text.</a:t>
            </a:r>
            <a:endParaRPr lang="en-US" sz="1520" dirty="0"/>
          </a:p>
        </p:txBody>
      </p:sp>
      <p:sp>
        <p:nvSpPr>
          <p:cNvPr id="13" name="Text 11"/>
          <p:cNvSpPr/>
          <p:nvPr/>
        </p:nvSpPr>
        <p:spPr>
          <a:xfrm>
            <a:off x="8119872" y="3127248"/>
            <a:ext cx="3611880" cy="1005840"/>
          </a:xfrm>
          <a:prstGeom prst="rect">
            <a:avLst/>
          </a:prstGeom>
          <a:solidFill>
            <a:srgbClr val="F1F7FC"/>
          </a:solidFill>
          <a:ln w="8890">
            <a:solidFill>
              <a:srgbClr val="BFD7EA"/>
            </a:solidFill>
          </a:ln>
        </p:spPr>
        <p:txBody>
          <a:bodyPr wrap="square" rtlCol="0" anchor="ctr">
            <a:normAutofit/>
          </a:bodyPr>
          <a:lstStyle/>
          <a:p>
            <a:pPr marL="0" indent="0" algn="l">
              <a:buNone/>
            </a:pPr>
            <a:r>
              <a:rPr lang="en-US" sz="1520" dirty="0">
                <a:solidFill>
                  <a:srgbClr val="062B45"/>
                </a:solidFill>
                <a:latin typeface="Aptos" pitchFamily="34" charset="0"/>
                <a:ea typeface="Aptos" pitchFamily="34" charset="-122"/>
                <a:cs typeface="Aptos" pitchFamily="34" charset="-120"/>
              </a:rPr>
              <a:t>Sparse evidence makes reviews more generic.</a:t>
            </a:r>
            <a:endParaRPr lang="en-US" sz="1520" dirty="0"/>
          </a:p>
        </p:txBody>
      </p:sp>
      <p:sp>
        <p:nvSpPr>
          <p:cNvPr id="14" name="Text 12"/>
          <p:cNvSpPr/>
          <p:nvPr/>
        </p:nvSpPr>
        <p:spPr>
          <a:xfrm>
            <a:off x="438912" y="4206240"/>
            <a:ext cx="3657600" cy="1005840"/>
          </a:xfrm>
          <a:prstGeom prst="rect">
            <a:avLst/>
          </a:prstGeom>
          <a:solidFill>
            <a:srgbClr val="FFFFFF"/>
          </a:solidFill>
          <a:ln w="8890">
            <a:solidFill>
              <a:srgbClr val="BFD7EA"/>
            </a:solidFill>
          </a:ln>
        </p:spPr>
        <p:txBody>
          <a:bodyPr wrap="square" rtlCol="0" anchor="ctr">
            <a:normAutofit/>
          </a:bodyPr>
          <a:lstStyle/>
          <a:p>
            <a:pPr marL="0" indent="0" algn="l">
              <a:buNone/>
            </a:pPr>
            <a:r>
              <a:rPr lang="en-US" sz="1520" b="1" dirty="0">
                <a:solidFill>
                  <a:srgbClr val="062B45"/>
                </a:solidFill>
                <a:latin typeface="Aptos" pitchFamily="34" charset="0"/>
                <a:ea typeface="Aptos" pitchFamily="34" charset="-122"/>
                <a:cs typeface="Aptos" pitchFamily="34" charset="-120"/>
              </a:rPr>
              <a:t>Final task locks predicted_stars and outputs raw JSON only.</a:t>
            </a:r>
            <a:endParaRPr lang="en-US" sz="1520" dirty="0"/>
          </a:p>
        </p:txBody>
      </p:sp>
      <p:sp>
        <p:nvSpPr>
          <p:cNvPr id="15" name="Text 13"/>
          <p:cNvSpPr/>
          <p:nvPr/>
        </p:nvSpPr>
        <p:spPr>
          <a:xfrm>
            <a:off x="4187952" y="4206240"/>
            <a:ext cx="3840480" cy="1005840"/>
          </a:xfrm>
          <a:prstGeom prst="rect">
            <a:avLst/>
          </a:prstGeom>
          <a:solidFill>
            <a:srgbClr val="FFFFFF"/>
          </a:solidFill>
          <a:ln w="8890">
            <a:solidFill>
              <a:srgbClr val="BFD7EA"/>
            </a:solidFill>
          </a:ln>
        </p:spPr>
        <p:txBody>
          <a:bodyPr wrap="square" rtlCol="0" anchor="ctr">
            <a:normAutofit/>
          </a:bodyPr>
          <a:lstStyle/>
          <a:p>
            <a:pPr marL="0" indent="0" algn="l">
              <a:buNone/>
            </a:pPr>
            <a:r>
              <a:rPr lang="en-US" sz="1520" dirty="0">
                <a:solidFill>
                  <a:srgbClr val="062B45"/>
                </a:solidFill>
                <a:latin typeface="Aptos" pitchFamily="34" charset="0"/>
                <a:ea typeface="Aptos" pitchFamily="34" charset="-122"/>
                <a:cs typeface="Aptos" pitchFamily="34" charset="-120"/>
              </a:rPr>
              <a:t>Prevents rating drift and schema errors.</a:t>
            </a:r>
            <a:endParaRPr lang="en-US" sz="1520" dirty="0"/>
          </a:p>
        </p:txBody>
      </p:sp>
      <p:sp>
        <p:nvSpPr>
          <p:cNvPr id="16" name="Text 14"/>
          <p:cNvSpPr/>
          <p:nvPr/>
        </p:nvSpPr>
        <p:spPr>
          <a:xfrm>
            <a:off x="8119872" y="4206240"/>
            <a:ext cx="3611880" cy="1005840"/>
          </a:xfrm>
          <a:prstGeom prst="rect">
            <a:avLst/>
          </a:prstGeom>
          <a:solidFill>
            <a:srgbClr val="FFFFFF"/>
          </a:solidFill>
          <a:ln w="8890">
            <a:solidFill>
              <a:srgbClr val="BFD7EA"/>
            </a:solidFill>
          </a:ln>
        </p:spPr>
        <p:txBody>
          <a:bodyPr wrap="square" rtlCol="0" anchor="ctr">
            <a:normAutofit/>
          </a:bodyPr>
          <a:lstStyle/>
          <a:p>
            <a:pPr marL="0" indent="0" algn="l">
              <a:buNone/>
            </a:pPr>
            <a:r>
              <a:rPr lang="en-US" sz="1520" dirty="0">
                <a:solidFill>
                  <a:srgbClr val="062B45"/>
                </a:solidFill>
                <a:latin typeface="Aptos" pitchFamily="34" charset="0"/>
                <a:ea typeface="Aptos" pitchFamily="34" charset="-122"/>
                <a:cs typeface="Aptos" pitchFamily="34" charset="-120"/>
              </a:rPr>
              <a:t>Cannot fix wrong or conservative ratings.</a:t>
            </a:r>
            <a:endParaRPr lang="en-US" sz="1520" dirty="0"/>
          </a:p>
        </p:txBody>
      </p:sp>
      <p:sp>
        <p:nvSpPr>
          <p:cNvPr id="17" name="Text 15"/>
          <p:cNvSpPr/>
          <p:nvPr/>
        </p:nvSpPr>
        <p:spPr>
          <a:xfrm>
            <a:off x="438912" y="5596128"/>
            <a:ext cx="11292840" cy="566928"/>
          </a:xfrm>
          <a:prstGeom prst="rect">
            <a:avLst/>
          </a:prstGeom>
          <a:solidFill>
            <a:srgbClr val="EAF7FF"/>
          </a:solidFill>
          <a:ln w="12700">
            <a:solidFill>
              <a:srgbClr val="A8D3F2"/>
            </a:solidFill>
          </a:ln>
        </p:spPr>
        <p:txBody>
          <a:bodyPr wrap="square" rtlCol="0" anchor="ctr">
            <a:normAutofit/>
          </a:bodyPr>
          <a:lstStyle/>
          <a:p>
            <a:pPr marL="0" indent="0">
              <a:buNone/>
            </a:pPr>
            <a:r>
              <a:rPr lang="en-US" sz="1420" b="1" dirty="0">
                <a:solidFill>
                  <a:srgbClr val="0B67E3"/>
                </a:solidFill>
                <a:latin typeface="Aptos" pitchFamily="34" charset="0"/>
                <a:ea typeface="Aptos" pitchFamily="34" charset="-122"/>
                <a:cs typeface="Aptos" pitchFamily="34" charset="-120"/>
              </a:rPr>
              <a:t>KEY MESSAGE</a:t>
            </a:r>
            <a:r>
              <a:rPr lang="en-US" sz="1420" b="1" dirty="0">
                <a:solidFill>
                  <a:srgbClr val="062B45"/>
                </a:solidFill>
                <a:latin typeface="Aptos" pitchFamily="34" charset="0"/>
                <a:ea typeface="Aptos" pitchFamily="34" charset="-122"/>
                <a:cs typeface="Aptos" pitchFamily="34" charset="-120"/>
              </a:rPr>
              <a:t>  Task evolution made the pipeline more reliable and grounded, but rating quality still depends on the scoring policy.</a:t>
            </a:r>
            <a:endParaRPr lang="en-US" sz="1420" dirty="0"/>
          </a:p>
        </p:txBody>
      </p:sp>
      <p:sp>
        <p:nvSpPr>
          <p:cNvPr id="18" name="Text 16"/>
          <p:cNvSpPr/>
          <p:nvPr/>
        </p:nvSpPr>
        <p:spPr>
          <a:xfrm>
            <a:off x="438912" y="6537960"/>
            <a:ext cx="2926080" cy="128016"/>
          </a:xfrm>
          <a:prstGeom prst="rect">
            <a:avLst/>
          </a:prstGeom>
          <a:noFill/>
        </p:spPr>
        <p:txBody>
          <a:bodyPr wrap="square" lIns="0" tIns="0" rIns="0" bIns="0" rtlCol="0" anchor="ctr"/>
          <a:lstStyle/>
          <a:p>
            <a:pPr marL="0" indent="0">
              <a:buNone/>
            </a:pPr>
            <a:r>
              <a:rPr lang="en-US" sz="650" dirty="0">
                <a:solidFill>
                  <a:srgbClr val="5D7184"/>
                </a:solidFill>
              </a:rPr>
              <a:t>OpenEvolve Yelp Review Agent Crew</a:t>
            </a:r>
            <a:endParaRPr lang="en-US" sz="650" dirty="0"/>
          </a:p>
        </p:txBody>
      </p:sp>
      <p:sp>
        <p:nvSpPr>
          <p:cNvPr id="19"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35</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9230" y="201168"/>
            <a:ext cx="2743200" cy="164592"/>
          </a:xfrm>
          <a:prstGeom prst="rect">
            <a:avLst/>
          </a:prstGeom>
          <a:noFill/>
        </p:spPr>
        <p:txBody>
          <a:bodyPr wrap="square" lIns="0" tIns="0" rIns="0" bIns="0" rtlCol="0" anchor="ctr"/>
          <a:lstStyle/>
          <a:p>
            <a:pPr marL="0" indent="0">
              <a:buNone/>
            </a:pPr>
            <a:r>
              <a:rPr lang="en-US" sz="900" b="1" dirty="0">
                <a:solidFill>
                  <a:srgbClr val="1265E8"/>
                </a:solidFill>
              </a:rPr>
              <a:t>EVOLUTION ANALYSIS</a:t>
            </a:r>
            <a:endParaRPr lang="en-US" sz="900" dirty="0"/>
          </a:p>
        </p:txBody>
      </p:sp>
      <p:sp>
        <p:nvSpPr>
          <p:cNvPr id="3" name="Text 1"/>
          <p:cNvSpPr/>
          <p:nvPr/>
        </p:nvSpPr>
        <p:spPr>
          <a:xfrm>
            <a:off x="439230" y="448056"/>
            <a:ext cx="11292840" cy="502920"/>
          </a:xfrm>
          <a:prstGeom prst="rect">
            <a:avLst/>
          </a:prstGeom>
          <a:noFill/>
        </p:spPr>
        <p:txBody>
          <a:bodyPr wrap="square" lIns="0" tIns="0" rIns="0" bIns="0" rtlCol="0" anchor="ctr">
            <a:normAutofit/>
          </a:bodyPr>
          <a:lstStyle/>
          <a:p>
            <a:pPr marL="0" indent="0">
              <a:buNone/>
            </a:pPr>
            <a:r>
              <a:rPr lang="en-US" sz="2900" b="1" dirty="0">
                <a:solidFill>
                  <a:srgbClr val="08233F"/>
                </a:solidFill>
                <a:latin typeface="Aptos Display" pitchFamily="34" charset="0"/>
                <a:ea typeface="Aptos Display" pitchFamily="34" charset="-122"/>
                <a:cs typeface="Aptos Display" pitchFamily="34" charset="-120"/>
              </a:rPr>
              <a:t>Round 2 RPP</a:t>
            </a:r>
            <a:endParaRPr lang="en-US" sz="2900" dirty="0"/>
          </a:p>
        </p:txBody>
      </p:sp>
      <p:sp>
        <p:nvSpPr>
          <p:cNvPr id="4" name="Shape 2"/>
          <p:cNvSpPr/>
          <p:nvPr/>
        </p:nvSpPr>
        <p:spPr>
          <a:xfrm>
            <a:off x="439230" y="1024128"/>
            <a:ext cx="11201400" cy="0"/>
          </a:xfrm>
          <a:prstGeom prst="line">
            <a:avLst/>
          </a:prstGeom>
          <a:noFill/>
          <a:ln w="12700">
            <a:solidFill>
              <a:srgbClr val="C6D5E5"/>
            </a:solidFill>
            <a:prstDash val="solid"/>
          </a:ln>
        </p:spPr>
      </p:sp>
      <p:sp>
        <p:nvSpPr>
          <p:cNvPr id="41" name="Shape 3"/>
          <p:cNvSpPr/>
          <p:nvPr/>
        </p:nvSpPr>
        <p:spPr>
          <a:xfrm>
            <a:off x="1386840" y="1068705"/>
            <a:ext cx="9350375" cy="5740400"/>
          </a:xfrm>
          <a:prstGeom prst="roundRect">
            <a:avLst>
              <a:gd name="adj" fmla="val 2712"/>
            </a:avLst>
          </a:prstGeom>
          <a:solidFill>
            <a:srgbClr val="FFFFFF"/>
          </a:solidFill>
          <a:ln w="10160">
            <a:solidFill>
              <a:srgbClr val="C6D6E6"/>
            </a:solidFill>
            <a:prstDash val="solid"/>
          </a:ln>
          <a:effectLst>
            <a:outerShdw blurRad="12700" dist="50800" dir="2700000" algn="bl" rotWithShape="0">
              <a:srgbClr val="DCE7F2">
                <a:alpha val="24000"/>
              </a:srgbClr>
            </a:outerShdw>
          </a:effectLst>
        </p:spPr>
      </p:sp>
      <p:sp>
        <p:nvSpPr>
          <p:cNvPr id="42" name="Shape 7"/>
          <p:cNvSpPr/>
          <p:nvPr/>
        </p:nvSpPr>
        <p:spPr>
          <a:xfrm>
            <a:off x="2431288" y="1135380"/>
            <a:ext cx="2834640" cy="164592"/>
          </a:xfrm>
          <a:prstGeom prst="roundRect">
            <a:avLst>
              <a:gd name="adj" fmla="val 38889"/>
            </a:avLst>
          </a:prstGeom>
          <a:solidFill>
            <a:srgbClr val="F5F8FD"/>
          </a:solidFill>
          <a:ln w="5080">
            <a:solidFill>
              <a:srgbClr val="DCE6F2"/>
            </a:solidFill>
            <a:prstDash val="solid"/>
          </a:ln>
        </p:spPr>
      </p:sp>
      <p:sp>
        <p:nvSpPr>
          <p:cNvPr id="43" name="Shape 8"/>
          <p:cNvSpPr/>
          <p:nvPr/>
        </p:nvSpPr>
        <p:spPr>
          <a:xfrm>
            <a:off x="2595880" y="1185672"/>
            <a:ext cx="73152" cy="73152"/>
          </a:xfrm>
          <a:prstGeom prst="ellipse">
            <a:avLst/>
          </a:prstGeom>
          <a:solidFill>
            <a:srgbClr val="0B63E5"/>
          </a:solidFill>
          <a:ln w="12700">
            <a:solidFill>
              <a:srgbClr val="0B63E5">
                <a:alpha val="0"/>
              </a:srgbClr>
            </a:solidFill>
            <a:prstDash val="solid"/>
          </a:ln>
        </p:spPr>
      </p:sp>
      <p:sp>
        <p:nvSpPr>
          <p:cNvPr id="44" name="Text 9"/>
          <p:cNvSpPr/>
          <p:nvPr/>
        </p:nvSpPr>
        <p:spPr>
          <a:xfrm>
            <a:off x="2705608"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candidate</a:t>
            </a:r>
            <a:endParaRPr lang="en-US" sz="980" dirty="0">
              <a:solidFill>
                <a:srgbClr val="425A76"/>
              </a:solidFill>
            </a:endParaRPr>
          </a:p>
        </p:txBody>
      </p:sp>
      <p:sp>
        <p:nvSpPr>
          <p:cNvPr id="45" name="Shape 10"/>
          <p:cNvSpPr/>
          <p:nvPr/>
        </p:nvSpPr>
        <p:spPr>
          <a:xfrm>
            <a:off x="3491992" y="1185672"/>
            <a:ext cx="73152" cy="73152"/>
          </a:xfrm>
          <a:prstGeom prst="ellipse">
            <a:avLst/>
          </a:prstGeom>
          <a:solidFill>
            <a:srgbClr val="F28C00"/>
          </a:solidFill>
          <a:ln w="12700">
            <a:solidFill>
              <a:srgbClr val="F28C00">
                <a:alpha val="0"/>
              </a:srgbClr>
            </a:solidFill>
            <a:prstDash val="solid"/>
          </a:ln>
        </p:spPr>
      </p:sp>
      <p:sp>
        <p:nvSpPr>
          <p:cNvPr id="46" name="Text 11"/>
          <p:cNvSpPr/>
          <p:nvPr/>
        </p:nvSpPr>
        <p:spPr>
          <a:xfrm>
            <a:off x="3601720"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branch</a:t>
            </a:r>
            <a:endParaRPr lang="en-US" sz="980" dirty="0">
              <a:solidFill>
                <a:srgbClr val="425A76"/>
              </a:solidFill>
            </a:endParaRPr>
          </a:p>
        </p:txBody>
      </p:sp>
      <p:sp>
        <p:nvSpPr>
          <p:cNvPr id="47" name="Shape 12"/>
          <p:cNvSpPr/>
          <p:nvPr/>
        </p:nvSpPr>
        <p:spPr>
          <a:xfrm>
            <a:off x="4388104" y="1185672"/>
            <a:ext cx="73152" cy="73152"/>
          </a:xfrm>
          <a:prstGeom prst="ellipse">
            <a:avLst/>
          </a:prstGeom>
          <a:solidFill>
            <a:srgbClr val="00A34A"/>
          </a:solidFill>
          <a:ln w="12700">
            <a:solidFill>
              <a:srgbClr val="00A34A">
                <a:alpha val="0"/>
              </a:srgbClr>
            </a:solidFill>
            <a:prstDash val="solid"/>
          </a:ln>
        </p:spPr>
      </p:sp>
      <p:sp>
        <p:nvSpPr>
          <p:cNvPr id="48" name="Text 13"/>
          <p:cNvSpPr/>
          <p:nvPr/>
        </p:nvSpPr>
        <p:spPr>
          <a:xfrm>
            <a:off x="4497832" y="1162812"/>
            <a:ext cx="594360" cy="109728"/>
          </a:xfrm>
          <a:prstGeom prst="rect">
            <a:avLst/>
          </a:prstGeom>
          <a:noFill/>
        </p:spPr>
        <p:txBody>
          <a:bodyPr wrap="square" lIns="0" tIns="0" rIns="0" bIns="0" rtlCol="0" anchor="ctr"/>
          <a:lstStyle/>
          <a:p>
            <a:pPr marL="0" indent="0">
              <a:buNone/>
            </a:pPr>
            <a:r>
              <a:rPr lang="en-US" sz="980" dirty="0">
                <a:solidFill>
                  <a:srgbClr val="425A76"/>
                </a:solidFill>
              </a:rPr>
              <a:t>parent</a:t>
            </a:r>
            <a:endParaRPr lang="en-US" sz="980" dirty="0">
              <a:solidFill>
                <a:srgbClr val="425A76"/>
              </a:solidFill>
            </a:endParaRPr>
          </a:p>
        </p:txBody>
      </p:sp>
      <p:pic>
        <p:nvPicPr>
          <p:cNvPr id="16" name="Picture 15" descr="round2_eval"/>
          <p:cNvPicPr>
            <a:picLocks noChangeAspect="1"/>
          </p:cNvPicPr>
          <p:nvPr/>
        </p:nvPicPr>
        <p:blipFill>
          <a:blip r:embed="rId1"/>
          <a:stretch>
            <a:fillRect/>
          </a:stretch>
        </p:blipFill>
        <p:spPr>
          <a:xfrm>
            <a:off x="1515110" y="1355090"/>
            <a:ext cx="9047480" cy="5356225"/>
          </a:xfrm>
          <a:prstGeom prst="rect">
            <a:avLst/>
          </a:prstGeom>
        </p:spPr>
      </p:pic>
      <p:sp>
        <p:nvSpPr>
          <p:cNvPr id="24"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b="1" dirty="0">
                <a:solidFill>
                  <a:srgbClr val="64748B"/>
                </a:solidFill>
                <a:latin typeface="Aptos" pitchFamily="34" charset="0"/>
                <a:ea typeface="Aptos" pitchFamily="34" charset="-122"/>
                <a:cs typeface="Aptos" pitchFamily="34" charset="-120"/>
              </a:rPr>
              <a:t>36</a:t>
            </a:r>
            <a:endParaRPr lang="en-US" altLang="vi-VN"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 3"/>
          <p:cNvSpPr/>
          <p:nvPr/>
        </p:nvSpPr>
        <p:spPr>
          <a:xfrm>
            <a:off x="6283960" y="1004570"/>
            <a:ext cx="5814695" cy="2602865"/>
          </a:xfrm>
          <a:prstGeom prst="roundRect">
            <a:avLst/>
          </a:prstGeom>
          <a:solidFill>
            <a:srgbClr val="FFFFFF"/>
          </a:solidFill>
          <a:ln w="13970">
            <a:solidFill>
              <a:srgbClr val="C6D5E5"/>
            </a:solidFill>
            <a:prstDash val="solid"/>
          </a:ln>
        </p:spPr>
      </p:sp>
      <p:sp>
        <p:nvSpPr>
          <p:cNvPr id="19" name="Shape 3"/>
          <p:cNvSpPr/>
          <p:nvPr/>
        </p:nvSpPr>
        <p:spPr>
          <a:xfrm>
            <a:off x="2757170" y="3855720"/>
            <a:ext cx="7083425" cy="2914650"/>
          </a:xfrm>
          <a:prstGeom prst="roundRect">
            <a:avLst/>
          </a:prstGeom>
          <a:solidFill>
            <a:srgbClr val="FFFFFF"/>
          </a:solidFill>
          <a:ln w="13970">
            <a:solidFill>
              <a:srgbClr val="C6D5E5"/>
            </a:solidFill>
            <a:prstDash val="solid"/>
          </a:ln>
        </p:spPr>
      </p:sp>
      <p:sp>
        <p:nvSpPr>
          <p:cNvPr id="2" name="Text 0"/>
          <p:cNvSpPr/>
          <p:nvPr/>
        </p:nvSpPr>
        <p:spPr>
          <a:xfrm>
            <a:off x="439230" y="201168"/>
            <a:ext cx="2743200" cy="164592"/>
          </a:xfrm>
          <a:prstGeom prst="rect">
            <a:avLst/>
          </a:prstGeom>
          <a:noFill/>
        </p:spPr>
        <p:txBody>
          <a:bodyPr wrap="square" lIns="0" tIns="0" rIns="0" bIns="0" rtlCol="0" anchor="ctr"/>
          <a:lstStyle/>
          <a:p>
            <a:pPr marL="0" indent="0">
              <a:buNone/>
            </a:pPr>
            <a:r>
              <a:rPr lang="en-US" sz="900" b="1" dirty="0">
                <a:solidFill>
                  <a:srgbClr val="1265E8"/>
                </a:solidFill>
              </a:rPr>
              <a:t>EVOLUTION ANALYSIS</a:t>
            </a:r>
            <a:endParaRPr lang="en-US" sz="900" dirty="0"/>
          </a:p>
        </p:txBody>
      </p:sp>
      <p:sp>
        <p:nvSpPr>
          <p:cNvPr id="3" name="Text 1"/>
          <p:cNvSpPr/>
          <p:nvPr/>
        </p:nvSpPr>
        <p:spPr>
          <a:xfrm>
            <a:off x="439230" y="364236"/>
            <a:ext cx="11292840" cy="502920"/>
          </a:xfrm>
          <a:prstGeom prst="rect">
            <a:avLst/>
          </a:prstGeom>
          <a:noFill/>
        </p:spPr>
        <p:txBody>
          <a:bodyPr wrap="square" lIns="0" tIns="0" rIns="0" bIns="0" rtlCol="0" anchor="ctr">
            <a:normAutofit/>
          </a:bodyPr>
          <a:lstStyle/>
          <a:p>
            <a:pPr marL="0" indent="0">
              <a:buNone/>
            </a:pPr>
            <a:r>
              <a:rPr lang="en-US" sz="2900" b="1" dirty="0">
                <a:solidFill>
                  <a:srgbClr val="08233F"/>
                </a:solidFill>
                <a:latin typeface="Aptos Display" pitchFamily="34" charset="0"/>
                <a:ea typeface="Aptos Display" pitchFamily="34" charset="-122"/>
                <a:cs typeface="Aptos Display" pitchFamily="34" charset="-120"/>
              </a:rPr>
              <a:t>Round 2 RPP</a:t>
            </a:r>
            <a:endParaRPr lang="en-US" sz="2900" dirty="0"/>
          </a:p>
        </p:txBody>
      </p:sp>
      <p:sp>
        <p:nvSpPr>
          <p:cNvPr id="4" name="Shape 2"/>
          <p:cNvSpPr/>
          <p:nvPr/>
        </p:nvSpPr>
        <p:spPr>
          <a:xfrm>
            <a:off x="439230" y="912368"/>
            <a:ext cx="11201400" cy="0"/>
          </a:xfrm>
          <a:prstGeom prst="line">
            <a:avLst/>
          </a:prstGeom>
          <a:noFill/>
          <a:ln w="12700">
            <a:solidFill>
              <a:srgbClr val="C6D5E5"/>
            </a:solidFill>
            <a:prstDash val="solid"/>
          </a:ln>
        </p:spPr>
      </p:sp>
      <p:sp>
        <p:nvSpPr>
          <p:cNvPr id="5" name="Shape 3"/>
          <p:cNvSpPr/>
          <p:nvPr/>
        </p:nvSpPr>
        <p:spPr>
          <a:xfrm>
            <a:off x="92075" y="1012825"/>
            <a:ext cx="6003925" cy="2602865"/>
          </a:xfrm>
          <a:prstGeom prst="roundRect">
            <a:avLst/>
          </a:prstGeom>
          <a:solidFill>
            <a:srgbClr val="FFFFFF"/>
          </a:solidFill>
          <a:ln w="13970" cap="flat" cmpd="sng">
            <a:solidFill>
              <a:schemeClr val="accent1"/>
            </a:solidFill>
            <a:prstDash val="solid"/>
          </a:ln>
        </p:spPr>
        <p:txBody>
          <a:bodyPr/>
          <a:p>
            <a:endParaRPr lang="en-US"/>
          </a:p>
        </p:txBody>
      </p:sp>
      <p:pic>
        <p:nvPicPr>
          <p:cNvPr id="6" name="Image 0" descr="/mnt/data/round2_eval01(4).png"/>
          <p:cNvPicPr>
            <a:picLocks noChangeAspect="1"/>
          </p:cNvPicPr>
          <p:nvPr/>
        </p:nvPicPr>
        <p:blipFill>
          <a:blip r:embed="rId1"/>
          <a:stretch>
            <a:fillRect/>
          </a:stretch>
        </p:blipFill>
        <p:spPr>
          <a:xfrm>
            <a:off x="217805" y="1271905"/>
            <a:ext cx="5791200" cy="2179955"/>
          </a:xfrm>
          <a:prstGeom prst="rect">
            <a:avLst/>
          </a:prstGeom>
        </p:spPr>
      </p:pic>
      <p:sp>
        <p:nvSpPr>
          <p:cNvPr id="7" name="Text 4"/>
          <p:cNvSpPr/>
          <p:nvPr/>
        </p:nvSpPr>
        <p:spPr>
          <a:xfrm>
            <a:off x="1607820" y="1055370"/>
            <a:ext cx="2186940" cy="290830"/>
          </a:xfrm>
          <a:prstGeom prst="rect">
            <a:avLst/>
          </a:prstGeom>
          <a:noFill/>
        </p:spPr>
        <p:txBody>
          <a:bodyPr wrap="square" lIns="0" tIns="0" rIns="0" bIns="0" rtlCol="0" anchor="ctr"/>
          <a:lstStyle/>
          <a:p>
            <a:pPr marL="0" indent="0" algn="r">
              <a:buNone/>
            </a:pPr>
            <a:r>
              <a:rPr lang="en-US" sz="2200" dirty="0"/>
              <a:t>Combined score</a:t>
            </a:r>
            <a:endParaRPr lang="en-US" sz="2200" dirty="0"/>
          </a:p>
        </p:txBody>
      </p:sp>
      <p:sp>
        <p:nvSpPr>
          <p:cNvPr id="8" name="Text 5"/>
          <p:cNvSpPr/>
          <p:nvPr/>
        </p:nvSpPr>
        <p:spPr>
          <a:xfrm>
            <a:off x="3858451" y="1034923"/>
            <a:ext cx="914400" cy="310896"/>
          </a:xfrm>
          <a:prstGeom prst="rect">
            <a:avLst/>
          </a:prstGeom>
          <a:noFill/>
        </p:spPr>
        <p:txBody>
          <a:bodyPr wrap="square" lIns="0" tIns="0" rIns="0" bIns="0" rtlCol="0" anchor="ctr"/>
          <a:lstStyle/>
          <a:p>
            <a:pPr marL="0" indent="0">
              <a:buNone/>
            </a:pPr>
            <a:r>
              <a:rPr lang="en-US" sz="2200" b="1" dirty="0">
                <a:solidFill>
                  <a:srgbClr val="078A67"/>
                </a:solidFill>
              </a:rPr>
              <a:t>0.87</a:t>
            </a:r>
            <a:r>
              <a:rPr lang="vi-VN" altLang="en-US" sz="2200" b="1" dirty="0">
                <a:solidFill>
                  <a:srgbClr val="078A67"/>
                </a:solidFill>
              </a:rPr>
              <a:t>15</a:t>
            </a:r>
            <a:endParaRPr lang="vi-VN" altLang="en-US" sz="2200" b="1" dirty="0">
              <a:solidFill>
                <a:srgbClr val="078A67"/>
              </a:solidFill>
            </a:endParaRPr>
          </a:p>
        </p:txBody>
      </p:sp>
      <p:pic>
        <p:nvPicPr>
          <p:cNvPr id="16" name="Picture 15"/>
          <p:cNvPicPr>
            <a:picLocks noChangeAspect="1"/>
          </p:cNvPicPr>
          <p:nvPr/>
        </p:nvPicPr>
        <p:blipFill>
          <a:blip r:embed="rId2"/>
          <a:stretch>
            <a:fillRect/>
          </a:stretch>
        </p:blipFill>
        <p:spPr>
          <a:xfrm>
            <a:off x="6354445" y="1216025"/>
            <a:ext cx="5613400" cy="2179955"/>
          </a:xfrm>
          <a:prstGeom prst="rect">
            <a:avLst/>
          </a:prstGeom>
        </p:spPr>
      </p:pic>
      <p:pic>
        <p:nvPicPr>
          <p:cNvPr id="17" name="Picture 16"/>
          <p:cNvPicPr>
            <a:picLocks noChangeAspect="1"/>
          </p:cNvPicPr>
          <p:nvPr/>
        </p:nvPicPr>
        <p:blipFill>
          <a:blip r:embed="rId3"/>
          <a:stretch>
            <a:fillRect/>
          </a:stretch>
        </p:blipFill>
        <p:spPr>
          <a:xfrm>
            <a:off x="2907030" y="4020185"/>
            <a:ext cx="6703695" cy="2602865"/>
          </a:xfrm>
          <a:prstGeom prst="rect">
            <a:avLst/>
          </a:prstGeom>
        </p:spPr>
      </p:pic>
      <p:sp>
        <p:nvSpPr>
          <p:cNvPr id="20" name="Text 4"/>
          <p:cNvSpPr/>
          <p:nvPr/>
        </p:nvSpPr>
        <p:spPr>
          <a:xfrm>
            <a:off x="6966585" y="1005205"/>
            <a:ext cx="3101975" cy="306705"/>
          </a:xfrm>
          <a:prstGeom prst="rect">
            <a:avLst/>
          </a:prstGeom>
          <a:noFill/>
        </p:spPr>
        <p:txBody>
          <a:bodyPr wrap="square" lIns="0" tIns="0" rIns="0" bIns="0" rtlCol="0" anchor="ctr"/>
          <a:lstStyle/>
          <a:p>
            <a:pPr marL="0" indent="0" algn="r">
              <a:buNone/>
            </a:pPr>
            <a:r>
              <a:rPr lang="en-US" sz="2200" dirty="0"/>
              <a:t>Preference_estimation</a:t>
            </a:r>
            <a:endParaRPr lang="en-US" sz="2200" dirty="0"/>
          </a:p>
        </p:txBody>
      </p:sp>
      <p:sp>
        <p:nvSpPr>
          <p:cNvPr id="21" name="Text 5"/>
          <p:cNvSpPr/>
          <p:nvPr/>
        </p:nvSpPr>
        <p:spPr>
          <a:xfrm>
            <a:off x="10118281" y="1014603"/>
            <a:ext cx="914400" cy="310896"/>
          </a:xfrm>
          <a:prstGeom prst="rect">
            <a:avLst/>
          </a:prstGeom>
          <a:noFill/>
        </p:spPr>
        <p:txBody>
          <a:bodyPr wrap="square" lIns="0" tIns="0" rIns="0" bIns="0" rtlCol="0" anchor="ctr"/>
          <a:lstStyle/>
          <a:p>
            <a:pPr marL="0" indent="0">
              <a:buNone/>
            </a:pPr>
            <a:r>
              <a:rPr lang="en-US" sz="2200" b="1" dirty="0">
                <a:solidFill>
                  <a:srgbClr val="078A67"/>
                </a:solidFill>
              </a:rPr>
              <a:t>0.8</a:t>
            </a:r>
            <a:r>
              <a:rPr lang="vi-VN" altLang="en-US" sz="2200" b="1" dirty="0">
                <a:solidFill>
                  <a:srgbClr val="078A67"/>
                </a:solidFill>
              </a:rPr>
              <a:t>800</a:t>
            </a:r>
            <a:endParaRPr lang="vi-VN" altLang="en-US" sz="2200" b="1" dirty="0">
              <a:solidFill>
                <a:srgbClr val="078A67"/>
              </a:solidFill>
            </a:endParaRPr>
          </a:p>
        </p:txBody>
      </p:sp>
      <p:sp>
        <p:nvSpPr>
          <p:cNvPr id="22" name="Text 4"/>
          <p:cNvSpPr/>
          <p:nvPr/>
        </p:nvSpPr>
        <p:spPr>
          <a:xfrm>
            <a:off x="3804285" y="3873500"/>
            <a:ext cx="2987675" cy="290830"/>
          </a:xfrm>
          <a:prstGeom prst="rect">
            <a:avLst/>
          </a:prstGeom>
          <a:noFill/>
        </p:spPr>
        <p:txBody>
          <a:bodyPr wrap="square" lIns="0" tIns="0" rIns="0" bIns="0" rtlCol="0" anchor="ctr"/>
          <a:lstStyle/>
          <a:p>
            <a:pPr marL="0" indent="0" algn="r">
              <a:buNone/>
            </a:pPr>
            <a:r>
              <a:rPr lang="en-US" sz="2200" dirty="0"/>
              <a:t>Review generation</a:t>
            </a:r>
            <a:endParaRPr lang="en-US" sz="2200" dirty="0"/>
          </a:p>
        </p:txBody>
      </p:sp>
      <p:sp>
        <p:nvSpPr>
          <p:cNvPr id="23" name="Text 5"/>
          <p:cNvSpPr/>
          <p:nvPr/>
        </p:nvSpPr>
        <p:spPr>
          <a:xfrm>
            <a:off x="6855651" y="3853053"/>
            <a:ext cx="914400" cy="310896"/>
          </a:xfrm>
          <a:prstGeom prst="rect">
            <a:avLst/>
          </a:prstGeom>
          <a:noFill/>
        </p:spPr>
        <p:txBody>
          <a:bodyPr wrap="square" lIns="0" tIns="0" rIns="0" bIns="0" rtlCol="0" anchor="ctr"/>
          <a:lstStyle/>
          <a:p>
            <a:pPr marL="0" indent="0">
              <a:buNone/>
            </a:pPr>
            <a:r>
              <a:rPr lang="en-US" sz="2200" b="1" dirty="0">
                <a:solidFill>
                  <a:srgbClr val="078A67"/>
                </a:solidFill>
              </a:rPr>
              <a:t>0.8</a:t>
            </a:r>
            <a:r>
              <a:rPr lang="vi-VN" altLang="en-US" sz="2200" b="1" dirty="0">
                <a:solidFill>
                  <a:srgbClr val="078A67"/>
                </a:solidFill>
              </a:rPr>
              <a:t>630</a:t>
            </a:r>
            <a:endParaRPr lang="en-US" sz="2200" dirty="0"/>
          </a:p>
        </p:txBody>
      </p:sp>
      <p:sp>
        <p:nvSpPr>
          <p:cNvPr id="24"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b="1" dirty="0">
                <a:solidFill>
                  <a:srgbClr val="64748B"/>
                </a:solidFill>
                <a:latin typeface="Aptos" pitchFamily="34" charset="0"/>
                <a:ea typeface="Aptos" pitchFamily="34" charset="-122"/>
                <a:cs typeface="Aptos" pitchFamily="34" charset="-120"/>
              </a:rPr>
              <a:t>37</a:t>
            </a:r>
            <a:endParaRPr lang="en-US" altLang="vi-VN"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0040" y="210312"/>
            <a:ext cx="3200400" cy="164592"/>
          </a:xfrm>
          <a:prstGeom prst="rect">
            <a:avLst/>
          </a:prstGeom>
          <a:noFill/>
        </p:spPr>
        <p:txBody>
          <a:bodyPr wrap="square" lIns="0" tIns="0" rIns="0" bIns="0" rtlCol="0" anchor="ctr">
            <a:normAutofit/>
          </a:bodyPr>
          <a:lstStyle/>
          <a:p>
            <a:pPr marL="0" indent="0" algn="l">
              <a:buNone/>
            </a:pPr>
            <a:r>
              <a:rPr lang="en-US" sz="1050" b="1" dirty="0">
                <a:solidFill>
                  <a:srgbClr val="126CE5"/>
                </a:solidFill>
                <a:latin typeface="Aptos" pitchFamily="34" charset="0"/>
                <a:ea typeface="Aptos" pitchFamily="34" charset="-122"/>
                <a:cs typeface="Aptos" pitchFamily="34" charset="-120"/>
              </a:rPr>
              <a:t>CHECKPOINT ANALYSIS</a:t>
            </a:r>
            <a:endParaRPr lang="en-US" sz="1050" dirty="0"/>
          </a:p>
        </p:txBody>
      </p:sp>
      <p:sp>
        <p:nvSpPr>
          <p:cNvPr id="3" name="Text 1"/>
          <p:cNvSpPr/>
          <p:nvPr/>
        </p:nvSpPr>
        <p:spPr>
          <a:xfrm>
            <a:off x="320040" y="502920"/>
            <a:ext cx="7772400" cy="530352"/>
          </a:xfrm>
          <a:prstGeom prst="rect">
            <a:avLst/>
          </a:prstGeom>
          <a:noFill/>
        </p:spPr>
        <p:txBody>
          <a:bodyPr wrap="square" lIns="0" tIns="0" rIns="0" bIns="0" rtlCol="0" anchor="ctr">
            <a:normAutofit fontScale="90000"/>
          </a:bodyPr>
          <a:lstStyle/>
          <a:p>
            <a:pPr marL="0" indent="0" algn="l">
              <a:buNone/>
            </a:pPr>
            <a:r>
              <a:rPr lang="en-US" sz="3800" b="1" dirty="0">
                <a:solidFill>
                  <a:srgbClr val="06223C"/>
                </a:solidFill>
                <a:latin typeface="Aptos Display" pitchFamily="34" charset="0"/>
                <a:ea typeface="Aptos Display" pitchFamily="34" charset="-122"/>
                <a:cs typeface="Aptos Display" pitchFamily="34" charset="-120"/>
              </a:rPr>
              <a:t>Checkpoint statistics</a:t>
            </a:r>
            <a:endParaRPr lang="en-US" sz="3800" dirty="0"/>
          </a:p>
        </p:txBody>
      </p:sp>
      <p:sp>
        <p:nvSpPr>
          <p:cNvPr id="4" name="Shape 2"/>
          <p:cNvSpPr/>
          <p:nvPr/>
        </p:nvSpPr>
        <p:spPr>
          <a:xfrm>
            <a:off x="320040" y="1161288"/>
            <a:ext cx="11475720" cy="0"/>
          </a:xfrm>
          <a:prstGeom prst="line">
            <a:avLst/>
          </a:prstGeom>
          <a:noFill/>
          <a:ln w="15240">
            <a:solidFill>
              <a:srgbClr val="126CE5">
                <a:alpha val="70000"/>
              </a:srgbClr>
            </a:solidFill>
            <a:prstDash val="solid"/>
          </a:ln>
        </p:spPr>
      </p:sp>
      <p:sp>
        <p:nvSpPr>
          <p:cNvPr id="5" name="Shape 3"/>
          <p:cNvSpPr/>
          <p:nvPr/>
        </p:nvSpPr>
        <p:spPr>
          <a:xfrm>
            <a:off x="411480" y="1481328"/>
            <a:ext cx="2542032" cy="941832"/>
          </a:xfrm>
          <a:prstGeom prst="roundRect">
            <a:avLst>
              <a:gd name="adj" fmla="val 11650"/>
            </a:avLst>
          </a:prstGeom>
          <a:solidFill>
            <a:srgbClr val="F1F7FF"/>
          </a:solidFill>
          <a:ln w="15240">
            <a:solidFill>
              <a:srgbClr val="7AB1F4"/>
            </a:solidFill>
            <a:prstDash val="solid"/>
          </a:ln>
        </p:spPr>
      </p:sp>
      <p:sp>
        <p:nvSpPr>
          <p:cNvPr id="6" name="Text 4"/>
          <p:cNvSpPr/>
          <p:nvPr/>
        </p:nvSpPr>
        <p:spPr>
          <a:xfrm>
            <a:off x="411480" y="1636776"/>
            <a:ext cx="2542032" cy="438912"/>
          </a:xfrm>
          <a:prstGeom prst="rect">
            <a:avLst/>
          </a:prstGeom>
          <a:noFill/>
        </p:spPr>
        <p:txBody>
          <a:bodyPr wrap="square" lIns="0" tIns="0" rIns="0" bIns="0" rtlCol="0" anchor="ctr">
            <a:normAutofit fontScale="90000"/>
          </a:bodyPr>
          <a:lstStyle/>
          <a:p>
            <a:pPr marL="0" indent="0" algn="ctr">
              <a:buNone/>
            </a:pPr>
            <a:r>
              <a:rPr lang="en-US" sz="3100" b="1" dirty="0">
                <a:solidFill>
                  <a:srgbClr val="126CE5"/>
                </a:solidFill>
                <a:latin typeface="Aptos" pitchFamily="34" charset="0"/>
                <a:ea typeface="Aptos" pitchFamily="34" charset="-122"/>
                <a:cs typeface="Aptos" pitchFamily="34" charset="-120"/>
              </a:rPr>
              <a:t>300</a:t>
            </a:r>
            <a:endParaRPr lang="en-US" sz="3100" dirty="0"/>
          </a:p>
        </p:txBody>
      </p:sp>
      <p:sp>
        <p:nvSpPr>
          <p:cNvPr id="7" name="Text 5"/>
          <p:cNvSpPr/>
          <p:nvPr/>
        </p:nvSpPr>
        <p:spPr>
          <a:xfrm>
            <a:off x="411480" y="2139696"/>
            <a:ext cx="2542032" cy="237744"/>
          </a:xfrm>
          <a:prstGeom prst="rect">
            <a:avLst/>
          </a:prstGeom>
          <a:noFill/>
        </p:spPr>
        <p:txBody>
          <a:bodyPr wrap="square" lIns="0" tIns="0" rIns="0" bIns="0" rtlCol="0" anchor="ctr">
            <a:normAutofit/>
          </a:bodyPr>
          <a:lstStyle/>
          <a:p>
            <a:pPr marL="0" indent="0" algn="ctr">
              <a:buNone/>
            </a:pPr>
            <a:r>
              <a:rPr lang="en-US" sz="1350" dirty="0">
                <a:solidFill>
                  <a:srgbClr val="415A77"/>
                </a:solidFill>
                <a:latin typeface="Aptos" pitchFamily="34" charset="0"/>
                <a:ea typeface="Aptos" pitchFamily="34" charset="-122"/>
                <a:cs typeface="Aptos" pitchFamily="34" charset="-120"/>
              </a:rPr>
              <a:t>configured iterations</a:t>
            </a:r>
            <a:endParaRPr lang="en-US" sz="1350" dirty="0"/>
          </a:p>
        </p:txBody>
      </p:sp>
      <p:sp>
        <p:nvSpPr>
          <p:cNvPr id="8" name="Shape 6"/>
          <p:cNvSpPr/>
          <p:nvPr/>
        </p:nvSpPr>
        <p:spPr>
          <a:xfrm>
            <a:off x="3246120" y="1481328"/>
            <a:ext cx="2542032" cy="941832"/>
          </a:xfrm>
          <a:prstGeom prst="roundRect">
            <a:avLst>
              <a:gd name="adj" fmla="val 11650"/>
            </a:avLst>
          </a:prstGeom>
          <a:solidFill>
            <a:srgbClr val="F0FFFC"/>
          </a:solidFill>
          <a:ln w="15240">
            <a:solidFill>
              <a:srgbClr val="54BFB6"/>
            </a:solidFill>
            <a:prstDash val="solid"/>
          </a:ln>
        </p:spPr>
      </p:sp>
      <p:sp>
        <p:nvSpPr>
          <p:cNvPr id="9" name="Text 7"/>
          <p:cNvSpPr/>
          <p:nvPr/>
        </p:nvSpPr>
        <p:spPr>
          <a:xfrm>
            <a:off x="3246120" y="1636776"/>
            <a:ext cx="2542032" cy="438912"/>
          </a:xfrm>
          <a:prstGeom prst="rect">
            <a:avLst/>
          </a:prstGeom>
          <a:noFill/>
        </p:spPr>
        <p:txBody>
          <a:bodyPr wrap="square" lIns="0" tIns="0" rIns="0" bIns="0" rtlCol="0" anchor="ctr">
            <a:normAutofit fontScale="90000"/>
          </a:bodyPr>
          <a:lstStyle/>
          <a:p>
            <a:pPr marL="0" indent="0" algn="ctr">
              <a:buNone/>
            </a:pPr>
            <a:r>
              <a:rPr lang="en-US" sz="3100" b="1" dirty="0">
                <a:solidFill>
                  <a:srgbClr val="07877D"/>
                </a:solidFill>
                <a:latin typeface="Aptos" pitchFamily="34" charset="0"/>
                <a:ea typeface="Aptos" pitchFamily="34" charset="-122"/>
                <a:cs typeface="Aptos" pitchFamily="34" charset="-120"/>
              </a:rPr>
              <a:t>252</a:t>
            </a:r>
            <a:endParaRPr lang="en-US" sz="3100" dirty="0"/>
          </a:p>
        </p:txBody>
      </p:sp>
      <p:sp>
        <p:nvSpPr>
          <p:cNvPr id="10" name="Text 8"/>
          <p:cNvSpPr/>
          <p:nvPr/>
        </p:nvSpPr>
        <p:spPr>
          <a:xfrm>
            <a:off x="3246120" y="2139696"/>
            <a:ext cx="2542032" cy="237744"/>
          </a:xfrm>
          <a:prstGeom prst="rect">
            <a:avLst/>
          </a:prstGeom>
          <a:noFill/>
        </p:spPr>
        <p:txBody>
          <a:bodyPr wrap="square" lIns="0" tIns="0" rIns="0" bIns="0" rtlCol="0" anchor="ctr">
            <a:normAutofit/>
          </a:bodyPr>
          <a:lstStyle/>
          <a:p>
            <a:pPr marL="0" indent="0" algn="ctr">
              <a:buNone/>
            </a:pPr>
            <a:r>
              <a:rPr lang="en-US" sz="1350" dirty="0">
                <a:solidFill>
                  <a:srgbClr val="415A77"/>
                </a:solidFill>
                <a:latin typeface="Aptos" pitchFamily="34" charset="0"/>
                <a:ea typeface="Aptos" pitchFamily="34" charset="-122"/>
                <a:cs typeface="Aptos" pitchFamily="34" charset="-120"/>
              </a:rPr>
              <a:t>retained programs</a:t>
            </a:r>
            <a:endParaRPr lang="en-US" sz="1350" dirty="0"/>
          </a:p>
        </p:txBody>
      </p:sp>
      <p:sp>
        <p:nvSpPr>
          <p:cNvPr id="11" name="Shape 9"/>
          <p:cNvSpPr/>
          <p:nvPr/>
        </p:nvSpPr>
        <p:spPr>
          <a:xfrm>
            <a:off x="6080760" y="1481328"/>
            <a:ext cx="2542032" cy="941832"/>
          </a:xfrm>
          <a:prstGeom prst="roundRect">
            <a:avLst>
              <a:gd name="adj" fmla="val 11650"/>
            </a:avLst>
          </a:prstGeom>
          <a:solidFill>
            <a:srgbClr val="F3FFF4"/>
          </a:solidFill>
          <a:ln w="15240">
            <a:solidFill>
              <a:srgbClr val="68C878"/>
            </a:solidFill>
            <a:prstDash val="solid"/>
          </a:ln>
        </p:spPr>
      </p:sp>
      <p:sp>
        <p:nvSpPr>
          <p:cNvPr id="12" name="Text 10"/>
          <p:cNvSpPr/>
          <p:nvPr/>
        </p:nvSpPr>
        <p:spPr>
          <a:xfrm>
            <a:off x="6080760" y="1636776"/>
            <a:ext cx="2542032" cy="438912"/>
          </a:xfrm>
          <a:prstGeom prst="rect">
            <a:avLst/>
          </a:prstGeom>
          <a:noFill/>
        </p:spPr>
        <p:txBody>
          <a:bodyPr wrap="square" lIns="0" tIns="0" rIns="0" bIns="0" rtlCol="0" anchor="ctr">
            <a:normAutofit fontScale="90000"/>
          </a:bodyPr>
          <a:lstStyle/>
          <a:p>
            <a:pPr marL="0" indent="0" algn="ctr">
              <a:buNone/>
            </a:pPr>
            <a:r>
              <a:rPr lang="en-US" sz="3100" b="1" dirty="0">
                <a:solidFill>
                  <a:srgbClr val="08A045"/>
                </a:solidFill>
                <a:latin typeface="Aptos" pitchFamily="34" charset="0"/>
                <a:ea typeface="Aptos" pitchFamily="34" charset="-122"/>
                <a:cs typeface="Aptos" pitchFamily="34" charset="-120"/>
              </a:rPr>
              <a:t>84%</a:t>
            </a:r>
            <a:endParaRPr lang="en-US" sz="3100" dirty="0"/>
          </a:p>
        </p:txBody>
      </p:sp>
      <p:sp>
        <p:nvSpPr>
          <p:cNvPr id="13" name="Text 11"/>
          <p:cNvSpPr/>
          <p:nvPr/>
        </p:nvSpPr>
        <p:spPr>
          <a:xfrm>
            <a:off x="6080760" y="2139696"/>
            <a:ext cx="2542032" cy="237744"/>
          </a:xfrm>
          <a:prstGeom prst="rect">
            <a:avLst/>
          </a:prstGeom>
          <a:noFill/>
        </p:spPr>
        <p:txBody>
          <a:bodyPr wrap="square" lIns="0" tIns="0" rIns="0" bIns="0" rtlCol="0" anchor="ctr">
            <a:normAutofit/>
          </a:bodyPr>
          <a:lstStyle/>
          <a:p>
            <a:pPr marL="0" indent="0" algn="ctr">
              <a:buNone/>
            </a:pPr>
            <a:r>
              <a:rPr lang="en-US" sz="1350" dirty="0">
                <a:solidFill>
                  <a:srgbClr val="415A77"/>
                </a:solidFill>
                <a:latin typeface="Aptos" pitchFamily="34" charset="0"/>
                <a:ea typeface="Aptos" pitchFamily="34" charset="-122"/>
                <a:cs typeface="Aptos" pitchFamily="34" charset="-120"/>
              </a:rPr>
              <a:t>retention rate</a:t>
            </a:r>
            <a:endParaRPr lang="en-US" sz="1350" dirty="0"/>
          </a:p>
        </p:txBody>
      </p:sp>
      <p:sp>
        <p:nvSpPr>
          <p:cNvPr id="14" name="Shape 12"/>
          <p:cNvSpPr/>
          <p:nvPr/>
        </p:nvSpPr>
        <p:spPr>
          <a:xfrm>
            <a:off x="8915400" y="1481328"/>
            <a:ext cx="2542032" cy="941832"/>
          </a:xfrm>
          <a:prstGeom prst="roundRect">
            <a:avLst>
              <a:gd name="adj" fmla="val 11650"/>
            </a:avLst>
          </a:prstGeom>
          <a:solidFill>
            <a:srgbClr val="FFF8EB"/>
          </a:solidFill>
          <a:ln w="15240">
            <a:solidFill>
              <a:srgbClr val="F4A64F"/>
            </a:solidFill>
            <a:prstDash val="solid"/>
          </a:ln>
        </p:spPr>
      </p:sp>
      <p:sp>
        <p:nvSpPr>
          <p:cNvPr id="15" name="Text 13"/>
          <p:cNvSpPr/>
          <p:nvPr/>
        </p:nvSpPr>
        <p:spPr>
          <a:xfrm>
            <a:off x="8915400" y="1636776"/>
            <a:ext cx="2542032" cy="438912"/>
          </a:xfrm>
          <a:prstGeom prst="rect">
            <a:avLst/>
          </a:prstGeom>
          <a:noFill/>
        </p:spPr>
        <p:txBody>
          <a:bodyPr wrap="square" lIns="0" tIns="0" rIns="0" bIns="0" rtlCol="0" anchor="ctr">
            <a:normAutofit fontScale="90000"/>
          </a:bodyPr>
          <a:lstStyle/>
          <a:p>
            <a:pPr marL="0" indent="0" algn="ctr">
              <a:buNone/>
            </a:pPr>
            <a:r>
              <a:rPr lang="en-US" sz="3100" b="1" dirty="0">
                <a:solidFill>
                  <a:srgbClr val="F58A00"/>
                </a:solidFill>
                <a:latin typeface="Aptos" pitchFamily="34" charset="0"/>
                <a:ea typeface="Aptos" pitchFamily="34" charset="-122"/>
                <a:cs typeface="Aptos" pitchFamily="34" charset="-120"/>
              </a:rPr>
              <a:t>48</a:t>
            </a:r>
            <a:endParaRPr lang="en-US" sz="3100" dirty="0"/>
          </a:p>
        </p:txBody>
      </p:sp>
      <p:sp>
        <p:nvSpPr>
          <p:cNvPr id="16" name="Text 14"/>
          <p:cNvSpPr/>
          <p:nvPr/>
        </p:nvSpPr>
        <p:spPr>
          <a:xfrm>
            <a:off x="8915400" y="2139696"/>
            <a:ext cx="2542032" cy="237744"/>
          </a:xfrm>
          <a:prstGeom prst="rect">
            <a:avLst/>
          </a:prstGeom>
          <a:noFill/>
        </p:spPr>
        <p:txBody>
          <a:bodyPr wrap="square" lIns="0" tIns="0" rIns="0" bIns="0" rtlCol="0" anchor="ctr">
            <a:normAutofit/>
          </a:bodyPr>
          <a:lstStyle/>
          <a:p>
            <a:pPr marL="0" indent="0" algn="ctr">
              <a:buNone/>
            </a:pPr>
            <a:r>
              <a:rPr lang="en-US" sz="1350" dirty="0">
                <a:solidFill>
                  <a:srgbClr val="415A77"/>
                </a:solidFill>
                <a:latin typeface="Aptos" pitchFamily="34" charset="0"/>
                <a:ea typeface="Aptos" pitchFamily="34" charset="-122"/>
                <a:cs typeface="Aptos" pitchFamily="34" charset="-120"/>
              </a:rPr>
              <a:t>not retained</a:t>
            </a:r>
            <a:endParaRPr lang="en-US" sz="1350" dirty="0"/>
          </a:p>
        </p:txBody>
      </p:sp>
      <p:sp>
        <p:nvSpPr>
          <p:cNvPr id="17" name="Shape 15"/>
          <p:cNvSpPr/>
          <p:nvPr/>
        </p:nvSpPr>
        <p:spPr>
          <a:xfrm>
            <a:off x="411480" y="2798064"/>
            <a:ext cx="6876288" cy="3136392"/>
          </a:xfrm>
          <a:prstGeom prst="roundRect">
            <a:avLst>
              <a:gd name="adj" fmla="val 3499"/>
            </a:avLst>
          </a:prstGeom>
          <a:solidFill>
            <a:srgbClr val="FFFFFF"/>
          </a:solidFill>
          <a:ln w="11430">
            <a:solidFill>
              <a:srgbClr val="C7D6E6"/>
            </a:solidFill>
            <a:prstDash val="solid"/>
          </a:ln>
        </p:spPr>
      </p:sp>
      <p:sp>
        <p:nvSpPr>
          <p:cNvPr id="18" name="Shape 16"/>
          <p:cNvSpPr/>
          <p:nvPr/>
        </p:nvSpPr>
        <p:spPr>
          <a:xfrm>
            <a:off x="411480" y="2798064"/>
            <a:ext cx="6876288" cy="502920"/>
          </a:xfrm>
          <a:prstGeom prst="rect">
            <a:avLst/>
          </a:prstGeom>
          <a:solidFill>
            <a:srgbClr val="06223C"/>
          </a:solidFill>
          <a:ln w="12700">
            <a:solidFill>
              <a:srgbClr val="06223C"/>
            </a:solidFill>
            <a:prstDash val="solid"/>
          </a:ln>
        </p:spPr>
      </p:sp>
      <p:sp>
        <p:nvSpPr>
          <p:cNvPr id="19" name="Text 17"/>
          <p:cNvSpPr/>
          <p:nvPr/>
        </p:nvSpPr>
        <p:spPr>
          <a:xfrm>
            <a:off x="521208" y="2907792"/>
            <a:ext cx="2468880" cy="228600"/>
          </a:xfrm>
          <a:prstGeom prst="rect">
            <a:avLst/>
          </a:prstGeom>
          <a:noFill/>
        </p:spPr>
        <p:txBody>
          <a:bodyPr wrap="square" lIns="0" tIns="0" rIns="0" bIns="0" rtlCol="0" anchor="ctr">
            <a:normAutofit fontScale="70000"/>
          </a:bodyPr>
          <a:lstStyle/>
          <a:p>
            <a:pPr marL="0" indent="0" algn="l">
              <a:buNone/>
            </a:pPr>
            <a:r>
              <a:rPr lang="en-US" sz="2000" b="1" dirty="0">
                <a:solidFill>
                  <a:srgbClr val="FFFFFF"/>
                </a:solidFill>
                <a:latin typeface="Aptos" pitchFamily="34" charset="0"/>
                <a:ea typeface="Aptos" pitchFamily="34" charset="-122"/>
                <a:cs typeface="Aptos" pitchFamily="34" charset="-120"/>
              </a:rPr>
              <a:t>Run</a:t>
            </a:r>
            <a:endParaRPr lang="en-US" sz="2000" dirty="0"/>
          </a:p>
        </p:txBody>
      </p:sp>
      <p:sp>
        <p:nvSpPr>
          <p:cNvPr id="20" name="Text 18"/>
          <p:cNvSpPr/>
          <p:nvPr/>
        </p:nvSpPr>
        <p:spPr>
          <a:xfrm>
            <a:off x="3154680" y="2907792"/>
            <a:ext cx="1435608" cy="228600"/>
          </a:xfrm>
          <a:prstGeom prst="rect">
            <a:avLst/>
          </a:prstGeom>
          <a:noFill/>
        </p:spPr>
        <p:txBody>
          <a:bodyPr wrap="square" lIns="0" tIns="0" rIns="0" bIns="0" rtlCol="0" anchor="ctr">
            <a:normAutofit fontScale="70000"/>
          </a:bodyPr>
          <a:lstStyle/>
          <a:p>
            <a:pPr marL="0" indent="0" algn="ctr">
              <a:buNone/>
            </a:pPr>
            <a:r>
              <a:rPr lang="en-US" sz="2000" b="1" dirty="0">
                <a:solidFill>
                  <a:srgbClr val="FFFFFF"/>
                </a:solidFill>
                <a:latin typeface="Aptos" pitchFamily="34" charset="0"/>
                <a:ea typeface="Aptos" pitchFamily="34" charset="-122"/>
                <a:cs typeface="Aptos" pitchFamily="34" charset="-120"/>
              </a:rPr>
              <a:t>Total</a:t>
            </a:r>
            <a:endParaRPr lang="en-US" sz="2000" dirty="0"/>
          </a:p>
        </p:txBody>
      </p:sp>
      <p:sp>
        <p:nvSpPr>
          <p:cNvPr id="21" name="Text 19"/>
          <p:cNvSpPr/>
          <p:nvPr/>
        </p:nvSpPr>
        <p:spPr>
          <a:xfrm>
            <a:off x="4754880" y="2907792"/>
            <a:ext cx="2478024" cy="228600"/>
          </a:xfrm>
          <a:prstGeom prst="rect">
            <a:avLst/>
          </a:prstGeom>
          <a:noFill/>
        </p:spPr>
        <p:txBody>
          <a:bodyPr wrap="square" lIns="0" tIns="0" rIns="0" bIns="0" rtlCol="0" anchor="ctr">
            <a:normAutofit fontScale="70000"/>
          </a:bodyPr>
          <a:lstStyle/>
          <a:p>
            <a:pPr marL="0" indent="0" algn="ctr">
              <a:buNone/>
            </a:pPr>
            <a:r>
              <a:rPr lang="en-US" sz="2000" b="1" dirty="0">
                <a:solidFill>
                  <a:srgbClr val="FFFFFF"/>
                </a:solidFill>
                <a:latin typeface="Aptos" pitchFamily="34" charset="0"/>
                <a:ea typeface="Aptos" pitchFamily="34" charset="-122"/>
                <a:cs typeface="Aptos" pitchFamily="34" charset="-120"/>
              </a:rPr>
              <a:t>Not retained</a:t>
            </a:r>
            <a:endParaRPr lang="en-US" sz="2000" dirty="0"/>
          </a:p>
        </p:txBody>
      </p:sp>
      <p:sp>
        <p:nvSpPr>
          <p:cNvPr id="22" name="Shape 20"/>
          <p:cNvSpPr/>
          <p:nvPr/>
        </p:nvSpPr>
        <p:spPr>
          <a:xfrm>
            <a:off x="3044952" y="2798064"/>
            <a:ext cx="0" cy="3136392"/>
          </a:xfrm>
          <a:prstGeom prst="line">
            <a:avLst/>
          </a:prstGeom>
          <a:noFill/>
          <a:ln w="12700">
            <a:solidFill>
              <a:srgbClr val="C7D6E6"/>
            </a:solidFill>
            <a:prstDash val="solid"/>
          </a:ln>
        </p:spPr>
      </p:sp>
      <p:sp>
        <p:nvSpPr>
          <p:cNvPr id="23" name="Shape 21"/>
          <p:cNvSpPr/>
          <p:nvPr/>
        </p:nvSpPr>
        <p:spPr>
          <a:xfrm>
            <a:off x="4645152" y="2798064"/>
            <a:ext cx="0" cy="3136392"/>
          </a:xfrm>
          <a:prstGeom prst="line">
            <a:avLst/>
          </a:prstGeom>
          <a:noFill/>
          <a:ln w="12700">
            <a:solidFill>
              <a:srgbClr val="C7D6E6"/>
            </a:solidFill>
            <a:prstDash val="solid"/>
          </a:ln>
        </p:spPr>
      </p:sp>
      <p:sp>
        <p:nvSpPr>
          <p:cNvPr id="24" name="Shape 22"/>
          <p:cNvSpPr/>
          <p:nvPr/>
        </p:nvSpPr>
        <p:spPr>
          <a:xfrm>
            <a:off x="411480" y="3300984"/>
            <a:ext cx="6876288" cy="0"/>
          </a:xfrm>
          <a:prstGeom prst="line">
            <a:avLst/>
          </a:prstGeom>
          <a:noFill/>
          <a:ln w="10160">
            <a:solidFill>
              <a:srgbClr val="C7D6E6"/>
            </a:solidFill>
            <a:prstDash val="solid"/>
          </a:ln>
        </p:spPr>
      </p:sp>
      <p:sp>
        <p:nvSpPr>
          <p:cNvPr id="25" name="Text 23"/>
          <p:cNvSpPr/>
          <p:nvPr/>
        </p:nvSpPr>
        <p:spPr>
          <a:xfrm>
            <a:off x="557784" y="3392424"/>
            <a:ext cx="2404872" cy="228600"/>
          </a:xfrm>
          <a:prstGeom prst="rect">
            <a:avLst/>
          </a:prstGeom>
          <a:noFill/>
        </p:spPr>
        <p:txBody>
          <a:bodyPr wrap="square" lIns="0" tIns="0" rIns="0" bIns="0" rtlCol="0" anchor="ctr">
            <a:normAutofit fontScale="80000"/>
          </a:bodyPr>
          <a:lstStyle/>
          <a:p>
            <a:pPr marL="0" indent="0" algn="l">
              <a:buNone/>
            </a:pPr>
            <a:r>
              <a:rPr lang="en-US" sz="1900" b="1" dirty="0">
                <a:solidFill>
                  <a:srgbClr val="06223C"/>
                </a:solidFill>
                <a:latin typeface="Aptos" pitchFamily="34" charset="0"/>
                <a:ea typeface="Aptos" pitchFamily="34" charset="-122"/>
                <a:cs typeface="Aptos" pitchFamily="34" charset="-120"/>
              </a:rPr>
              <a:t>R1 Agent</a:t>
            </a:r>
            <a:endParaRPr lang="en-US" sz="1900" dirty="0"/>
          </a:p>
        </p:txBody>
      </p:sp>
      <p:sp>
        <p:nvSpPr>
          <p:cNvPr id="26" name="Text 24"/>
          <p:cNvSpPr/>
          <p:nvPr/>
        </p:nvSpPr>
        <p:spPr>
          <a:xfrm>
            <a:off x="3044952" y="3392424"/>
            <a:ext cx="1600200" cy="228600"/>
          </a:xfrm>
          <a:prstGeom prst="rect">
            <a:avLst/>
          </a:prstGeom>
          <a:noFill/>
        </p:spPr>
        <p:txBody>
          <a:bodyPr wrap="square" lIns="0" tIns="0" rIns="0" bIns="0" rtlCol="0" anchor="ctr">
            <a:normAutofit fontScale="80000"/>
          </a:bodyPr>
          <a:lstStyle/>
          <a:p>
            <a:pPr marL="0" indent="0" algn="ctr">
              <a:buNone/>
            </a:pPr>
            <a:r>
              <a:rPr lang="en-US" sz="1850" dirty="0">
                <a:solidFill>
                  <a:srgbClr val="06223C"/>
                </a:solidFill>
                <a:latin typeface="Aptos" pitchFamily="34" charset="0"/>
                <a:ea typeface="Aptos" pitchFamily="34" charset="-122"/>
                <a:cs typeface="Aptos" pitchFamily="34" charset="-120"/>
              </a:rPr>
              <a:t>40</a:t>
            </a:r>
            <a:endParaRPr lang="en-US" sz="1850" dirty="0"/>
          </a:p>
        </p:txBody>
      </p:sp>
      <p:sp>
        <p:nvSpPr>
          <p:cNvPr id="27" name="Text 25"/>
          <p:cNvSpPr/>
          <p:nvPr/>
        </p:nvSpPr>
        <p:spPr>
          <a:xfrm>
            <a:off x="4645152" y="3392424"/>
            <a:ext cx="2642616" cy="228600"/>
          </a:xfrm>
          <a:prstGeom prst="rect">
            <a:avLst/>
          </a:prstGeom>
          <a:noFill/>
        </p:spPr>
        <p:txBody>
          <a:bodyPr wrap="square" lIns="0" tIns="0" rIns="0" bIns="0" rtlCol="0" anchor="ctr">
            <a:normAutofit fontScale="80000"/>
          </a:bodyPr>
          <a:lstStyle/>
          <a:p>
            <a:pPr marL="0" indent="0" algn="ctr">
              <a:buNone/>
            </a:pPr>
            <a:r>
              <a:rPr lang="en-US" sz="1850" dirty="0">
                <a:solidFill>
                  <a:srgbClr val="06223C"/>
                </a:solidFill>
                <a:latin typeface="Aptos" pitchFamily="34" charset="0"/>
                <a:ea typeface="Aptos" pitchFamily="34" charset="-122"/>
                <a:cs typeface="Aptos" pitchFamily="34" charset="-120"/>
              </a:rPr>
              <a:t>10</a:t>
            </a:r>
            <a:endParaRPr lang="en-US" sz="1850" dirty="0"/>
          </a:p>
        </p:txBody>
      </p:sp>
      <p:sp>
        <p:nvSpPr>
          <p:cNvPr id="28" name="Shape 26"/>
          <p:cNvSpPr/>
          <p:nvPr/>
        </p:nvSpPr>
        <p:spPr>
          <a:xfrm>
            <a:off x="411480" y="3739896"/>
            <a:ext cx="6876288" cy="438912"/>
          </a:xfrm>
          <a:prstGeom prst="rect">
            <a:avLst/>
          </a:prstGeom>
          <a:solidFill>
            <a:srgbClr val="F4F8FC"/>
          </a:solidFill>
          <a:ln w="12700">
            <a:solidFill>
              <a:srgbClr val="F4F8FC">
                <a:alpha val="0"/>
              </a:srgbClr>
            </a:solidFill>
            <a:prstDash val="solid"/>
          </a:ln>
        </p:spPr>
      </p:sp>
      <p:sp>
        <p:nvSpPr>
          <p:cNvPr id="29" name="Shape 27"/>
          <p:cNvSpPr/>
          <p:nvPr/>
        </p:nvSpPr>
        <p:spPr>
          <a:xfrm>
            <a:off x="411480" y="3739896"/>
            <a:ext cx="6876288" cy="0"/>
          </a:xfrm>
          <a:prstGeom prst="line">
            <a:avLst/>
          </a:prstGeom>
          <a:noFill/>
          <a:ln w="10160">
            <a:solidFill>
              <a:srgbClr val="C7D6E6"/>
            </a:solidFill>
            <a:prstDash val="solid"/>
          </a:ln>
        </p:spPr>
      </p:sp>
      <p:sp>
        <p:nvSpPr>
          <p:cNvPr id="30" name="Text 28"/>
          <p:cNvSpPr/>
          <p:nvPr/>
        </p:nvSpPr>
        <p:spPr>
          <a:xfrm>
            <a:off x="557784" y="3831336"/>
            <a:ext cx="2404872" cy="228600"/>
          </a:xfrm>
          <a:prstGeom prst="rect">
            <a:avLst/>
          </a:prstGeom>
          <a:noFill/>
        </p:spPr>
        <p:txBody>
          <a:bodyPr wrap="square" lIns="0" tIns="0" rIns="0" bIns="0" rtlCol="0" anchor="ctr">
            <a:normAutofit fontScale="80000"/>
          </a:bodyPr>
          <a:lstStyle/>
          <a:p>
            <a:pPr marL="0" indent="0" algn="l">
              <a:buNone/>
            </a:pPr>
            <a:r>
              <a:rPr lang="en-US" sz="1900" b="1" dirty="0">
                <a:solidFill>
                  <a:srgbClr val="06223C"/>
                </a:solidFill>
                <a:latin typeface="Aptos" pitchFamily="34" charset="0"/>
                <a:ea typeface="Aptos" pitchFamily="34" charset="-122"/>
                <a:cs typeface="Aptos" pitchFamily="34" charset="-120"/>
              </a:rPr>
              <a:t>R1 Task</a:t>
            </a:r>
            <a:endParaRPr lang="en-US" sz="1900" dirty="0"/>
          </a:p>
        </p:txBody>
      </p:sp>
      <p:sp>
        <p:nvSpPr>
          <p:cNvPr id="31" name="Text 29"/>
          <p:cNvSpPr/>
          <p:nvPr/>
        </p:nvSpPr>
        <p:spPr>
          <a:xfrm>
            <a:off x="3044952" y="3831336"/>
            <a:ext cx="1600200" cy="228600"/>
          </a:xfrm>
          <a:prstGeom prst="rect">
            <a:avLst/>
          </a:prstGeom>
          <a:noFill/>
        </p:spPr>
        <p:txBody>
          <a:bodyPr wrap="square" lIns="0" tIns="0" rIns="0" bIns="0" rtlCol="0" anchor="ctr">
            <a:normAutofit fontScale="80000"/>
          </a:bodyPr>
          <a:lstStyle/>
          <a:p>
            <a:pPr marL="0" indent="0" algn="ctr">
              <a:buNone/>
            </a:pPr>
            <a:r>
              <a:rPr lang="en-US" sz="1850" dirty="0">
                <a:solidFill>
                  <a:srgbClr val="06223C"/>
                </a:solidFill>
                <a:latin typeface="Aptos" pitchFamily="34" charset="0"/>
                <a:ea typeface="Aptos" pitchFamily="34" charset="-122"/>
                <a:cs typeface="Aptos" pitchFamily="34" charset="-120"/>
              </a:rPr>
              <a:t>47</a:t>
            </a:r>
            <a:endParaRPr lang="en-US" sz="1850" dirty="0"/>
          </a:p>
        </p:txBody>
      </p:sp>
      <p:sp>
        <p:nvSpPr>
          <p:cNvPr id="32" name="Text 30"/>
          <p:cNvSpPr/>
          <p:nvPr/>
        </p:nvSpPr>
        <p:spPr>
          <a:xfrm>
            <a:off x="4645152" y="3831336"/>
            <a:ext cx="2642616" cy="228600"/>
          </a:xfrm>
          <a:prstGeom prst="rect">
            <a:avLst/>
          </a:prstGeom>
          <a:noFill/>
        </p:spPr>
        <p:txBody>
          <a:bodyPr wrap="square" lIns="0" tIns="0" rIns="0" bIns="0" rtlCol="0" anchor="ctr">
            <a:normAutofit fontScale="80000"/>
          </a:bodyPr>
          <a:lstStyle/>
          <a:p>
            <a:pPr marL="0" indent="0" algn="ctr">
              <a:buNone/>
            </a:pPr>
            <a:r>
              <a:rPr lang="en-US" sz="1850" dirty="0">
                <a:solidFill>
                  <a:srgbClr val="06223C"/>
                </a:solidFill>
                <a:latin typeface="Aptos" pitchFamily="34" charset="0"/>
                <a:ea typeface="Aptos" pitchFamily="34" charset="-122"/>
                <a:cs typeface="Aptos" pitchFamily="34" charset="-120"/>
              </a:rPr>
              <a:t>3</a:t>
            </a:r>
            <a:endParaRPr lang="en-US" sz="1850" dirty="0"/>
          </a:p>
        </p:txBody>
      </p:sp>
      <p:sp>
        <p:nvSpPr>
          <p:cNvPr id="33" name="Shape 31"/>
          <p:cNvSpPr/>
          <p:nvPr/>
        </p:nvSpPr>
        <p:spPr>
          <a:xfrm>
            <a:off x="411480" y="4178808"/>
            <a:ext cx="6876288" cy="0"/>
          </a:xfrm>
          <a:prstGeom prst="line">
            <a:avLst/>
          </a:prstGeom>
          <a:noFill/>
          <a:ln w="10160">
            <a:solidFill>
              <a:srgbClr val="C7D6E6"/>
            </a:solidFill>
            <a:prstDash val="solid"/>
          </a:ln>
        </p:spPr>
      </p:sp>
      <p:sp>
        <p:nvSpPr>
          <p:cNvPr id="34" name="Text 32"/>
          <p:cNvSpPr/>
          <p:nvPr/>
        </p:nvSpPr>
        <p:spPr>
          <a:xfrm>
            <a:off x="557784" y="4270248"/>
            <a:ext cx="2404872" cy="228600"/>
          </a:xfrm>
          <a:prstGeom prst="rect">
            <a:avLst/>
          </a:prstGeom>
          <a:noFill/>
        </p:spPr>
        <p:txBody>
          <a:bodyPr wrap="square" lIns="0" tIns="0" rIns="0" bIns="0" rtlCol="0" anchor="ctr">
            <a:normAutofit fontScale="80000"/>
          </a:bodyPr>
          <a:lstStyle/>
          <a:p>
            <a:pPr marL="0" indent="0" algn="l">
              <a:buNone/>
            </a:pPr>
            <a:r>
              <a:rPr lang="en-US" sz="1900" b="1" dirty="0">
                <a:solidFill>
                  <a:srgbClr val="06223C"/>
                </a:solidFill>
                <a:latin typeface="Aptos" pitchFamily="34" charset="0"/>
                <a:ea typeface="Aptos" pitchFamily="34" charset="-122"/>
                <a:cs typeface="Aptos" pitchFamily="34" charset="-120"/>
              </a:rPr>
              <a:t>R1 RPP</a:t>
            </a:r>
            <a:endParaRPr lang="en-US" sz="1900" dirty="0"/>
          </a:p>
        </p:txBody>
      </p:sp>
      <p:sp>
        <p:nvSpPr>
          <p:cNvPr id="35" name="Text 33"/>
          <p:cNvSpPr/>
          <p:nvPr/>
        </p:nvSpPr>
        <p:spPr>
          <a:xfrm>
            <a:off x="3044952" y="4270248"/>
            <a:ext cx="1600200" cy="228600"/>
          </a:xfrm>
          <a:prstGeom prst="rect">
            <a:avLst/>
          </a:prstGeom>
          <a:noFill/>
        </p:spPr>
        <p:txBody>
          <a:bodyPr wrap="square" lIns="0" tIns="0" rIns="0" bIns="0" rtlCol="0" anchor="ctr">
            <a:normAutofit fontScale="80000"/>
          </a:bodyPr>
          <a:lstStyle/>
          <a:p>
            <a:pPr marL="0" indent="0" algn="ctr">
              <a:buNone/>
            </a:pPr>
            <a:r>
              <a:rPr lang="en-US" sz="1850" dirty="0">
                <a:solidFill>
                  <a:srgbClr val="06223C"/>
                </a:solidFill>
                <a:latin typeface="Aptos" pitchFamily="34" charset="0"/>
                <a:ea typeface="Aptos" pitchFamily="34" charset="-122"/>
                <a:cs typeface="Aptos" pitchFamily="34" charset="-120"/>
              </a:rPr>
              <a:t>42</a:t>
            </a:r>
            <a:endParaRPr lang="en-US" sz="1850" dirty="0"/>
          </a:p>
        </p:txBody>
      </p:sp>
      <p:sp>
        <p:nvSpPr>
          <p:cNvPr id="36" name="Text 34"/>
          <p:cNvSpPr/>
          <p:nvPr/>
        </p:nvSpPr>
        <p:spPr>
          <a:xfrm>
            <a:off x="4645152" y="4270248"/>
            <a:ext cx="2642616" cy="228600"/>
          </a:xfrm>
          <a:prstGeom prst="rect">
            <a:avLst/>
          </a:prstGeom>
          <a:noFill/>
        </p:spPr>
        <p:txBody>
          <a:bodyPr wrap="square" lIns="0" tIns="0" rIns="0" bIns="0" rtlCol="0" anchor="ctr">
            <a:normAutofit fontScale="80000"/>
          </a:bodyPr>
          <a:lstStyle/>
          <a:p>
            <a:pPr marL="0" indent="0" algn="ctr">
              <a:buNone/>
            </a:pPr>
            <a:r>
              <a:rPr lang="en-US" sz="1850" dirty="0">
                <a:solidFill>
                  <a:srgbClr val="06223C"/>
                </a:solidFill>
                <a:latin typeface="Aptos" pitchFamily="34" charset="0"/>
                <a:ea typeface="Aptos" pitchFamily="34" charset="-122"/>
                <a:cs typeface="Aptos" pitchFamily="34" charset="-120"/>
              </a:rPr>
              <a:t>8</a:t>
            </a:r>
            <a:endParaRPr lang="en-US" sz="1850" dirty="0"/>
          </a:p>
        </p:txBody>
      </p:sp>
      <p:sp>
        <p:nvSpPr>
          <p:cNvPr id="37" name="Shape 35"/>
          <p:cNvSpPr/>
          <p:nvPr/>
        </p:nvSpPr>
        <p:spPr>
          <a:xfrm>
            <a:off x="411480" y="4617720"/>
            <a:ext cx="6876288" cy="438912"/>
          </a:xfrm>
          <a:prstGeom prst="rect">
            <a:avLst/>
          </a:prstGeom>
          <a:solidFill>
            <a:srgbClr val="F4F8FC"/>
          </a:solidFill>
          <a:ln w="12700">
            <a:solidFill>
              <a:srgbClr val="F4F8FC">
                <a:alpha val="0"/>
              </a:srgbClr>
            </a:solidFill>
            <a:prstDash val="solid"/>
          </a:ln>
        </p:spPr>
      </p:sp>
      <p:sp>
        <p:nvSpPr>
          <p:cNvPr id="38" name="Shape 36"/>
          <p:cNvSpPr/>
          <p:nvPr/>
        </p:nvSpPr>
        <p:spPr>
          <a:xfrm>
            <a:off x="411480" y="4617720"/>
            <a:ext cx="6876288" cy="0"/>
          </a:xfrm>
          <a:prstGeom prst="line">
            <a:avLst/>
          </a:prstGeom>
          <a:noFill/>
          <a:ln w="10160">
            <a:solidFill>
              <a:srgbClr val="C7D6E6"/>
            </a:solidFill>
            <a:prstDash val="solid"/>
          </a:ln>
        </p:spPr>
      </p:sp>
      <p:sp>
        <p:nvSpPr>
          <p:cNvPr id="39" name="Text 37"/>
          <p:cNvSpPr/>
          <p:nvPr/>
        </p:nvSpPr>
        <p:spPr>
          <a:xfrm>
            <a:off x="557784" y="4709160"/>
            <a:ext cx="2404872" cy="228600"/>
          </a:xfrm>
          <a:prstGeom prst="rect">
            <a:avLst/>
          </a:prstGeom>
          <a:noFill/>
        </p:spPr>
        <p:txBody>
          <a:bodyPr wrap="square" lIns="0" tIns="0" rIns="0" bIns="0" rtlCol="0" anchor="ctr">
            <a:normAutofit fontScale="80000"/>
          </a:bodyPr>
          <a:lstStyle/>
          <a:p>
            <a:pPr marL="0" indent="0" algn="l">
              <a:buNone/>
            </a:pPr>
            <a:r>
              <a:rPr lang="en-US" sz="1900" b="1" dirty="0">
                <a:solidFill>
                  <a:srgbClr val="06223C"/>
                </a:solidFill>
                <a:latin typeface="Aptos" pitchFamily="34" charset="0"/>
                <a:ea typeface="Aptos" pitchFamily="34" charset="-122"/>
                <a:cs typeface="Aptos" pitchFamily="34" charset="-120"/>
              </a:rPr>
              <a:t>R2 Agent</a:t>
            </a:r>
            <a:endParaRPr lang="en-US" sz="1900" dirty="0"/>
          </a:p>
        </p:txBody>
      </p:sp>
      <p:sp>
        <p:nvSpPr>
          <p:cNvPr id="40" name="Text 38"/>
          <p:cNvSpPr/>
          <p:nvPr/>
        </p:nvSpPr>
        <p:spPr>
          <a:xfrm>
            <a:off x="3044952" y="4709160"/>
            <a:ext cx="1600200" cy="228600"/>
          </a:xfrm>
          <a:prstGeom prst="rect">
            <a:avLst/>
          </a:prstGeom>
          <a:noFill/>
        </p:spPr>
        <p:txBody>
          <a:bodyPr wrap="square" lIns="0" tIns="0" rIns="0" bIns="0" rtlCol="0" anchor="ctr">
            <a:normAutofit fontScale="80000"/>
          </a:bodyPr>
          <a:lstStyle/>
          <a:p>
            <a:pPr marL="0" indent="0" algn="ctr">
              <a:buNone/>
            </a:pPr>
            <a:r>
              <a:rPr lang="en-US" sz="1850" dirty="0">
                <a:solidFill>
                  <a:srgbClr val="06223C"/>
                </a:solidFill>
                <a:latin typeface="Aptos" pitchFamily="34" charset="0"/>
                <a:ea typeface="Aptos" pitchFamily="34" charset="-122"/>
                <a:cs typeface="Aptos" pitchFamily="34" charset="-120"/>
              </a:rPr>
              <a:t>42</a:t>
            </a:r>
            <a:endParaRPr lang="en-US" sz="1850" dirty="0"/>
          </a:p>
        </p:txBody>
      </p:sp>
      <p:sp>
        <p:nvSpPr>
          <p:cNvPr id="41" name="Text 39"/>
          <p:cNvSpPr/>
          <p:nvPr/>
        </p:nvSpPr>
        <p:spPr>
          <a:xfrm>
            <a:off x="4645152" y="4709160"/>
            <a:ext cx="2642616" cy="228600"/>
          </a:xfrm>
          <a:prstGeom prst="rect">
            <a:avLst/>
          </a:prstGeom>
          <a:noFill/>
        </p:spPr>
        <p:txBody>
          <a:bodyPr wrap="square" lIns="0" tIns="0" rIns="0" bIns="0" rtlCol="0" anchor="ctr">
            <a:normAutofit fontScale="80000"/>
          </a:bodyPr>
          <a:lstStyle/>
          <a:p>
            <a:pPr marL="0" indent="0" algn="ctr">
              <a:buNone/>
            </a:pPr>
            <a:r>
              <a:rPr lang="en-US" sz="1850" dirty="0">
                <a:solidFill>
                  <a:srgbClr val="06223C"/>
                </a:solidFill>
                <a:latin typeface="Aptos" pitchFamily="34" charset="0"/>
                <a:ea typeface="Aptos" pitchFamily="34" charset="-122"/>
                <a:cs typeface="Aptos" pitchFamily="34" charset="-120"/>
              </a:rPr>
              <a:t>8</a:t>
            </a:r>
            <a:endParaRPr lang="en-US" sz="1850" dirty="0"/>
          </a:p>
        </p:txBody>
      </p:sp>
      <p:sp>
        <p:nvSpPr>
          <p:cNvPr id="42" name="Shape 40"/>
          <p:cNvSpPr/>
          <p:nvPr/>
        </p:nvSpPr>
        <p:spPr>
          <a:xfrm>
            <a:off x="411480" y="5056632"/>
            <a:ext cx="6876288" cy="0"/>
          </a:xfrm>
          <a:prstGeom prst="line">
            <a:avLst/>
          </a:prstGeom>
          <a:noFill/>
          <a:ln w="10160">
            <a:solidFill>
              <a:srgbClr val="C7D6E6"/>
            </a:solidFill>
            <a:prstDash val="solid"/>
          </a:ln>
        </p:spPr>
      </p:sp>
      <p:sp>
        <p:nvSpPr>
          <p:cNvPr id="43" name="Text 41"/>
          <p:cNvSpPr/>
          <p:nvPr/>
        </p:nvSpPr>
        <p:spPr>
          <a:xfrm>
            <a:off x="557784" y="5148072"/>
            <a:ext cx="2404872" cy="228600"/>
          </a:xfrm>
          <a:prstGeom prst="rect">
            <a:avLst/>
          </a:prstGeom>
          <a:noFill/>
        </p:spPr>
        <p:txBody>
          <a:bodyPr wrap="square" lIns="0" tIns="0" rIns="0" bIns="0" rtlCol="0" anchor="ctr">
            <a:normAutofit fontScale="80000"/>
          </a:bodyPr>
          <a:lstStyle/>
          <a:p>
            <a:pPr marL="0" indent="0" algn="l">
              <a:buNone/>
            </a:pPr>
            <a:r>
              <a:rPr lang="en-US" sz="1900" b="1" dirty="0">
                <a:solidFill>
                  <a:srgbClr val="06223C"/>
                </a:solidFill>
                <a:latin typeface="Aptos" pitchFamily="34" charset="0"/>
                <a:ea typeface="Aptos" pitchFamily="34" charset="-122"/>
                <a:cs typeface="Aptos" pitchFamily="34" charset="-120"/>
              </a:rPr>
              <a:t>R2 Task</a:t>
            </a:r>
            <a:endParaRPr lang="en-US" sz="1900" dirty="0"/>
          </a:p>
        </p:txBody>
      </p:sp>
      <p:sp>
        <p:nvSpPr>
          <p:cNvPr id="44" name="Text 42"/>
          <p:cNvSpPr/>
          <p:nvPr/>
        </p:nvSpPr>
        <p:spPr>
          <a:xfrm>
            <a:off x="3044952" y="5148072"/>
            <a:ext cx="1600200" cy="228600"/>
          </a:xfrm>
          <a:prstGeom prst="rect">
            <a:avLst/>
          </a:prstGeom>
          <a:noFill/>
        </p:spPr>
        <p:txBody>
          <a:bodyPr wrap="square" lIns="0" tIns="0" rIns="0" bIns="0" rtlCol="0" anchor="ctr">
            <a:normAutofit fontScale="80000"/>
          </a:bodyPr>
          <a:lstStyle/>
          <a:p>
            <a:pPr marL="0" indent="0" algn="ctr">
              <a:buNone/>
            </a:pPr>
            <a:r>
              <a:rPr lang="en-US" sz="1850" dirty="0">
                <a:solidFill>
                  <a:srgbClr val="06223C"/>
                </a:solidFill>
                <a:latin typeface="Aptos" pitchFamily="34" charset="0"/>
                <a:ea typeface="Aptos" pitchFamily="34" charset="-122"/>
                <a:cs typeface="Aptos" pitchFamily="34" charset="-120"/>
              </a:rPr>
              <a:t>42</a:t>
            </a:r>
            <a:endParaRPr lang="en-US" sz="1850" dirty="0"/>
          </a:p>
        </p:txBody>
      </p:sp>
      <p:sp>
        <p:nvSpPr>
          <p:cNvPr id="45" name="Text 43"/>
          <p:cNvSpPr/>
          <p:nvPr/>
        </p:nvSpPr>
        <p:spPr>
          <a:xfrm>
            <a:off x="4645152" y="5148072"/>
            <a:ext cx="2642616" cy="228600"/>
          </a:xfrm>
          <a:prstGeom prst="rect">
            <a:avLst/>
          </a:prstGeom>
          <a:noFill/>
        </p:spPr>
        <p:txBody>
          <a:bodyPr wrap="square" lIns="0" tIns="0" rIns="0" bIns="0" rtlCol="0" anchor="ctr">
            <a:normAutofit fontScale="80000"/>
          </a:bodyPr>
          <a:lstStyle/>
          <a:p>
            <a:pPr marL="0" indent="0" algn="ctr">
              <a:buNone/>
            </a:pPr>
            <a:r>
              <a:rPr lang="en-US" sz="1850" dirty="0">
                <a:solidFill>
                  <a:srgbClr val="06223C"/>
                </a:solidFill>
                <a:latin typeface="Aptos" pitchFamily="34" charset="0"/>
                <a:ea typeface="Aptos" pitchFamily="34" charset="-122"/>
                <a:cs typeface="Aptos" pitchFamily="34" charset="-120"/>
              </a:rPr>
              <a:t>8</a:t>
            </a:r>
            <a:endParaRPr lang="en-US" sz="1850" dirty="0"/>
          </a:p>
        </p:txBody>
      </p:sp>
      <p:sp>
        <p:nvSpPr>
          <p:cNvPr id="46" name="Shape 44"/>
          <p:cNvSpPr/>
          <p:nvPr/>
        </p:nvSpPr>
        <p:spPr>
          <a:xfrm>
            <a:off x="411480" y="5495544"/>
            <a:ext cx="6876288" cy="438912"/>
          </a:xfrm>
          <a:prstGeom prst="rect">
            <a:avLst/>
          </a:prstGeom>
          <a:solidFill>
            <a:srgbClr val="F4F8FC"/>
          </a:solidFill>
          <a:ln w="12700">
            <a:solidFill>
              <a:srgbClr val="F4F8FC">
                <a:alpha val="0"/>
              </a:srgbClr>
            </a:solidFill>
            <a:prstDash val="solid"/>
          </a:ln>
        </p:spPr>
      </p:sp>
      <p:sp>
        <p:nvSpPr>
          <p:cNvPr id="47" name="Shape 45"/>
          <p:cNvSpPr/>
          <p:nvPr/>
        </p:nvSpPr>
        <p:spPr>
          <a:xfrm>
            <a:off x="411480" y="5495544"/>
            <a:ext cx="6876288" cy="0"/>
          </a:xfrm>
          <a:prstGeom prst="line">
            <a:avLst/>
          </a:prstGeom>
          <a:noFill/>
          <a:ln w="10160">
            <a:solidFill>
              <a:srgbClr val="C7D6E6"/>
            </a:solidFill>
            <a:prstDash val="solid"/>
          </a:ln>
        </p:spPr>
      </p:sp>
      <p:sp>
        <p:nvSpPr>
          <p:cNvPr id="48" name="Text 46"/>
          <p:cNvSpPr/>
          <p:nvPr/>
        </p:nvSpPr>
        <p:spPr>
          <a:xfrm>
            <a:off x="557784" y="5586984"/>
            <a:ext cx="2404872" cy="228600"/>
          </a:xfrm>
          <a:prstGeom prst="rect">
            <a:avLst/>
          </a:prstGeom>
          <a:noFill/>
        </p:spPr>
        <p:txBody>
          <a:bodyPr wrap="square" lIns="0" tIns="0" rIns="0" bIns="0" rtlCol="0" anchor="ctr">
            <a:normAutofit fontScale="80000"/>
          </a:bodyPr>
          <a:lstStyle/>
          <a:p>
            <a:pPr marL="0" indent="0" algn="l">
              <a:buNone/>
            </a:pPr>
            <a:r>
              <a:rPr lang="en-US" sz="1900" b="1" dirty="0">
                <a:solidFill>
                  <a:srgbClr val="06223C"/>
                </a:solidFill>
                <a:latin typeface="Aptos" pitchFamily="34" charset="0"/>
                <a:ea typeface="Aptos" pitchFamily="34" charset="-122"/>
                <a:cs typeface="Aptos" pitchFamily="34" charset="-120"/>
              </a:rPr>
              <a:t>R2 RPP</a:t>
            </a:r>
            <a:endParaRPr lang="en-US" sz="1900" dirty="0"/>
          </a:p>
        </p:txBody>
      </p:sp>
      <p:sp>
        <p:nvSpPr>
          <p:cNvPr id="49" name="Text 47"/>
          <p:cNvSpPr/>
          <p:nvPr/>
        </p:nvSpPr>
        <p:spPr>
          <a:xfrm>
            <a:off x="3044952" y="5586984"/>
            <a:ext cx="1600200" cy="228600"/>
          </a:xfrm>
          <a:prstGeom prst="rect">
            <a:avLst/>
          </a:prstGeom>
          <a:noFill/>
        </p:spPr>
        <p:txBody>
          <a:bodyPr wrap="square" lIns="0" tIns="0" rIns="0" bIns="0" rtlCol="0" anchor="ctr">
            <a:normAutofit fontScale="80000"/>
          </a:bodyPr>
          <a:lstStyle/>
          <a:p>
            <a:pPr marL="0" indent="0" algn="ctr">
              <a:buNone/>
            </a:pPr>
            <a:r>
              <a:rPr lang="en-US" sz="1850" dirty="0">
                <a:solidFill>
                  <a:srgbClr val="06223C"/>
                </a:solidFill>
                <a:latin typeface="Aptos" pitchFamily="34" charset="0"/>
                <a:ea typeface="Aptos" pitchFamily="34" charset="-122"/>
                <a:cs typeface="Aptos" pitchFamily="34" charset="-120"/>
              </a:rPr>
              <a:t>39</a:t>
            </a:r>
            <a:endParaRPr lang="en-US" sz="1850" dirty="0"/>
          </a:p>
        </p:txBody>
      </p:sp>
      <p:sp>
        <p:nvSpPr>
          <p:cNvPr id="50" name="Text 48"/>
          <p:cNvSpPr/>
          <p:nvPr/>
        </p:nvSpPr>
        <p:spPr>
          <a:xfrm>
            <a:off x="4645152" y="5586984"/>
            <a:ext cx="2642616" cy="228600"/>
          </a:xfrm>
          <a:prstGeom prst="rect">
            <a:avLst/>
          </a:prstGeom>
          <a:noFill/>
        </p:spPr>
        <p:txBody>
          <a:bodyPr wrap="square" lIns="0" tIns="0" rIns="0" bIns="0" rtlCol="0" anchor="ctr">
            <a:normAutofit fontScale="80000"/>
          </a:bodyPr>
          <a:lstStyle/>
          <a:p>
            <a:pPr marL="0" indent="0" algn="ctr">
              <a:buNone/>
            </a:pPr>
            <a:r>
              <a:rPr lang="en-US" sz="1850" dirty="0">
                <a:solidFill>
                  <a:srgbClr val="06223C"/>
                </a:solidFill>
                <a:latin typeface="Aptos" pitchFamily="34" charset="0"/>
                <a:ea typeface="Aptos" pitchFamily="34" charset="-122"/>
                <a:cs typeface="Aptos" pitchFamily="34" charset="-120"/>
              </a:rPr>
              <a:t>11</a:t>
            </a:r>
            <a:endParaRPr lang="en-US" sz="1850" dirty="0"/>
          </a:p>
        </p:txBody>
      </p:sp>
      <p:sp>
        <p:nvSpPr>
          <p:cNvPr id="51" name="Shape 49"/>
          <p:cNvSpPr/>
          <p:nvPr/>
        </p:nvSpPr>
        <p:spPr>
          <a:xfrm>
            <a:off x="411480" y="5934456"/>
            <a:ext cx="6876288" cy="0"/>
          </a:xfrm>
          <a:prstGeom prst="line">
            <a:avLst/>
          </a:prstGeom>
          <a:noFill/>
          <a:ln w="11430">
            <a:solidFill>
              <a:srgbClr val="C7D6E6"/>
            </a:solidFill>
            <a:prstDash val="solid"/>
          </a:ln>
        </p:spPr>
      </p:sp>
      <p:sp>
        <p:nvSpPr>
          <p:cNvPr id="52" name="Shape 50"/>
          <p:cNvSpPr/>
          <p:nvPr/>
        </p:nvSpPr>
        <p:spPr>
          <a:xfrm>
            <a:off x="7571232" y="2798064"/>
            <a:ext cx="4178808" cy="1664208"/>
          </a:xfrm>
          <a:prstGeom prst="roundRect">
            <a:avLst>
              <a:gd name="adj" fmla="val 6593"/>
            </a:avLst>
          </a:prstGeom>
          <a:solidFill>
            <a:srgbClr val="FFF8EB"/>
          </a:solidFill>
          <a:ln w="14605">
            <a:solidFill>
              <a:srgbClr val="F4A64F"/>
            </a:solidFill>
            <a:prstDash val="solid"/>
          </a:ln>
        </p:spPr>
      </p:sp>
      <p:sp>
        <p:nvSpPr>
          <p:cNvPr id="53" name="Shape 51"/>
          <p:cNvSpPr/>
          <p:nvPr/>
        </p:nvSpPr>
        <p:spPr>
          <a:xfrm>
            <a:off x="7827264" y="3072384"/>
            <a:ext cx="402336" cy="402336"/>
          </a:xfrm>
          <a:prstGeom prst="ellipse">
            <a:avLst/>
          </a:prstGeom>
          <a:solidFill>
            <a:srgbClr val="F58A00"/>
          </a:solidFill>
          <a:ln w="12700">
            <a:solidFill>
              <a:srgbClr val="F58A00"/>
            </a:solidFill>
            <a:prstDash val="solid"/>
          </a:ln>
        </p:spPr>
      </p:sp>
      <p:sp>
        <p:nvSpPr>
          <p:cNvPr id="54" name="Text 52"/>
          <p:cNvSpPr/>
          <p:nvPr/>
        </p:nvSpPr>
        <p:spPr>
          <a:xfrm>
            <a:off x="7827264" y="3108960"/>
            <a:ext cx="402336" cy="274320"/>
          </a:xfrm>
          <a:prstGeom prst="rect">
            <a:avLst/>
          </a:prstGeom>
          <a:noFill/>
        </p:spPr>
        <p:txBody>
          <a:bodyPr wrap="square" lIns="0" tIns="0" rIns="0" bIns="0" rtlCol="0" anchor="ctr">
            <a:normAutofit fontScale="90000"/>
          </a:bodyPr>
          <a:lstStyle/>
          <a:p>
            <a:pPr marL="0" indent="0" algn="ctr">
              <a:buNone/>
            </a:pPr>
            <a:r>
              <a:rPr lang="en-US" sz="2000" b="1" dirty="0">
                <a:solidFill>
                  <a:srgbClr val="FFFFFF"/>
                </a:solidFill>
                <a:latin typeface="Aptos" pitchFamily="34" charset="0"/>
                <a:ea typeface="Aptos" pitchFamily="34" charset="-122"/>
                <a:cs typeface="Aptos" pitchFamily="34" charset="-120"/>
              </a:rPr>
              <a:t>!</a:t>
            </a:r>
            <a:endParaRPr lang="en-US" sz="2000" dirty="0"/>
          </a:p>
        </p:txBody>
      </p:sp>
      <p:sp>
        <p:nvSpPr>
          <p:cNvPr id="55" name="Text 53"/>
          <p:cNvSpPr/>
          <p:nvPr/>
        </p:nvSpPr>
        <p:spPr>
          <a:xfrm>
            <a:off x="8348472" y="3136392"/>
            <a:ext cx="3172968" cy="228600"/>
          </a:xfrm>
          <a:prstGeom prst="rect">
            <a:avLst/>
          </a:prstGeom>
          <a:noFill/>
        </p:spPr>
        <p:txBody>
          <a:bodyPr wrap="square" lIns="0" tIns="0" rIns="0" bIns="0" rtlCol="0" anchor="ctr">
            <a:normAutofit fontScale="80000"/>
          </a:bodyPr>
          <a:lstStyle/>
          <a:p>
            <a:pPr marL="0" indent="0" algn="l">
              <a:buNone/>
            </a:pPr>
            <a:r>
              <a:rPr lang="en-US" sz="1850" b="1" dirty="0">
                <a:solidFill>
                  <a:srgbClr val="F58A00"/>
                </a:solidFill>
                <a:latin typeface="Aptos" pitchFamily="34" charset="0"/>
                <a:ea typeface="Aptos" pitchFamily="34" charset="-122"/>
                <a:cs typeface="Aptos" pitchFamily="34" charset="-120"/>
              </a:rPr>
              <a:t>TYPICAL FAILURE CATEGORIES</a:t>
            </a:r>
            <a:endParaRPr lang="en-US" sz="1850" dirty="0"/>
          </a:p>
        </p:txBody>
      </p:sp>
      <p:sp>
        <p:nvSpPr>
          <p:cNvPr id="56" name="Shape 54"/>
          <p:cNvSpPr/>
          <p:nvPr/>
        </p:nvSpPr>
        <p:spPr>
          <a:xfrm>
            <a:off x="7827264" y="3602736"/>
            <a:ext cx="3666744" cy="0"/>
          </a:xfrm>
          <a:prstGeom prst="line">
            <a:avLst/>
          </a:prstGeom>
          <a:noFill/>
          <a:ln w="12700">
            <a:solidFill>
              <a:srgbClr val="F58A00">
                <a:alpha val="75000"/>
              </a:srgbClr>
            </a:solidFill>
            <a:prstDash val="solid"/>
          </a:ln>
        </p:spPr>
      </p:sp>
      <p:sp>
        <p:nvSpPr>
          <p:cNvPr id="57" name="Text 55"/>
          <p:cNvSpPr/>
          <p:nvPr/>
        </p:nvSpPr>
        <p:spPr>
          <a:xfrm>
            <a:off x="8028432" y="3803904"/>
            <a:ext cx="3355848" cy="274320"/>
          </a:xfrm>
          <a:prstGeom prst="rect">
            <a:avLst/>
          </a:prstGeom>
          <a:noFill/>
        </p:spPr>
        <p:txBody>
          <a:bodyPr wrap="square" lIns="0" tIns="0" rIns="0" bIns="0" rtlCol="0" anchor="ctr">
            <a:normAutofit fontScale="90000"/>
          </a:bodyPr>
          <a:lstStyle/>
          <a:p>
            <a:pPr marL="0" indent="0" algn="l">
              <a:buNone/>
            </a:pPr>
            <a:r>
              <a:rPr lang="en-US" sz="1950" dirty="0">
                <a:solidFill>
                  <a:srgbClr val="06223C"/>
                </a:solidFill>
                <a:latin typeface="Aptos" pitchFamily="34" charset="0"/>
                <a:ea typeface="Aptos" pitchFamily="34" charset="-122"/>
                <a:cs typeface="Aptos" pitchFamily="34" charset="-120"/>
              </a:rPr>
              <a:t>•  runtime timeout / API token</a:t>
            </a:r>
            <a:endParaRPr lang="en-US" sz="1950" dirty="0"/>
          </a:p>
        </p:txBody>
      </p:sp>
      <p:sp>
        <p:nvSpPr>
          <p:cNvPr id="60"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b="1" dirty="0">
                <a:solidFill>
                  <a:srgbClr val="64748B"/>
                </a:solidFill>
                <a:latin typeface="Aptos" pitchFamily="34" charset="0"/>
                <a:ea typeface="Aptos" pitchFamily="34" charset="-122"/>
                <a:cs typeface="Aptos" pitchFamily="34" charset="-120"/>
              </a:rPr>
              <a:t>38</a:t>
            </a:r>
            <a:endParaRPr lang="en-US" altLang="vi-VN"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2900" y="190500"/>
            <a:ext cx="2286000" cy="190500"/>
          </a:xfrm>
          <a:prstGeom prst="rect">
            <a:avLst/>
          </a:prstGeom>
          <a:noFill/>
        </p:spPr>
        <p:txBody>
          <a:bodyPr wrap="square" lIns="0" tIns="0" rIns="0" bIns="0" rtlCol="0" anchor="ctr"/>
          <a:lstStyle/>
          <a:p>
            <a:pPr marL="0" indent="0">
              <a:buNone/>
            </a:pPr>
            <a:r>
              <a:rPr lang="en-US" sz="915" b="1" dirty="0">
                <a:solidFill>
                  <a:srgbClr val="0B6BEA"/>
                </a:solidFill>
                <a:latin typeface="Arial" panose="020B0704020202020204" pitchFamily="34" charset="0"/>
                <a:ea typeface="Arial" panose="020B0704020202020204" pitchFamily="34" charset="-122"/>
                <a:cs typeface="Arial" panose="020B0704020202020204" pitchFamily="34" charset="-120"/>
              </a:rPr>
              <a:t>EVOLUTION ANALYSIS</a:t>
            </a:r>
            <a:endParaRPr lang="en-US" sz="915" dirty="0"/>
          </a:p>
        </p:txBody>
      </p:sp>
      <p:sp>
        <p:nvSpPr>
          <p:cNvPr id="3" name="Text 1"/>
          <p:cNvSpPr/>
          <p:nvPr/>
        </p:nvSpPr>
        <p:spPr>
          <a:xfrm>
            <a:off x="342900" y="533400"/>
            <a:ext cx="8001000" cy="419100"/>
          </a:xfrm>
          <a:prstGeom prst="rect">
            <a:avLst/>
          </a:prstGeom>
          <a:noFill/>
        </p:spPr>
        <p:txBody>
          <a:bodyPr wrap="square" lIns="0" tIns="0" rIns="0" bIns="0" rtlCol="0" anchor="ctr"/>
          <a:lstStyle/>
          <a:p>
            <a:pPr marL="0" indent="0">
              <a:buNone/>
            </a:pPr>
            <a:r>
              <a:rPr lang="en-US" sz="3000" b="1" dirty="0">
                <a:solidFill>
                  <a:srgbClr val="062B49"/>
                </a:solidFill>
                <a:latin typeface="Arial" panose="020B0704020202020204" pitchFamily="34" charset="0"/>
                <a:ea typeface="Arial" panose="020B0704020202020204" pitchFamily="34" charset="-122"/>
                <a:cs typeface="Arial" panose="020B0704020202020204" pitchFamily="34" charset="-120"/>
              </a:rPr>
              <a:t>Rating Policy Evolution</a:t>
            </a:r>
            <a:endParaRPr lang="en-US" sz="3000" dirty="0"/>
          </a:p>
        </p:txBody>
      </p:sp>
      <p:sp>
        <p:nvSpPr>
          <p:cNvPr id="4" name="Shape 2"/>
          <p:cNvSpPr/>
          <p:nvPr/>
        </p:nvSpPr>
        <p:spPr>
          <a:xfrm>
            <a:off x="342900" y="1066800"/>
            <a:ext cx="11506200" cy="0"/>
          </a:xfrm>
          <a:prstGeom prst="line">
            <a:avLst/>
          </a:prstGeom>
          <a:noFill/>
          <a:ln w="15240">
            <a:solidFill>
              <a:srgbClr val="BFD4E6"/>
            </a:solidFill>
            <a:prstDash val="solid"/>
          </a:ln>
        </p:spPr>
        <p:txBody>
          <a:bodyPr/>
          <a:p>
            <a:endParaRPr sz="1500"/>
          </a:p>
        </p:txBody>
      </p:sp>
      <p:sp>
        <p:nvSpPr>
          <p:cNvPr id="5" name="Text 3"/>
          <p:cNvSpPr/>
          <p:nvPr/>
        </p:nvSpPr>
        <p:spPr>
          <a:xfrm>
            <a:off x="396240" y="1386840"/>
            <a:ext cx="3810000" cy="472440"/>
          </a:xfrm>
          <a:prstGeom prst="rect">
            <a:avLst/>
          </a:prstGeom>
          <a:solidFill>
            <a:srgbClr val="0B6BEA"/>
          </a:solidFill>
          <a:ln w="10160">
            <a:solidFill>
              <a:srgbClr val="FFFFFF"/>
            </a:solidFill>
          </a:ln>
        </p:spPr>
        <p:txBody>
          <a:bodyPr wrap="square" lIns="137160" tIns="45720" rIns="137160" bIns="45720" rtlCol="0" anchor="ctr">
            <a:normAutofit/>
          </a:bodyPr>
          <a:lstStyle/>
          <a:p>
            <a:pPr marL="0" indent="0" algn="l">
              <a:buNone/>
            </a:pPr>
            <a:r>
              <a:rPr lang="en-US" sz="1500" b="1" dirty="0">
                <a:solidFill>
                  <a:srgbClr val="FFFFFF"/>
                </a:solidFill>
                <a:latin typeface="Arial" panose="020B0704020202020204" pitchFamily="34" charset="0"/>
                <a:ea typeface="Arial" panose="020B0704020202020204" pitchFamily="34" charset="-122"/>
                <a:cs typeface="Arial" panose="020B0704020202020204" pitchFamily="34" charset="-120"/>
              </a:rPr>
              <a:t>WHAT CHANGED</a:t>
            </a:r>
            <a:endParaRPr lang="en-US" sz="1500" dirty="0"/>
          </a:p>
        </p:txBody>
      </p:sp>
      <p:sp>
        <p:nvSpPr>
          <p:cNvPr id="6" name="Text 4"/>
          <p:cNvSpPr/>
          <p:nvPr/>
        </p:nvSpPr>
        <p:spPr>
          <a:xfrm>
            <a:off x="4206240" y="1386840"/>
            <a:ext cx="3924300" cy="472440"/>
          </a:xfrm>
          <a:prstGeom prst="rect">
            <a:avLst/>
          </a:prstGeom>
          <a:solidFill>
            <a:srgbClr val="008B73"/>
          </a:solidFill>
          <a:ln w="10160">
            <a:solidFill>
              <a:srgbClr val="FFFFFF"/>
            </a:solidFill>
          </a:ln>
        </p:spPr>
        <p:txBody>
          <a:bodyPr wrap="square" lIns="137160" tIns="45720" rIns="137160" bIns="45720" rtlCol="0" anchor="ctr">
            <a:normAutofit/>
          </a:bodyPr>
          <a:lstStyle/>
          <a:p>
            <a:pPr marL="0" indent="0" algn="l">
              <a:buNone/>
            </a:pPr>
            <a:r>
              <a:rPr lang="en-US" sz="1500" b="1" dirty="0">
                <a:solidFill>
                  <a:srgbClr val="FFFFFF"/>
                </a:solidFill>
                <a:latin typeface="Arial" panose="020B0704020202020204" pitchFamily="34" charset="0"/>
                <a:ea typeface="Arial" panose="020B0704020202020204" pitchFamily="34" charset="-122"/>
                <a:cs typeface="Arial" panose="020B0704020202020204" pitchFamily="34" charset="-120"/>
              </a:rPr>
              <a:t>WHY IT HELPED</a:t>
            </a:r>
            <a:endParaRPr lang="en-US" sz="1500" dirty="0"/>
          </a:p>
        </p:txBody>
      </p:sp>
      <p:sp>
        <p:nvSpPr>
          <p:cNvPr id="7" name="Text 5"/>
          <p:cNvSpPr/>
          <p:nvPr/>
        </p:nvSpPr>
        <p:spPr>
          <a:xfrm>
            <a:off x="8130540" y="1386840"/>
            <a:ext cx="3810000" cy="472440"/>
          </a:xfrm>
          <a:prstGeom prst="rect">
            <a:avLst/>
          </a:prstGeom>
          <a:solidFill>
            <a:srgbClr val="FF8000"/>
          </a:solidFill>
          <a:ln w="10160">
            <a:solidFill>
              <a:srgbClr val="FFFFFF"/>
            </a:solidFill>
          </a:ln>
        </p:spPr>
        <p:txBody>
          <a:bodyPr wrap="square" lIns="137160" tIns="45720" rIns="137160" bIns="45720" rtlCol="0" anchor="ctr">
            <a:normAutofit/>
          </a:bodyPr>
          <a:lstStyle/>
          <a:p>
            <a:pPr marL="0" indent="0" algn="l">
              <a:buNone/>
            </a:pPr>
            <a:r>
              <a:rPr lang="en-US" sz="1500" b="1" dirty="0">
                <a:solidFill>
                  <a:srgbClr val="FFFFFF"/>
                </a:solidFill>
                <a:latin typeface="Arial" panose="020B0704020202020204" pitchFamily="34" charset="0"/>
                <a:ea typeface="Arial" panose="020B0704020202020204" pitchFamily="34" charset="-122"/>
                <a:cs typeface="Arial" panose="020B0704020202020204" pitchFamily="34" charset="-120"/>
              </a:rPr>
              <a:t>TRADE-OFF</a:t>
            </a:r>
            <a:endParaRPr lang="en-US" sz="1500" dirty="0"/>
          </a:p>
        </p:txBody>
      </p:sp>
      <p:sp>
        <p:nvSpPr>
          <p:cNvPr id="8" name="Text 6"/>
          <p:cNvSpPr/>
          <p:nvPr/>
        </p:nvSpPr>
        <p:spPr>
          <a:xfrm>
            <a:off x="396240" y="1859280"/>
            <a:ext cx="3810000" cy="1013460"/>
          </a:xfrm>
          <a:prstGeom prst="rect">
            <a:avLst/>
          </a:prstGeom>
          <a:solidFill>
            <a:srgbClr val="FFFFFF"/>
          </a:solidFill>
          <a:ln w="10160">
            <a:solidFill>
              <a:srgbClr val="D5E7F5"/>
            </a:solidFill>
          </a:ln>
        </p:spPr>
        <p:txBody>
          <a:bodyPr wrap="square" lIns="152400" tIns="76200" rIns="152400" bIns="76200" rtlCol="0" anchor="ctr">
            <a:normAutofit/>
          </a:bodyPr>
          <a:lstStyle/>
          <a:p>
            <a:pPr marL="0" indent="0" algn="l">
              <a:buNone/>
            </a:pPr>
            <a:r>
              <a:rPr lang="en-US" sz="1665" b="1" dirty="0">
                <a:solidFill>
                  <a:srgbClr val="062B49"/>
                </a:solidFill>
                <a:latin typeface="Arial" panose="020B0704020202020204" pitchFamily="34" charset="0"/>
                <a:ea typeface="Arial" panose="020B0704020202020204" pitchFamily="34" charset="-122"/>
                <a:cs typeface="Arial" panose="020B0704020202020204" pitchFamily="34" charset="-120"/>
              </a:rPr>
              <a:t>Direct review weight increased.</a:t>
            </a:r>
            <a:endParaRPr lang="en-US" sz="1665" dirty="0"/>
          </a:p>
        </p:txBody>
      </p:sp>
      <p:sp>
        <p:nvSpPr>
          <p:cNvPr id="9" name="Text 7"/>
          <p:cNvSpPr/>
          <p:nvPr/>
        </p:nvSpPr>
        <p:spPr>
          <a:xfrm>
            <a:off x="4206240" y="1859280"/>
            <a:ext cx="3924300" cy="1013460"/>
          </a:xfrm>
          <a:prstGeom prst="rect">
            <a:avLst/>
          </a:prstGeom>
          <a:solidFill>
            <a:srgbClr val="FFFFFF"/>
          </a:solidFill>
          <a:ln w="10160">
            <a:solidFill>
              <a:srgbClr val="D5E7F5"/>
            </a:solidFill>
          </a:ln>
        </p:spPr>
        <p:txBody>
          <a:bodyPr wrap="square" lIns="152400" tIns="76200" rIns="152400" bIns="76200" rtlCol="0" anchor="ctr">
            <a:normAutofit/>
          </a:bodyPr>
          <a:lstStyle/>
          <a:p>
            <a:pPr marL="0" indent="0" algn="l">
              <a:buNone/>
            </a:pPr>
            <a:r>
              <a:rPr lang="en-US" sz="1585" dirty="0">
                <a:solidFill>
                  <a:srgbClr val="062B49"/>
                </a:solidFill>
                <a:latin typeface="Arial" panose="020B0704020202020204" pitchFamily="34" charset="0"/>
                <a:ea typeface="Arial" panose="020B0704020202020204" pitchFamily="34" charset="-122"/>
                <a:cs typeface="Arial" panose="020B0704020202020204" pitchFamily="34" charset="-120"/>
              </a:rPr>
              <a:t>Exact user–item evidence drives rating and tone.</a:t>
            </a:r>
            <a:endParaRPr lang="en-US" sz="1585" dirty="0"/>
          </a:p>
        </p:txBody>
      </p:sp>
      <p:sp>
        <p:nvSpPr>
          <p:cNvPr id="10" name="Text 8"/>
          <p:cNvSpPr/>
          <p:nvPr/>
        </p:nvSpPr>
        <p:spPr>
          <a:xfrm>
            <a:off x="8130540" y="1859280"/>
            <a:ext cx="3810000" cy="1013460"/>
          </a:xfrm>
          <a:prstGeom prst="rect">
            <a:avLst/>
          </a:prstGeom>
          <a:solidFill>
            <a:srgbClr val="FFFFFF"/>
          </a:solidFill>
          <a:ln w="10160">
            <a:solidFill>
              <a:srgbClr val="D5E7F5"/>
            </a:solidFill>
          </a:ln>
        </p:spPr>
        <p:txBody>
          <a:bodyPr wrap="square" lIns="152400" tIns="76200" rIns="152400" bIns="76200" rtlCol="0" anchor="ctr">
            <a:normAutofit/>
          </a:bodyPr>
          <a:lstStyle/>
          <a:p>
            <a:pPr marL="0" indent="0" algn="l">
              <a:buNone/>
            </a:pPr>
            <a:r>
              <a:rPr lang="en-US" sz="1585" dirty="0">
                <a:solidFill>
                  <a:srgbClr val="062B49"/>
                </a:solidFill>
                <a:latin typeface="Arial" panose="020B0704020202020204" pitchFamily="34" charset="0"/>
                <a:ea typeface="Arial" panose="020B0704020202020204" pitchFamily="34" charset="-122"/>
                <a:cs typeface="Arial" panose="020B0704020202020204" pitchFamily="34" charset="-120"/>
              </a:rPr>
              <a:t>Less room for user/item context to correct noisy reviews.</a:t>
            </a:r>
            <a:endParaRPr lang="en-US" sz="1585" dirty="0"/>
          </a:p>
        </p:txBody>
      </p:sp>
      <p:sp>
        <p:nvSpPr>
          <p:cNvPr id="11" name="Text 9"/>
          <p:cNvSpPr/>
          <p:nvPr/>
        </p:nvSpPr>
        <p:spPr>
          <a:xfrm>
            <a:off x="396240" y="2872740"/>
            <a:ext cx="3810000" cy="1013460"/>
          </a:xfrm>
          <a:prstGeom prst="rect">
            <a:avLst/>
          </a:prstGeom>
          <a:solidFill>
            <a:srgbClr val="F1F7FC"/>
          </a:solidFill>
          <a:ln w="10160">
            <a:solidFill>
              <a:srgbClr val="D5E7F5"/>
            </a:solidFill>
          </a:ln>
        </p:spPr>
        <p:txBody>
          <a:bodyPr wrap="square" lIns="152400" tIns="76200" rIns="152400" bIns="76200" rtlCol="0" anchor="ctr">
            <a:normAutofit/>
          </a:bodyPr>
          <a:lstStyle/>
          <a:p>
            <a:pPr marL="0" indent="0" algn="l">
              <a:buNone/>
            </a:pPr>
            <a:r>
              <a:rPr lang="en-US" sz="1665" b="1" dirty="0">
                <a:solidFill>
                  <a:srgbClr val="062B49"/>
                </a:solidFill>
                <a:latin typeface="Arial" panose="020B0704020202020204" pitchFamily="34" charset="0"/>
                <a:ea typeface="Arial" panose="020B0704020202020204" pitchFamily="34" charset="-122"/>
                <a:cs typeface="Arial" panose="020B0704020202020204" pitchFamily="34" charset="-120"/>
              </a:rPr>
              <a:t>Confidence, history, and anchor rules became stricter.</a:t>
            </a:r>
            <a:endParaRPr lang="en-US" sz="1665" dirty="0"/>
          </a:p>
        </p:txBody>
      </p:sp>
      <p:sp>
        <p:nvSpPr>
          <p:cNvPr id="12" name="Text 10"/>
          <p:cNvSpPr/>
          <p:nvPr/>
        </p:nvSpPr>
        <p:spPr>
          <a:xfrm>
            <a:off x="4206240" y="2872740"/>
            <a:ext cx="3924300" cy="1013460"/>
          </a:xfrm>
          <a:prstGeom prst="rect">
            <a:avLst/>
          </a:prstGeom>
          <a:solidFill>
            <a:srgbClr val="F1F7FC"/>
          </a:solidFill>
          <a:ln w="10160">
            <a:solidFill>
              <a:srgbClr val="D5E7F5"/>
            </a:solidFill>
          </a:ln>
        </p:spPr>
        <p:txBody>
          <a:bodyPr wrap="square" lIns="152400" tIns="76200" rIns="152400" bIns="76200" rtlCol="0" anchor="ctr">
            <a:normAutofit/>
          </a:bodyPr>
          <a:lstStyle/>
          <a:p>
            <a:pPr marL="0" indent="0" algn="l">
              <a:buNone/>
            </a:pPr>
            <a:r>
              <a:rPr lang="en-US" sz="1585" dirty="0">
                <a:solidFill>
                  <a:srgbClr val="062B49"/>
                </a:solidFill>
                <a:latin typeface="Arial" panose="020B0704020202020204" pitchFamily="34" charset="0"/>
                <a:ea typeface="Arial" panose="020B0704020202020204" pitchFamily="34" charset="-122"/>
                <a:cs typeface="Arial" panose="020B0704020202020204" pitchFamily="34" charset="-120"/>
              </a:rPr>
              <a:t>Strong evidence is trusted more; weak signals affect less.</a:t>
            </a:r>
            <a:endParaRPr lang="en-US" sz="1585" dirty="0"/>
          </a:p>
        </p:txBody>
      </p:sp>
      <p:sp>
        <p:nvSpPr>
          <p:cNvPr id="13" name="Text 11"/>
          <p:cNvSpPr/>
          <p:nvPr/>
        </p:nvSpPr>
        <p:spPr>
          <a:xfrm>
            <a:off x="8130540" y="2872740"/>
            <a:ext cx="3810000" cy="1013460"/>
          </a:xfrm>
          <a:prstGeom prst="rect">
            <a:avLst/>
          </a:prstGeom>
          <a:solidFill>
            <a:srgbClr val="F1F7FC"/>
          </a:solidFill>
          <a:ln w="10160">
            <a:solidFill>
              <a:srgbClr val="D5E7F5"/>
            </a:solidFill>
          </a:ln>
        </p:spPr>
        <p:txBody>
          <a:bodyPr wrap="square" lIns="152400" tIns="76200" rIns="152400" bIns="76200" rtlCol="0" anchor="ctr">
            <a:normAutofit/>
          </a:bodyPr>
          <a:lstStyle/>
          <a:p>
            <a:pPr marL="0" indent="0" algn="l">
              <a:buNone/>
            </a:pPr>
            <a:r>
              <a:rPr lang="en-US" sz="1585" dirty="0">
                <a:solidFill>
                  <a:srgbClr val="062B49"/>
                </a:solidFill>
                <a:latin typeface="Arial" panose="020B0704020202020204" pitchFamily="34" charset="0"/>
                <a:ea typeface="Arial" panose="020B0704020202020204" pitchFamily="34" charset="-122"/>
                <a:cs typeface="Arial" panose="020B0704020202020204" pitchFamily="34" charset="-120"/>
              </a:rPr>
              <a:t>Sparse cases may become conservative.</a:t>
            </a:r>
            <a:endParaRPr lang="en-US" sz="1585" dirty="0"/>
          </a:p>
        </p:txBody>
      </p:sp>
      <p:sp>
        <p:nvSpPr>
          <p:cNvPr id="14" name="Text 12"/>
          <p:cNvSpPr/>
          <p:nvPr/>
        </p:nvSpPr>
        <p:spPr>
          <a:xfrm>
            <a:off x="396240" y="3886200"/>
            <a:ext cx="3810000" cy="1013460"/>
          </a:xfrm>
          <a:prstGeom prst="rect">
            <a:avLst/>
          </a:prstGeom>
          <a:solidFill>
            <a:srgbClr val="FFFFFF"/>
          </a:solidFill>
          <a:ln w="10160">
            <a:solidFill>
              <a:srgbClr val="D5E7F5"/>
            </a:solidFill>
          </a:ln>
        </p:spPr>
        <p:txBody>
          <a:bodyPr wrap="square" lIns="152400" tIns="76200" rIns="152400" bIns="76200" rtlCol="0" anchor="ctr">
            <a:normAutofit/>
          </a:bodyPr>
          <a:lstStyle/>
          <a:p>
            <a:pPr marL="0" indent="0" algn="l">
              <a:buNone/>
            </a:pPr>
            <a:r>
              <a:rPr lang="en-US" sz="1665" b="1" dirty="0">
                <a:solidFill>
                  <a:srgbClr val="062B49"/>
                </a:solidFill>
                <a:latin typeface="Arial" panose="020B0704020202020204" pitchFamily="34" charset="0"/>
                <a:ea typeface="Arial" panose="020B0704020202020204" pitchFamily="34" charset="-122"/>
                <a:cs typeface="Arial" panose="020B0704020202020204" pitchFamily="34" charset="-120"/>
              </a:rPr>
              <a:t>Case guidance became direct-review-centered.</a:t>
            </a:r>
            <a:endParaRPr lang="en-US" sz="1665" dirty="0"/>
          </a:p>
        </p:txBody>
      </p:sp>
      <p:sp>
        <p:nvSpPr>
          <p:cNvPr id="15" name="Text 13"/>
          <p:cNvSpPr/>
          <p:nvPr/>
        </p:nvSpPr>
        <p:spPr>
          <a:xfrm>
            <a:off x="4206240" y="3886200"/>
            <a:ext cx="3924300" cy="1013460"/>
          </a:xfrm>
          <a:prstGeom prst="rect">
            <a:avLst/>
          </a:prstGeom>
          <a:solidFill>
            <a:srgbClr val="FFFFFF"/>
          </a:solidFill>
          <a:ln w="10160">
            <a:solidFill>
              <a:srgbClr val="D5E7F5"/>
            </a:solidFill>
          </a:ln>
        </p:spPr>
        <p:txBody>
          <a:bodyPr wrap="square" lIns="152400" tIns="76200" rIns="152400" bIns="76200" rtlCol="0" anchor="ctr">
            <a:normAutofit/>
          </a:bodyPr>
          <a:lstStyle/>
          <a:p>
            <a:pPr marL="0" indent="0" algn="l">
              <a:buNone/>
            </a:pPr>
            <a:r>
              <a:rPr lang="en-US" sz="1585" dirty="0">
                <a:solidFill>
                  <a:srgbClr val="062B49"/>
                </a:solidFill>
                <a:latin typeface="Arial" panose="020B0704020202020204" pitchFamily="34" charset="0"/>
                <a:ea typeface="Arial" panose="020B0704020202020204" pitchFamily="34" charset="-122"/>
                <a:cs typeface="Arial" panose="020B0704020202020204" pitchFamily="34" charset="-120"/>
              </a:rPr>
              <a:t>Review tone follows the strongest available evidence.</a:t>
            </a:r>
            <a:endParaRPr lang="en-US" sz="1585" dirty="0"/>
          </a:p>
        </p:txBody>
      </p:sp>
      <p:sp>
        <p:nvSpPr>
          <p:cNvPr id="16" name="Text 14"/>
          <p:cNvSpPr/>
          <p:nvPr/>
        </p:nvSpPr>
        <p:spPr>
          <a:xfrm>
            <a:off x="8130540" y="3886200"/>
            <a:ext cx="3810000" cy="1013460"/>
          </a:xfrm>
          <a:prstGeom prst="rect">
            <a:avLst/>
          </a:prstGeom>
          <a:solidFill>
            <a:srgbClr val="FFFFFF"/>
          </a:solidFill>
          <a:ln w="10160">
            <a:solidFill>
              <a:srgbClr val="D5E7F5"/>
            </a:solidFill>
          </a:ln>
        </p:spPr>
        <p:txBody>
          <a:bodyPr wrap="square" lIns="152400" tIns="76200" rIns="152400" bIns="76200" rtlCol="0" anchor="ctr">
            <a:normAutofit/>
          </a:bodyPr>
          <a:lstStyle/>
          <a:p>
            <a:pPr marL="0" indent="0" algn="l">
              <a:buNone/>
            </a:pPr>
            <a:r>
              <a:rPr lang="en-US" sz="1585" dirty="0">
                <a:solidFill>
                  <a:srgbClr val="062B49"/>
                </a:solidFill>
                <a:latin typeface="Arial" panose="020B0704020202020204" pitchFamily="34" charset="0"/>
                <a:ea typeface="Arial" panose="020B0704020202020204" pitchFamily="34" charset="-122"/>
                <a:cs typeface="Arial" panose="020B0704020202020204" pitchFamily="34" charset="-120"/>
              </a:rPr>
              <a:t>Needs grounding rules to avoid fake details.</a:t>
            </a:r>
            <a:endParaRPr lang="en-US" sz="1585" dirty="0"/>
          </a:p>
        </p:txBody>
      </p:sp>
      <p:sp>
        <p:nvSpPr>
          <p:cNvPr id="17" name="Text 15"/>
          <p:cNvSpPr/>
          <p:nvPr/>
        </p:nvSpPr>
        <p:spPr>
          <a:xfrm>
            <a:off x="396240" y="5615940"/>
            <a:ext cx="11430000" cy="571500"/>
          </a:xfrm>
          <a:prstGeom prst="rect">
            <a:avLst/>
          </a:prstGeom>
          <a:solidFill>
            <a:srgbClr val="EAF7FF"/>
          </a:solidFill>
          <a:ln w="15240">
            <a:solidFill>
              <a:srgbClr val="9DD0F7"/>
            </a:solidFill>
          </a:ln>
        </p:spPr>
        <p:txBody>
          <a:bodyPr wrap="square" lIns="846" tIns="846" rIns="846" bIns="846" rtlCol="0" anchor="ctr">
            <a:normAutofit/>
          </a:bodyPr>
          <a:lstStyle/>
          <a:p>
            <a:pPr marL="0" indent="0" algn="l">
              <a:buNone/>
            </a:pPr>
            <a:endParaRPr lang="en-US" sz="1665" dirty="0"/>
          </a:p>
        </p:txBody>
      </p:sp>
      <p:sp>
        <p:nvSpPr>
          <p:cNvPr id="18" name="Text 16"/>
          <p:cNvSpPr/>
          <p:nvPr/>
        </p:nvSpPr>
        <p:spPr>
          <a:xfrm>
            <a:off x="624840" y="5770880"/>
            <a:ext cx="1389380" cy="294640"/>
          </a:xfrm>
          <a:prstGeom prst="rect">
            <a:avLst/>
          </a:prstGeom>
          <a:noFill/>
        </p:spPr>
        <p:txBody>
          <a:bodyPr wrap="square" lIns="106680" rIns="106680" rtlCol="0" anchor="ctr"/>
          <a:lstStyle/>
          <a:p>
            <a:pPr marL="0" indent="0">
              <a:buNone/>
            </a:pPr>
            <a:r>
              <a:rPr lang="en-US" sz="1200" b="1" dirty="0">
                <a:solidFill>
                  <a:srgbClr val="0B6BEA"/>
                </a:solidFill>
                <a:latin typeface="Arial" panose="020B0704020202020204" pitchFamily="34" charset="0"/>
                <a:ea typeface="Arial" panose="020B0704020202020204" pitchFamily="34" charset="-122"/>
                <a:cs typeface="Arial" panose="020B0704020202020204" pitchFamily="34" charset="-120"/>
              </a:rPr>
              <a:t>KEY MESSAGE</a:t>
            </a:r>
            <a:endParaRPr lang="en-US" sz="1200" b="1" dirty="0">
              <a:solidFill>
                <a:srgbClr val="0B6BEA"/>
              </a:solidFill>
              <a:latin typeface="Arial" panose="020B0704020202020204" pitchFamily="34" charset="0"/>
              <a:ea typeface="Arial" panose="020B0704020202020204" pitchFamily="34" charset="-122"/>
              <a:cs typeface="Arial" panose="020B0704020202020204" pitchFamily="34" charset="-120"/>
            </a:endParaRPr>
          </a:p>
        </p:txBody>
      </p:sp>
      <p:sp>
        <p:nvSpPr>
          <p:cNvPr id="19" name="Text 17"/>
          <p:cNvSpPr/>
          <p:nvPr/>
        </p:nvSpPr>
        <p:spPr>
          <a:xfrm>
            <a:off x="2072640" y="5751195"/>
            <a:ext cx="9415145" cy="342900"/>
          </a:xfrm>
          <a:prstGeom prst="rect">
            <a:avLst/>
          </a:prstGeom>
          <a:noFill/>
        </p:spPr>
        <p:txBody>
          <a:bodyPr wrap="square" lIns="106680" rIns="106680" rtlCol="0" anchor="ctr">
            <a:normAutofit lnSpcReduction="10000"/>
          </a:bodyPr>
          <a:lstStyle/>
          <a:p>
            <a:pPr marL="0" indent="0">
              <a:buNone/>
            </a:pPr>
            <a:r>
              <a:rPr lang="en-US" sz="1665" b="1" dirty="0">
                <a:solidFill>
                  <a:srgbClr val="062B49"/>
                </a:solidFill>
                <a:latin typeface="Arial" panose="020B0704020202020204" pitchFamily="34" charset="0"/>
                <a:ea typeface="Arial" panose="020B0704020202020204" pitchFamily="34" charset="-122"/>
                <a:cs typeface="Arial" panose="020B0704020202020204" pitchFamily="34" charset="-120"/>
              </a:rPr>
              <a:t>The evolved policy improved rating control, but introduced a calibration trade-off.</a:t>
            </a:r>
            <a:endParaRPr lang="en-US" sz="1665" dirty="0"/>
          </a:p>
        </p:txBody>
      </p:sp>
      <p:sp>
        <p:nvSpPr>
          <p:cNvPr id="20"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sz="1000" dirty="0"/>
              <a:t>39</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0040" y="146050"/>
            <a:ext cx="3967480" cy="291465"/>
          </a:xfrm>
          <a:prstGeom prst="rect">
            <a:avLst/>
          </a:prstGeom>
          <a:noFill/>
        </p:spPr>
        <p:txBody>
          <a:bodyPr wrap="square" lIns="0" tIns="0" rIns="0" bIns="0" rtlCol="0" anchor="ctr"/>
          <a:lstStyle/>
          <a:p>
            <a:pPr marL="0" indent="0" algn="l">
              <a:buNone/>
            </a:pPr>
            <a:r>
              <a:rPr lang="en-US" sz="2000" b="1" dirty="0">
                <a:solidFill>
                  <a:srgbClr val="0F66E8"/>
                </a:solidFill>
                <a:latin typeface="Aptos" pitchFamily="34" charset="0"/>
                <a:ea typeface="Aptos" pitchFamily="34" charset="-122"/>
                <a:cs typeface="Aptos" pitchFamily="34" charset="-120"/>
              </a:rPr>
              <a:t>PERFORMANCE SUMMARY</a:t>
            </a:r>
            <a:endParaRPr lang="en-US" sz="2000" b="1" dirty="0">
              <a:solidFill>
                <a:srgbClr val="0F66E8"/>
              </a:solidFill>
              <a:latin typeface="Aptos" pitchFamily="34" charset="0"/>
              <a:ea typeface="Aptos" pitchFamily="34" charset="-122"/>
              <a:cs typeface="Aptos" pitchFamily="34" charset="-120"/>
            </a:endParaRPr>
          </a:p>
        </p:txBody>
      </p:sp>
      <p:sp>
        <p:nvSpPr>
          <p:cNvPr id="4" name="Shape 2"/>
          <p:cNvSpPr/>
          <p:nvPr/>
        </p:nvSpPr>
        <p:spPr>
          <a:xfrm>
            <a:off x="320040" y="575945"/>
            <a:ext cx="11521440" cy="10973"/>
          </a:xfrm>
          <a:prstGeom prst="rect">
            <a:avLst/>
          </a:prstGeom>
          <a:solidFill>
            <a:srgbClr val="C9D6E4"/>
          </a:solidFill>
          <a:ln w="12700">
            <a:solidFill>
              <a:srgbClr val="C9D6E4"/>
            </a:solidFill>
            <a:prstDash val="solid"/>
          </a:ln>
        </p:spPr>
      </p:sp>
      <p:sp>
        <p:nvSpPr>
          <p:cNvPr id="5" name="Shape 3"/>
          <p:cNvSpPr/>
          <p:nvPr/>
        </p:nvSpPr>
        <p:spPr>
          <a:xfrm>
            <a:off x="320040" y="942975"/>
            <a:ext cx="1161288" cy="438912"/>
          </a:xfrm>
          <a:prstGeom prst="rect">
            <a:avLst/>
          </a:prstGeom>
          <a:solidFill>
            <a:srgbClr val="FFFFFF"/>
          </a:solidFill>
          <a:ln w="8255">
            <a:solidFill>
              <a:srgbClr val="FFFFFF"/>
            </a:solidFill>
            <a:prstDash val="solid"/>
          </a:ln>
        </p:spPr>
      </p:sp>
      <p:sp>
        <p:nvSpPr>
          <p:cNvPr id="6" name="Text 4"/>
          <p:cNvSpPr/>
          <p:nvPr/>
        </p:nvSpPr>
        <p:spPr>
          <a:xfrm>
            <a:off x="365760" y="961263"/>
            <a:ext cx="1069848" cy="402336"/>
          </a:xfrm>
          <a:prstGeom prst="rect">
            <a:avLst/>
          </a:prstGeom>
          <a:noFill/>
        </p:spPr>
        <p:txBody>
          <a:bodyPr wrap="square" lIns="0" tIns="0" rIns="0" bIns="0" rtlCol="0" anchor="ctr">
            <a:normAutofit/>
          </a:bodyPr>
          <a:lstStyle/>
          <a:p>
            <a:pPr marL="0" indent="0" algn="ctr">
              <a:buNone/>
            </a:pPr>
            <a:r>
              <a:rPr lang="en-US" sz="1280" b="1" dirty="0">
                <a:solidFill>
                  <a:srgbClr val="52677F"/>
                </a:solidFill>
                <a:latin typeface="Aptos" pitchFamily="34" charset="0"/>
                <a:ea typeface="Aptos" pitchFamily="34" charset="-122"/>
                <a:cs typeface="Aptos" pitchFamily="34" charset="-120"/>
              </a:rPr>
              <a:t>Run</a:t>
            </a:r>
            <a:endParaRPr lang="en-US" sz="1280" dirty="0"/>
          </a:p>
        </p:txBody>
      </p:sp>
      <p:sp>
        <p:nvSpPr>
          <p:cNvPr id="7" name="Shape 5"/>
          <p:cNvSpPr/>
          <p:nvPr/>
        </p:nvSpPr>
        <p:spPr>
          <a:xfrm>
            <a:off x="1481328" y="942975"/>
            <a:ext cx="1874520" cy="438912"/>
          </a:xfrm>
          <a:prstGeom prst="rect">
            <a:avLst/>
          </a:prstGeom>
          <a:solidFill>
            <a:srgbClr val="0F66E8"/>
          </a:solidFill>
          <a:ln w="8255">
            <a:solidFill>
              <a:srgbClr val="FFFFFF"/>
            </a:solidFill>
            <a:prstDash val="solid"/>
          </a:ln>
        </p:spPr>
      </p:sp>
      <p:sp>
        <p:nvSpPr>
          <p:cNvPr id="8" name="Text 6"/>
          <p:cNvSpPr/>
          <p:nvPr/>
        </p:nvSpPr>
        <p:spPr>
          <a:xfrm>
            <a:off x="1527048" y="961263"/>
            <a:ext cx="1783080" cy="402336"/>
          </a:xfrm>
          <a:prstGeom prst="rect">
            <a:avLst/>
          </a:prstGeom>
          <a:noFill/>
        </p:spPr>
        <p:txBody>
          <a:bodyPr wrap="square" lIns="0" tIns="0" rIns="0" bIns="0" rtlCol="0" anchor="ctr">
            <a:normAutofit/>
          </a:bodyPr>
          <a:lstStyle/>
          <a:p>
            <a:pPr marL="0" indent="0" algn="ctr">
              <a:buNone/>
            </a:pPr>
            <a:r>
              <a:rPr lang="en-US" sz="1280" b="1" dirty="0">
                <a:solidFill>
                  <a:srgbClr val="FFFFFF"/>
                </a:solidFill>
                <a:latin typeface="Aptos" pitchFamily="34" charset="0"/>
                <a:ea typeface="Aptos" pitchFamily="34" charset="-122"/>
                <a:cs typeface="Aptos" pitchFamily="34" charset="-120"/>
              </a:rPr>
              <a:t>Combined</a:t>
            </a:r>
            <a:endParaRPr lang="en-US" sz="1280" dirty="0"/>
          </a:p>
        </p:txBody>
      </p:sp>
      <p:sp>
        <p:nvSpPr>
          <p:cNvPr id="9" name="Shape 7"/>
          <p:cNvSpPr/>
          <p:nvPr/>
        </p:nvSpPr>
        <p:spPr>
          <a:xfrm>
            <a:off x="3355848" y="942975"/>
            <a:ext cx="1874520" cy="438912"/>
          </a:xfrm>
          <a:prstGeom prst="rect">
            <a:avLst/>
          </a:prstGeom>
          <a:solidFill>
            <a:srgbClr val="087C75"/>
          </a:solidFill>
          <a:ln w="8255">
            <a:solidFill>
              <a:srgbClr val="FFFFFF"/>
            </a:solidFill>
            <a:prstDash val="solid"/>
          </a:ln>
        </p:spPr>
      </p:sp>
      <p:sp>
        <p:nvSpPr>
          <p:cNvPr id="10" name="Text 8"/>
          <p:cNvSpPr/>
          <p:nvPr/>
        </p:nvSpPr>
        <p:spPr>
          <a:xfrm>
            <a:off x="3401568" y="961263"/>
            <a:ext cx="1783080" cy="402336"/>
          </a:xfrm>
          <a:prstGeom prst="rect">
            <a:avLst/>
          </a:prstGeom>
          <a:noFill/>
        </p:spPr>
        <p:txBody>
          <a:bodyPr wrap="square" lIns="0" tIns="0" rIns="0" bIns="0" rtlCol="0" anchor="ctr">
            <a:normAutofit/>
          </a:bodyPr>
          <a:lstStyle/>
          <a:p>
            <a:pPr marL="0" indent="0" algn="ctr">
              <a:buNone/>
            </a:pPr>
            <a:r>
              <a:rPr lang="en-US" sz="1280" b="1" dirty="0">
                <a:solidFill>
                  <a:srgbClr val="FFFFFF"/>
                </a:solidFill>
                <a:latin typeface="Aptos" pitchFamily="34" charset="0"/>
                <a:ea typeface="Aptos" pitchFamily="34" charset="-122"/>
                <a:cs typeface="Aptos" pitchFamily="34" charset="-120"/>
              </a:rPr>
              <a:t>Preference</a:t>
            </a:r>
            <a:endParaRPr lang="en-US" sz="1280" dirty="0"/>
          </a:p>
        </p:txBody>
      </p:sp>
      <p:sp>
        <p:nvSpPr>
          <p:cNvPr id="11" name="Shape 9"/>
          <p:cNvSpPr/>
          <p:nvPr/>
        </p:nvSpPr>
        <p:spPr>
          <a:xfrm>
            <a:off x="5230368" y="942975"/>
            <a:ext cx="2048256" cy="438912"/>
          </a:xfrm>
          <a:prstGeom prst="rect">
            <a:avLst/>
          </a:prstGeom>
          <a:solidFill>
            <a:srgbClr val="F68B00"/>
          </a:solidFill>
          <a:ln w="8255">
            <a:solidFill>
              <a:srgbClr val="FFFFFF"/>
            </a:solidFill>
            <a:prstDash val="solid"/>
          </a:ln>
        </p:spPr>
      </p:sp>
      <p:sp>
        <p:nvSpPr>
          <p:cNvPr id="12" name="Text 10"/>
          <p:cNvSpPr/>
          <p:nvPr/>
        </p:nvSpPr>
        <p:spPr>
          <a:xfrm>
            <a:off x="5276088" y="961263"/>
            <a:ext cx="1956816" cy="402336"/>
          </a:xfrm>
          <a:prstGeom prst="rect">
            <a:avLst/>
          </a:prstGeom>
          <a:noFill/>
        </p:spPr>
        <p:txBody>
          <a:bodyPr wrap="square" lIns="0" tIns="0" rIns="0" bIns="0" rtlCol="0" anchor="ctr">
            <a:normAutofit/>
          </a:bodyPr>
          <a:lstStyle/>
          <a:p>
            <a:pPr marL="0" indent="0" algn="ctr">
              <a:buNone/>
            </a:pPr>
            <a:r>
              <a:rPr lang="en-US" sz="1280" b="1" dirty="0">
                <a:solidFill>
                  <a:srgbClr val="FFFFFF"/>
                </a:solidFill>
                <a:latin typeface="Aptos" pitchFamily="34" charset="0"/>
                <a:ea typeface="Aptos" pitchFamily="34" charset="-122"/>
                <a:cs typeface="Aptos" pitchFamily="34" charset="-120"/>
              </a:rPr>
              <a:t>Review generation</a:t>
            </a:r>
            <a:endParaRPr lang="en-US" sz="1280" dirty="0"/>
          </a:p>
        </p:txBody>
      </p:sp>
      <p:sp>
        <p:nvSpPr>
          <p:cNvPr id="13" name="Shape 11"/>
          <p:cNvSpPr/>
          <p:nvPr/>
        </p:nvSpPr>
        <p:spPr>
          <a:xfrm>
            <a:off x="320040" y="1381887"/>
            <a:ext cx="1161288" cy="502920"/>
          </a:xfrm>
          <a:prstGeom prst="rect">
            <a:avLst/>
          </a:prstGeom>
          <a:solidFill>
            <a:srgbClr val="EFF6FF"/>
          </a:solidFill>
          <a:ln w="7620">
            <a:solidFill>
              <a:srgbClr val="C9D6E4"/>
            </a:solidFill>
            <a:prstDash val="solid"/>
          </a:ln>
        </p:spPr>
      </p:sp>
      <p:sp>
        <p:nvSpPr>
          <p:cNvPr id="14" name="Text 12"/>
          <p:cNvSpPr/>
          <p:nvPr/>
        </p:nvSpPr>
        <p:spPr>
          <a:xfrm>
            <a:off x="393192" y="1400175"/>
            <a:ext cx="1014984" cy="466344"/>
          </a:xfrm>
          <a:prstGeom prst="rect">
            <a:avLst/>
          </a:prstGeom>
          <a:noFill/>
        </p:spPr>
        <p:txBody>
          <a:bodyPr wrap="square" lIns="0" tIns="0" rIns="0" bIns="0" rtlCol="0" anchor="ctr">
            <a:normAutofit/>
          </a:bodyPr>
          <a:lstStyle/>
          <a:p>
            <a:pPr marL="0" indent="0" algn="l">
              <a:buNone/>
            </a:pPr>
            <a:r>
              <a:rPr lang="en-US" sz="1240" b="1" dirty="0">
                <a:solidFill>
                  <a:srgbClr val="0B1B2B"/>
                </a:solidFill>
                <a:latin typeface="Aptos" pitchFamily="34" charset="0"/>
                <a:ea typeface="Aptos" pitchFamily="34" charset="-122"/>
                <a:cs typeface="Aptos" pitchFamily="34" charset="-120"/>
              </a:rPr>
              <a:t>R2 Agent</a:t>
            </a:r>
            <a:endParaRPr lang="en-US" sz="1240" dirty="0"/>
          </a:p>
        </p:txBody>
      </p:sp>
      <p:sp>
        <p:nvSpPr>
          <p:cNvPr id="15" name="Shape 13"/>
          <p:cNvSpPr/>
          <p:nvPr/>
        </p:nvSpPr>
        <p:spPr>
          <a:xfrm>
            <a:off x="1481328" y="1381887"/>
            <a:ext cx="1874520" cy="502920"/>
          </a:xfrm>
          <a:prstGeom prst="rect">
            <a:avLst/>
          </a:prstGeom>
          <a:solidFill>
            <a:srgbClr val="EFF6FF"/>
          </a:solidFill>
          <a:ln w="7620">
            <a:solidFill>
              <a:srgbClr val="C9D6E4"/>
            </a:solidFill>
            <a:prstDash val="solid"/>
          </a:ln>
        </p:spPr>
      </p:sp>
      <p:sp>
        <p:nvSpPr>
          <p:cNvPr id="16" name="Shape 14"/>
          <p:cNvSpPr/>
          <p:nvPr/>
        </p:nvSpPr>
        <p:spPr>
          <a:xfrm>
            <a:off x="1609344" y="1583055"/>
            <a:ext cx="1012241" cy="100584"/>
          </a:xfrm>
          <a:prstGeom prst="rect">
            <a:avLst/>
          </a:prstGeom>
          <a:solidFill>
            <a:srgbClr val="E7EDF5"/>
          </a:solidFill>
          <a:ln w="12700">
            <a:solidFill>
              <a:srgbClr val="E7EDF5"/>
            </a:solidFill>
            <a:prstDash val="solid"/>
          </a:ln>
        </p:spPr>
      </p:sp>
      <p:sp>
        <p:nvSpPr>
          <p:cNvPr id="17" name="Shape 15"/>
          <p:cNvSpPr/>
          <p:nvPr/>
        </p:nvSpPr>
        <p:spPr>
          <a:xfrm>
            <a:off x="1609344" y="1583055"/>
            <a:ext cx="974282" cy="100584"/>
          </a:xfrm>
          <a:prstGeom prst="rect">
            <a:avLst/>
          </a:prstGeom>
          <a:solidFill>
            <a:srgbClr val="0F66E8"/>
          </a:solidFill>
          <a:ln w="12700">
            <a:solidFill>
              <a:srgbClr val="0F66E8"/>
            </a:solidFill>
            <a:prstDash val="solid"/>
          </a:ln>
        </p:spPr>
      </p:sp>
      <p:sp>
        <p:nvSpPr>
          <p:cNvPr id="18" name="Text 16"/>
          <p:cNvSpPr/>
          <p:nvPr/>
        </p:nvSpPr>
        <p:spPr>
          <a:xfrm>
            <a:off x="2756002" y="1400175"/>
            <a:ext cx="524866" cy="466344"/>
          </a:xfrm>
          <a:prstGeom prst="rect">
            <a:avLst/>
          </a:prstGeom>
          <a:noFill/>
        </p:spPr>
        <p:txBody>
          <a:bodyPr wrap="square" lIns="0" tIns="0" rIns="0" bIns="0" rtlCol="0" anchor="ctr">
            <a:normAutofit/>
          </a:bodyPr>
          <a:lstStyle/>
          <a:p>
            <a:pPr marL="0" indent="0" algn="l">
              <a:buNone/>
            </a:pPr>
            <a:r>
              <a:rPr lang="en-US" sz="1180" b="1" dirty="0">
                <a:solidFill>
                  <a:srgbClr val="0F66E8"/>
                </a:solidFill>
                <a:latin typeface="Aptos" pitchFamily="34" charset="0"/>
                <a:ea typeface="Aptos" pitchFamily="34" charset="-122"/>
                <a:cs typeface="Aptos" pitchFamily="34" charset="-120"/>
              </a:rPr>
              <a:t>0.8785</a:t>
            </a:r>
            <a:endParaRPr lang="en-US" sz="1180" dirty="0"/>
          </a:p>
        </p:txBody>
      </p:sp>
      <p:sp>
        <p:nvSpPr>
          <p:cNvPr id="19" name="Shape 17"/>
          <p:cNvSpPr/>
          <p:nvPr/>
        </p:nvSpPr>
        <p:spPr>
          <a:xfrm>
            <a:off x="3355848" y="1381887"/>
            <a:ext cx="1874520" cy="502920"/>
          </a:xfrm>
          <a:prstGeom prst="rect">
            <a:avLst/>
          </a:prstGeom>
          <a:solidFill>
            <a:srgbClr val="EFF6FF"/>
          </a:solidFill>
          <a:ln w="7620">
            <a:solidFill>
              <a:srgbClr val="C9D6E4"/>
            </a:solidFill>
            <a:prstDash val="solid"/>
          </a:ln>
        </p:spPr>
      </p:sp>
      <p:sp>
        <p:nvSpPr>
          <p:cNvPr id="20" name="Shape 18"/>
          <p:cNvSpPr/>
          <p:nvPr/>
        </p:nvSpPr>
        <p:spPr>
          <a:xfrm>
            <a:off x="3483864" y="1583055"/>
            <a:ext cx="1012241" cy="100584"/>
          </a:xfrm>
          <a:prstGeom prst="rect">
            <a:avLst/>
          </a:prstGeom>
          <a:solidFill>
            <a:srgbClr val="E7EDF5"/>
          </a:solidFill>
          <a:ln w="12700">
            <a:solidFill>
              <a:srgbClr val="E7EDF5"/>
            </a:solidFill>
            <a:prstDash val="solid"/>
          </a:ln>
        </p:spPr>
      </p:sp>
      <p:sp>
        <p:nvSpPr>
          <p:cNvPr id="21" name="Shape 19"/>
          <p:cNvSpPr/>
          <p:nvPr/>
        </p:nvSpPr>
        <p:spPr>
          <a:xfrm>
            <a:off x="3483864" y="1583055"/>
            <a:ext cx="1012241" cy="100584"/>
          </a:xfrm>
          <a:prstGeom prst="rect">
            <a:avLst/>
          </a:prstGeom>
          <a:solidFill>
            <a:srgbClr val="087C75"/>
          </a:solidFill>
          <a:ln w="12700">
            <a:solidFill>
              <a:srgbClr val="087C75"/>
            </a:solidFill>
            <a:prstDash val="solid"/>
          </a:ln>
        </p:spPr>
      </p:sp>
      <p:sp>
        <p:nvSpPr>
          <p:cNvPr id="22" name="Text 20"/>
          <p:cNvSpPr/>
          <p:nvPr/>
        </p:nvSpPr>
        <p:spPr>
          <a:xfrm>
            <a:off x="4630522" y="1400175"/>
            <a:ext cx="524866" cy="466344"/>
          </a:xfrm>
          <a:prstGeom prst="rect">
            <a:avLst/>
          </a:prstGeom>
          <a:noFill/>
        </p:spPr>
        <p:txBody>
          <a:bodyPr wrap="square" lIns="0" tIns="0" rIns="0" bIns="0" rtlCol="0" anchor="ctr">
            <a:normAutofit/>
          </a:bodyPr>
          <a:lstStyle/>
          <a:p>
            <a:pPr marL="0" indent="0" algn="l">
              <a:buNone/>
            </a:pPr>
            <a:r>
              <a:rPr lang="en-US" sz="1180" b="1" dirty="0">
                <a:solidFill>
                  <a:srgbClr val="087C75"/>
                </a:solidFill>
                <a:latin typeface="Aptos" pitchFamily="34" charset="0"/>
                <a:ea typeface="Aptos" pitchFamily="34" charset="-122"/>
                <a:cs typeface="Aptos" pitchFamily="34" charset="-120"/>
              </a:rPr>
              <a:t>0.8800</a:t>
            </a:r>
            <a:endParaRPr lang="en-US" sz="1180" dirty="0"/>
          </a:p>
        </p:txBody>
      </p:sp>
      <p:sp>
        <p:nvSpPr>
          <p:cNvPr id="23" name="Shape 21"/>
          <p:cNvSpPr/>
          <p:nvPr/>
        </p:nvSpPr>
        <p:spPr>
          <a:xfrm>
            <a:off x="5230368" y="1381887"/>
            <a:ext cx="2048256" cy="502920"/>
          </a:xfrm>
          <a:prstGeom prst="rect">
            <a:avLst/>
          </a:prstGeom>
          <a:solidFill>
            <a:srgbClr val="EFF6FF"/>
          </a:solidFill>
          <a:ln w="7620">
            <a:solidFill>
              <a:srgbClr val="C9D6E4"/>
            </a:solidFill>
            <a:prstDash val="solid"/>
          </a:ln>
        </p:spPr>
      </p:sp>
      <p:sp>
        <p:nvSpPr>
          <p:cNvPr id="24" name="Shape 22"/>
          <p:cNvSpPr/>
          <p:nvPr/>
        </p:nvSpPr>
        <p:spPr>
          <a:xfrm>
            <a:off x="5358384" y="1583055"/>
            <a:ext cx="1106058" cy="100584"/>
          </a:xfrm>
          <a:prstGeom prst="rect">
            <a:avLst/>
          </a:prstGeom>
          <a:solidFill>
            <a:srgbClr val="E7EDF5"/>
          </a:solidFill>
          <a:ln w="12700">
            <a:solidFill>
              <a:srgbClr val="E7EDF5"/>
            </a:solidFill>
            <a:prstDash val="solid"/>
          </a:ln>
        </p:spPr>
      </p:sp>
      <p:sp>
        <p:nvSpPr>
          <p:cNvPr id="25" name="Shape 23"/>
          <p:cNvSpPr/>
          <p:nvPr/>
        </p:nvSpPr>
        <p:spPr>
          <a:xfrm>
            <a:off x="5358384" y="1583055"/>
            <a:ext cx="1020339" cy="100584"/>
          </a:xfrm>
          <a:prstGeom prst="rect">
            <a:avLst/>
          </a:prstGeom>
          <a:solidFill>
            <a:srgbClr val="F68B00"/>
          </a:solidFill>
          <a:ln w="12700">
            <a:solidFill>
              <a:srgbClr val="F68B00"/>
            </a:solidFill>
            <a:prstDash val="solid"/>
          </a:ln>
        </p:spPr>
      </p:sp>
      <p:sp>
        <p:nvSpPr>
          <p:cNvPr id="26" name="Text 24"/>
          <p:cNvSpPr/>
          <p:nvPr/>
        </p:nvSpPr>
        <p:spPr>
          <a:xfrm>
            <a:off x="6623182" y="1400175"/>
            <a:ext cx="573512" cy="466344"/>
          </a:xfrm>
          <a:prstGeom prst="rect">
            <a:avLst/>
          </a:prstGeom>
          <a:noFill/>
        </p:spPr>
        <p:txBody>
          <a:bodyPr wrap="square" lIns="0" tIns="0" rIns="0" bIns="0" rtlCol="0" anchor="ctr">
            <a:normAutofit/>
          </a:bodyPr>
          <a:lstStyle/>
          <a:p>
            <a:pPr marL="0" indent="0" algn="l">
              <a:buNone/>
            </a:pPr>
            <a:r>
              <a:rPr lang="en-US" sz="1180" b="1" dirty="0">
                <a:solidFill>
                  <a:srgbClr val="F68B00"/>
                </a:solidFill>
                <a:latin typeface="Aptos" pitchFamily="34" charset="0"/>
                <a:ea typeface="Aptos" pitchFamily="34" charset="-122"/>
                <a:cs typeface="Aptos" pitchFamily="34" charset="-120"/>
              </a:rPr>
              <a:t>0.8769</a:t>
            </a:r>
            <a:endParaRPr lang="en-US" sz="1180" dirty="0"/>
          </a:p>
        </p:txBody>
      </p:sp>
      <p:sp>
        <p:nvSpPr>
          <p:cNvPr id="27" name="Shape 25"/>
          <p:cNvSpPr/>
          <p:nvPr/>
        </p:nvSpPr>
        <p:spPr>
          <a:xfrm>
            <a:off x="320040" y="1381887"/>
            <a:ext cx="6958584" cy="502920"/>
          </a:xfrm>
          <a:prstGeom prst="roundRect">
            <a:avLst>
              <a:gd name="adj" fmla="val 7273"/>
            </a:avLst>
          </a:prstGeom>
          <a:solidFill>
            <a:srgbClr val="FFFFFF">
              <a:alpha val="0"/>
            </a:srgbClr>
          </a:solidFill>
          <a:ln w="15240">
            <a:solidFill>
              <a:srgbClr val="0F66E8"/>
            </a:solidFill>
            <a:prstDash val="solid"/>
          </a:ln>
        </p:spPr>
        <p:txBody>
          <a:bodyPr/>
          <a:p>
            <a:endParaRPr lang="en-US"/>
          </a:p>
        </p:txBody>
      </p:sp>
      <p:sp>
        <p:nvSpPr>
          <p:cNvPr id="28" name="Shape 26"/>
          <p:cNvSpPr/>
          <p:nvPr/>
        </p:nvSpPr>
        <p:spPr>
          <a:xfrm>
            <a:off x="320040" y="1884807"/>
            <a:ext cx="1161288" cy="502920"/>
          </a:xfrm>
          <a:prstGeom prst="rect">
            <a:avLst/>
          </a:prstGeom>
          <a:solidFill>
            <a:srgbClr val="F4F7FA"/>
          </a:solidFill>
          <a:ln w="7620">
            <a:solidFill>
              <a:srgbClr val="C9D6E4"/>
            </a:solidFill>
            <a:prstDash val="solid"/>
          </a:ln>
        </p:spPr>
      </p:sp>
      <p:sp>
        <p:nvSpPr>
          <p:cNvPr id="29" name="Text 27"/>
          <p:cNvSpPr/>
          <p:nvPr/>
        </p:nvSpPr>
        <p:spPr>
          <a:xfrm>
            <a:off x="393192" y="1903095"/>
            <a:ext cx="1014984" cy="466344"/>
          </a:xfrm>
          <a:prstGeom prst="rect">
            <a:avLst/>
          </a:prstGeom>
          <a:noFill/>
        </p:spPr>
        <p:txBody>
          <a:bodyPr wrap="square" lIns="0" tIns="0" rIns="0" bIns="0" rtlCol="0" anchor="ctr">
            <a:normAutofit/>
          </a:bodyPr>
          <a:lstStyle/>
          <a:p>
            <a:pPr marL="0" indent="0" algn="l">
              <a:buNone/>
            </a:pPr>
            <a:r>
              <a:rPr lang="en-US" sz="1240" b="1" dirty="0">
                <a:solidFill>
                  <a:srgbClr val="0B1B2B"/>
                </a:solidFill>
                <a:latin typeface="Aptos" pitchFamily="34" charset="0"/>
                <a:ea typeface="Aptos" pitchFamily="34" charset="-122"/>
                <a:cs typeface="Aptos" pitchFamily="34" charset="-120"/>
              </a:rPr>
              <a:t>R2 RPP</a:t>
            </a:r>
            <a:endParaRPr lang="en-US" sz="1240" dirty="0"/>
          </a:p>
        </p:txBody>
      </p:sp>
      <p:sp>
        <p:nvSpPr>
          <p:cNvPr id="30" name="Shape 28"/>
          <p:cNvSpPr/>
          <p:nvPr/>
        </p:nvSpPr>
        <p:spPr>
          <a:xfrm>
            <a:off x="1481328" y="1884807"/>
            <a:ext cx="1874520" cy="502920"/>
          </a:xfrm>
          <a:prstGeom prst="rect">
            <a:avLst/>
          </a:prstGeom>
          <a:solidFill>
            <a:srgbClr val="F4F7FA"/>
          </a:solidFill>
          <a:ln w="7620">
            <a:solidFill>
              <a:srgbClr val="C9D6E4"/>
            </a:solidFill>
            <a:prstDash val="solid"/>
          </a:ln>
        </p:spPr>
      </p:sp>
      <p:sp>
        <p:nvSpPr>
          <p:cNvPr id="31" name="Shape 29"/>
          <p:cNvSpPr/>
          <p:nvPr/>
        </p:nvSpPr>
        <p:spPr>
          <a:xfrm>
            <a:off x="1609344" y="2085975"/>
            <a:ext cx="1012241" cy="100584"/>
          </a:xfrm>
          <a:prstGeom prst="rect">
            <a:avLst/>
          </a:prstGeom>
          <a:solidFill>
            <a:srgbClr val="E7EDF5"/>
          </a:solidFill>
          <a:ln w="12700">
            <a:solidFill>
              <a:srgbClr val="E7EDF5"/>
            </a:solidFill>
            <a:prstDash val="solid"/>
          </a:ln>
        </p:spPr>
      </p:sp>
      <p:sp>
        <p:nvSpPr>
          <p:cNvPr id="32" name="Shape 30"/>
          <p:cNvSpPr/>
          <p:nvPr/>
        </p:nvSpPr>
        <p:spPr>
          <a:xfrm>
            <a:off x="1609344" y="2085975"/>
            <a:ext cx="797140" cy="100584"/>
          </a:xfrm>
          <a:prstGeom prst="rect">
            <a:avLst/>
          </a:prstGeom>
          <a:solidFill>
            <a:srgbClr val="0F66E8"/>
          </a:solidFill>
          <a:ln w="12700">
            <a:solidFill>
              <a:srgbClr val="0F66E8"/>
            </a:solidFill>
            <a:prstDash val="solid"/>
          </a:ln>
        </p:spPr>
      </p:sp>
      <p:sp>
        <p:nvSpPr>
          <p:cNvPr id="33" name="Text 31"/>
          <p:cNvSpPr/>
          <p:nvPr/>
        </p:nvSpPr>
        <p:spPr>
          <a:xfrm>
            <a:off x="2756002" y="1903095"/>
            <a:ext cx="524866" cy="466344"/>
          </a:xfrm>
          <a:prstGeom prst="rect">
            <a:avLst/>
          </a:prstGeom>
          <a:noFill/>
        </p:spPr>
        <p:txBody>
          <a:bodyPr wrap="square" lIns="0" tIns="0" rIns="0" bIns="0" rtlCol="0" anchor="ctr">
            <a:normAutofit/>
          </a:bodyPr>
          <a:lstStyle/>
          <a:p>
            <a:pPr marL="0" indent="0" algn="l">
              <a:buNone/>
            </a:pPr>
            <a:r>
              <a:rPr lang="en-US" sz="1180" dirty="0">
                <a:solidFill>
                  <a:srgbClr val="0F66E8"/>
                </a:solidFill>
                <a:latin typeface="Aptos" pitchFamily="34" charset="0"/>
                <a:ea typeface="Aptos" pitchFamily="34" charset="-122"/>
                <a:cs typeface="Aptos" pitchFamily="34" charset="-120"/>
              </a:rPr>
              <a:t>0.8715</a:t>
            </a:r>
            <a:endParaRPr lang="en-US" sz="1180" dirty="0"/>
          </a:p>
        </p:txBody>
      </p:sp>
      <p:sp>
        <p:nvSpPr>
          <p:cNvPr id="34" name="Shape 32"/>
          <p:cNvSpPr/>
          <p:nvPr/>
        </p:nvSpPr>
        <p:spPr>
          <a:xfrm>
            <a:off x="3355848" y="1884807"/>
            <a:ext cx="1874520" cy="502920"/>
          </a:xfrm>
          <a:prstGeom prst="rect">
            <a:avLst/>
          </a:prstGeom>
          <a:solidFill>
            <a:srgbClr val="F4F7FA"/>
          </a:solidFill>
          <a:ln w="7620">
            <a:solidFill>
              <a:srgbClr val="C9D6E4"/>
            </a:solidFill>
            <a:prstDash val="solid"/>
          </a:ln>
        </p:spPr>
      </p:sp>
      <p:sp>
        <p:nvSpPr>
          <p:cNvPr id="35" name="Shape 33"/>
          <p:cNvSpPr/>
          <p:nvPr/>
        </p:nvSpPr>
        <p:spPr>
          <a:xfrm>
            <a:off x="3483864" y="2085975"/>
            <a:ext cx="1012241" cy="100584"/>
          </a:xfrm>
          <a:prstGeom prst="rect">
            <a:avLst/>
          </a:prstGeom>
          <a:solidFill>
            <a:srgbClr val="E7EDF5"/>
          </a:solidFill>
          <a:ln w="12700">
            <a:solidFill>
              <a:srgbClr val="E7EDF5"/>
            </a:solidFill>
            <a:prstDash val="solid"/>
          </a:ln>
        </p:spPr>
      </p:sp>
      <p:sp>
        <p:nvSpPr>
          <p:cNvPr id="36" name="Shape 34"/>
          <p:cNvSpPr/>
          <p:nvPr/>
        </p:nvSpPr>
        <p:spPr>
          <a:xfrm>
            <a:off x="3483864" y="2085975"/>
            <a:ext cx="1012241" cy="100584"/>
          </a:xfrm>
          <a:prstGeom prst="rect">
            <a:avLst/>
          </a:prstGeom>
          <a:solidFill>
            <a:srgbClr val="087C75"/>
          </a:solidFill>
          <a:ln w="12700">
            <a:solidFill>
              <a:srgbClr val="087C75"/>
            </a:solidFill>
            <a:prstDash val="solid"/>
          </a:ln>
        </p:spPr>
      </p:sp>
      <p:sp>
        <p:nvSpPr>
          <p:cNvPr id="37" name="Text 35"/>
          <p:cNvSpPr/>
          <p:nvPr/>
        </p:nvSpPr>
        <p:spPr>
          <a:xfrm>
            <a:off x="4630522" y="1903095"/>
            <a:ext cx="524866" cy="466344"/>
          </a:xfrm>
          <a:prstGeom prst="rect">
            <a:avLst/>
          </a:prstGeom>
          <a:noFill/>
        </p:spPr>
        <p:txBody>
          <a:bodyPr wrap="square" lIns="0" tIns="0" rIns="0" bIns="0" rtlCol="0" anchor="ctr">
            <a:normAutofit/>
          </a:bodyPr>
          <a:lstStyle/>
          <a:p>
            <a:pPr marL="0" indent="0" algn="l">
              <a:buNone/>
            </a:pPr>
            <a:r>
              <a:rPr lang="en-US" sz="1180" dirty="0">
                <a:solidFill>
                  <a:srgbClr val="087C75"/>
                </a:solidFill>
                <a:latin typeface="Aptos" pitchFamily="34" charset="0"/>
                <a:ea typeface="Aptos" pitchFamily="34" charset="-122"/>
                <a:cs typeface="Aptos" pitchFamily="34" charset="-120"/>
              </a:rPr>
              <a:t>0.8800</a:t>
            </a:r>
            <a:endParaRPr lang="en-US" sz="1180" dirty="0"/>
          </a:p>
        </p:txBody>
      </p:sp>
      <p:sp>
        <p:nvSpPr>
          <p:cNvPr id="38" name="Shape 36"/>
          <p:cNvSpPr/>
          <p:nvPr/>
        </p:nvSpPr>
        <p:spPr>
          <a:xfrm>
            <a:off x="5230368" y="1884807"/>
            <a:ext cx="2048256" cy="502920"/>
          </a:xfrm>
          <a:prstGeom prst="rect">
            <a:avLst/>
          </a:prstGeom>
          <a:solidFill>
            <a:srgbClr val="F4F7FA"/>
          </a:solidFill>
          <a:ln w="7620">
            <a:solidFill>
              <a:srgbClr val="C9D6E4"/>
            </a:solidFill>
            <a:prstDash val="solid"/>
          </a:ln>
        </p:spPr>
      </p:sp>
      <p:sp>
        <p:nvSpPr>
          <p:cNvPr id="39" name="Shape 37"/>
          <p:cNvSpPr/>
          <p:nvPr/>
        </p:nvSpPr>
        <p:spPr>
          <a:xfrm>
            <a:off x="5358384" y="2085975"/>
            <a:ext cx="1106058" cy="100584"/>
          </a:xfrm>
          <a:prstGeom prst="rect">
            <a:avLst/>
          </a:prstGeom>
          <a:solidFill>
            <a:srgbClr val="E7EDF5"/>
          </a:solidFill>
          <a:ln w="12700">
            <a:solidFill>
              <a:srgbClr val="E7EDF5"/>
            </a:solidFill>
            <a:prstDash val="solid"/>
          </a:ln>
        </p:spPr>
      </p:sp>
      <p:sp>
        <p:nvSpPr>
          <p:cNvPr id="40" name="Shape 38"/>
          <p:cNvSpPr/>
          <p:nvPr/>
        </p:nvSpPr>
        <p:spPr>
          <a:xfrm>
            <a:off x="5358384" y="2085975"/>
            <a:ext cx="635983" cy="100584"/>
          </a:xfrm>
          <a:prstGeom prst="rect">
            <a:avLst/>
          </a:prstGeom>
          <a:solidFill>
            <a:srgbClr val="F68B00"/>
          </a:solidFill>
          <a:ln w="12700">
            <a:solidFill>
              <a:srgbClr val="F68B00"/>
            </a:solidFill>
            <a:prstDash val="solid"/>
          </a:ln>
        </p:spPr>
      </p:sp>
      <p:sp>
        <p:nvSpPr>
          <p:cNvPr id="41" name="Text 39"/>
          <p:cNvSpPr/>
          <p:nvPr/>
        </p:nvSpPr>
        <p:spPr>
          <a:xfrm>
            <a:off x="6623182" y="1903095"/>
            <a:ext cx="573512" cy="466344"/>
          </a:xfrm>
          <a:prstGeom prst="rect">
            <a:avLst/>
          </a:prstGeom>
          <a:noFill/>
        </p:spPr>
        <p:txBody>
          <a:bodyPr wrap="square" lIns="0" tIns="0" rIns="0" bIns="0" rtlCol="0" anchor="ctr">
            <a:normAutofit/>
          </a:bodyPr>
          <a:lstStyle/>
          <a:p>
            <a:pPr marL="0" indent="0" algn="l">
              <a:buNone/>
            </a:pPr>
            <a:r>
              <a:rPr lang="en-US" sz="1180" dirty="0">
                <a:solidFill>
                  <a:srgbClr val="F68B00"/>
                </a:solidFill>
                <a:latin typeface="Aptos" pitchFamily="34" charset="0"/>
                <a:ea typeface="Aptos" pitchFamily="34" charset="-122"/>
                <a:cs typeface="Aptos" pitchFamily="34" charset="-120"/>
              </a:rPr>
              <a:t>0.8630</a:t>
            </a:r>
            <a:endParaRPr lang="en-US" sz="1180" dirty="0"/>
          </a:p>
        </p:txBody>
      </p:sp>
      <p:sp>
        <p:nvSpPr>
          <p:cNvPr id="42" name="Shape 40"/>
          <p:cNvSpPr/>
          <p:nvPr/>
        </p:nvSpPr>
        <p:spPr>
          <a:xfrm>
            <a:off x="320040" y="2387727"/>
            <a:ext cx="1161288" cy="502920"/>
          </a:xfrm>
          <a:prstGeom prst="rect">
            <a:avLst/>
          </a:prstGeom>
          <a:solidFill>
            <a:srgbClr val="FFFFFF"/>
          </a:solidFill>
          <a:ln w="7620">
            <a:solidFill>
              <a:srgbClr val="C9D6E4"/>
            </a:solidFill>
            <a:prstDash val="solid"/>
          </a:ln>
        </p:spPr>
      </p:sp>
      <p:sp>
        <p:nvSpPr>
          <p:cNvPr id="43" name="Text 41"/>
          <p:cNvSpPr/>
          <p:nvPr/>
        </p:nvSpPr>
        <p:spPr>
          <a:xfrm>
            <a:off x="393192" y="2406015"/>
            <a:ext cx="1014984" cy="466344"/>
          </a:xfrm>
          <a:prstGeom prst="rect">
            <a:avLst/>
          </a:prstGeom>
          <a:noFill/>
        </p:spPr>
        <p:txBody>
          <a:bodyPr wrap="square" lIns="0" tIns="0" rIns="0" bIns="0" rtlCol="0" anchor="ctr">
            <a:normAutofit/>
          </a:bodyPr>
          <a:lstStyle/>
          <a:p>
            <a:pPr marL="0" indent="0" algn="l">
              <a:buNone/>
            </a:pPr>
            <a:r>
              <a:rPr lang="en-US" sz="1240" b="1" dirty="0">
                <a:solidFill>
                  <a:srgbClr val="0B1B2B"/>
                </a:solidFill>
                <a:latin typeface="Aptos" pitchFamily="34" charset="0"/>
                <a:ea typeface="Aptos" pitchFamily="34" charset="-122"/>
                <a:cs typeface="Aptos" pitchFamily="34" charset="-120"/>
              </a:rPr>
              <a:t>R1 RPP</a:t>
            </a:r>
            <a:endParaRPr lang="en-US" sz="1240" dirty="0"/>
          </a:p>
        </p:txBody>
      </p:sp>
      <p:sp>
        <p:nvSpPr>
          <p:cNvPr id="44" name="Shape 42"/>
          <p:cNvSpPr/>
          <p:nvPr/>
        </p:nvSpPr>
        <p:spPr>
          <a:xfrm>
            <a:off x="1481328" y="2387727"/>
            <a:ext cx="1874520" cy="502920"/>
          </a:xfrm>
          <a:prstGeom prst="rect">
            <a:avLst/>
          </a:prstGeom>
          <a:solidFill>
            <a:srgbClr val="FFFFFF"/>
          </a:solidFill>
          <a:ln w="7620">
            <a:solidFill>
              <a:srgbClr val="C9D6E4"/>
            </a:solidFill>
            <a:prstDash val="solid"/>
          </a:ln>
        </p:spPr>
      </p:sp>
      <p:sp>
        <p:nvSpPr>
          <p:cNvPr id="45" name="Shape 43"/>
          <p:cNvSpPr/>
          <p:nvPr/>
        </p:nvSpPr>
        <p:spPr>
          <a:xfrm>
            <a:off x="1609344" y="2588895"/>
            <a:ext cx="1012241" cy="100584"/>
          </a:xfrm>
          <a:prstGeom prst="rect">
            <a:avLst/>
          </a:prstGeom>
          <a:solidFill>
            <a:srgbClr val="E7EDF5"/>
          </a:solidFill>
          <a:ln w="12700">
            <a:solidFill>
              <a:srgbClr val="E7EDF5"/>
            </a:solidFill>
            <a:prstDash val="solid"/>
          </a:ln>
        </p:spPr>
      </p:sp>
      <p:sp>
        <p:nvSpPr>
          <p:cNvPr id="46" name="Shape 44"/>
          <p:cNvSpPr/>
          <p:nvPr/>
        </p:nvSpPr>
        <p:spPr>
          <a:xfrm>
            <a:off x="1609344" y="2588895"/>
            <a:ext cx="764242" cy="100584"/>
          </a:xfrm>
          <a:prstGeom prst="rect">
            <a:avLst/>
          </a:prstGeom>
          <a:solidFill>
            <a:srgbClr val="0F66E8"/>
          </a:solidFill>
          <a:ln w="12700">
            <a:solidFill>
              <a:srgbClr val="0F66E8"/>
            </a:solidFill>
            <a:prstDash val="solid"/>
          </a:ln>
        </p:spPr>
      </p:sp>
      <p:sp>
        <p:nvSpPr>
          <p:cNvPr id="47" name="Text 45"/>
          <p:cNvSpPr/>
          <p:nvPr/>
        </p:nvSpPr>
        <p:spPr>
          <a:xfrm>
            <a:off x="2756002" y="2406015"/>
            <a:ext cx="524866" cy="466344"/>
          </a:xfrm>
          <a:prstGeom prst="rect">
            <a:avLst/>
          </a:prstGeom>
          <a:noFill/>
        </p:spPr>
        <p:txBody>
          <a:bodyPr wrap="square" lIns="0" tIns="0" rIns="0" bIns="0" rtlCol="0" anchor="ctr">
            <a:normAutofit/>
          </a:bodyPr>
          <a:lstStyle/>
          <a:p>
            <a:pPr marL="0" indent="0" algn="l">
              <a:buNone/>
            </a:pPr>
            <a:r>
              <a:rPr lang="en-US" sz="1180" dirty="0">
                <a:solidFill>
                  <a:srgbClr val="0F66E8"/>
                </a:solidFill>
                <a:latin typeface="Aptos" pitchFamily="34" charset="0"/>
                <a:ea typeface="Aptos" pitchFamily="34" charset="-122"/>
                <a:cs typeface="Aptos" pitchFamily="34" charset="-120"/>
              </a:rPr>
              <a:t>0.8702</a:t>
            </a:r>
            <a:endParaRPr lang="en-US" sz="1180" dirty="0"/>
          </a:p>
        </p:txBody>
      </p:sp>
      <p:sp>
        <p:nvSpPr>
          <p:cNvPr id="48" name="Shape 46"/>
          <p:cNvSpPr/>
          <p:nvPr/>
        </p:nvSpPr>
        <p:spPr>
          <a:xfrm>
            <a:off x="3355848" y="2387727"/>
            <a:ext cx="1874520" cy="502920"/>
          </a:xfrm>
          <a:prstGeom prst="rect">
            <a:avLst/>
          </a:prstGeom>
          <a:solidFill>
            <a:srgbClr val="FFFFFF"/>
          </a:solidFill>
          <a:ln w="7620">
            <a:solidFill>
              <a:srgbClr val="C9D6E4"/>
            </a:solidFill>
            <a:prstDash val="solid"/>
          </a:ln>
        </p:spPr>
      </p:sp>
      <p:sp>
        <p:nvSpPr>
          <p:cNvPr id="49" name="Shape 47"/>
          <p:cNvSpPr/>
          <p:nvPr/>
        </p:nvSpPr>
        <p:spPr>
          <a:xfrm>
            <a:off x="3483864" y="2588895"/>
            <a:ext cx="1012241" cy="100584"/>
          </a:xfrm>
          <a:prstGeom prst="rect">
            <a:avLst/>
          </a:prstGeom>
          <a:solidFill>
            <a:srgbClr val="E7EDF5"/>
          </a:solidFill>
          <a:ln w="12700">
            <a:solidFill>
              <a:srgbClr val="E7EDF5"/>
            </a:solidFill>
            <a:prstDash val="solid"/>
          </a:ln>
        </p:spPr>
      </p:sp>
      <p:sp>
        <p:nvSpPr>
          <p:cNvPr id="50" name="Shape 48"/>
          <p:cNvSpPr/>
          <p:nvPr/>
        </p:nvSpPr>
        <p:spPr>
          <a:xfrm>
            <a:off x="3483864" y="2588895"/>
            <a:ext cx="1012241" cy="100584"/>
          </a:xfrm>
          <a:prstGeom prst="rect">
            <a:avLst/>
          </a:prstGeom>
          <a:solidFill>
            <a:srgbClr val="087C75"/>
          </a:solidFill>
          <a:ln w="12700">
            <a:solidFill>
              <a:srgbClr val="087C75"/>
            </a:solidFill>
            <a:prstDash val="solid"/>
          </a:ln>
        </p:spPr>
      </p:sp>
      <p:sp>
        <p:nvSpPr>
          <p:cNvPr id="51" name="Text 49"/>
          <p:cNvSpPr/>
          <p:nvPr/>
        </p:nvSpPr>
        <p:spPr>
          <a:xfrm>
            <a:off x="4630522" y="2406015"/>
            <a:ext cx="524866" cy="466344"/>
          </a:xfrm>
          <a:prstGeom prst="rect">
            <a:avLst/>
          </a:prstGeom>
          <a:noFill/>
        </p:spPr>
        <p:txBody>
          <a:bodyPr wrap="square" lIns="0" tIns="0" rIns="0" bIns="0" rtlCol="0" anchor="ctr">
            <a:normAutofit/>
          </a:bodyPr>
          <a:lstStyle/>
          <a:p>
            <a:pPr marL="0" indent="0" algn="l">
              <a:buNone/>
            </a:pPr>
            <a:r>
              <a:rPr lang="en-US" sz="1180" dirty="0">
                <a:solidFill>
                  <a:srgbClr val="087C75"/>
                </a:solidFill>
                <a:latin typeface="Aptos" pitchFamily="34" charset="0"/>
                <a:ea typeface="Aptos" pitchFamily="34" charset="-122"/>
                <a:cs typeface="Aptos" pitchFamily="34" charset="-120"/>
              </a:rPr>
              <a:t>0.8800</a:t>
            </a:r>
            <a:endParaRPr lang="en-US" sz="1180" dirty="0"/>
          </a:p>
        </p:txBody>
      </p:sp>
      <p:sp>
        <p:nvSpPr>
          <p:cNvPr id="52" name="Shape 50"/>
          <p:cNvSpPr/>
          <p:nvPr/>
        </p:nvSpPr>
        <p:spPr>
          <a:xfrm>
            <a:off x="5230368" y="2387727"/>
            <a:ext cx="2048256" cy="502920"/>
          </a:xfrm>
          <a:prstGeom prst="rect">
            <a:avLst/>
          </a:prstGeom>
          <a:solidFill>
            <a:srgbClr val="FFFFFF"/>
          </a:solidFill>
          <a:ln w="7620">
            <a:solidFill>
              <a:srgbClr val="C9D6E4"/>
            </a:solidFill>
            <a:prstDash val="solid"/>
          </a:ln>
        </p:spPr>
      </p:sp>
      <p:sp>
        <p:nvSpPr>
          <p:cNvPr id="53" name="Shape 51"/>
          <p:cNvSpPr/>
          <p:nvPr/>
        </p:nvSpPr>
        <p:spPr>
          <a:xfrm>
            <a:off x="5358384" y="2588895"/>
            <a:ext cx="1106058" cy="100584"/>
          </a:xfrm>
          <a:prstGeom prst="rect">
            <a:avLst/>
          </a:prstGeom>
          <a:solidFill>
            <a:srgbClr val="E7EDF5"/>
          </a:solidFill>
          <a:ln w="12700">
            <a:solidFill>
              <a:srgbClr val="E7EDF5"/>
            </a:solidFill>
            <a:prstDash val="solid"/>
          </a:ln>
        </p:spPr>
      </p:sp>
      <p:sp>
        <p:nvSpPr>
          <p:cNvPr id="54" name="Shape 52"/>
          <p:cNvSpPr/>
          <p:nvPr/>
        </p:nvSpPr>
        <p:spPr>
          <a:xfrm>
            <a:off x="5358384" y="2588895"/>
            <a:ext cx="566855" cy="100584"/>
          </a:xfrm>
          <a:prstGeom prst="rect">
            <a:avLst/>
          </a:prstGeom>
          <a:solidFill>
            <a:srgbClr val="F68B00"/>
          </a:solidFill>
          <a:ln w="12700">
            <a:solidFill>
              <a:srgbClr val="F68B00"/>
            </a:solidFill>
            <a:prstDash val="solid"/>
          </a:ln>
        </p:spPr>
      </p:sp>
      <p:sp>
        <p:nvSpPr>
          <p:cNvPr id="55" name="Text 53"/>
          <p:cNvSpPr/>
          <p:nvPr/>
        </p:nvSpPr>
        <p:spPr>
          <a:xfrm>
            <a:off x="6623182" y="2406015"/>
            <a:ext cx="573512" cy="466344"/>
          </a:xfrm>
          <a:prstGeom prst="rect">
            <a:avLst/>
          </a:prstGeom>
          <a:noFill/>
        </p:spPr>
        <p:txBody>
          <a:bodyPr wrap="square" lIns="0" tIns="0" rIns="0" bIns="0" rtlCol="0" anchor="ctr">
            <a:normAutofit/>
          </a:bodyPr>
          <a:lstStyle/>
          <a:p>
            <a:pPr marL="0" indent="0" algn="l">
              <a:buNone/>
            </a:pPr>
            <a:r>
              <a:rPr lang="en-US" sz="1180" dirty="0">
                <a:solidFill>
                  <a:srgbClr val="F68B00"/>
                </a:solidFill>
                <a:latin typeface="Aptos" pitchFamily="34" charset="0"/>
                <a:ea typeface="Aptos" pitchFamily="34" charset="-122"/>
                <a:cs typeface="Aptos" pitchFamily="34" charset="-120"/>
              </a:rPr>
              <a:t>0.8605</a:t>
            </a:r>
            <a:endParaRPr lang="en-US" sz="1180" dirty="0"/>
          </a:p>
        </p:txBody>
      </p:sp>
      <p:sp>
        <p:nvSpPr>
          <p:cNvPr id="56" name="Shape 54"/>
          <p:cNvSpPr/>
          <p:nvPr/>
        </p:nvSpPr>
        <p:spPr>
          <a:xfrm>
            <a:off x="320040" y="2890647"/>
            <a:ext cx="1161288" cy="502920"/>
          </a:xfrm>
          <a:prstGeom prst="rect">
            <a:avLst/>
          </a:prstGeom>
          <a:solidFill>
            <a:srgbClr val="F4F7FA"/>
          </a:solidFill>
          <a:ln w="7620">
            <a:solidFill>
              <a:srgbClr val="C9D6E4"/>
            </a:solidFill>
            <a:prstDash val="solid"/>
          </a:ln>
        </p:spPr>
      </p:sp>
      <p:sp>
        <p:nvSpPr>
          <p:cNvPr id="57" name="Text 55"/>
          <p:cNvSpPr/>
          <p:nvPr/>
        </p:nvSpPr>
        <p:spPr>
          <a:xfrm>
            <a:off x="393192" y="2908935"/>
            <a:ext cx="1014984" cy="466344"/>
          </a:xfrm>
          <a:prstGeom prst="rect">
            <a:avLst/>
          </a:prstGeom>
          <a:noFill/>
        </p:spPr>
        <p:txBody>
          <a:bodyPr wrap="square" lIns="0" tIns="0" rIns="0" bIns="0" rtlCol="0" anchor="ctr">
            <a:normAutofit/>
          </a:bodyPr>
          <a:lstStyle/>
          <a:p>
            <a:pPr marL="0" indent="0" algn="l">
              <a:buNone/>
            </a:pPr>
            <a:r>
              <a:rPr lang="en-US" sz="1240" b="1" dirty="0">
                <a:solidFill>
                  <a:srgbClr val="0B1B2B"/>
                </a:solidFill>
                <a:latin typeface="Aptos" pitchFamily="34" charset="0"/>
                <a:ea typeface="Aptos" pitchFamily="34" charset="-122"/>
                <a:cs typeface="Aptos" pitchFamily="34" charset="-120"/>
              </a:rPr>
              <a:t>R1 Task</a:t>
            </a:r>
            <a:endParaRPr lang="en-US" sz="1240" dirty="0"/>
          </a:p>
        </p:txBody>
      </p:sp>
      <p:sp>
        <p:nvSpPr>
          <p:cNvPr id="58" name="Shape 56"/>
          <p:cNvSpPr/>
          <p:nvPr/>
        </p:nvSpPr>
        <p:spPr>
          <a:xfrm>
            <a:off x="1481328" y="2890647"/>
            <a:ext cx="1874520" cy="502920"/>
          </a:xfrm>
          <a:prstGeom prst="rect">
            <a:avLst/>
          </a:prstGeom>
          <a:solidFill>
            <a:srgbClr val="F4F7FA"/>
          </a:solidFill>
          <a:ln w="7620">
            <a:solidFill>
              <a:srgbClr val="C9D6E4"/>
            </a:solidFill>
            <a:prstDash val="solid"/>
          </a:ln>
        </p:spPr>
      </p:sp>
      <p:sp>
        <p:nvSpPr>
          <p:cNvPr id="59" name="Shape 57"/>
          <p:cNvSpPr/>
          <p:nvPr/>
        </p:nvSpPr>
        <p:spPr>
          <a:xfrm>
            <a:off x="1609344" y="3091815"/>
            <a:ext cx="1012241" cy="100584"/>
          </a:xfrm>
          <a:prstGeom prst="rect">
            <a:avLst/>
          </a:prstGeom>
          <a:solidFill>
            <a:srgbClr val="E7EDF5"/>
          </a:solidFill>
          <a:ln w="12700">
            <a:solidFill>
              <a:srgbClr val="E7EDF5"/>
            </a:solidFill>
            <a:prstDash val="solid"/>
          </a:ln>
        </p:spPr>
      </p:sp>
      <p:sp>
        <p:nvSpPr>
          <p:cNvPr id="60" name="Shape 58"/>
          <p:cNvSpPr/>
          <p:nvPr/>
        </p:nvSpPr>
        <p:spPr>
          <a:xfrm>
            <a:off x="1609344" y="3091815"/>
            <a:ext cx="736405" cy="100584"/>
          </a:xfrm>
          <a:prstGeom prst="rect">
            <a:avLst/>
          </a:prstGeom>
          <a:solidFill>
            <a:srgbClr val="0F66E8"/>
          </a:solidFill>
          <a:ln w="12700">
            <a:solidFill>
              <a:srgbClr val="0F66E8"/>
            </a:solidFill>
            <a:prstDash val="solid"/>
          </a:ln>
        </p:spPr>
      </p:sp>
      <p:sp>
        <p:nvSpPr>
          <p:cNvPr id="61" name="Text 59"/>
          <p:cNvSpPr/>
          <p:nvPr/>
        </p:nvSpPr>
        <p:spPr>
          <a:xfrm>
            <a:off x="2756002" y="2908935"/>
            <a:ext cx="524866" cy="466344"/>
          </a:xfrm>
          <a:prstGeom prst="rect">
            <a:avLst/>
          </a:prstGeom>
          <a:noFill/>
        </p:spPr>
        <p:txBody>
          <a:bodyPr wrap="square" lIns="0" tIns="0" rIns="0" bIns="0" rtlCol="0" anchor="ctr">
            <a:normAutofit/>
          </a:bodyPr>
          <a:lstStyle/>
          <a:p>
            <a:pPr marL="0" indent="0" algn="l">
              <a:buNone/>
            </a:pPr>
            <a:r>
              <a:rPr lang="en-US" sz="1180" dirty="0">
                <a:solidFill>
                  <a:srgbClr val="0F66E8"/>
                </a:solidFill>
                <a:latin typeface="Aptos" pitchFamily="34" charset="0"/>
                <a:ea typeface="Aptos" pitchFamily="34" charset="-122"/>
                <a:cs typeface="Aptos" pitchFamily="34" charset="-120"/>
              </a:rPr>
              <a:t>0.8691</a:t>
            </a:r>
            <a:endParaRPr lang="en-US" sz="1180" dirty="0"/>
          </a:p>
        </p:txBody>
      </p:sp>
      <p:sp>
        <p:nvSpPr>
          <p:cNvPr id="62" name="Shape 60"/>
          <p:cNvSpPr/>
          <p:nvPr/>
        </p:nvSpPr>
        <p:spPr>
          <a:xfrm>
            <a:off x="3355848" y="2890647"/>
            <a:ext cx="1874520" cy="502920"/>
          </a:xfrm>
          <a:prstGeom prst="rect">
            <a:avLst/>
          </a:prstGeom>
          <a:solidFill>
            <a:srgbClr val="F4F7FA"/>
          </a:solidFill>
          <a:ln w="7620">
            <a:solidFill>
              <a:srgbClr val="C9D6E4"/>
            </a:solidFill>
            <a:prstDash val="solid"/>
          </a:ln>
        </p:spPr>
      </p:sp>
      <p:sp>
        <p:nvSpPr>
          <p:cNvPr id="63" name="Shape 61"/>
          <p:cNvSpPr/>
          <p:nvPr/>
        </p:nvSpPr>
        <p:spPr>
          <a:xfrm>
            <a:off x="3483864" y="3091815"/>
            <a:ext cx="1012241" cy="100584"/>
          </a:xfrm>
          <a:prstGeom prst="rect">
            <a:avLst/>
          </a:prstGeom>
          <a:solidFill>
            <a:srgbClr val="E7EDF5"/>
          </a:solidFill>
          <a:ln w="12700">
            <a:solidFill>
              <a:srgbClr val="E7EDF5"/>
            </a:solidFill>
            <a:prstDash val="solid"/>
          </a:ln>
        </p:spPr>
      </p:sp>
      <p:sp>
        <p:nvSpPr>
          <p:cNvPr id="64" name="Shape 62"/>
          <p:cNvSpPr/>
          <p:nvPr/>
        </p:nvSpPr>
        <p:spPr>
          <a:xfrm>
            <a:off x="3483864" y="3091815"/>
            <a:ext cx="1012241" cy="100584"/>
          </a:xfrm>
          <a:prstGeom prst="rect">
            <a:avLst/>
          </a:prstGeom>
          <a:solidFill>
            <a:srgbClr val="087C75"/>
          </a:solidFill>
          <a:ln w="12700">
            <a:solidFill>
              <a:srgbClr val="087C75"/>
            </a:solidFill>
            <a:prstDash val="solid"/>
          </a:ln>
        </p:spPr>
      </p:sp>
      <p:sp>
        <p:nvSpPr>
          <p:cNvPr id="65" name="Text 63"/>
          <p:cNvSpPr/>
          <p:nvPr/>
        </p:nvSpPr>
        <p:spPr>
          <a:xfrm>
            <a:off x="4630522" y="2908935"/>
            <a:ext cx="524866" cy="466344"/>
          </a:xfrm>
          <a:prstGeom prst="rect">
            <a:avLst/>
          </a:prstGeom>
          <a:noFill/>
        </p:spPr>
        <p:txBody>
          <a:bodyPr wrap="square" lIns="0" tIns="0" rIns="0" bIns="0" rtlCol="0" anchor="ctr">
            <a:normAutofit/>
          </a:bodyPr>
          <a:lstStyle/>
          <a:p>
            <a:pPr marL="0" indent="0" algn="l">
              <a:buNone/>
            </a:pPr>
            <a:r>
              <a:rPr lang="en-US" sz="1180" dirty="0">
                <a:solidFill>
                  <a:srgbClr val="087C75"/>
                </a:solidFill>
                <a:latin typeface="Aptos" pitchFamily="34" charset="0"/>
                <a:ea typeface="Aptos" pitchFamily="34" charset="-122"/>
                <a:cs typeface="Aptos" pitchFamily="34" charset="-120"/>
              </a:rPr>
              <a:t>0.8800</a:t>
            </a:r>
            <a:endParaRPr lang="en-US" sz="1180" dirty="0"/>
          </a:p>
        </p:txBody>
      </p:sp>
      <p:sp>
        <p:nvSpPr>
          <p:cNvPr id="66" name="Shape 64"/>
          <p:cNvSpPr/>
          <p:nvPr/>
        </p:nvSpPr>
        <p:spPr>
          <a:xfrm>
            <a:off x="5230368" y="2890647"/>
            <a:ext cx="2048256" cy="502920"/>
          </a:xfrm>
          <a:prstGeom prst="rect">
            <a:avLst/>
          </a:prstGeom>
          <a:solidFill>
            <a:srgbClr val="F4F7FA"/>
          </a:solidFill>
          <a:ln w="7620">
            <a:solidFill>
              <a:srgbClr val="C9D6E4"/>
            </a:solidFill>
            <a:prstDash val="solid"/>
          </a:ln>
        </p:spPr>
      </p:sp>
      <p:sp>
        <p:nvSpPr>
          <p:cNvPr id="67" name="Shape 65"/>
          <p:cNvSpPr/>
          <p:nvPr/>
        </p:nvSpPr>
        <p:spPr>
          <a:xfrm>
            <a:off x="5358384" y="3091815"/>
            <a:ext cx="1106058" cy="100584"/>
          </a:xfrm>
          <a:prstGeom prst="rect">
            <a:avLst/>
          </a:prstGeom>
          <a:solidFill>
            <a:srgbClr val="E7EDF5"/>
          </a:solidFill>
          <a:ln w="12700">
            <a:solidFill>
              <a:srgbClr val="E7EDF5"/>
            </a:solidFill>
            <a:prstDash val="solid"/>
          </a:ln>
        </p:spPr>
      </p:sp>
      <p:sp>
        <p:nvSpPr>
          <p:cNvPr id="68" name="Shape 66"/>
          <p:cNvSpPr/>
          <p:nvPr/>
        </p:nvSpPr>
        <p:spPr>
          <a:xfrm>
            <a:off x="5358384" y="3091815"/>
            <a:ext cx="503256" cy="100584"/>
          </a:xfrm>
          <a:prstGeom prst="rect">
            <a:avLst/>
          </a:prstGeom>
          <a:solidFill>
            <a:srgbClr val="F68B00"/>
          </a:solidFill>
          <a:ln w="12700">
            <a:solidFill>
              <a:srgbClr val="F68B00"/>
            </a:solidFill>
            <a:prstDash val="solid"/>
          </a:ln>
        </p:spPr>
      </p:sp>
      <p:sp>
        <p:nvSpPr>
          <p:cNvPr id="69" name="Text 67"/>
          <p:cNvSpPr/>
          <p:nvPr/>
        </p:nvSpPr>
        <p:spPr>
          <a:xfrm>
            <a:off x="6623182" y="2908935"/>
            <a:ext cx="573512" cy="466344"/>
          </a:xfrm>
          <a:prstGeom prst="rect">
            <a:avLst/>
          </a:prstGeom>
          <a:noFill/>
        </p:spPr>
        <p:txBody>
          <a:bodyPr wrap="square" lIns="0" tIns="0" rIns="0" bIns="0" rtlCol="0" anchor="ctr">
            <a:normAutofit/>
          </a:bodyPr>
          <a:lstStyle/>
          <a:p>
            <a:pPr marL="0" indent="0" algn="l">
              <a:buNone/>
            </a:pPr>
            <a:r>
              <a:rPr lang="en-US" sz="1180" dirty="0">
                <a:solidFill>
                  <a:srgbClr val="F68B00"/>
                </a:solidFill>
                <a:latin typeface="Aptos" pitchFamily="34" charset="0"/>
                <a:ea typeface="Aptos" pitchFamily="34" charset="-122"/>
                <a:cs typeface="Aptos" pitchFamily="34" charset="-120"/>
              </a:rPr>
              <a:t>0.8582</a:t>
            </a:r>
            <a:endParaRPr lang="en-US" sz="1180" dirty="0"/>
          </a:p>
        </p:txBody>
      </p:sp>
      <p:sp>
        <p:nvSpPr>
          <p:cNvPr id="70" name="Shape 68"/>
          <p:cNvSpPr/>
          <p:nvPr/>
        </p:nvSpPr>
        <p:spPr>
          <a:xfrm>
            <a:off x="320040" y="3393567"/>
            <a:ext cx="1161288" cy="502920"/>
          </a:xfrm>
          <a:prstGeom prst="rect">
            <a:avLst/>
          </a:prstGeom>
          <a:solidFill>
            <a:srgbClr val="FFFFFF"/>
          </a:solidFill>
          <a:ln w="7620">
            <a:solidFill>
              <a:srgbClr val="C9D6E4"/>
            </a:solidFill>
            <a:prstDash val="solid"/>
          </a:ln>
        </p:spPr>
      </p:sp>
      <p:sp>
        <p:nvSpPr>
          <p:cNvPr id="71" name="Text 69"/>
          <p:cNvSpPr/>
          <p:nvPr/>
        </p:nvSpPr>
        <p:spPr>
          <a:xfrm>
            <a:off x="393192" y="3411855"/>
            <a:ext cx="1014984" cy="466344"/>
          </a:xfrm>
          <a:prstGeom prst="rect">
            <a:avLst/>
          </a:prstGeom>
          <a:noFill/>
        </p:spPr>
        <p:txBody>
          <a:bodyPr wrap="square" lIns="0" tIns="0" rIns="0" bIns="0" rtlCol="0" anchor="ctr">
            <a:normAutofit/>
          </a:bodyPr>
          <a:lstStyle/>
          <a:p>
            <a:pPr marL="0" indent="0" algn="l">
              <a:buNone/>
            </a:pPr>
            <a:r>
              <a:rPr lang="en-US" sz="1240" b="1" dirty="0">
                <a:solidFill>
                  <a:srgbClr val="0B1B2B"/>
                </a:solidFill>
                <a:latin typeface="Aptos" pitchFamily="34" charset="0"/>
                <a:ea typeface="Aptos" pitchFamily="34" charset="-122"/>
                <a:cs typeface="Aptos" pitchFamily="34" charset="-120"/>
              </a:rPr>
              <a:t>R1 Agent</a:t>
            </a:r>
            <a:endParaRPr lang="en-US" sz="1240" dirty="0"/>
          </a:p>
        </p:txBody>
      </p:sp>
      <p:sp>
        <p:nvSpPr>
          <p:cNvPr id="72" name="Shape 70"/>
          <p:cNvSpPr/>
          <p:nvPr/>
        </p:nvSpPr>
        <p:spPr>
          <a:xfrm>
            <a:off x="1481328" y="3393567"/>
            <a:ext cx="1874520" cy="502920"/>
          </a:xfrm>
          <a:prstGeom prst="rect">
            <a:avLst/>
          </a:prstGeom>
          <a:solidFill>
            <a:srgbClr val="FFFFFF"/>
          </a:solidFill>
          <a:ln w="7620">
            <a:solidFill>
              <a:srgbClr val="C9D6E4"/>
            </a:solidFill>
            <a:prstDash val="solid"/>
          </a:ln>
        </p:spPr>
      </p:sp>
      <p:sp>
        <p:nvSpPr>
          <p:cNvPr id="73" name="Shape 71"/>
          <p:cNvSpPr/>
          <p:nvPr/>
        </p:nvSpPr>
        <p:spPr>
          <a:xfrm>
            <a:off x="1609344" y="3594735"/>
            <a:ext cx="1012241" cy="100584"/>
          </a:xfrm>
          <a:prstGeom prst="rect">
            <a:avLst/>
          </a:prstGeom>
          <a:solidFill>
            <a:srgbClr val="E7EDF5"/>
          </a:solidFill>
          <a:ln w="12700">
            <a:solidFill>
              <a:srgbClr val="E7EDF5"/>
            </a:solidFill>
            <a:prstDash val="solid"/>
          </a:ln>
        </p:spPr>
      </p:sp>
      <p:sp>
        <p:nvSpPr>
          <p:cNvPr id="74" name="Shape 72"/>
          <p:cNvSpPr/>
          <p:nvPr/>
        </p:nvSpPr>
        <p:spPr>
          <a:xfrm>
            <a:off x="1609344" y="3594735"/>
            <a:ext cx="700977" cy="100584"/>
          </a:xfrm>
          <a:prstGeom prst="rect">
            <a:avLst/>
          </a:prstGeom>
          <a:solidFill>
            <a:srgbClr val="0F66E8"/>
          </a:solidFill>
          <a:ln w="12700">
            <a:solidFill>
              <a:srgbClr val="0F66E8"/>
            </a:solidFill>
            <a:prstDash val="solid"/>
          </a:ln>
        </p:spPr>
      </p:sp>
      <p:sp>
        <p:nvSpPr>
          <p:cNvPr id="75" name="Text 73"/>
          <p:cNvSpPr/>
          <p:nvPr/>
        </p:nvSpPr>
        <p:spPr>
          <a:xfrm>
            <a:off x="2756002" y="3411855"/>
            <a:ext cx="524866" cy="466344"/>
          </a:xfrm>
          <a:prstGeom prst="rect">
            <a:avLst/>
          </a:prstGeom>
          <a:noFill/>
        </p:spPr>
        <p:txBody>
          <a:bodyPr wrap="square" lIns="0" tIns="0" rIns="0" bIns="0" rtlCol="0" anchor="ctr">
            <a:normAutofit/>
          </a:bodyPr>
          <a:lstStyle/>
          <a:p>
            <a:pPr marL="0" indent="0" algn="l">
              <a:buNone/>
            </a:pPr>
            <a:r>
              <a:rPr lang="en-US" sz="1180" dirty="0">
                <a:solidFill>
                  <a:srgbClr val="0F66E8"/>
                </a:solidFill>
                <a:latin typeface="Aptos" pitchFamily="34" charset="0"/>
                <a:ea typeface="Aptos" pitchFamily="34" charset="-122"/>
                <a:cs typeface="Aptos" pitchFamily="34" charset="-120"/>
              </a:rPr>
              <a:t>0.8677</a:t>
            </a:r>
            <a:endParaRPr lang="en-US" sz="1180" dirty="0"/>
          </a:p>
        </p:txBody>
      </p:sp>
      <p:sp>
        <p:nvSpPr>
          <p:cNvPr id="76" name="Shape 74"/>
          <p:cNvSpPr/>
          <p:nvPr/>
        </p:nvSpPr>
        <p:spPr>
          <a:xfrm>
            <a:off x="3355848" y="3393567"/>
            <a:ext cx="1874520" cy="502920"/>
          </a:xfrm>
          <a:prstGeom prst="rect">
            <a:avLst/>
          </a:prstGeom>
          <a:solidFill>
            <a:srgbClr val="FFFFFF"/>
          </a:solidFill>
          <a:ln w="7620">
            <a:solidFill>
              <a:srgbClr val="C9D6E4"/>
            </a:solidFill>
            <a:prstDash val="solid"/>
          </a:ln>
        </p:spPr>
      </p:sp>
      <p:sp>
        <p:nvSpPr>
          <p:cNvPr id="77" name="Shape 75"/>
          <p:cNvSpPr/>
          <p:nvPr/>
        </p:nvSpPr>
        <p:spPr>
          <a:xfrm>
            <a:off x="3483864" y="3594735"/>
            <a:ext cx="1012241" cy="100584"/>
          </a:xfrm>
          <a:prstGeom prst="rect">
            <a:avLst/>
          </a:prstGeom>
          <a:solidFill>
            <a:srgbClr val="E7EDF5"/>
          </a:solidFill>
          <a:ln w="12700">
            <a:solidFill>
              <a:srgbClr val="E7EDF5"/>
            </a:solidFill>
            <a:prstDash val="solid"/>
          </a:ln>
        </p:spPr>
      </p:sp>
      <p:sp>
        <p:nvSpPr>
          <p:cNvPr id="78" name="Shape 76"/>
          <p:cNvSpPr/>
          <p:nvPr/>
        </p:nvSpPr>
        <p:spPr>
          <a:xfrm>
            <a:off x="3483864" y="3594735"/>
            <a:ext cx="1012241" cy="100584"/>
          </a:xfrm>
          <a:prstGeom prst="rect">
            <a:avLst/>
          </a:prstGeom>
          <a:solidFill>
            <a:srgbClr val="087C75"/>
          </a:solidFill>
          <a:ln w="12700">
            <a:solidFill>
              <a:srgbClr val="087C75"/>
            </a:solidFill>
            <a:prstDash val="solid"/>
          </a:ln>
        </p:spPr>
      </p:sp>
      <p:sp>
        <p:nvSpPr>
          <p:cNvPr id="79" name="Text 77"/>
          <p:cNvSpPr/>
          <p:nvPr/>
        </p:nvSpPr>
        <p:spPr>
          <a:xfrm>
            <a:off x="4630522" y="3411855"/>
            <a:ext cx="524866" cy="466344"/>
          </a:xfrm>
          <a:prstGeom prst="rect">
            <a:avLst/>
          </a:prstGeom>
          <a:noFill/>
        </p:spPr>
        <p:txBody>
          <a:bodyPr wrap="square" lIns="0" tIns="0" rIns="0" bIns="0" rtlCol="0" anchor="ctr">
            <a:normAutofit/>
          </a:bodyPr>
          <a:lstStyle/>
          <a:p>
            <a:pPr marL="0" indent="0" algn="l">
              <a:buNone/>
            </a:pPr>
            <a:r>
              <a:rPr lang="en-US" sz="1180" dirty="0">
                <a:solidFill>
                  <a:srgbClr val="087C75"/>
                </a:solidFill>
                <a:latin typeface="Aptos" pitchFamily="34" charset="0"/>
                <a:ea typeface="Aptos" pitchFamily="34" charset="-122"/>
                <a:cs typeface="Aptos" pitchFamily="34" charset="-120"/>
              </a:rPr>
              <a:t>0.8800</a:t>
            </a:r>
            <a:endParaRPr lang="en-US" sz="1180" dirty="0"/>
          </a:p>
        </p:txBody>
      </p:sp>
      <p:sp>
        <p:nvSpPr>
          <p:cNvPr id="80" name="Shape 78"/>
          <p:cNvSpPr/>
          <p:nvPr/>
        </p:nvSpPr>
        <p:spPr>
          <a:xfrm>
            <a:off x="5230368" y="3393567"/>
            <a:ext cx="2048256" cy="502920"/>
          </a:xfrm>
          <a:prstGeom prst="rect">
            <a:avLst/>
          </a:prstGeom>
          <a:solidFill>
            <a:srgbClr val="FFFFFF"/>
          </a:solidFill>
          <a:ln w="7620">
            <a:solidFill>
              <a:srgbClr val="C9D6E4"/>
            </a:solidFill>
            <a:prstDash val="solid"/>
          </a:ln>
        </p:spPr>
      </p:sp>
      <p:sp>
        <p:nvSpPr>
          <p:cNvPr id="81" name="Shape 79"/>
          <p:cNvSpPr/>
          <p:nvPr/>
        </p:nvSpPr>
        <p:spPr>
          <a:xfrm>
            <a:off x="5358384" y="3594735"/>
            <a:ext cx="1106058" cy="100584"/>
          </a:xfrm>
          <a:prstGeom prst="rect">
            <a:avLst/>
          </a:prstGeom>
          <a:solidFill>
            <a:srgbClr val="E7EDF5"/>
          </a:solidFill>
          <a:ln w="12700">
            <a:solidFill>
              <a:srgbClr val="E7EDF5"/>
            </a:solidFill>
            <a:prstDash val="solid"/>
          </a:ln>
        </p:spPr>
      </p:sp>
      <p:sp>
        <p:nvSpPr>
          <p:cNvPr id="82" name="Shape 80"/>
          <p:cNvSpPr/>
          <p:nvPr/>
        </p:nvSpPr>
        <p:spPr>
          <a:xfrm>
            <a:off x="5358384" y="3594735"/>
            <a:ext cx="425832" cy="100584"/>
          </a:xfrm>
          <a:prstGeom prst="rect">
            <a:avLst/>
          </a:prstGeom>
          <a:solidFill>
            <a:srgbClr val="F68B00"/>
          </a:solidFill>
          <a:ln w="12700">
            <a:solidFill>
              <a:srgbClr val="F68B00"/>
            </a:solidFill>
            <a:prstDash val="solid"/>
          </a:ln>
        </p:spPr>
      </p:sp>
      <p:sp>
        <p:nvSpPr>
          <p:cNvPr id="83" name="Text 81"/>
          <p:cNvSpPr/>
          <p:nvPr/>
        </p:nvSpPr>
        <p:spPr>
          <a:xfrm>
            <a:off x="6623182" y="3411855"/>
            <a:ext cx="573512" cy="466344"/>
          </a:xfrm>
          <a:prstGeom prst="rect">
            <a:avLst/>
          </a:prstGeom>
          <a:noFill/>
        </p:spPr>
        <p:txBody>
          <a:bodyPr wrap="square" lIns="0" tIns="0" rIns="0" bIns="0" rtlCol="0" anchor="ctr">
            <a:normAutofit/>
          </a:bodyPr>
          <a:lstStyle/>
          <a:p>
            <a:pPr marL="0" indent="0" algn="l">
              <a:buNone/>
            </a:pPr>
            <a:r>
              <a:rPr lang="en-US" sz="1180" dirty="0">
                <a:solidFill>
                  <a:srgbClr val="F68B00"/>
                </a:solidFill>
                <a:latin typeface="Aptos" pitchFamily="34" charset="0"/>
                <a:ea typeface="Aptos" pitchFamily="34" charset="-122"/>
                <a:cs typeface="Aptos" pitchFamily="34" charset="-120"/>
              </a:rPr>
              <a:t>0.8554</a:t>
            </a:r>
            <a:endParaRPr lang="en-US" sz="1180" dirty="0"/>
          </a:p>
        </p:txBody>
      </p:sp>
      <p:sp>
        <p:nvSpPr>
          <p:cNvPr id="84" name="Shape 82"/>
          <p:cNvSpPr/>
          <p:nvPr/>
        </p:nvSpPr>
        <p:spPr>
          <a:xfrm>
            <a:off x="320040" y="3896487"/>
            <a:ext cx="1161288" cy="502920"/>
          </a:xfrm>
          <a:prstGeom prst="rect">
            <a:avLst/>
          </a:prstGeom>
          <a:solidFill>
            <a:srgbClr val="F4F7FA"/>
          </a:solidFill>
          <a:ln w="7620">
            <a:solidFill>
              <a:srgbClr val="C9D6E4"/>
            </a:solidFill>
            <a:prstDash val="solid"/>
          </a:ln>
        </p:spPr>
      </p:sp>
      <p:sp>
        <p:nvSpPr>
          <p:cNvPr id="85" name="Text 83"/>
          <p:cNvSpPr/>
          <p:nvPr/>
        </p:nvSpPr>
        <p:spPr>
          <a:xfrm>
            <a:off x="393192" y="3914775"/>
            <a:ext cx="1014984" cy="466344"/>
          </a:xfrm>
          <a:prstGeom prst="rect">
            <a:avLst/>
          </a:prstGeom>
          <a:noFill/>
        </p:spPr>
        <p:txBody>
          <a:bodyPr wrap="square" lIns="0" tIns="0" rIns="0" bIns="0" rtlCol="0" anchor="ctr">
            <a:normAutofit/>
          </a:bodyPr>
          <a:lstStyle/>
          <a:p>
            <a:pPr marL="0" indent="0" algn="l">
              <a:buNone/>
            </a:pPr>
            <a:r>
              <a:rPr lang="en-US" sz="1240" b="1" dirty="0">
                <a:solidFill>
                  <a:srgbClr val="0B1B2B"/>
                </a:solidFill>
                <a:latin typeface="Aptos" pitchFamily="34" charset="0"/>
                <a:ea typeface="Aptos" pitchFamily="34" charset="-122"/>
                <a:cs typeface="Aptos" pitchFamily="34" charset="-120"/>
              </a:rPr>
              <a:t>R2 Task</a:t>
            </a:r>
            <a:endParaRPr lang="en-US" sz="1240" dirty="0"/>
          </a:p>
        </p:txBody>
      </p:sp>
      <p:sp>
        <p:nvSpPr>
          <p:cNvPr id="86" name="Shape 84"/>
          <p:cNvSpPr/>
          <p:nvPr/>
        </p:nvSpPr>
        <p:spPr>
          <a:xfrm>
            <a:off x="1481328" y="3896487"/>
            <a:ext cx="1874520" cy="502920"/>
          </a:xfrm>
          <a:prstGeom prst="rect">
            <a:avLst/>
          </a:prstGeom>
          <a:solidFill>
            <a:srgbClr val="F4F7FA"/>
          </a:solidFill>
          <a:ln w="7620">
            <a:solidFill>
              <a:srgbClr val="C9D6E4"/>
            </a:solidFill>
            <a:prstDash val="solid"/>
          </a:ln>
        </p:spPr>
      </p:sp>
      <p:sp>
        <p:nvSpPr>
          <p:cNvPr id="87" name="Shape 85"/>
          <p:cNvSpPr/>
          <p:nvPr/>
        </p:nvSpPr>
        <p:spPr>
          <a:xfrm>
            <a:off x="1609344" y="4097655"/>
            <a:ext cx="1012241" cy="100584"/>
          </a:xfrm>
          <a:prstGeom prst="rect">
            <a:avLst/>
          </a:prstGeom>
          <a:solidFill>
            <a:srgbClr val="E7EDF5"/>
          </a:solidFill>
          <a:ln w="12700">
            <a:solidFill>
              <a:srgbClr val="E7EDF5"/>
            </a:solidFill>
            <a:prstDash val="solid"/>
          </a:ln>
        </p:spPr>
      </p:sp>
      <p:sp>
        <p:nvSpPr>
          <p:cNvPr id="88" name="Shape 86"/>
          <p:cNvSpPr/>
          <p:nvPr/>
        </p:nvSpPr>
        <p:spPr>
          <a:xfrm>
            <a:off x="1609344" y="4097655"/>
            <a:ext cx="592161" cy="100584"/>
          </a:xfrm>
          <a:prstGeom prst="rect">
            <a:avLst/>
          </a:prstGeom>
          <a:solidFill>
            <a:srgbClr val="0F66E8"/>
          </a:solidFill>
          <a:ln w="12700">
            <a:solidFill>
              <a:srgbClr val="0F66E8"/>
            </a:solidFill>
            <a:prstDash val="solid"/>
          </a:ln>
        </p:spPr>
      </p:sp>
      <p:sp>
        <p:nvSpPr>
          <p:cNvPr id="89" name="Text 87"/>
          <p:cNvSpPr/>
          <p:nvPr/>
        </p:nvSpPr>
        <p:spPr>
          <a:xfrm>
            <a:off x="2756002" y="3914775"/>
            <a:ext cx="524866" cy="466344"/>
          </a:xfrm>
          <a:prstGeom prst="rect">
            <a:avLst/>
          </a:prstGeom>
          <a:noFill/>
        </p:spPr>
        <p:txBody>
          <a:bodyPr wrap="square" lIns="0" tIns="0" rIns="0" bIns="0" rtlCol="0" anchor="ctr">
            <a:normAutofit/>
          </a:bodyPr>
          <a:lstStyle/>
          <a:p>
            <a:pPr marL="0" indent="0" algn="l">
              <a:buNone/>
            </a:pPr>
            <a:r>
              <a:rPr lang="en-US" sz="1180" dirty="0">
                <a:solidFill>
                  <a:srgbClr val="0F66E8"/>
                </a:solidFill>
                <a:latin typeface="Aptos" pitchFamily="34" charset="0"/>
                <a:ea typeface="Aptos" pitchFamily="34" charset="-122"/>
                <a:cs typeface="Aptos" pitchFamily="34" charset="-120"/>
              </a:rPr>
              <a:t>0.8634</a:t>
            </a:r>
            <a:endParaRPr lang="en-US" sz="1180" dirty="0"/>
          </a:p>
        </p:txBody>
      </p:sp>
      <p:sp>
        <p:nvSpPr>
          <p:cNvPr id="90" name="Shape 88"/>
          <p:cNvSpPr/>
          <p:nvPr/>
        </p:nvSpPr>
        <p:spPr>
          <a:xfrm>
            <a:off x="3355848" y="3896487"/>
            <a:ext cx="1874520" cy="502920"/>
          </a:xfrm>
          <a:prstGeom prst="rect">
            <a:avLst/>
          </a:prstGeom>
          <a:solidFill>
            <a:srgbClr val="F4F7FA"/>
          </a:solidFill>
          <a:ln w="7620">
            <a:solidFill>
              <a:srgbClr val="C9D6E4"/>
            </a:solidFill>
            <a:prstDash val="solid"/>
          </a:ln>
        </p:spPr>
      </p:sp>
      <p:sp>
        <p:nvSpPr>
          <p:cNvPr id="91" name="Shape 89"/>
          <p:cNvSpPr/>
          <p:nvPr/>
        </p:nvSpPr>
        <p:spPr>
          <a:xfrm>
            <a:off x="3483864" y="4097655"/>
            <a:ext cx="1012241" cy="100584"/>
          </a:xfrm>
          <a:prstGeom prst="rect">
            <a:avLst/>
          </a:prstGeom>
          <a:solidFill>
            <a:srgbClr val="E7EDF5"/>
          </a:solidFill>
          <a:ln w="12700">
            <a:solidFill>
              <a:srgbClr val="E7EDF5"/>
            </a:solidFill>
            <a:prstDash val="solid"/>
          </a:ln>
        </p:spPr>
      </p:sp>
      <p:sp>
        <p:nvSpPr>
          <p:cNvPr id="92" name="Shape 90"/>
          <p:cNvSpPr/>
          <p:nvPr/>
        </p:nvSpPr>
        <p:spPr>
          <a:xfrm>
            <a:off x="3483864" y="4097655"/>
            <a:ext cx="1012241" cy="100584"/>
          </a:xfrm>
          <a:prstGeom prst="rect">
            <a:avLst/>
          </a:prstGeom>
          <a:solidFill>
            <a:srgbClr val="087C75"/>
          </a:solidFill>
          <a:ln w="12700">
            <a:solidFill>
              <a:srgbClr val="087C75"/>
            </a:solidFill>
            <a:prstDash val="solid"/>
          </a:ln>
        </p:spPr>
      </p:sp>
      <p:sp>
        <p:nvSpPr>
          <p:cNvPr id="93" name="Text 91"/>
          <p:cNvSpPr/>
          <p:nvPr/>
        </p:nvSpPr>
        <p:spPr>
          <a:xfrm>
            <a:off x="4630522" y="3914775"/>
            <a:ext cx="524866" cy="466344"/>
          </a:xfrm>
          <a:prstGeom prst="rect">
            <a:avLst/>
          </a:prstGeom>
          <a:noFill/>
        </p:spPr>
        <p:txBody>
          <a:bodyPr wrap="square" lIns="0" tIns="0" rIns="0" bIns="0" rtlCol="0" anchor="ctr">
            <a:normAutofit/>
          </a:bodyPr>
          <a:lstStyle/>
          <a:p>
            <a:pPr marL="0" indent="0" algn="l">
              <a:buNone/>
            </a:pPr>
            <a:r>
              <a:rPr lang="en-US" sz="1180" dirty="0">
                <a:solidFill>
                  <a:srgbClr val="087C75"/>
                </a:solidFill>
                <a:latin typeface="Aptos" pitchFamily="34" charset="0"/>
                <a:ea typeface="Aptos" pitchFamily="34" charset="-122"/>
                <a:cs typeface="Aptos" pitchFamily="34" charset="-120"/>
              </a:rPr>
              <a:t>0.8800</a:t>
            </a:r>
            <a:endParaRPr lang="en-US" sz="1180" dirty="0"/>
          </a:p>
        </p:txBody>
      </p:sp>
      <p:sp>
        <p:nvSpPr>
          <p:cNvPr id="94" name="Shape 92"/>
          <p:cNvSpPr/>
          <p:nvPr/>
        </p:nvSpPr>
        <p:spPr>
          <a:xfrm>
            <a:off x="5230368" y="3896487"/>
            <a:ext cx="2048256" cy="502920"/>
          </a:xfrm>
          <a:prstGeom prst="rect">
            <a:avLst/>
          </a:prstGeom>
          <a:solidFill>
            <a:srgbClr val="F4F7FA"/>
          </a:solidFill>
          <a:ln w="7620">
            <a:solidFill>
              <a:srgbClr val="C9D6E4"/>
            </a:solidFill>
            <a:prstDash val="solid"/>
          </a:ln>
        </p:spPr>
      </p:sp>
      <p:sp>
        <p:nvSpPr>
          <p:cNvPr id="95" name="Shape 93"/>
          <p:cNvSpPr/>
          <p:nvPr/>
        </p:nvSpPr>
        <p:spPr>
          <a:xfrm>
            <a:off x="5358384" y="4097655"/>
            <a:ext cx="1106058" cy="100584"/>
          </a:xfrm>
          <a:prstGeom prst="rect">
            <a:avLst/>
          </a:prstGeom>
          <a:solidFill>
            <a:srgbClr val="E7EDF5"/>
          </a:solidFill>
          <a:ln w="12700">
            <a:solidFill>
              <a:srgbClr val="E7EDF5"/>
            </a:solidFill>
            <a:prstDash val="solid"/>
          </a:ln>
        </p:spPr>
      </p:sp>
      <p:sp>
        <p:nvSpPr>
          <p:cNvPr id="96" name="Shape 94"/>
          <p:cNvSpPr/>
          <p:nvPr/>
        </p:nvSpPr>
        <p:spPr>
          <a:xfrm>
            <a:off x="5358384" y="4097655"/>
            <a:ext cx="188030" cy="100584"/>
          </a:xfrm>
          <a:prstGeom prst="rect">
            <a:avLst/>
          </a:prstGeom>
          <a:solidFill>
            <a:srgbClr val="F68B00"/>
          </a:solidFill>
          <a:ln w="12700">
            <a:solidFill>
              <a:srgbClr val="F68B00"/>
            </a:solidFill>
            <a:prstDash val="solid"/>
          </a:ln>
        </p:spPr>
      </p:sp>
      <p:sp>
        <p:nvSpPr>
          <p:cNvPr id="97" name="Text 95"/>
          <p:cNvSpPr/>
          <p:nvPr/>
        </p:nvSpPr>
        <p:spPr>
          <a:xfrm>
            <a:off x="6623182" y="3914775"/>
            <a:ext cx="573512" cy="466344"/>
          </a:xfrm>
          <a:prstGeom prst="rect">
            <a:avLst/>
          </a:prstGeom>
          <a:noFill/>
        </p:spPr>
        <p:txBody>
          <a:bodyPr wrap="square" lIns="0" tIns="0" rIns="0" bIns="0" rtlCol="0" anchor="ctr">
            <a:normAutofit/>
          </a:bodyPr>
          <a:lstStyle/>
          <a:p>
            <a:pPr marL="0" indent="0" algn="l">
              <a:buNone/>
            </a:pPr>
            <a:r>
              <a:rPr lang="en-US" sz="1180" dirty="0">
                <a:solidFill>
                  <a:srgbClr val="F68B00"/>
                </a:solidFill>
                <a:latin typeface="Aptos" pitchFamily="34" charset="0"/>
                <a:ea typeface="Aptos" pitchFamily="34" charset="-122"/>
                <a:cs typeface="Aptos" pitchFamily="34" charset="-120"/>
              </a:rPr>
              <a:t>0.8468</a:t>
            </a:r>
            <a:endParaRPr lang="en-US" sz="1180" dirty="0"/>
          </a:p>
        </p:txBody>
      </p:sp>
      <p:sp>
        <p:nvSpPr>
          <p:cNvPr id="98" name="Shape 96"/>
          <p:cNvSpPr/>
          <p:nvPr/>
        </p:nvSpPr>
        <p:spPr>
          <a:xfrm>
            <a:off x="347472" y="4655439"/>
            <a:ext cx="128016" cy="128016"/>
          </a:xfrm>
          <a:prstGeom prst="rect">
            <a:avLst/>
          </a:prstGeom>
          <a:solidFill>
            <a:srgbClr val="0F66E8"/>
          </a:solidFill>
          <a:ln w="12700">
            <a:solidFill>
              <a:srgbClr val="0F66E8"/>
            </a:solidFill>
            <a:prstDash val="solid"/>
          </a:ln>
        </p:spPr>
      </p:sp>
      <p:sp>
        <p:nvSpPr>
          <p:cNvPr id="99" name="Text 97"/>
          <p:cNvSpPr/>
          <p:nvPr/>
        </p:nvSpPr>
        <p:spPr>
          <a:xfrm>
            <a:off x="548640" y="4637151"/>
            <a:ext cx="1828800" cy="182880"/>
          </a:xfrm>
          <a:prstGeom prst="rect">
            <a:avLst/>
          </a:prstGeom>
          <a:noFill/>
        </p:spPr>
        <p:txBody>
          <a:bodyPr wrap="square" lIns="0" tIns="0" rIns="0" bIns="0" rtlCol="0" anchor="ctr">
            <a:normAutofit/>
          </a:bodyPr>
          <a:lstStyle/>
          <a:p>
            <a:pPr marL="0" indent="0" algn="l">
              <a:buNone/>
            </a:pPr>
            <a:r>
              <a:rPr lang="en-US" sz="860" dirty="0">
                <a:solidFill>
                  <a:srgbClr val="52677F"/>
                </a:solidFill>
                <a:latin typeface="Aptos" pitchFamily="34" charset="0"/>
                <a:ea typeface="Aptos" pitchFamily="34" charset="-122"/>
                <a:cs typeface="Aptos" pitchFamily="34" charset="-120"/>
              </a:rPr>
              <a:t>Combined = best overall</a:t>
            </a:r>
            <a:endParaRPr lang="en-US" sz="860" dirty="0"/>
          </a:p>
        </p:txBody>
      </p:sp>
      <p:sp>
        <p:nvSpPr>
          <p:cNvPr id="100" name="Shape 98"/>
          <p:cNvSpPr/>
          <p:nvPr/>
        </p:nvSpPr>
        <p:spPr>
          <a:xfrm>
            <a:off x="2240280" y="4655439"/>
            <a:ext cx="128016" cy="128016"/>
          </a:xfrm>
          <a:prstGeom prst="rect">
            <a:avLst/>
          </a:prstGeom>
          <a:solidFill>
            <a:srgbClr val="087C75"/>
          </a:solidFill>
          <a:ln w="12700">
            <a:solidFill>
              <a:srgbClr val="087C75"/>
            </a:solidFill>
            <a:prstDash val="solid"/>
          </a:ln>
        </p:spPr>
      </p:sp>
      <p:sp>
        <p:nvSpPr>
          <p:cNvPr id="101" name="Text 99"/>
          <p:cNvSpPr/>
          <p:nvPr/>
        </p:nvSpPr>
        <p:spPr>
          <a:xfrm>
            <a:off x="2441448" y="4637151"/>
            <a:ext cx="1828800" cy="182880"/>
          </a:xfrm>
          <a:prstGeom prst="rect">
            <a:avLst/>
          </a:prstGeom>
          <a:noFill/>
        </p:spPr>
        <p:txBody>
          <a:bodyPr wrap="square" lIns="0" tIns="0" rIns="0" bIns="0" rtlCol="0" anchor="ctr">
            <a:normAutofit/>
          </a:bodyPr>
          <a:lstStyle/>
          <a:p>
            <a:pPr marL="0" indent="0" algn="l">
              <a:buNone/>
            </a:pPr>
            <a:r>
              <a:rPr lang="en-US" sz="860" dirty="0">
                <a:solidFill>
                  <a:srgbClr val="52677F"/>
                </a:solidFill>
                <a:latin typeface="Aptos" pitchFamily="34" charset="0"/>
                <a:ea typeface="Aptos" pitchFamily="34" charset="-122"/>
                <a:cs typeface="Aptos" pitchFamily="34" charset="-120"/>
              </a:rPr>
              <a:t>Preference = rating preference</a:t>
            </a:r>
            <a:endParaRPr lang="en-US" sz="860" dirty="0"/>
          </a:p>
        </p:txBody>
      </p:sp>
      <p:sp>
        <p:nvSpPr>
          <p:cNvPr id="102" name="Shape 100"/>
          <p:cNvSpPr/>
          <p:nvPr/>
        </p:nvSpPr>
        <p:spPr>
          <a:xfrm>
            <a:off x="4498848" y="4655439"/>
            <a:ext cx="128016" cy="128016"/>
          </a:xfrm>
          <a:prstGeom prst="rect">
            <a:avLst/>
          </a:prstGeom>
          <a:solidFill>
            <a:srgbClr val="F68B00"/>
          </a:solidFill>
          <a:ln w="12700">
            <a:solidFill>
              <a:srgbClr val="F68B00"/>
            </a:solidFill>
            <a:prstDash val="solid"/>
          </a:ln>
        </p:spPr>
      </p:sp>
      <p:sp>
        <p:nvSpPr>
          <p:cNvPr id="103" name="Text 101"/>
          <p:cNvSpPr/>
          <p:nvPr/>
        </p:nvSpPr>
        <p:spPr>
          <a:xfrm>
            <a:off x="4700016" y="4637151"/>
            <a:ext cx="1828800" cy="182880"/>
          </a:xfrm>
          <a:prstGeom prst="rect">
            <a:avLst/>
          </a:prstGeom>
          <a:noFill/>
        </p:spPr>
        <p:txBody>
          <a:bodyPr wrap="square" lIns="0" tIns="0" rIns="0" bIns="0" rtlCol="0" anchor="ctr">
            <a:normAutofit/>
          </a:bodyPr>
          <a:lstStyle/>
          <a:p>
            <a:pPr marL="0" indent="0" algn="l">
              <a:buNone/>
            </a:pPr>
            <a:r>
              <a:rPr lang="en-US" sz="860" dirty="0">
                <a:solidFill>
                  <a:srgbClr val="52677F"/>
                </a:solidFill>
                <a:latin typeface="Aptos" pitchFamily="34" charset="0"/>
                <a:ea typeface="Aptos" pitchFamily="34" charset="-122"/>
                <a:cs typeface="Aptos" pitchFamily="34" charset="-120"/>
              </a:rPr>
              <a:t>Review generation = quality</a:t>
            </a:r>
            <a:endParaRPr lang="en-US" sz="860" dirty="0"/>
          </a:p>
        </p:txBody>
      </p:sp>
      <p:sp>
        <p:nvSpPr>
          <p:cNvPr id="104" name="Shape 102"/>
          <p:cNvSpPr/>
          <p:nvPr/>
        </p:nvSpPr>
        <p:spPr>
          <a:xfrm>
            <a:off x="7543800" y="942975"/>
            <a:ext cx="1325880" cy="896112"/>
          </a:xfrm>
          <a:prstGeom prst="roundRect">
            <a:avLst>
              <a:gd name="adj" fmla="val 8163"/>
            </a:avLst>
          </a:prstGeom>
          <a:solidFill>
            <a:srgbClr val="FFFFFF"/>
          </a:solidFill>
          <a:ln w="12700">
            <a:solidFill>
              <a:srgbClr val="C9D6E4"/>
            </a:solidFill>
            <a:prstDash val="solid"/>
          </a:ln>
        </p:spPr>
      </p:sp>
      <p:sp>
        <p:nvSpPr>
          <p:cNvPr id="105" name="Shape 103"/>
          <p:cNvSpPr/>
          <p:nvPr/>
        </p:nvSpPr>
        <p:spPr>
          <a:xfrm>
            <a:off x="7580376" y="979551"/>
            <a:ext cx="1252728" cy="45720"/>
          </a:xfrm>
          <a:prstGeom prst="rect">
            <a:avLst/>
          </a:prstGeom>
          <a:solidFill>
            <a:srgbClr val="0F66E8"/>
          </a:solidFill>
          <a:ln w="12700">
            <a:solidFill>
              <a:srgbClr val="0F66E8"/>
            </a:solidFill>
            <a:prstDash val="solid"/>
          </a:ln>
        </p:spPr>
      </p:sp>
      <p:sp>
        <p:nvSpPr>
          <p:cNvPr id="106" name="Text 104"/>
          <p:cNvSpPr/>
          <p:nvPr/>
        </p:nvSpPr>
        <p:spPr>
          <a:xfrm>
            <a:off x="7543800" y="1125855"/>
            <a:ext cx="1325880" cy="292608"/>
          </a:xfrm>
          <a:prstGeom prst="rect">
            <a:avLst/>
          </a:prstGeom>
          <a:noFill/>
        </p:spPr>
        <p:txBody>
          <a:bodyPr wrap="square" lIns="0" tIns="0" rIns="0" bIns="0" rtlCol="0" anchor="ctr">
            <a:normAutofit fontScale="80000"/>
          </a:bodyPr>
          <a:lstStyle/>
          <a:p>
            <a:pPr marL="0" indent="0" algn="ctr">
              <a:buNone/>
            </a:pPr>
            <a:r>
              <a:rPr lang="en-US" sz="2300" b="1" dirty="0">
                <a:solidFill>
                  <a:srgbClr val="0F66E8"/>
                </a:solidFill>
                <a:latin typeface="Aptos" pitchFamily="34" charset="0"/>
                <a:ea typeface="Aptos" pitchFamily="34" charset="-122"/>
                <a:cs typeface="Aptos" pitchFamily="34" charset="-120"/>
              </a:rPr>
              <a:t>0.8785</a:t>
            </a:r>
            <a:endParaRPr lang="en-US" sz="2300" dirty="0"/>
          </a:p>
        </p:txBody>
      </p:sp>
      <p:sp>
        <p:nvSpPr>
          <p:cNvPr id="107" name="Text 105"/>
          <p:cNvSpPr/>
          <p:nvPr/>
        </p:nvSpPr>
        <p:spPr>
          <a:xfrm>
            <a:off x="7543800" y="1473327"/>
            <a:ext cx="1325880" cy="228600"/>
          </a:xfrm>
          <a:prstGeom prst="rect">
            <a:avLst/>
          </a:prstGeom>
          <a:noFill/>
        </p:spPr>
        <p:txBody>
          <a:bodyPr wrap="square" lIns="0" tIns="0" rIns="0" bIns="0" rtlCol="0" anchor="ctr">
            <a:normAutofit/>
          </a:bodyPr>
          <a:lstStyle/>
          <a:p>
            <a:pPr marL="0" indent="0" algn="ctr">
              <a:buNone/>
            </a:pPr>
            <a:r>
              <a:rPr lang="en-US" sz="1050" dirty="0">
                <a:solidFill>
                  <a:srgbClr val="52677F"/>
                </a:solidFill>
                <a:latin typeface="Aptos" pitchFamily="34" charset="0"/>
                <a:ea typeface="Aptos" pitchFamily="34" charset="-122"/>
                <a:cs typeface="Aptos" pitchFamily="34" charset="-120"/>
              </a:rPr>
              <a:t>best combined</a:t>
            </a:r>
            <a:endParaRPr lang="en-US" sz="1050" dirty="0"/>
          </a:p>
        </p:txBody>
      </p:sp>
      <p:sp>
        <p:nvSpPr>
          <p:cNvPr id="108" name="Shape 106"/>
          <p:cNvSpPr/>
          <p:nvPr/>
        </p:nvSpPr>
        <p:spPr>
          <a:xfrm>
            <a:off x="9070848" y="942975"/>
            <a:ext cx="1325880" cy="896112"/>
          </a:xfrm>
          <a:prstGeom prst="roundRect">
            <a:avLst>
              <a:gd name="adj" fmla="val 8163"/>
            </a:avLst>
          </a:prstGeom>
          <a:solidFill>
            <a:srgbClr val="FFFFFF"/>
          </a:solidFill>
          <a:ln w="12700">
            <a:solidFill>
              <a:srgbClr val="C9D6E4"/>
            </a:solidFill>
            <a:prstDash val="solid"/>
          </a:ln>
        </p:spPr>
      </p:sp>
      <p:sp>
        <p:nvSpPr>
          <p:cNvPr id="109" name="Shape 107"/>
          <p:cNvSpPr/>
          <p:nvPr/>
        </p:nvSpPr>
        <p:spPr>
          <a:xfrm>
            <a:off x="9107424" y="979551"/>
            <a:ext cx="1252728" cy="45720"/>
          </a:xfrm>
          <a:prstGeom prst="rect">
            <a:avLst/>
          </a:prstGeom>
          <a:solidFill>
            <a:srgbClr val="087C75"/>
          </a:solidFill>
          <a:ln w="12700">
            <a:solidFill>
              <a:srgbClr val="087C75"/>
            </a:solidFill>
            <a:prstDash val="solid"/>
          </a:ln>
        </p:spPr>
      </p:sp>
      <p:sp>
        <p:nvSpPr>
          <p:cNvPr id="110" name="Text 108"/>
          <p:cNvSpPr/>
          <p:nvPr/>
        </p:nvSpPr>
        <p:spPr>
          <a:xfrm>
            <a:off x="9070848" y="1125855"/>
            <a:ext cx="1325880" cy="292608"/>
          </a:xfrm>
          <a:prstGeom prst="rect">
            <a:avLst/>
          </a:prstGeom>
          <a:noFill/>
        </p:spPr>
        <p:txBody>
          <a:bodyPr wrap="square" lIns="0" tIns="0" rIns="0" bIns="0" rtlCol="0" anchor="ctr">
            <a:normAutofit fontScale="80000"/>
          </a:bodyPr>
          <a:lstStyle/>
          <a:p>
            <a:pPr marL="0" indent="0" algn="ctr">
              <a:buNone/>
            </a:pPr>
            <a:r>
              <a:rPr lang="en-US" sz="2300" b="1" dirty="0">
                <a:solidFill>
                  <a:srgbClr val="087C75"/>
                </a:solidFill>
                <a:latin typeface="Aptos" pitchFamily="34" charset="0"/>
                <a:ea typeface="Aptos" pitchFamily="34" charset="-122"/>
                <a:cs typeface="Aptos" pitchFamily="34" charset="-120"/>
              </a:rPr>
              <a:t>0.8800</a:t>
            </a:r>
            <a:endParaRPr lang="en-US" sz="2300" dirty="0"/>
          </a:p>
        </p:txBody>
      </p:sp>
      <p:sp>
        <p:nvSpPr>
          <p:cNvPr id="111" name="Text 109"/>
          <p:cNvSpPr/>
          <p:nvPr/>
        </p:nvSpPr>
        <p:spPr>
          <a:xfrm>
            <a:off x="9070848" y="1473327"/>
            <a:ext cx="1325880" cy="228600"/>
          </a:xfrm>
          <a:prstGeom prst="rect">
            <a:avLst/>
          </a:prstGeom>
          <a:noFill/>
        </p:spPr>
        <p:txBody>
          <a:bodyPr wrap="square" lIns="0" tIns="0" rIns="0" bIns="0" rtlCol="0" anchor="ctr">
            <a:normAutofit/>
          </a:bodyPr>
          <a:lstStyle/>
          <a:p>
            <a:pPr marL="0" indent="0" algn="ctr">
              <a:buNone/>
            </a:pPr>
            <a:r>
              <a:rPr lang="en-US" sz="1050" dirty="0">
                <a:solidFill>
                  <a:srgbClr val="52677F"/>
                </a:solidFill>
                <a:latin typeface="Aptos" pitchFamily="34" charset="0"/>
                <a:ea typeface="Aptos" pitchFamily="34" charset="-122"/>
                <a:cs typeface="Aptos" pitchFamily="34" charset="-120"/>
              </a:rPr>
              <a:t>preference</a:t>
            </a:r>
            <a:endParaRPr lang="en-US" sz="1050" dirty="0"/>
          </a:p>
        </p:txBody>
      </p:sp>
      <p:sp>
        <p:nvSpPr>
          <p:cNvPr id="112" name="Shape 110"/>
          <p:cNvSpPr/>
          <p:nvPr/>
        </p:nvSpPr>
        <p:spPr>
          <a:xfrm>
            <a:off x="10597896" y="942975"/>
            <a:ext cx="1325880" cy="896112"/>
          </a:xfrm>
          <a:prstGeom prst="roundRect">
            <a:avLst>
              <a:gd name="adj" fmla="val 8163"/>
            </a:avLst>
          </a:prstGeom>
          <a:solidFill>
            <a:srgbClr val="FFFFFF"/>
          </a:solidFill>
          <a:ln w="12700">
            <a:solidFill>
              <a:srgbClr val="C9D6E4"/>
            </a:solidFill>
            <a:prstDash val="solid"/>
          </a:ln>
        </p:spPr>
      </p:sp>
      <p:sp>
        <p:nvSpPr>
          <p:cNvPr id="113" name="Shape 111"/>
          <p:cNvSpPr/>
          <p:nvPr/>
        </p:nvSpPr>
        <p:spPr>
          <a:xfrm>
            <a:off x="10634472" y="979551"/>
            <a:ext cx="1252728" cy="45720"/>
          </a:xfrm>
          <a:prstGeom prst="rect">
            <a:avLst/>
          </a:prstGeom>
          <a:solidFill>
            <a:srgbClr val="F68B00"/>
          </a:solidFill>
          <a:ln w="12700">
            <a:solidFill>
              <a:srgbClr val="F68B00"/>
            </a:solidFill>
            <a:prstDash val="solid"/>
          </a:ln>
        </p:spPr>
      </p:sp>
      <p:sp>
        <p:nvSpPr>
          <p:cNvPr id="114" name="Text 112"/>
          <p:cNvSpPr/>
          <p:nvPr/>
        </p:nvSpPr>
        <p:spPr>
          <a:xfrm>
            <a:off x="10597896" y="1125855"/>
            <a:ext cx="1325880" cy="292608"/>
          </a:xfrm>
          <a:prstGeom prst="rect">
            <a:avLst/>
          </a:prstGeom>
          <a:noFill/>
        </p:spPr>
        <p:txBody>
          <a:bodyPr wrap="square" lIns="0" tIns="0" rIns="0" bIns="0" rtlCol="0" anchor="ctr">
            <a:normAutofit fontScale="80000"/>
          </a:bodyPr>
          <a:lstStyle/>
          <a:p>
            <a:pPr marL="0" indent="0" algn="ctr">
              <a:buNone/>
            </a:pPr>
            <a:r>
              <a:rPr lang="en-US" sz="2300" b="1" dirty="0">
                <a:solidFill>
                  <a:srgbClr val="F68B00"/>
                </a:solidFill>
                <a:latin typeface="Aptos" pitchFamily="34" charset="0"/>
                <a:ea typeface="Aptos" pitchFamily="34" charset="-122"/>
                <a:cs typeface="Aptos" pitchFamily="34" charset="-120"/>
              </a:rPr>
              <a:t>0.8769</a:t>
            </a:r>
            <a:endParaRPr lang="en-US" sz="2300" dirty="0"/>
          </a:p>
        </p:txBody>
      </p:sp>
      <p:sp>
        <p:nvSpPr>
          <p:cNvPr id="115" name="Text 113"/>
          <p:cNvSpPr/>
          <p:nvPr/>
        </p:nvSpPr>
        <p:spPr>
          <a:xfrm>
            <a:off x="10597896" y="1473327"/>
            <a:ext cx="1325880" cy="228600"/>
          </a:xfrm>
          <a:prstGeom prst="rect">
            <a:avLst/>
          </a:prstGeom>
          <a:noFill/>
        </p:spPr>
        <p:txBody>
          <a:bodyPr wrap="square" lIns="0" tIns="0" rIns="0" bIns="0" rtlCol="0" anchor="ctr">
            <a:normAutofit/>
          </a:bodyPr>
          <a:lstStyle/>
          <a:p>
            <a:pPr marL="0" indent="0" algn="ctr">
              <a:buNone/>
            </a:pPr>
            <a:r>
              <a:rPr lang="en-US" sz="1050" dirty="0">
                <a:solidFill>
                  <a:srgbClr val="52677F"/>
                </a:solidFill>
                <a:latin typeface="Aptos" pitchFamily="34" charset="0"/>
                <a:ea typeface="Aptos" pitchFamily="34" charset="-122"/>
                <a:cs typeface="Aptos" pitchFamily="34" charset="-120"/>
              </a:rPr>
              <a:t>review gen.</a:t>
            </a:r>
            <a:endParaRPr lang="en-US" sz="1050" dirty="0"/>
          </a:p>
        </p:txBody>
      </p:sp>
      <p:sp>
        <p:nvSpPr>
          <p:cNvPr id="116" name="Shape 114"/>
          <p:cNvSpPr/>
          <p:nvPr/>
        </p:nvSpPr>
        <p:spPr>
          <a:xfrm>
            <a:off x="7543800" y="2067687"/>
            <a:ext cx="4379976" cy="1143000"/>
          </a:xfrm>
          <a:prstGeom prst="roundRect">
            <a:avLst>
              <a:gd name="adj" fmla="val 6400"/>
            </a:avLst>
          </a:prstGeom>
          <a:solidFill>
            <a:srgbClr val="F8FBFF"/>
          </a:solidFill>
          <a:ln w="13970">
            <a:solidFill>
              <a:srgbClr val="B9D5F4"/>
            </a:solidFill>
            <a:prstDash val="solid"/>
          </a:ln>
        </p:spPr>
      </p:sp>
      <p:sp>
        <p:nvSpPr>
          <p:cNvPr id="117" name="Text 115"/>
          <p:cNvSpPr/>
          <p:nvPr/>
        </p:nvSpPr>
        <p:spPr>
          <a:xfrm>
            <a:off x="7726680" y="2268855"/>
            <a:ext cx="1920240" cy="164592"/>
          </a:xfrm>
          <a:prstGeom prst="rect">
            <a:avLst/>
          </a:prstGeom>
          <a:noFill/>
        </p:spPr>
        <p:txBody>
          <a:bodyPr wrap="square" lIns="0" tIns="0" rIns="0" bIns="0" rtlCol="0" anchor="ctr">
            <a:normAutofit/>
          </a:bodyPr>
          <a:lstStyle/>
          <a:p>
            <a:pPr marL="0" indent="0" algn="l">
              <a:buNone/>
            </a:pPr>
            <a:r>
              <a:rPr lang="en-US" sz="850" b="1" dirty="0">
                <a:solidFill>
                  <a:srgbClr val="0F66E8"/>
                </a:solidFill>
                <a:latin typeface="Aptos" pitchFamily="34" charset="0"/>
                <a:ea typeface="Aptos" pitchFamily="34" charset="-122"/>
                <a:cs typeface="Aptos" pitchFamily="34" charset="-120"/>
              </a:rPr>
              <a:t>SELECTED FINAL RUN</a:t>
            </a:r>
            <a:endParaRPr lang="en-US" sz="850" dirty="0"/>
          </a:p>
        </p:txBody>
      </p:sp>
      <p:sp>
        <p:nvSpPr>
          <p:cNvPr id="118" name="Text 116"/>
          <p:cNvSpPr/>
          <p:nvPr/>
        </p:nvSpPr>
        <p:spPr>
          <a:xfrm>
            <a:off x="7726680" y="2634615"/>
            <a:ext cx="3977640" cy="438912"/>
          </a:xfrm>
          <a:prstGeom prst="rect">
            <a:avLst/>
          </a:prstGeom>
          <a:noFill/>
        </p:spPr>
        <p:txBody>
          <a:bodyPr wrap="square" lIns="0" tIns="0" rIns="0" bIns="0" rtlCol="0" anchor="ctr">
            <a:normAutofit lnSpcReduction="10000"/>
          </a:bodyPr>
          <a:lstStyle/>
          <a:p>
            <a:pPr marL="0" indent="0" algn="l">
              <a:buNone/>
            </a:pPr>
            <a:r>
              <a:rPr lang="en-US" sz="1500" dirty="0">
                <a:solidFill>
                  <a:srgbClr val="0B1B2B"/>
                </a:solidFill>
                <a:latin typeface="Aptos" pitchFamily="34" charset="0"/>
                <a:ea typeface="Aptos" pitchFamily="34" charset="-122"/>
                <a:cs typeface="Aptos" pitchFamily="34" charset="-120"/>
              </a:rPr>
              <a:t>Round 2 Agent Evolution after composing</a:t>
            </a:r>
            <a:endParaRPr lang="en-US" sz="1500" dirty="0"/>
          </a:p>
          <a:p>
            <a:pPr marL="0" indent="0" algn="l">
              <a:buNone/>
            </a:pPr>
            <a:r>
              <a:rPr lang="en-US" sz="1500" dirty="0">
                <a:solidFill>
                  <a:srgbClr val="0B1B2B"/>
                </a:solidFill>
                <a:latin typeface="Aptos" pitchFamily="34" charset="0"/>
                <a:ea typeface="Aptos" pitchFamily="34" charset="-122"/>
                <a:cs typeface="Aptos" pitchFamily="34" charset="-120"/>
              </a:rPr>
              <a:t>best Round 1 components.</a:t>
            </a:r>
            <a:endParaRPr lang="en-US" sz="1500" dirty="0"/>
          </a:p>
        </p:txBody>
      </p:sp>
      <p:sp>
        <p:nvSpPr>
          <p:cNvPr id="119" name="Text 117"/>
          <p:cNvSpPr/>
          <p:nvPr/>
        </p:nvSpPr>
        <p:spPr>
          <a:xfrm>
            <a:off x="7543800" y="3567303"/>
            <a:ext cx="2743200" cy="292608"/>
          </a:xfrm>
          <a:prstGeom prst="rect">
            <a:avLst/>
          </a:prstGeom>
          <a:noFill/>
        </p:spPr>
        <p:txBody>
          <a:bodyPr wrap="square" lIns="0" tIns="0" rIns="0" bIns="0" rtlCol="0" anchor="ctr">
            <a:normAutofit/>
          </a:bodyPr>
          <a:lstStyle/>
          <a:p>
            <a:pPr marL="0" indent="0" algn="l">
              <a:buNone/>
            </a:pPr>
            <a:r>
              <a:rPr lang="en-US" sz="1700" b="1" dirty="0">
                <a:solidFill>
                  <a:srgbClr val="061B33"/>
                </a:solidFill>
                <a:latin typeface="Aptos" pitchFamily="34" charset="0"/>
                <a:ea typeface="Aptos" pitchFamily="34" charset="-122"/>
                <a:cs typeface="Aptos" pitchFamily="34" charset="-120"/>
              </a:rPr>
              <a:t>Key interpretation</a:t>
            </a:r>
            <a:endParaRPr lang="en-US" sz="1700" dirty="0"/>
          </a:p>
        </p:txBody>
      </p:sp>
      <p:sp>
        <p:nvSpPr>
          <p:cNvPr id="120" name="Shape 118"/>
          <p:cNvSpPr/>
          <p:nvPr/>
        </p:nvSpPr>
        <p:spPr>
          <a:xfrm>
            <a:off x="7543800" y="3942207"/>
            <a:ext cx="4315968" cy="10973"/>
          </a:xfrm>
          <a:prstGeom prst="rect">
            <a:avLst/>
          </a:prstGeom>
          <a:solidFill>
            <a:srgbClr val="C9D6E4"/>
          </a:solidFill>
          <a:ln w="12700">
            <a:solidFill>
              <a:srgbClr val="C9D6E4"/>
            </a:solidFill>
            <a:prstDash val="solid"/>
          </a:ln>
        </p:spPr>
      </p:sp>
      <p:sp>
        <p:nvSpPr>
          <p:cNvPr id="121" name="Text 119"/>
          <p:cNvSpPr/>
          <p:nvPr/>
        </p:nvSpPr>
        <p:spPr>
          <a:xfrm>
            <a:off x="7589520" y="4070223"/>
            <a:ext cx="182880" cy="182880"/>
          </a:xfrm>
          <a:prstGeom prst="rect">
            <a:avLst/>
          </a:prstGeom>
          <a:noFill/>
        </p:spPr>
        <p:txBody>
          <a:bodyPr wrap="square" lIns="0" tIns="0" rIns="0" bIns="0" rtlCol="0" anchor="ctr">
            <a:noAutofit/>
          </a:bodyPr>
          <a:lstStyle/>
          <a:p>
            <a:pPr marL="0" indent="0" algn="ctr">
              <a:buNone/>
            </a:pPr>
            <a:r>
              <a:rPr lang="en-US" b="1" dirty="0">
                <a:solidFill>
                  <a:srgbClr val="0F66E8"/>
                </a:solidFill>
                <a:latin typeface="Aptos" pitchFamily="34" charset="0"/>
                <a:ea typeface="Aptos" pitchFamily="34" charset="-122"/>
                <a:cs typeface="Aptos" pitchFamily="34" charset="-120"/>
              </a:rPr>
              <a:t>•</a:t>
            </a:r>
            <a:endParaRPr lang="en-US" b="1" dirty="0">
              <a:solidFill>
                <a:srgbClr val="0F66E8"/>
              </a:solidFill>
              <a:latin typeface="Aptos" pitchFamily="34" charset="0"/>
              <a:ea typeface="Aptos" pitchFamily="34" charset="-122"/>
              <a:cs typeface="Aptos" pitchFamily="34" charset="-120"/>
            </a:endParaRPr>
          </a:p>
        </p:txBody>
      </p:sp>
      <p:sp>
        <p:nvSpPr>
          <p:cNvPr id="122" name="Text 120"/>
          <p:cNvSpPr/>
          <p:nvPr/>
        </p:nvSpPr>
        <p:spPr>
          <a:xfrm>
            <a:off x="7818120" y="4079367"/>
            <a:ext cx="3657600" cy="201168"/>
          </a:xfrm>
          <a:prstGeom prst="rect">
            <a:avLst/>
          </a:prstGeom>
          <a:noFill/>
        </p:spPr>
        <p:txBody>
          <a:bodyPr wrap="square" lIns="0" tIns="0" rIns="0" bIns="0" rtlCol="0" anchor="ctr">
            <a:noAutofit/>
          </a:bodyPr>
          <a:lstStyle/>
          <a:p>
            <a:pPr marL="0" indent="0" algn="l">
              <a:buNone/>
            </a:pPr>
            <a:r>
              <a:rPr lang="en-US" sz="1600" dirty="0">
                <a:solidFill>
                  <a:srgbClr val="0B1B2B"/>
                </a:solidFill>
                <a:latin typeface="Aptos" pitchFamily="34" charset="0"/>
                <a:ea typeface="Aptos" pitchFamily="34" charset="-122"/>
                <a:cs typeface="Aptos" pitchFamily="34" charset="-120"/>
              </a:rPr>
              <a:t>Preference stayed stable at 0.8800</a:t>
            </a:r>
            <a:endParaRPr lang="en-US" sz="1600" dirty="0">
              <a:solidFill>
                <a:srgbClr val="0B1B2B"/>
              </a:solidFill>
              <a:latin typeface="Aptos" pitchFamily="34" charset="0"/>
              <a:ea typeface="Aptos" pitchFamily="34" charset="-122"/>
              <a:cs typeface="Aptos" pitchFamily="34" charset="-120"/>
            </a:endParaRPr>
          </a:p>
        </p:txBody>
      </p:sp>
      <p:sp>
        <p:nvSpPr>
          <p:cNvPr id="123" name="Text 121"/>
          <p:cNvSpPr/>
          <p:nvPr/>
        </p:nvSpPr>
        <p:spPr>
          <a:xfrm>
            <a:off x="7589520" y="4362831"/>
            <a:ext cx="182880" cy="182880"/>
          </a:xfrm>
          <a:prstGeom prst="rect">
            <a:avLst/>
          </a:prstGeom>
          <a:noFill/>
        </p:spPr>
        <p:txBody>
          <a:bodyPr wrap="square" lIns="0" tIns="0" rIns="0" bIns="0" rtlCol="0" anchor="ctr">
            <a:noAutofit/>
          </a:bodyPr>
          <a:lstStyle/>
          <a:p>
            <a:pPr marL="0" indent="0" algn="ctr">
              <a:buNone/>
            </a:pPr>
            <a:r>
              <a:rPr lang="en-US" b="1" dirty="0">
                <a:solidFill>
                  <a:srgbClr val="0F66E8"/>
                </a:solidFill>
                <a:latin typeface="Aptos" pitchFamily="34" charset="0"/>
                <a:ea typeface="Aptos" pitchFamily="34" charset="-122"/>
                <a:cs typeface="Aptos" pitchFamily="34" charset="-120"/>
              </a:rPr>
              <a:t>•</a:t>
            </a:r>
            <a:endParaRPr lang="en-US" b="1" dirty="0">
              <a:solidFill>
                <a:srgbClr val="0F66E8"/>
              </a:solidFill>
              <a:latin typeface="Aptos" pitchFamily="34" charset="0"/>
              <a:ea typeface="Aptos" pitchFamily="34" charset="-122"/>
              <a:cs typeface="Aptos" pitchFamily="34" charset="-120"/>
            </a:endParaRPr>
          </a:p>
        </p:txBody>
      </p:sp>
      <p:sp>
        <p:nvSpPr>
          <p:cNvPr id="124" name="Text 122"/>
          <p:cNvSpPr/>
          <p:nvPr/>
        </p:nvSpPr>
        <p:spPr>
          <a:xfrm>
            <a:off x="7818120" y="4371975"/>
            <a:ext cx="3657600" cy="201168"/>
          </a:xfrm>
          <a:prstGeom prst="rect">
            <a:avLst/>
          </a:prstGeom>
          <a:noFill/>
        </p:spPr>
        <p:txBody>
          <a:bodyPr wrap="square" lIns="0" tIns="0" rIns="0" bIns="0" rtlCol="0" anchor="ctr">
            <a:noAutofit/>
          </a:bodyPr>
          <a:lstStyle/>
          <a:p>
            <a:pPr marL="0" indent="0" algn="l">
              <a:buNone/>
            </a:pPr>
            <a:r>
              <a:rPr lang="en-US" sz="1600" dirty="0">
                <a:solidFill>
                  <a:srgbClr val="0B1B2B"/>
                </a:solidFill>
                <a:latin typeface="Aptos" pitchFamily="34" charset="0"/>
                <a:ea typeface="Aptos" pitchFamily="34" charset="-122"/>
                <a:cs typeface="Aptos" pitchFamily="34" charset="-120"/>
              </a:rPr>
              <a:t>Main gain came from review_generation</a:t>
            </a:r>
            <a:endParaRPr lang="en-US" sz="1600" dirty="0">
              <a:solidFill>
                <a:srgbClr val="0B1B2B"/>
              </a:solidFill>
              <a:latin typeface="Aptos" pitchFamily="34" charset="0"/>
              <a:ea typeface="Aptos" pitchFamily="34" charset="-122"/>
              <a:cs typeface="Aptos" pitchFamily="34" charset="-120"/>
            </a:endParaRPr>
          </a:p>
        </p:txBody>
      </p:sp>
      <p:sp>
        <p:nvSpPr>
          <p:cNvPr id="125" name="Text 123"/>
          <p:cNvSpPr/>
          <p:nvPr/>
        </p:nvSpPr>
        <p:spPr>
          <a:xfrm>
            <a:off x="7589520" y="4655439"/>
            <a:ext cx="182880" cy="182880"/>
          </a:xfrm>
          <a:prstGeom prst="rect">
            <a:avLst/>
          </a:prstGeom>
          <a:noFill/>
        </p:spPr>
        <p:txBody>
          <a:bodyPr wrap="square" lIns="0" tIns="0" rIns="0" bIns="0" rtlCol="0" anchor="ctr">
            <a:noAutofit/>
          </a:bodyPr>
          <a:lstStyle/>
          <a:p>
            <a:pPr marL="0" indent="0" algn="ctr">
              <a:buNone/>
            </a:pPr>
            <a:r>
              <a:rPr lang="en-US" b="1" dirty="0">
                <a:solidFill>
                  <a:srgbClr val="0F66E8"/>
                </a:solidFill>
                <a:latin typeface="Aptos" pitchFamily="34" charset="0"/>
                <a:ea typeface="Aptos" pitchFamily="34" charset="-122"/>
                <a:cs typeface="Aptos" pitchFamily="34" charset="-120"/>
              </a:rPr>
              <a:t>•</a:t>
            </a:r>
            <a:endParaRPr lang="en-US" b="1" dirty="0">
              <a:solidFill>
                <a:srgbClr val="0F66E8"/>
              </a:solidFill>
              <a:latin typeface="Aptos" pitchFamily="34" charset="0"/>
              <a:ea typeface="Aptos" pitchFamily="34" charset="-122"/>
              <a:cs typeface="Aptos" pitchFamily="34" charset="-120"/>
            </a:endParaRPr>
          </a:p>
        </p:txBody>
      </p:sp>
      <p:sp>
        <p:nvSpPr>
          <p:cNvPr id="126" name="Text 124"/>
          <p:cNvSpPr/>
          <p:nvPr/>
        </p:nvSpPr>
        <p:spPr>
          <a:xfrm>
            <a:off x="7818120" y="4664583"/>
            <a:ext cx="3657600" cy="201168"/>
          </a:xfrm>
          <a:prstGeom prst="rect">
            <a:avLst/>
          </a:prstGeom>
          <a:noFill/>
        </p:spPr>
        <p:txBody>
          <a:bodyPr wrap="square" lIns="0" tIns="0" rIns="0" bIns="0" rtlCol="0" anchor="ctr">
            <a:noAutofit/>
          </a:bodyPr>
          <a:lstStyle/>
          <a:p>
            <a:pPr marL="0" indent="0" algn="l">
              <a:buNone/>
            </a:pPr>
            <a:r>
              <a:rPr lang="en-US" sz="1600" dirty="0">
                <a:solidFill>
                  <a:srgbClr val="0B1B2B"/>
                </a:solidFill>
                <a:latin typeface="Aptos" pitchFamily="34" charset="0"/>
                <a:ea typeface="Aptos" pitchFamily="34" charset="-122"/>
                <a:cs typeface="Aptos" pitchFamily="34" charset="-120"/>
              </a:rPr>
              <a:t>R2 Task is a useful negative result</a:t>
            </a:r>
            <a:endParaRPr lang="en-US" sz="1600" dirty="0">
              <a:solidFill>
                <a:srgbClr val="0B1B2B"/>
              </a:solidFill>
              <a:latin typeface="Aptos" pitchFamily="34" charset="0"/>
              <a:ea typeface="Aptos" pitchFamily="34" charset="-122"/>
              <a:cs typeface="Aptos" pitchFamily="34" charset="-120"/>
            </a:endParaRPr>
          </a:p>
        </p:txBody>
      </p:sp>
      <p:sp>
        <p:nvSpPr>
          <p:cNvPr id="127" name="Shape 125"/>
          <p:cNvSpPr/>
          <p:nvPr/>
        </p:nvSpPr>
        <p:spPr>
          <a:xfrm>
            <a:off x="365760" y="5339715"/>
            <a:ext cx="11475720" cy="640080"/>
          </a:xfrm>
          <a:prstGeom prst="roundRect">
            <a:avLst>
              <a:gd name="adj" fmla="val 11429"/>
            </a:avLst>
          </a:prstGeom>
          <a:solidFill>
            <a:srgbClr val="F6FAFF"/>
          </a:solidFill>
          <a:ln w="12700">
            <a:solidFill>
              <a:srgbClr val="B9D5F4"/>
            </a:solidFill>
            <a:prstDash val="solid"/>
          </a:ln>
        </p:spPr>
      </p:sp>
      <p:sp>
        <p:nvSpPr>
          <p:cNvPr id="128" name="Shape 126"/>
          <p:cNvSpPr/>
          <p:nvPr/>
        </p:nvSpPr>
        <p:spPr>
          <a:xfrm>
            <a:off x="667512" y="5458587"/>
            <a:ext cx="310896" cy="310896"/>
          </a:xfrm>
          <a:prstGeom prst="ellipse">
            <a:avLst/>
          </a:prstGeom>
          <a:solidFill>
            <a:srgbClr val="0F66E8"/>
          </a:solidFill>
          <a:ln w="12700">
            <a:solidFill>
              <a:srgbClr val="0F66E8"/>
            </a:solidFill>
            <a:prstDash val="solid"/>
          </a:ln>
        </p:spPr>
      </p:sp>
      <p:sp>
        <p:nvSpPr>
          <p:cNvPr id="129" name="Text 127"/>
          <p:cNvSpPr/>
          <p:nvPr/>
        </p:nvSpPr>
        <p:spPr>
          <a:xfrm>
            <a:off x="667512" y="5467731"/>
            <a:ext cx="310896" cy="292608"/>
          </a:xfrm>
          <a:prstGeom prst="rect">
            <a:avLst/>
          </a:prstGeom>
          <a:noFill/>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a:t>
            </a:r>
            <a:endParaRPr lang="en-US" sz="1500" dirty="0"/>
          </a:p>
        </p:txBody>
      </p:sp>
      <p:sp>
        <p:nvSpPr>
          <p:cNvPr id="130" name="Text 128"/>
          <p:cNvSpPr/>
          <p:nvPr/>
        </p:nvSpPr>
        <p:spPr>
          <a:xfrm>
            <a:off x="1124712" y="5458587"/>
            <a:ext cx="10287000" cy="347472"/>
          </a:xfrm>
          <a:prstGeom prst="rect">
            <a:avLst/>
          </a:prstGeom>
          <a:noFill/>
        </p:spPr>
        <p:txBody>
          <a:bodyPr wrap="square" lIns="0" tIns="0" rIns="0" bIns="0" rtlCol="0" anchor="ctr">
            <a:normAutofit fontScale="90000"/>
          </a:bodyPr>
          <a:lstStyle/>
          <a:p>
            <a:pPr marL="0" indent="0" algn="l">
              <a:buNone/>
            </a:pPr>
            <a:r>
              <a:rPr lang="en-US" sz="1650" b="1" dirty="0">
                <a:solidFill>
                  <a:srgbClr val="061B33"/>
                </a:solidFill>
                <a:latin typeface="Aptos" pitchFamily="34" charset="0"/>
                <a:ea typeface="Aptos" pitchFamily="34" charset="-122"/>
                <a:cs typeface="Aptos" pitchFamily="34" charset="-120"/>
              </a:rPr>
              <a:t>The final winner is R2 Agent, with gains driven by review generation while rating preference remains stable.</a:t>
            </a:r>
            <a:endParaRPr lang="en-US" sz="1650" dirty="0"/>
          </a:p>
        </p:txBody>
      </p:sp>
      <p:sp>
        <p:nvSpPr>
          <p:cNvPr id="131"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b="1" dirty="0">
                <a:solidFill>
                  <a:srgbClr val="64748B"/>
                </a:solidFill>
                <a:latin typeface="Aptos" pitchFamily="34" charset="0"/>
                <a:ea typeface="Aptos" pitchFamily="34" charset="-122"/>
                <a:cs typeface="Aptos" pitchFamily="34" charset="-120"/>
              </a:rPr>
              <a:t>40</a:t>
            </a:r>
            <a:endParaRPr lang="en-US" altLang="vi-VN" sz="1000" b="1" dirty="0">
              <a:solidFill>
                <a:srgbClr val="64748B"/>
              </a:solidFill>
              <a:latin typeface="Aptos" pitchFamily="34" charset="0"/>
              <a:ea typeface="Aptos" pitchFamily="34" charset="-122"/>
              <a:cs typeface="Aptos" pitchFamily="34" charset="-12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84366" y="283464"/>
            <a:ext cx="2743200" cy="228600"/>
          </a:xfrm>
          <a:prstGeom prst="rect">
            <a:avLst/>
          </a:prstGeom>
          <a:noFill/>
        </p:spPr>
        <p:txBody>
          <a:bodyPr wrap="square" lIns="0" tIns="0" rIns="0" bIns="0" rtlCol="0" anchor="t">
            <a:normAutofit/>
          </a:bodyPr>
          <a:lstStyle/>
          <a:p>
            <a:pPr marL="0" indent="0" algn="l">
              <a:buNone/>
            </a:pPr>
            <a:r>
              <a:rPr lang="en-US" sz="1200" b="1" dirty="0">
                <a:solidFill>
                  <a:srgbClr val="0B66F0"/>
                </a:solidFill>
                <a:latin typeface="Aptos" pitchFamily="34" charset="0"/>
                <a:ea typeface="Aptos" pitchFamily="34" charset="-122"/>
                <a:cs typeface="Aptos" pitchFamily="34" charset="-120"/>
              </a:rPr>
              <a:t>METRIC INTERPRETATION</a:t>
            </a:r>
            <a:endParaRPr lang="en-US" sz="1200" dirty="0"/>
          </a:p>
        </p:txBody>
      </p:sp>
      <p:sp>
        <p:nvSpPr>
          <p:cNvPr id="3" name="Text 1"/>
          <p:cNvSpPr/>
          <p:nvPr/>
        </p:nvSpPr>
        <p:spPr>
          <a:xfrm>
            <a:off x="384366" y="667512"/>
            <a:ext cx="10972800" cy="502920"/>
          </a:xfrm>
          <a:prstGeom prst="rect">
            <a:avLst/>
          </a:prstGeom>
          <a:noFill/>
        </p:spPr>
        <p:txBody>
          <a:bodyPr wrap="square" lIns="0" tIns="0" rIns="0" bIns="0" rtlCol="0" anchor="t">
            <a:normAutofit lnSpcReduction="20000"/>
          </a:bodyPr>
          <a:lstStyle/>
          <a:p>
            <a:pPr marL="0" indent="0" algn="l">
              <a:buNone/>
            </a:pPr>
            <a:r>
              <a:rPr lang="en-US" sz="3400" b="1" dirty="0">
                <a:solidFill>
                  <a:srgbClr val="06213D"/>
                </a:solidFill>
                <a:latin typeface="Aptos" pitchFamily="34" charset="0"/>
                <a:ea typeface="Aptos" pitchFamily="34" charset="-122"/>
                <a:cs typeface="Aptos" pitchFamily="34" charset="-120"/>
              </a:rPr>
              <a:t>Why preference_estimation stayed at 0.8800</a:t>
            </a:r>
            <a:endParaRPr lang="en-US" sz="3400" dirty="0"/>
          </a:p>
        </p:txBody>
      </p:sp>
      <p:sp>
        <p:nvSpPr>
          <p:cNvPr id="4" name="Shape 2"/>
          <p:cNvSpPr/>
          <p:nvPr/>
        </p:nvSpPr>
        <p:spPr>
          <a:xfrm>
            <a:off x="384366" y="1316736"/>
            <a:ext cx="11384280" cy="0"/>
          </a:xfrm>
          <a:prstGeom prst="line">
            <a:avLst/>
          </a:prstGeom>
          <a:noFill/>
          <a:ln w="15240">
            <a:solidFill>
              <a:srgbClr val="BFD5EC"/>
            </a:solidFill>
            <a:prstDash val="solid"/>
          </a:ln>
        </p:spPr>
      </p:sp>
      <p:sp>
        <p:nvSpPr>
          <p:cNvPr id="5" name="Shape 3"/>
          <p:cNvSpPr/>
          <p:nvPr/>
        </p:nvSpPr>
        <p:spPr>
          <a:xfrm>
            <a:off x="420942" y="1600200"/>
            <a:ext cx="5596128" cy="3547872"/>
          </a:xfrm>
          <a:prstGeom prst="roundRect">
            <a:avLst>
              <a:gd name="adj" fmla="val 4124"/>
            </a:avLst>
          </a:prstGeom>
          <a:solidFill>
            <a:srgbClr val="071429"/>
          </a:solidFill>
          <a:ln w="15240">
            <a:solidFill>
              <a:srgbClr val="071429"/>
            </a:solidFill>
            <a:prstDash val="solid"/>
          </a:ln>
          <a:effectLst>
            <a:outerShdw blurRad="25400" dist="19050" dir="2700000" algn="bl" rotWithShape="0">
              <a:srgbClr val="000000">
                <a:alpha val="8000"/>
              </a:srgbClr>
            </a:outerShdw>
          </a:effectLst>
        </p:spPr>
      </p:sp>
      <p:sp>
        <p:nvSpPr>
          <p:cNvPr id="6" name="Text 4"/>
          <p:cNvSpPr/>
          <p:nvPr/>
        </p:nvSpPr>
        <p:spPr>
          <a:xfrm>
            <a:off x="804990" y="2176272"/>
            <a:ext cx="4800600" cy="960120"/>
          </a:xfrm>
          <a:prstGeom prst="rect">
            <a:avLst/>
          </a:prstGeom>
          <a:noFill/>
        </p:spPr>
        <p:txBody>
          <a:bodyPr wrap="square" lIns="0" tIns="0" rIns="0" bIns="0" rtlCol="0" anchor="t">
            <a:normAutofit/>
          </a:bodyPr>
          <a:lstStyle/>
          <a:p>
            <a:pPr marL="0" indent="0" algn="l">
              <a:buNone/>
            </a:pPr>
            <a:r>
              <a:rPr lang="en-US" sz="2200" dirty="0">
                <a:solidFill>
                  <a:srgbClr val="F3F6FA"/>
                </a:solidFill>
                <a:latin typeface="Courier New" panose="02070609020205020404" pitchFamily="34" charset="0"/>
                <a:ea typeface="Courier New" panose="02070609020205020404" pitchFamily="34" charset="-122"/>
                <a:cs typeface="Courier New" panose="02070609020205020404" pitchFamily="34" charset="-120"/>
              </a:rPr>
              <a:t>preference = 1 - |gt_stars -</a:t>
            </a:r>
            <a:endParaRPr lang="en-US" sz="2200" dirty="0"/>
          </a:p>
          <a:p>
            <a:pPr marL="0" indent="0" algn="l">
              <a:buNone/>
            </a:pPr>
            <a:r>
              <a:rPr lang="en-US" sz="2200" dirty="0">
                <a:solidFill>
                  <a:srgbClr val="F3F6FA"/>
                </a:solidFill>
                <a:latin typeface="Courier New" panose="02070609020205020404" pitchFamily="34" charset="0"/>
                <a:ea typeface="Courier New" panose="02070609020205020404" pitchFamily="34" charset="-122"/>
                <a:cs typeface="Courier New" panose="02070609020205020404" pitchFamily="34" charset="-120"/>
              </a:rPr>
              <a:t>predicted_stars| / 5</a:t>
            </a:r>
            <a:endParaRPr lang="en-US" sz="2200" dirty="0"/>
          </a:p>
        </p:txBody>
      </p:sp>
      <p:sp>
        <p:nvSpPr>
          <p:cNvPr id="7" name="Text 5"/>
          <p:cNvSpPr/>
          <p:nvPr/>
        </p:nvSpPr>
        <p:spPr>
          <a:xfrm>
            <a:off x="804990" y="3502152"/>
            <a:ext cx="4572000" cy="320040"/>
          </a:xfrm>
          <a:prstGeom prst="rect">
            <a:avLst/>
          </a:prstGeom>
          <a:noFill/>
        </p:spPr>
        <p:txBody>
          <a:bodyPr wrap="square" lIns="0" tIns="0" rIns="0" bIns="0" rtlCol="0" anchor="t">
            <a:normAutofit lnSpcReduction="10000"/>
          </a:bodyPr>
          <a:lstStyle/>
          <a:p>
            <a:pPr marL="0" indent="0" algn="l">
              <a:buNone/>
            </a:pPr>
            <a:r>
              <a:rPr lang="en-US" sz="2200" dirty="0">
                <a:solidFill>
                  <a:srgbClr val="F3F6FA"/>
                </a:solidFill>
                <a:latin typeface="Courier New" panose="02070609020205020404" pitchFamily="34" charset="0"/>
                <a:ea typeface="Courier New" panose="02070609020205020404" pitchFamily="34" charset="-122"/>
                <a:cs typeface="Courier New" panose="02070609020205020404" pitchFamily="34" charset="-120"/>
              </a:rPr>
              <a:t>Example:</a:t>
            </a:r>
            <a:endParaRPr lang="en-US" sz="2200" dirty="0"/>
          </a:p>
        </p:txBody>
      </p:sp>
      <p:sp>
        <p:nvSpPr>
          <p:cNvPr id="8" name="Text 6"/>
          <p:cNvSpPr/>
          <p:nvPr/>
        </p:nvSpPr>
        <p:spPr>
          <a:xfrm>
            <a:off x="804990" y="4050792"/>
            <a:ext cx="4800600" cy="411480"/>
          </a:xfrm>
          <a:prstGeom prst="rect">
            <a:avLst/>
          </a:prstGeom>
          <a:noFill/>
        </p:spPr>
        <p:txBody>
          <a:bodyPr wrap="square" lIns="0" tIns="0" rIns="0" bIns="0" rtlCol="0" anchor="t">
            <a:normAutofit fontScale="90000"/>
          </a:bodyPr>
          <a:lstStyle/>
          <a:p>
            <a:pPr marL="0" indent="0" algn="l">
              <a:buNone/>
            </a:pPr>
            <a:r>
              <a:rPr lang="en-US" sz="2300" dirty="0">
                <a:solidFill>
                  <a:srgbClr val="F3F6FA"/>
                </a:solidFill>
                <a:latin typeface="Courier New" panose="02070609020205020404" pitchFamily="34" charset="0"/>
                <a:ea typeface="Courier New" panose="02070609020205020404" pitchFamily="34" charset="-122"/>
                <a:cs typeface="Courier New" panose="02070609020205020404" pitchFamily="34" charset="-120"/>
              </a:rPr>
              <a:t>1 - |5.0 - 4.4| / 5 = 0.8800</a:t>
            </a:r>
            <a:endParaRPr lang="en-US" sz="2300" dirty="0"/>
          </a:p>
        </p:txBody>
      </p:sp>
      <p:sp>
        <p:nvSpPr>
          <p:cNvPr id="9" name="Shape 7"/>
          <p:cNvSpPr/>
          <p:nvPr/>
        </p:nvSpPr>
        <p:spPr>
          <a:xfrm>
            <a:off x="6291390" y="1627632"/>
            <a:ext cx="5468112" cy="1060704"/>
          </a:xfrm>
          <a:prstGeom prst="roundRect">
            <a:avLst>
              <a:gd name="adj" fmla="val 13793"/>
            </a:avLst>
          </a:prstGeom>
          <a:solidFill>
            <a:srgbClr val="F6FAFF"/>
          </a:solidFill>
          <a:ln w="15240">
            <a:solidFill>
              <a:srgbClr val="BBD3EA"/>
            </a:solidFill>
            <a:prstDash val="solid"/>
          </a:ln>
          <a:effectLst>
            <a:outerShdw blurRad="25400" dist="19050" dir="2700000" algn="bl" rotWithShape="0">
              <a:srgbClr val="000000">
                <a:alpha val="8000"/>
              </a:srgbClr>
            </a:outerShdw>
          </a:effectLst>
        </p:spPr>
      </p:sp>
      <p:sp>
        <p:nvSpPr>
          <p:cNvPr id="10" name="Shape 8"/>
          <p:cNvSpPr/>
          <p:nvPr/>
        </p:nvSpPr>
        <p:spPr>
          <a:xfrm>
            <a:off x="6492558" y="1828800"/>
            <a:ext cx="73152" cy="658368"/>
          </a:xfrm>
          <a:prstGeom prst="rect">
            <a:avLst/>
          </a:prstGeom>
          <a:solidFill>
            <a:srgbClr val="0B66F0"/>
          </a:solidFill>
          <a:ln w="12700">
            <a:solidFill>
              <a:srgbClr val="0B66F0"/>
            </a:solidFill>
            <a:prstDash val="solid"/>
          </a:ln>
        </p:spPr>
      </p:sp>
      <p:sp>
        <p:nvSpPr>
          <p:cNvPr id="11" name="Text 9"/>
          <p:cNvSpPr/>
          <p:nvPr/>
        </p:nvSpPr>
        <p:spPr>
          <a:xfrm>
            <a:off x="6712014" y="1847088"/>
            <a:ext cx="4846320" cy="256032"/>
          </a:xfrm>
          <a:prstGeom prst="rect">
            <a:avLst/>
          </a:prstGeom>
          <a:noFill/>
        </p:spPr>
        <p:txBody>
          <a:bodyPr wrap="square" lIns="0" tIns="0" rIns="0" bIns="0" rtlCol="0" anchor="t">
            <a:normAutofit/>
          </a:bodyPr>
          <a:lstStyle/>
          <a:p>
            <a:pPr marL="0" indent="0" algn="l">
              <a:buNone/>
            </a:pPr>
            <a:r>
              <a:rPr lang="en-US" sz="1300" b="1" dirty="0">
                <a:solidFill>
                  <a:srgbClr val="0B66F0"/>
                </a:solidFill>
                <a:latin typeface="Aptos" pitchFamily="34" charset="0"/>
                <a:ea typeface="Aptos" pitchFamily="34" charset="-122"/>
                <a:cs typeface="Aptos" pitchFamily="34" charset="-120"/>
              </a:rPr>
              <a:t>FIXED STAR CONTRACT</a:t>
            </a:r>
            <a:endParaRPr lang="en-US" sz="1300" dirty="0"/>
          </a:p>
        </p:txBody>
      </p:sp>
      <p:sp>
        <p:nvSpPr>
          <p:cNvPr id="12" name="Text 10"/>
          <p:cNvSpPr/>
          <p:nvPr/>
        </p:nvSpPr>
        <p:spPr>
          <a:xfrm>
            <a:off x="6712014" y="2231136"/>
            <a:ext cx="4846320" cy="310896"/>
          </a:xfrm>
          <a:prstGeom prst="rect">
            <a:avLst/>
          </a:prstGeom>
          <a:noFill/>
        </p:spPr>
        <p:txBody>
          <a:bodyPr wrap="square" lIns="0" tIns="0" rIns="0" bIns="0" rtlCol="0" anchor="t">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Final agent must copy predicted_stars exactly.</a:t>
            </a:r>
            <a:endParaRPr lang="en-US" sz="1800" dirty="0"/>
          </a:p>
        </p:txBody>
      </p:sp>
      <p:sp>
        <p:nvSpPr>
          <p:cNvPr id="13" name="Shape 11"/>
          <p:cNvSpPr/>
          <p:nvPr/>
        </p:nvSpPr>
        <p:spPr>
          <a:xfrm>
            <a:off x="6291390" y="2880360"/>
            <a:ext cx="5468112" cy="1060704"/>
          </a:xfrm>
          <a:prstGeom prst="roundRect">
            <a:avLst>
              <a:gd name="adj" fmla="val 13793"/>
            </a:avLst>
          </a:prstGeom>
          <a:solidFill>
            <a:srgbClr val="FFF7E5"/>
          </a:solidFill>
          <a:ln w="15240">
            <a:solidFill>
              <a:srgbClr val="F4D290"/>
            </a:solidFill>
            <a:prstDash val="solid"/>
          </a:ln>
          <a:effectLst>
            <a:outerShdw blurRad="25400" dist="19050" dir="2700000" algn="bl" rotWithShape="0">
              <a:srgbClr val="000000">
                <a:alpha val="8000"/>
              </a:srgbClr>
            </a:outerShdw>
          </a:effectLst>
        </p:spPr>
      </p:sp>
      <p:sp>
        <p:nvSpPr>
          <p:cNvPr id="14" name="Shape 12"/>
          <p:cNvSpPr/>
          <p:nvPr/>
        </p:nvSpPr>
        <p:spPr>
          <a:xfrm>
            <a:off x="6492558" y="3081528"/>
            <a:ext cx="73152" cy="658368"/>
          </a:xfrm>
          <a:prstGeom prst="rect">
            <a:avLst/>
          </a:prstGeom>
          <a:solidFill>
            <a:srgbClr val="F28C00"/>
          </a:solidFill>
          <a:ln w="12700">
            <a:solidFill>
              <a:srgbClr val="F28C00"/>
            </a:solidFill>
            <a:prstDash val="solid"/>
          </a:ln>
        </p:spPr>
      </p:sp>
      <p:sp>
        <p:nvSpPr>
          <p:cNvPr id="15" name="Text 13"/>
          <p:cNvSpPr/>
          <p:nvPr/>
        </p:nvSpPr>
        <p:spPr>
          <a:xfrm>
            <a:off x="6712014" y="3099816"/>
            <a:ext cx="4846320" cy="256032"/>
          </a:xfrm>
          <a:prstGeom prst="rect">
            <a:avLst/>
          </a:prstGeom>
          <a:noFill/>
        </p:spPr>
        <p:txBody>
          <a:bodyPr wrap="square" lIns="0" tIns="0" rIns="0" bIns="0" rtlCol="0" anchor="t">
            <a:normAutofit/>
          </a:bodyPr>
          <a:lstStyle/>
          <a:p>
            <a:pPr marL="0" indent="0" algn="l">
              <a:buNone/>
            </a:pPr>
            <a:r>
              <a:rPr lang="en-US" sz="1300" b="1" dirty="0">
                <a:solidFill>
                  <a:srgbClr val="F28C00"/>
                </a:solidFill>
                <a:latin typeface="Aptos" pitchFamily="34" charset="0"/>
                <a:ea typeface="Aptos" pitchFamily="34" charset="-122"/>
                <a:cs typeface="Aptos" pitchFamily="34" charset="-120"/>
              </a:rPr>
              <a:t>CONSERVATIVE POLICY</a:t>
            </a:r>
            <a:endParaRPr lang="en-US" sz="1300" dirty="0"/>
          </a:p>
        </p:txBody>
      </p:sp>
      <p:sp>
        <p:nvSpPr>
          <p:cNvPr id="16" name="Text 14"/>
          <p:cNvSpPr/>
          <p:nvPr/>
        </p:nvSpPr>
        <p:spPr>
          <a:xfrm>
            <a:off x="6712014" y="3483864"/>
            <a:ext cx="4846320" cy="310896"/>
          </a:xfrm>
          <a:prstGeom prst="rect">
            <a:avLst/>
          </a:prstGeom>
          <a:noFill/>
        </p:spPr>
        <p:txBody>
          <a:bodyPr wrap="square" lIns="0" tIns="0" rIns="0" bIns="0" rtlCol="0" anchor="t">
            <a:normAutofit fontScale="90000"/>
          </a:bodyPr>
          <a:lstStyle/>
          <a:p>
            <a:pPr marL="0" indent="0" algn="l">
              <a:buNone/>
            </a:pPr>
            <a:r>
              <a:rPr lang="en-US" sz="1800" dirty="0">
                <a:solidFill>
                  <a:srgbClr val="111827"/>
                </a:solidFill>
                <a:latin typeface="Aptos" pitchFamily="34" charset="0"/>
                <a:ea typeface="Aptos" pitchFamily="34" charset="-122"/>
                <a:cs typeface="Aptos" pitchFamily="34" charset="-120"/>
              </a:rPr>
              <a:t>Anti-saturation avoids unsupported 5.0 predictions.</a:t>
            </a:r>
            <a:endParaRPr lang="en-US" sz="1800" dirty="0"/>
          </a:p>
        </p:txBody>
      </p:sp>
      <p:sp>
        <p:nvSpPr>
          <p:cNvPr id="17" name="Shape 15"/>
          <p:cNvSpPr/>
          <p:nvPr/>
        </p:nvSpPr>
        <p:spPr>
          <a:xfrm>
            <a:off x="6291390" y="4133088"/>
            <a:ext cx="5468112" cy="1060704"/>
          </a:xfrm>
          <a:prstGeom prst="roundRect">
            <a:avLst>
              <a:gd name="adj" fmla="val 13793"/>
            </a:avLst>
          </a:prstGeom>
          <a:solidFill>
            <a:srgbClr val="FFF0F1"/>
          </a:solidFill>
          <a:ln w="15240">
            <a:solidFill>
              <a:srgbClr val="F6B7BD"/>
            </a:solidFill>
            <a:prstDash val="solid"/>
          </a:ln>
          <a:effectLst>
            <a:outerShdw blurRad="25400" dist="19050" dir="2700000" algn="bl" rotWithShape="0">
              <a:srgbClr val="000000">
                <a:alpha val="8000"/>
              </a:srgbClr>
            </a:outerShdw>
          </a:effectLst>
        </p:spPr>
      </p:sp>
      <p:sp>
        <p:nvSpPr>
          <p:cNvPr id="18" name="Shape 16"/>
          <p:cNvSpPr/>
          <p:nvPr/>
        </p:nvSpPr>
        <p:spPr>
          <a:xfrm>
            <a:off x="6492558" y="4334256"/>
            <a:ext cx="73152" cy="658368"/>
          </a:xfrm>
          <a:prstGeom prst="rect">
            <a:avLst/>
          </a:prstGeom>
          <a:solidFill>
            <a:srgbClr val="E63946"/>
          </a:solidFill>
          <a:ln w="12700">
            <a:solidFill>
              <a:srgbClr val="E63946"/>
            </a:solidFill>
            <a:prstDash val="solid"/>
          </a:ln>
        </p:spPr>
      </p:sp>
      <p:sp>
        <p:nvSpPr>
          <p:cNvPr id="19" name="Text 17"/>
          <p:cNvSpPr/>
          <p:nvPr/>
        </p:nvSpPr>
        <p:spPr>
          <a:xfrm>
            <a:off x="6712014" y="4352544"/>
            <a:ext cx="4846320" cy="256032"/>
          </a:xfrm>
          <a:prstGeom prst="rect">
            <a:avLst/>
          </a:prstGeom>
          <a:noFill/>
        </p:spPr>
        <p:txBody>
          <a:bodyPr wrap="square" lIns="0" tIns="0" rIns="0" bIns="0" rtlCol="0" anchor="t">
            <a:normAutofit/>
          </a:bodyPr>
          <a:lstStyle/>
          <a:p>
            <a:pPr marL="0" indent="0" algn="l">
              <a:buNone/>
            </a:pPr>
            <a:r>
              <a:rPr lang="en-US" sz="1300" b="1" dirty="0">
                <a:solidFill>
                  <a:srgbClr val="E63946"/>
                </a:solidFill>
                <a:latin typeface="Aptos" pitchFamily="34" charset="0"/>
                <a:ea typeface="Aptos" pitchFamily="34" charset="-122"/>
                <a:cs typeface="Aptos" pitchFamily="34" charset="-120"/>
              </a:rPr>
              <a:t>OBSERVED TRADE-OFF</a:t>
            </a:r>
            <a:endParaRPr lang="en-US" sz="1300" dirty="0"/>
          </a:p>
        </p:txBody>
      </p:sp>
      <p:sp>
        <p:nvSpPr>
          <p:cNvPr id="20" name="Text 18"/>
          <p:cNvSpPr/>
          <p:nvPr/>
        </p:nvSpPr>
        <p:spPr>
          <a:xfrm>
            <a:off x="6712014" y="4736592"/>
            <a:ext cx="4846320" cy="310896"/>
          </a:xfrm>
          <a:prstGeom prst="rect">
            <a:avLst/>
          </a:prstGeom>
          <a:noFill/>
        </p:spPr>
        <p:txBody>
          <a:bodyPr wrap="square" lIns="0" tIns="0" rIns="0" bIns="0" rtlCol="0" anchor="t">
            <a:normAutofit fontScale="70000"/>
          </a:bodyPr>
          <a:lstStyle/>
          <a:p>
            <a:pPr marL="0" indent="0" algn="l">
              <a:buNone/>
            </a:pPr>
            <a:r>
              <a:rPr lang="en-US" sz="1800" dirty="0">
                <a:solidFill>
                  <a:srgbClr val="111827"/>
                </a:solidFill>
                <a:latin typeface="Aptos" pitchFamily="34" charset="0"/>
                <a:ea typeface="Aptos" pitchFamily="34" charset="-122"/>
                <a:cs typeface="Aptos" pitchFamily="34" charset="-120"/>
              </a:rPr>
              <a:t>High review_generation can lose if preference drops to 0.8000.</a:t>
            </a:r>
            <a:endParaRPr lang="en-US" sz="1800" dirty="0"/>
          </a:p>
        </p:txBody>
      </p:sp>
      <p:sp>
        <p:nvSpPr>
          <p:cNvPr id="21" name="Shape 19"/>
          <p:cNvSpPr/>
          <p:nvPr/>
        </p:nvSpPr>
        <p:spPr>
          <a:xfrm>
            <a:off x="420942" y="5596128"/>
            <a:ext cx="11338560" cy="804672"/>
          </a:xfrm>
          <a:prstGeom prst="roundRect">
            <a:avLst>
              <a:gd name="adj" fmla="val 20455"/>
            </a:avLst>
          </a:prstGeom>
          <a:solidFill>
            <a:srgbClr val="F4F9FF"/>
          </a:solidFill>
          <a:ln w="15240">
            <a:solidFill>
              <a:srgbClr val="BBD3EA"/>
            </a:solidFill>
            <a:prstDash val="solid"/>
          </a:ln>
          <a:effectLst>
            <a:outerShdw blurRad="25400" dist="19050" dir="2700000" algn="bl" rotWithShape="0">
              <a:srgbClr val="000000">
                <a:alpha val="8000"/>
              </a:srgbClr>
            </a:outerShdw>
          </a:effectLst>
        </p:spPr>
      </p:sp>
      <p:sp>
        <p:nvSpPr>
          <p:cNvPr id="22" name="Shape 20"/>
          <p:cNvSpPr/>
          <p:nvPr/>
        </p:nvSpPr>
        <p:spPr>
          <a:xfrm>
            <a:off x="658686" y="5733288"/>
            <a:ext cx="73152" cy="530352"/>
          </a:xfrm>
          <a:prstGeom prst="rect">
            <a:avLst/>
          </a:prstGeom>
          <a:solidFill>
            <a:srgbClr val="0B66F0"/>
          </a:solidFill>
          <a:ln w="12700">
            <a:solidFill>
              <a:srgbClr val="0B66F0"/>
            </a:solidFill>
            <a:prstDash val="solid"/>
          </a:ln>
        </p:spPr>
      </p:sp>
      <p:sp>
        <p:nvSpPr>
          <p:cNvPr id="23" name="Text 21"/>
          <p:cNvSpPr/>
          <p:nvPr/>
        </p:nvSpPr>
        <p:spPr>
          <a:xfrm>
            <a:off x="933006" y="5760720"/>
            <a:ext cx="10469880" cy="502920"/>
          </a:xfrm>
          <a:prstGeom prst="rect">
            <a:avLst/>
          </a:prstGeom>
          <a:noFill/>
        </p:spPr>
        <p:txBody>
          <a:bodyPr wrap="square" lIns="0" tIns="0" rIns="0" bIns="0" rtlCol="0" anchor="ctr">
            <a:normAutofit fontScale="90000"/>
          </a:bodyPr>
          <a:lstStyle/>
          <a:p>
            <a:pPr marL="0" indent="0" algn="l">
              <a:buNone/>
            </a:pPr>
            <a:r>
              <a:rPr lang="en-US" sz="2200" b="1" dirty="0">
                <a:solidFill>
                  <a:srgbClr val="06213D"/>
                </a:solidFill>
                <a:latin typeface="Aptos" pitchFamily="34" charset="0"/>
                <a:ea typeface="Aptos" pitchFamily="34" charset="-122"/>
                <a:cs typeface="Aptos" pitchFamily="34" charset="-120"/>
              </a:rPr>
              <a:t>Future improvement must safely tune rating calibration, not only make prettier reviews.</a:t>
            </a:r>
            <a:endParaRPr lang="en-US" sz="2200" dirty="0"/>
          </a:p>
        </p:txBody>
      </p:sp>
      <p:sp>
        <p:nvSpPr>
          <p:cNvPr id="24"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dirty="0"/>
              <a:t>41</a:t>
            </a:r>
            <a:endParaRPr lang="en-US" altLang="vi-VN"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5806" y="274320"/>
            <a:ext cx="2377440" cy="201168"/>
          </a:xfrm>
          <a:prstGeom prst="rect">
            <a:avLst/>
          </a:prstGeom>
          <a:noFill/>
        </p:spPr>
        <p:txBody>
          <a:bodyPr wrap="square" lIns="0" tIns="0" rIns="0" bIns="0" rtlCol="0" anchor="ctr">
            <a:normAutofit/>
          </a:bodyPr>
          <a:lstStyle/>
          <a:p>
            <a:pPr marL="0" indent="0">
              <a:buNone/>
            </a:pPr>
            <a:r>
              <a:rPr lang="en-US" sz="950" b="1" dirty="0">
                <a:solidFill>
                  <a:srgbClr val="0969E8"/>
                </a:solidFill>
                <a:latin typeface="Arial" panose="020B0704020202020204" pitchFamily="34" charset="0"/>
                <a:ea typeface="Arial" panose="020B0704020202020204" pitchFamily="34" charset="-122"/>
                <a:cs typeface="Arial" panose="020B0704020202020204" pitchFamily="34" charset="-120"/>
              </a:rPr>
              <a:t>CRITICAL ANALYSIS</a:t>
            </a:r>
            <a:endParaRPr lang="en-US" sz="950" dirty="0"/>
          </a:p>
        </p:txBody>
      </p:sp>
      <p:sp>
        <p:nvSpPr>
          <p:cNvPr id="3" name="Text 1"/>
          <p:cNvSpPr/>
          <p:nvPr/>
        </p:nvSpPr>
        <p:spPr>
          <a:xfrm>
            <a:off x="475806" y="640080"/>
            <a:ext cx="10881360" cy="457200"/>
          </a:xfrm>
          <a:prstGeom prst="rect">
            <a:avLst/>
          </a:prstGeom>
          <a:noFill/>
        </p:spPr>
        <p:txBody>
          <a:bodyPr wrap="square" lIns="0" tIns="0" rIns="0" bIns="0" rtlCol="0" anchor="ctr">
            <a:normAutofit fontScale="90000" lnSpcReduction="10000"/>
          </a:bodyPr>
          <a:lstStyle/>
          <a:p>
            <a:pPr marL="0" indent="0">
              <a:buNone/>
            </a:pPr>
            <a:r>
              <a:rPr lang="en-US" sz="3400" b="1" dirty="0">
                <a:solidFill>
                  <a:srgbClr val="062743"/>
                </a:solidFill>
                <a:latin typeface="Arial" panose="020B0704020202020204" pitchFamily="34" charset="0"/>
                <a:ea typeface="Arial" panose="020B0704020202020204" pitchFamily="34" charset="-122"/>
                <a:cs typeface="Arial" panose="020B0704020202020204" pitchFamily="34" charset="-120"/>
              </a:rPr>
              <a:t>Limitations and future work</a:t>
            </a:r>
            <a:endParaRPr lang="en-US" sz="3400" dirty="0"/>
          </a:p>
        </p:txBody>
      </p:sp>
      <p:sp>
        <p:nvSpPr>
          <p:cNvPr id="4" name="Shape 2"/>
          <p:cNvSpPr/>
          <p:nvPr/>
        </p:nvSpPr>
        <p:spPr>
          <a:xfrm>
            <a:off x="475806" y="1225296"/>
            <a:ext cx="11247120" cy="0"/>
          </a:xfrm>
          <a:prstGeom prst="line">
            <a:avLst/>
          </a:prstGeom>
          <a:noFill/>
          <a:ln w="10160">
            <a:solidFill>
              <a:srgbClr val="B9CBDD"/>
            </a:solidFill>
            <a:prstDash val="solid"/>
          </a:ln>
        </p:spPr>
      </p:sp>
      <p:sp>
        <p:nvSpPr>
          <p:cNvPr id="5" name="Shape 3"/>
          <p:cNvSpPr/>
          <p:nvPr/>
        </p:nvSpPr>
        <p:spPr>
          <a:xfrm>
            <a:off x="713740" y="1572895"/>
            <a:ext cx="3478530" cy="2103120"/>
          </a:xfrm>
          <a:prstGeom prst="roundRect">
            <a:avLst>
              <a:gd name="adj" fmla="val 5217"/>
            </a:avLst>
          </a:prstGeom>
          <a:solidFill>
            <a:srgbClr val="FFF8E8"/>
          </a:solidFill>
          <a:ln w="16510">
            <a:solidFill>
              <a:srgbClr val="E8C96C"/>
            </a:solidFill>
            <a:prstDash val="solid"/>
          </a:ln>
        </p:spPr>
      </p:sp>
      <p:sp>
        <p:nvSpPr>
          <p:cNvPr id="6" name="Shape 4"/>
          <p:cNvSpPr/>
          <p:nvPr/>
        </p:nvSpPr>
        <p:spPr>
          <a:xfrm>
            <a:off x="951294" y="1810512"/>
            <a:ext cx="475488" cy="475488"/>
          </a:xfrm>
          <a:prstGeom prst="ellipse">
            <a:avLst/>
          </a:prstGeom>
          <a:solidFill>
            <a:srgbClr val="FFFFFF">
              <a:alpha val="97000"/>
            </a:srgbClr>
          </a:solidFill>
          <a:ln w="19050">
            <a:solidFill>
              <a:srgbClr val="F28C00"/>
            </a:solidFill>
            <a:prstDash val="solid"/>
          </a:ln>
        </p:spPr>
      </p:sp>
      <p:sp>
        <p:nvSpPr>
          <p:cNvPr id="7" name="Text 5"/>
          <p:cNvSpPr/>
          <p:nvPr/>
        </p:nvSpPr>
        <p:spPr>
          <a:xfrm>
            <a:off x="951294" y="1943100"/>
            <a:ext cx="475488" cy="164592"/>
          </a:xfrm>
          <a:prstGeom prst="rect">
            <a:avLst/>
          </a:prstGeom>
          <a:noFill/>
        </p:spPr>
        <p:txBody>
          <a:bodyPr wrap="square" lIns="0" tIns="0" rIns="0" bIns="0" rtlCol="0" anchor="ctr"/>
          <a:lstStyle/>
          <a:p>
            <a:pPr marL="0" indent="0" algn="ctr">
              <a:buNone/>
            </a:pPr>
            <a:r>
              <a:rPr lang="en-US" sz="1050" b="1" dirty="0">
                <a:solidFill>
                  <a:srgbClr val="F28C00"/>
                </a:solidFill>
                <a:latin typeface="Arial" panose="020B0704020202020204" pitchFamily="34" charset="0"/>
                <a:ea typeface="Arial" panose="020B0704020202020204" pitchFamily="34" charset="-122"/>
                <a:cs typeface="Arial" panose="020B0704020202020204" pitchFamily="34" charset="-120"/>
              </a:rPr>
              <a:t>01</a:t>
            </a:r>
            <a:endParaRPr lang="en-US" sz="1050" dirty="0"/>
          </a:p>
        </p:txBody>
      </p:sp>
      <p:sp>
        <p:nvSpPr>
          <p:cNvPr id="8" name="Text 6"/>
          <p:cNvSpPr/>
          <p:nvPr/>
        </p:nvSpPr>
        <p:spPr>
          <a:xfrm>
            <a:off x="1582230" y="1883664"/>
            <a:ext cx="2286000" cy="228600"/>
          </a:xfrm>
          <a:prstGeom prst="rect">
            <a:avLst/>
          </a:prstGeom>
          <a:noFill/>
        </p:spPr>
        <p:txBody>
          <a:bodyPr wrap="square" lIns="0" tIns="0" rIns="0" bIns="0" rtlCol="0" anchor="ctr">
            <a:normAutofit/>
          </a:bodyPr>
          <a:lstStyle/>
          <a:p>
            <a:pPr marL="0" indent="0">
              <a:buNone/>
            </a:pPr>
            <a:r>
              <a:rPr lang="en-US" sz="1080" b="1" dirty="0">
                <a:solidFill>
                  <a:srgbClr val="F28C00"/>
                </a:solidFill>
                <a:latin typeface="Arial" panose="020B0704020202020204" pitchFamily="34" charset="0"/>
                <a:ea typeface="Arial" panose="020B0704020202020204" pitchFamily="34" charset="-122"/>
                <a:cs typeface="Arial" panose="020B0704020202020204" pitchFamily="34" charset="-120"/>
              </a:rPr>
              <a:t>CURRENT LIMITS</a:t>
            </a:r>
            <a:endParaRPr lang="en-US" sz="1080" dirty="0"/>
          </a:p>
        </p:txBody>
      </p:sp>
      <p:sp>
        <p:nvSpPr>
          <p:cNvPr id="9" name="Text 7"/>
          <p:cNvSpPr/>
          <p:nvPr/>
        </p:nvSpPr>
        <p:spPr>
          <a:xfrm>
            <a:off x="1033463" y="2505710"/>
            <a:ext cx="2978150" cy="1078865"/>
          </a:xfrm>
          <a:prstGeom prst="rect">
            <a:avLst/>
          </a:prstGeom>
          <a:noFill/>
        </p:spPr>
        <p:txBody>
          <a:bodyPr wrap="square" lIns="0" tIns="0" rIns="0" bIns="0" rtlCol="0" anchor="ctr">
            <a:normAutofit fontScale="90000"/>
          </a:bodyPr>
          <a:lstStyle/>
          <a:p>
            <a:pPr marL="0" indent="0">
              <a:buNone/>
            </a:pPr>
            <a:r>
              <a:rPr lang="en-US" sz="1900" dirty="0">
                <a:solidFill>
                  <a:srgbClr val="07172A"/>
                </a:solidFill>
                <a:latin typeface="Arial" panose="020B0704020202020204" pitchFamily="34" charset="0"/>
                <a:ea typeface="Arial" panose="020B0704020202020204" pitchFamily="34" charset="-122"/>
                <a:cs typeface="Arial" panose="020B0704020202020204" pitchFamily="34" charset="-120"/>
              </a:rPr>
              <a:t>Preference capped at 0.8800</a:t>
            </a:r>
            <a:endParaRPr lang="en-US" sz="1900" dirty="0"/>
          </a:p>
          <a:p>
            <a:pPr marL="0" indent="0">
              <a:buNone/>
            </a:pPr>
            <a:r>
              <a:rPr lang="en-US" sz="1900" dirty="0">
                <a:solidFill>
                  <a:srgbClr val="07172A"/>
                </a:solidFill>
                <a:latin typeface="Arial" panose="020B0704020202020204" pitchFamily="34" charset="0"/>
                <a:ea typeface="Arial" panose="020B0704020202020204" pitchFamily="34" charset="-122"/>
                <a:cs typeface="Arial" panose="020B0704020202020204" pitchFamily="34" charset="-120"/>
              </a:rPr>
              <a:t>TASKS=1 is noisy</a:t>
            </a:r>
            <a:endParaRPr lang="en-US" sz="1900" dirty="0"/>
          </a:p>
          <a:p>
            <a:pPr marL="0" indent="0">
              <a:buNone/>
            </a:pPr>
            <a:r>
              <a:rPr lang="en-US" sz="1900" dirty="0">
                <a:solidFill>
                  <a:srgbClr val="07172A"/>
                </a:solidFill>
                <a:latin typeface="Arial" panose="020B0704020202020204" pitchFamily="34" charset="0"/>
                <a:ea typeface="Arial" panose="020B0704020202020204" pitchFamily="34" charset="-122"/>
                <a:cs typeface="Arial" panose="020B0704020202020204" pitchFamily="34" charset="-120"/>
              </a:rPr>
              <a:t>Visualizer cannot identify</a:t>
            </a:r>
            <a:endParaRPr lang="en-US" sz="1900" dirty="0"/>
          </a:p>
          <a:p>
            <a:pPr marL="0" indent="0">
              <a:buNone/>
            </a:pPr>
            <a:r>
              <a:rPr lang="en-US" sz="1900" dirty="0">
                <a:solidFill>
                  <a:srgbClr val="07172A"/>
                </a:solidFill>
                <a:latin typeface="Arial" panose="020B0704020202020204" pitchFamily="34" charset="0"/>
                <a:ea typeface="Arial" panose="020B0704020202020204" pitchFamily="34" charset="-122"/>
                <a:cs typeface="Arial" panose="020B0704020202020204" pitchFamily="34" charset="-120"/>
              </a:rPr>
              <a:t>exact failure causes</a:t>
            </a:r>
            <a:endParaRPr lang="en-US" sz="1900" dirty="0"/>
          </a:p>
        </p:txBody>
      </p:sp>
      <p:sp>
        <p:nvSpPr>
          <p:cNvPr id="10" name="Shape 8"/>
          <p:cNvSpPr/>
          <p:nvPr/>
        </p:nvSpPr>
        <p:spPr>
          <a:xfrm>
            <a:off x="4425950" y="1572895"/>
            <a:ext cx="3478530" cy="2103120"/>
          </a:xfrm>
          <a:prstGeom prst="roundRect">
            <a:avLst>
              <a:gd name="adj" fmla="val 5217"/>
            </a:avLst>
          </a:prstGeom>
          <a:solidFill>
            <a:srgbClr val="FFF0F3"/>
          </a:solidFill>
          <a:ln w="16510">
            <a:solidFill>
              <a:srgbClr val="F2B8C4"/>
            </a:solidFill>
            <a:prstDash val="solid"/>
          </a:ln>
        </p:spPr>
      </p:sp>
      <p:sp>
        <p:nvSpPr>
          <p:cNvPr id="11" name="Shape 9"/>
          <p:cNvSpPr/>
          <p:nvPr/>
        </p:nvSpPr>
        <p:spPr>
          <a:xfrm>
            <a:off x="4663758" y="1810512"/>
            <a:ext cx="475488" cy="475488"/>
          </a:xfrm>
          <a:prstGeom prst="ellipse">
            <a:avLst/>
          </a:prstGeom>
          <a:solidFill>
            <a:srgbClr val="FFFFFF">
              <a:alpha val="97000"/>
            </a:srgbClr>
          </a:solidFill>
          <a:ln w="19050">
            <a:solidFill>
              <a:srgbClr val="F21F4B"/>
            </a:solidFill>
            <a:prstDash val="solid"/>
          </a:ln>
        </p:spPr>
      </p:sp>
      <p:sp>
        <p:nvSpPr>
          <p:cNvPr id="12" name="Text 10"/>
          <p:cNvSpPr/>
          <p:nvPr/>
        </p:nvSpPr>
        <p:spPr>
          <a:xfrm>
            <a:off x="4663758" y="1943100"/>
            <a:ext cx="475488" cy="164592"/>
          </a:xfrm>
          <a:prstGeom prst="rect">
            <a:avLst/>
          </a:prstGeom>
          <a:noFill/>
        </p:spPr>
        <p:txBody>
          <a:bodyPr wrap="square" lIns="0" tIns="0" rIns="0" bIns="0" rtlCol="0" anchor="ctr"/>
          <a:lstStyle/>
          <a:p>
            <a:pPr marL="0" indent="0" algn="ctr">
              <a:buNone/>
            </a:pPr>
            <a:r>
              <a:rPr lang="en-US" sz="1050" b="1" dirty="0">
                <a:solidFill>
                  <a:srgbClr val="F21F4B"/>
                </a:solidFill>
                <a:latin typeface="Arial" panose="020B0704020202020204" pitchFamily="34" charset="0"/>
                <a:ea typeface="Arial" panose="020B0704020202020204" pitchFamily="34" charset="-122"/>
                <a:cs typeface="Arial" panose="020B0704020202020204" pitchFamily="34" charset="-120"/>
              </a:rPr>
              <a:t>02</a:t>
            </a:r>
            <a:endParaRPr lang="en-US" sz="1050" dirty="0"/>
          </a:p>
        </p:txBody>
      </p:sp>
      <p:sp>
        <p:nvSpPr>
          <p:cNvPr id="13" name="Text 11"/>
          <p:cNvSpPr/>
          <p:nvPr/>
        </p:nvSpPr>
        <p:spPr>
          <a:xfrm>
            <a:off x="5294694" y="1883664"/>
            <a:ext cx="2286000" cy="228600"/>
          </a:xfrm>
          <a:prstGeom prst="rect">
            <a:avLst/>
          </a:prstGeom>
          <a:noFill/>
        </p:spPr>
        <p:txBody>
          <a:bodyPr wrap="square" lIns="0" tIns="0" rIns="0" bIns="0" rtlCol="0" anchor="ctr">
            <a:normAutofit/>
          </a:bodyPr>
          <a:lstStyle/>
          <a:p>
            <a:pPr marL="0" indent="0">
              <a:buNone/>
            </a:pPr>
            <a:r>
              <a:rPr lang="en-US" sz="1080" b="1" dirty="0">
                <a:solidFill>
                  <a:srgbClr val="F21F4B"/>
                </a:solidFill>
                <a:latin typeface="Arial" panose="020B0704020202020204" pitchFamily="34" charset="0"/>
                <a:ea typeface="Arial" panose="020B0704020202020204" pitchFamily="34" charset="-122"/>
                <a:cs typeface="Arial" panose="020B0704020202020204" pitchFamily="34" charset="-120"/>
              </a:rPr>
              <a:t>CONTRACT CONTROLS</a:t>
            </a:r>
            <a:endParaRPr lang="en-US" sz="1080" dirty="0"/>
          </a:p>
        </p:txBody>
      </p:sp>
      <p:sp>
        <p:nvSpPr>
          <p:cNvPr id="14" name="Text 12"/>
          <p:cNvSpPr/>
          <p:nvPr/>
        </p:nvSpPr>
        <p:spPr>
          <a:xfrm>
            <a:off x="4746308" y="2505710"/>
            <a:ext cx="2994660" cy="1078865"/>
          </a:xfrm>
          <a:prstGeom prst="rect">
            <a:avLst/>
          </a:prstGeom>
          <a:noFill/>
        </p:spPr>
        <p:txBody>
          <a:bodyPr wrap="square" lIns="0" tIns="0" rIns="0" bIns="0" rtlCol="0" anchor="ctr">
            <a:normAutofit/>
          </a:bodyPr>
          <a:lstStyle/>
          <a:p>
            <a:pPr marL="0" indent="0">
              <a:buNone/>
            </a:pPr>
            <a:r>
              <a:rPr lang="en-US" sz="1900" dirty="0">
                <a:solidFill>
                  <a:srgbClr val="07172A"/>
                </a:solidFill>
                <a:latin typeface="Arial" panose="020B0704020202020204" pitchFamily="34" charset="0"/>
                <a:ea typeface="Arial" panose="020B0704020202020204" pitchFamily="34" charset="-122"/>
                <a:cs typeface="Arial" panose="020B0704020202020204" pitchFamily="34" charset="-120"/>
              </a:rPr>
              <a:t>Schema locked</a:t>
            </a:r>
            <a:endParaRPr lang="en-US" sz="1900" dirty="0"/>
          </a:p>
          <a:p>
            <a:pPr marL="0" indent="0">
              <a:buNone/>
            </a:pPr>
            <a:r>
              <a:rPr lang="en-US" sz="1900" dirty="0">
                <a:solidFill>
                  <a:srgbClr val="07172A"/>
                </a:solidFill>
                <a:latin typeface="Arial" panose="020B0704020202020204" pitchFamily="34" charset="0"/>
                <a:ea typeface="Arial" panose="020B0704020202020204" pitchFamily="34" charset="-122"/>
                <a:cs typeface="Arial" panose="020B0704020202020204" pitchFamily="34" charset="-120"/>
              </a:rPr>
              <a:t>Star value locked</a:t>
            </a:r>
            <a:endParaRPr lang="en-US" sz="1900" dirty="0"/>
          </a:p>
          <a:p>
            <a:pPr marL="0" indent="0">
              <a:buNone/>
            </a:pPr>
            <a:r>
              <a:rPr lang="en-US" sz="1900" dirty="0">
                <a:solidFill>
                  <a:srgbClr val="07172A"/>
                </a:solidFill>
                <a:latin typeface="Arial" panose="020B0704020202020204" pitchFamily="34" charset="0"/>
                <a:ea typeface="Arial" panose="020B0704020202020204" pitchFamily="34" charset="-122"/>
                <a:cs typeface="Arial" panose="020B0704020202020204" pitchFamily="34" charset="-120"/>
              </a:rPr>
              <a:t>Validators enforce contract</a:t>
            </a:r>
            <a:endParaRPr lang="en-US" sz="1900" dirty="0"/>
          </a:p>
        </p:txBody>
      </p:sp>
      <p:sp>
        <p:nvSpPr>
          <p:cNvPr id="15" name="Shape 13"/>
          <p:cNvSpPr/>
          <p:nvPr/>
        </p:nvSpPr>
        <p:spPr>
          <a:xfrm>
            <a:off x="8138795" y="1572895"/>
            <a:ext cx="3478530" cy="2103120"/>
          </a:xfrm>
          <a:prstGeom prst="roundRect">
            <a:avLst>
              <a:gd name="adj" fmla="val 5217"/>
            </a:avLst>
          </a:prstGeom>
          <a:solidFill>
            <a:srgbClr val="EAF5FF"/>
          </a:solidFill>
          <a:ln w="16510">
            <a:solidFill>
              <a:srgbClr val="B9D5EE"/>
            </a:solidFill>
            <a:prstDash val="solid"/>
          </a:ln>
        </p:spPr>
      </p:sp>
      <p:sp>
        <p:nvSpPr>
          <p:cNvPr id="16" name="Shape 14"/>
          <p:cNvSpPr/>
          <p:nvPr/>
        </p:nvSpPr>
        <p:spPr>
          <a:xfrm>
            <a:off x="8376222" y="1810512"/>
            <a:ext cx="475488" cy="475488"/>
          </a:xfrm>
          <a:prstGeom prst="ellipse">
            <a:avLst/>
          </a:prstGeom>
          <a:solidFill>
            <a:srgbClr val="FFFFFF">
              <a:alpha val="97000"/>
            </a:srgbClr>
          </a:solidFill>
          <a:ln w="19050">
            <a:solidFill>
              <a:srgbClr val="0969E8"/>
            </a:solidFill>
            <a:prstDash val="solid"/>
          </a:ln>
        </p:spPr>
      </p:sp>
      <p:sp>
        <p:nvSpPr>
          <p:cNvPr id="17" name="Text 15"/>
          <p:cNvSpPr/>
          <p:nvPr/>
        </p:nvSpPr>
        <p:spPr>
          <a:xfrm>
            <a:off x="8376222" y="1943100"/>
            <a:ext cx="475488" cy="164592"/>
          </a:xfrm>
          <a:prstGeom prst="rect">
            <a:avLst/>
          </a:prstGeom>
          <a:noFill/>
        </p:spPr>
        <p:txBody>
          <a:bodyPr wrap="square" lIns="0" tIns="0" rIns="0" bIns="0" rtlCol="0" anchor="ctr"/>
          <a:lstStyle/>
          <a:p>
            <a:pPr marL="0" indent="0" algn="ctr">
              <a:buNone/>
            </a:pPr>
            <a:r>
              <a:rPr lang="en-US" sz="1050" b="1" dirty="0">
                <a:solidFill>
                  <a:srgbClr val="0969E8"/>
                </a:solidFill>
                <a:latin typeface="Arial" panose="020B0704020202020204" pitchFamily="34" charset="0"/>
                <a:ea typeface="Arial" panose="020B0704020202020204" pitchFamily="34" charset="-122"/>
                <a:cs typeface="Arial" panose="020B0704020202020204" pitchFamily="34" charset="-120"/>
              </a:rPr>
              <a:t>03</a:t>
            </a:r>
            <a:endParaRPr lang="en-US" sz="1050" dirty="0"/>
          </a:p>
        </p:txBody>
      </p:sp>
      <p:sp>
        <p:nvSpPr>
          <p:cNvPr id="18" name="Text 16"/>
          <p:cNvSpPr/>
          <p:nvPr/>
        </p:nvSpPr>
        <p:spPr>
          <a:xfrm>
            <a:off x="9007158" y="1883664"/>
            <a:ext cx="2286000" cy="228600"/>
          </a:xfrm>
          <a:prstGeom prst="rect">
            <a:avLst/>
          </a:prstGeom>
          <a:noFill/>
        </p:spPr>
        <p:txBody>
          <a:bodyPr wrap="square" lIns="0" tIns="0" rIns="0" bIns="0" rtlCol="0" anchor="ctr">
            <a:normAutofit/>
          </a:bodyPr>
          <a:lstStyle/>
          <a:p>
            <a:pPr marL="0" indent="0">
              <a:buNone/>
            </a:pPr>
            <a:r>
              <a:rPr lang="en-US" sz="1080" b="1" dirty="0">
                <a:solidFill>
                  <a:srgbClr val="0969E8"/>
                </a:solidFill>
                <a:latin typeface="Arial" panose="020B0704020202020204" pitchFamily="34" charset="0"/>
                <a:ea typeface="Arial" panose="020B0704020202020204" pitchFamily="34" charset="-122"/>
                <a:cs typeface="Arial" panose="020B0704020202020204" pitchFamily="34" charset="-120"/>
              </a:rPr>
              <a:t>FUTURE WORK</a:t>
            </a:r>
            <a:endParaRPr lang="en-US" sz="1080" dirty="0"/>
          </a:p>
        </p:txBody>
      </p:sp>
      <p:sp>
        <p:nvSpPr>
          <p:cNvPr id="19" name="Text 17"/>
          <p:cNvSpPr/>
          <p:nvPr/>
        </p:nvSpPr>
        <p:spPr>
          <a:xfrm>
            <a:off x="8458518" y="2505710"/>
            <a:ext cx="2978150" cy="1078865"/>
          </a:xfrm>
          <a:prstGeom prst="rect">
            <a:avLst/>
          </a:prstGeom>
          <a:noFill/>
        </p:spPr>
        <p:txBody>
          <a:bodyPr wrap="square" lIns="0" tIns="0" rIns="0" bIns="0" rtlCol="0" anchor="ctr">
            <a:normAutofit/>
          </a:bodyPr>
          <a:lstStyle/>
          <a:p>
            <a:pPr marL="0" indent="0">
              <a:buNone/>
            </a:pPr>
            <a:r>
              <a:rPr lang="en-US" sz="1900" dirty="0">
                <a:solidFill>
                  <a:srgbClr val="07172A"/>
                </a:solidFill>
                <a:latin typeface="Arial" panose="020B0704020202020204" pitchFamily="34" charset="0"/>
                <a:ea typeface="Arial" panose="020B0704020202020204" pitchFamily="34" charset="-122"/>
                <a:cs typeface="Arial" panose="020B0704020202020204" pitchFamily="34" charset="-120"/>
              </a:rPr>
              <a:t>TASKS=5 / k-fold sampling</a:t>
            </a:r>
            <a:endParaRPr lang="en-US" sz="1900" dirty="0"/>
          </a:p>
          <a:p>
            <a:pPr marL="0" indent="0">
              <a:buNone/>
            </a:pPr>
            <a:r>
              <a:rPr lang="en-US" sz="1900" dirty="0">
                <a:solidFill>
                  <a:srgbClr val="07172A"/>
                </a:solidFill>
                <a:latin typeface="Arial" panose="020B0704020202020204" pitchFamily="34" charset="0"/>
                <a:ea typeface="Arial" panose="020B0704020202020204" pitchFamily="34" charset="-122"/>
                <a:cs typeface="Arial" panose="020B0704020202020204" pitchFamily="34" charset="-120"/>
              </a:rPr>
              <a:t>Log-based failure diagnosis</a:t>
            </a:r>
            <a:endParaRPr lang="en-US" sz="1900" dirty="0"/>
          </a:p>
          <a:p>
            <a:pPr marL="0" indent="0">
              <a:buNone/>
            </a:pPr>
            <a:r>
              <a:rPr lang="en-US" sz="1900" dirty="0">
                <a:solidFill>
                  <a:srgbClr val="07172A"/>
                </a:solidFill>
                <a:latin typeface="Arial" panose="020B0704020202020204" pitchFamily="34" charset="0"/>
                <a:ea typeface="Arial" panose="020B0704020202020204" pitchFamily="34" charset="-122"/>
                <a:cs typeface="Arial" panose="020B0704020202020204" pitchFamily="34" charset="-120"/>
              </a:rPr>
              <a:t>Safer rating calibration</a:t>
            </a:r>
            <a:endParaRPr lang="en-US" sz="1900" dirty="0"/>
          </a:p>
        </p:txBody>
      </p:sp>
      <p:sp>
        <p:nvSpPr>
          <p:cNvPr id="20" name="Text 18"/>
          <p:cNvSpPr/>
          <p:nvPr/>
        </p:nvSpPr>
        <p:spPr>
          <a:xfrm>
            <a:off x="713550" y="4251960"/>
            <a:ext cx="3840480" cy="310896"/>
          </a:xfrm>
          <a:prstGeom prst="rect">
            <a:avLst/>
          </a:prstGeom>
          <a:noFill/>
        </p:spPr>
        <p:txBody>
          <a:bodyPr wrap="square" lIns="0" tIns="0" rIns="0" bIns="0" rtlCol="0" anchor="ctr"/>
          <a:lstStyle/>
          <a:p>
            <a:pPr marL="0" indent="0">
              <a:buNone/>
            </a:pPr>
            <a:r>
              <a:rPr lang="en-US" sz="2200" b="1" dirty="0">
                <a:solidFill>
                  <a:srgbClr val="062743"/>
                </a:solidFill>
                <a:latin typeface="Arial" panose="020B0704020202020204" pitchFamily="34" charset="0"/>
                <a:ea typeface="Arial" panose="020B0704020202020204" pitchFamily="34" charset="-122"/>
                <a:cs typeface="Arial" panose="020B0704020202020204" pitchFamily="34" charset="-120"/>
              </a:rPr>
              <a:t>Report wording</a:t>
            </a:r>
            <a:endParaRPr lang="en-US" sz="2200" dirty="0"/>
          </a:p>
        </p:txBody>
      </p:sp>
      <p:sp>
        <p:nvSpPr>
          <p:cNvPr id="21" name="Shape 19"/>
          <p:cNvSpPr/>
          <p:nvPr/>
        </p:nvSpPr>
        <p:spPr>
          <a:xfrm>
            <a:off x="713550" y="4709160"/>
            <a:ext cx="10744200" cy="950976"/>
          </a:xfrm>
          <a:prstGeom prst="roundRect">
            <a:avLst>
              <a:gd name="adj" fmla="val 9615"/>
            </a:avLst>
          </a:prstGeom>
          <a:solidFill>
            <a:srgbClr val="F4FAFF"/>
          </a:solidFill>
          <a:ln w="12700">
            <a:solidFill>
              <a:srgbClr val="B9D5EE"/>
            </a:solidFill>
            <a:prstDash val="solid"/>
          </a:ln>
        </p:spPr>
      </p:sp>
      <p:sp>
        <p:nvSpPr>
          <p:cNvPr id="22" name="Shape 20"/>
          <p:cNvSpPr/>
          <p:nvPr/>
        </p:nvSpPr>
        <p:spPr>
          <a:xfrm>
            <a:off x="713550" y="4709160"/>
            <a:ext cx="109728" cy="950976"/>
          </a:xfrm>
          <a:prstGeom prst="rect">
            <a:avLst/>
          </a:prstGeom>
          <a:solidFill>
            <a:srgbClr val="0969E8"/>
          </a:solidFill>
          <a:ln w="12700">
            <a:solidFill>
              <a:srgbClr val="0969E8"/>
            </a:solidFill>
            <a:prstDash val="solid"/>
          </a:ln>
        </p:spPr>
      </p:sp>
      <p:sp>
        <p:nvSpPr>
          <p:cNvPr id="23" name="Text 21"/>
          <p:cNvSpPr/>
          <p:nvPr/>
        </p:nvSpPr>
        <p:spPr>
          <a:xfrm>
            <a:off x="1024446" y="4919472"/>
            <a:ext cx="10241280" cy="658368"/>
          </a:xfrm>
          <a:prstGeom prst="rect">
            <a:avLst/>
          </a:prstGeom>
          <a:noFill/>
        </p:spPr>
        <p:txBody>
          <a:bodyPr wrap="square" lIns="254" tIns="254" rIns="254" bIns="254" rtlCol="0" anchor="ctr">
            <a:normAutofit fontScale="90000"/>
          </a:bodyPr>
          <a:lstStyle/>
          <a:p>
            <a:pPr marL="0" indent="0">
              <a:buNone/>
            </a:pPr>
            <a:r>
              <a:rPr lang="en-US" sz="2100" dirty="0">
                <a:solidFill>
                  <a:srgbClr val="33465C"/>
                </a:solidFill>
                <a:latin typeface="Arial" panose="020B0704020202020204" pitchFamily="34" charset="0"/>
                <a:ea typeface="Arial" panose="020B0704020202020204" pitchFamily="34" charset="-122"/>
                <a:cs typeface="Arial" panose="020B0704020202020204" pitchFamily="34" charset="-120"/>
              </a:rPr>
              <a:t>Across six runs, OpenEvolve retained 252 of 300 configured attempts.</a:t>
            </a:r>
            <a:endParaRPr lang="en-US" sz="2100" dirty="0"/>
          </a:p>
          <a:p>
            <a:pPr marL="0" indent="0">
              <a:buNone/>
            </a:pPr>
            <a:r>
              <a:rPr lang="en-US" sz="2100" dirty="0">
                <a:solidFill>
                  <a:srgbClr val="33465C"/>
                </a:solidFill>
                <a:latin typeface="Arial" panose="020B0704020202020204" pitchFamily="34" charset="0"/>
                <a:ea typeface="Arial" panose="020B0704020202020204" pitchFamily="34" charset="-122"/>
                <a:cs typeface="Arial" panose="020B0704020202020204" pitchFamily="34" charset="-120"/>
              </a:rPr>
              <a:t>The remaining 48 are not-retained / failed candidate attempts — not confirmed timeouts.</a:t>
            </a:r>
            <a:endParaRPr lang="en-US" sz="2100" dirty="0"/>
          </a:p>
        </p:txBody>
      </p:sp>
      <p:sp>
        <p:nvSpPr>
          <p:cNvPr id="24" name="Shape 22"/>
          <p:cNvSpPr/>
          <p:nvPr/>
        </p:nvSpPr>
        <p:spPr>
          <a:xfrm>
            <a:off x="713550" y="6035040"/>
            <a:ext cx="10744200" cy="502920"/>
          </a:xfrm>
          <a:prstGeom prst="roundRect">
            <a:avLst>
              <a:gd name="adj" fmla="val 18182"/>
            </a:avLst>
          </a:prstGeom>
          <a:solidFill>
            <a:srgbClr val="EAF5FF"/>
          </a:solidFill>
          <a:ln w="12700">
            <a:solidFill>
              <a:srgbClr val="B9D5EE"/>
            </a:solidFill>
            <a:prstDash val="solid"/>
          </a:ln>
        </p:spPr>
      </p:sp>
      <p:sp>
        <p:nvSpPr>
          <p:cNvPr id="25" name="Shape 23"/>
          <p:cNvSpPr/>
          <p:nvPr/>
        </p:nvSpPr>
        <p:spPr>
          <a:xfrm>
            <a:off x="914718" y="6172200"/>
            <a:ext cx="274320" cy="274320"/>
          </a:xfrm>
          <a:prstGeom prst="ellipse">
            <a:avLst/>
          </a:prstGeom>
          <a:solidFill>
            <a:srgbClr val="0969E8"/>
          </a:solidFill>
          <a:ln w="6350">
            <a:solidFill>
              <a:srgbClr val="0969E8"/>
            </a:solidFill>
            <a:prstDash val="solid"/>
          </a:ln>
        </p:spPr>
      </p:sp>
      <p:sp>
        <p:nvSpPr>
          <p:cNvPr id="26" name="Text 24"/>
          <p:cNvSpPr/>
          <p:nvPr/>
        </p:nvSpPr>
        <p:spPr>
          <a:xfrm>
            <a:off x="914718" y="6204204"/>
            <a:ext cx="274320" cy="182880"/>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a:t>
            </a:r>
            <a:endParaRPr lang="en-US" sz="1200" dirty="0"/>
          </a:p>
        </p:txBody>
      </p:sp>
      <p:sp>
        <p:nvSpPr>
          <p:cNvPr id="27" name="Text 25"/>
          <p:cNvSpPr/>
          <p:nvPr/>
        </p:nvSpPr>
        <p:spPr>
          <a:xfrm>
            <a:off x="1353630" y="6181344"/>
            <a:ext cx="9875520" cy="237744"/>
          </a:xfrm>
          <a:prstGeom prst="rect">
            <a:avLst/>
          </a:prstGeom>
          <a:noFill/>
        </p:spPr>
        <p:txBody>
          <a:bodyPr wrap="square" lIns="0" tIns="0" rIns="0" bIns="0" rtlCol="0" anchor="ctr">
            <a:normAutofit/>
          </a:bodyPr>
          <a:lstStyle/>
          <a:p>
            <a:pPr marL="0" indent="0">
              <a:buNone/>
            </a:pPr>
            <a:r>
              <a:rPr lang="en-US" sz="1550" b="1" dirty="0">
                <a:solidFill>
                  <a:srgbClr val="062743"/>
                </a:solidFill>
                <a:latin typeface="Arial" panose="020B0704020202020204" pitchFamily="34" charset="0"/>
                <a:ea typeface="Arial" panose="020B0704020202020204" pitchFamily="34" charset="-122"/>
                <a:cs typeface="Arial" panose="020B0704020202020204" pitchFamily="34" charset="-120"/>
              </a:rPr>
              <a:t>Key message: schema and star-lock issues are fixed; future work targets robustness and calibration.</a:t>
            </a:r>
            <a:endParaRPr lang="en-US" sz="1550" dirty="0"/>
          </a:p>
        </p:txBody>
      </p:sp>
      <p:sp>
        <p:nvSpPr>
          <p:cNvPr id="28" name="Text 21"/>
          <p:cNvSpPr/>
          <p:nvPr/>
        </p:nvSpPr>
        <p:spPr>
          <a:xfrm>
            <a:off x="11292840" y="6446520"/>
            <a:ext cx="411480" cy="274320"/>
          </a:xfrm>
          <a:prstGeom prst="rect">
            <a:avLst/>
          </a:prstGeom>
          <a:noFill/>
        </p:spPr>
        <p:txBody>
          <a:bodyPr wrap="square" lIns="0" tIns="0" rIns="0" bIns="0" rtlCol="0" anchor="ctr"/>
          <a:lstStyle/>
          <a:p>
            <a:pPr marL="0" indent="0" algn="r">
              <a:buNone/>
            </a:pPr>
            <a:r>
              <a:rPr lang="en-US" altLang="vi-VN" sz="1000" dirty="0"/>
              <a:t>42</a:t>
            </a:r>
            <a:endParaRPr lang="en-US" altLang="vi-VN"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descr="cat-thank-you"/>
          <p:cNvPicPr>
            <a:picLocks noChangeAspect="1"/>
          </p:cNvPicPr>
          <p:nvPr/>
        </p:nvPicPr>
        <p:blipFill>
          <a:blip r:embed="rId1"/>
          <a:stretch>
            <a:fillRect/>
          </a:stretch>
        </p:blipFill>
        <p:spPr>
          <a:xfrm>
            <a:off x="3580130" y="1052195"/>
            <a:ext cx="4842510" cy="4948555"/>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84.45,&quot;left&quot;:46.8,&quot;top&quot;:109.95,&quot;width&quot;:890.85}"/>
</p:tagLst>
</file>

<file path=ppt/tags/tag2.xml><?xml version="1.0" encoding="utf-8"?>
<p:tagLst xmlns:p="http://schemas.openxmlformats.org/presentationml/2006/main">
  <p:tag name="KSO_WM_DIAGRAM_VIRTUALLY_FRAME" val="{&quot;height&quot;:384.45,&quot;left&quot;:46.8,&quot;top&quot;:109.95,&quot;width&quot;:890.85}"/>
</p:tagLst>
</file>

<file path=ppt/tags/tag3.xml><?xml version="1.0" encoding="utf-8"?>
<p:tagLst xmlns:p="http://schemas.openxmlformats.org/presentationml/2006/main">
  <p:tag name="KSO_WM_DIAGRAM_VIRTUALLY_FRAME" val="{&quot;height&quot;:384.45,&quot;left&quot;:46.8,&quot;top&quot;:109.95,&quot;width&quot;:890.85}"/>
</p:tagLst>
</file>

<file path=ppt/tags/tag4.xml><?xml version="1.0" encoding="utf-8"?>
<p:tagLst xmlns:p="http://schemas.openxmlformats.org/presentationml/2006/main">
  <p:tag name="KSO_WM_DIAGRAM_VIRTUALLY_FRAME" val="{&quot;height&quot;:384.45,&quot;left&quot;:46.8,&quot;top&quot;:109.95,&quot;width&quot;:890.85}"/>
</p:tagLst>
</file>

<file path=ppt/tags/tag5.xml><?xml version="1.0" encoding="utf-8"?>
<p:tagLst xmlns:p="http://schemas.openxmlformats.org/presentationml/2006/main">
  <p:tag name="KSO_WM_DIAGRAM_VIRTUALLY_FRAME" val="{&quot;height&quot;:384.45,&quot;left&quot;:46.8,&quot;top&quot;:109.95,&quot;width&quot;:890.85}"/>
</p:tagLst>
</file>

<file path=ppt/tags/tag6.xml><?xml version="1.0" encoding="utf-8"?>
<p:tagLst xmlns:p="http://schemas.openxmlformats.org/presentationml/2006/main">
  <p:tag name="KSO_WM_DIAGRAM_VIRTUALLY_FRAME" val="{&quot;height&quot;:384.45,&quot;left&quot;:46.8,&quot;top&quot;:109.95,&quot;width&quot;:890.85}"/>
</p:tagLst>
</file>

<file path=ppt/tags/tag7.xml><?xml version="1.0" encoding="utf-8"?>
<p:tagLst xmlns:p="http://schemas.openxmlformats.org/presentationml/2006/main">
  <p:tag name="KSO_WM_DIAGRAM_VIRTUALLY_FRAME" val="{&quot;height&quot;:384.45,&quot;left&quot;:46.8,&quot;top&quot;:109.95,&quot;width&quot;:890.85}"/>
</p:tagLst>
</file>

<file path=ppt/tags/tag8.xml><?xml version="1.0" encoding="utf-8"?>
<p:tagLst xmlns:p="http://schemas.openxmlformats.org/presentationml/2006/main">
  <p:tag name="KSO_WM_DIAGRAM_VIRTUALLY_FRAME" val="{&quot;height&quot;:384.45,&quot;left&quot;:46.8,&quot;top&quot;:109.95,&quot;width&quot;:890.85}"/>
</p:tagLst>
</file>

<file path=ppt/tags/tag9.xml><?xml version="1.0" encoding="utf-8"?>
<p:tagLst xmlns:p="http://schemas.openxmlformats.org/presentationml/2006/main">
  <p:tag name="KSO_WM_DIAGRAM_VIRTUALLY_FRAME" val="{&quot;height&quot;:384.45,&quot;left&quot;:46.8,&quot;top&quot;:109.95,&quot;width&quot;:890.85}"/>
</p:tagLst>
</file>

<file path=ppt/tags/tag10.xml><?xml version="1.0" encoding="utf-8"?>
<p:tagLst xmlns:p="http://schemas.openxmlformats.org/presentationml/2006/main">
  <p:tag name="KSO_WM_DIAGRAM_VIRTUALLY_FRAME" val="{&quot;height&quot;:384.45,&quot;left&quot;:46.8,&quot;top&quot;:109.95,&quot;width&quot;:890.85}"/>
</p:tagLst>
</file>

<file path=ppt/tags/tag11.xml><?xml version="1.0" encoding="utf-8"?>
<p:tagLst xmlns:p="http://schemas.openxmlformats.org/presentationml/2006/main">
  <p:tag name="KSO_WM_DIAGRAM_VIRTUALLY_FRAME" val="{&quot;height&quot;:384.45,&quot;left&quot;:46.8,&quot;top&quot;:109.95,&quot;width&quot;:890.85}"/>
</p:tagLst>
</file>

<file path=ppt/tags/tag12.xml><?xml version="1.0" encoding="utf-8"?>
<p:tagLst xmlns:p="http://schemas.openxmlformats.org/presentationml/2006/main">
  <p:tag name="KSO_WM_DIAGRAM_VIRTUALLY_FRAME" val="{&quot;height&quot;:384.45,&quot;left&quot;:46.8,&quot;top&quot;:109.95,&quot;width&quot;:890.85}"/>
</p:tagLst>
</file>

<file path=ppt/tags/tag13.xml><?xml version="1.0" encoding="utf-8"?>
<p:tagLst xmlns:p="http://schemas.openxmlformats.org/presentationml/2006/main">
  <p:tag name="KSO_WM_DIAGRAM_VIRTUALLY_FRAME" val="{&quot;height&quot;:384.45,&quot;left&quot;:46.8,&quot;top&quot;:109.95,&quot;width&quot;:890.85}"/>
</p:tagLst>
</file>

<file path=ppt/tags/tag14.xml><?xml version="1.0" encoding="utf-8"?>
<p:tagLst xmlns:p="http://schemas.openxmlformats.org/presentationml/2006/main">
  <p:tag name="KSO_WM_DIAGRAM_VIRTUALLY_FRAME" val="{&quot;height&quot;:384.45,&quot;left&quot;:46.8,&quot;top&quot;:109.95,&quot;width&quot;:890.85}"/>
</p:tagLst>
</file>

<file path=ppt/tags/tag15.xml><?xml version="1.0" encoding="utf-8"?>
<p:tagLst xmlns:p="http://schemas.openxmlformats.org/presentationml/2006/main">
  <p:tag name="KSO_WM_DIAGRAM_VIRTUALLY_FRAME" val="{&quot;height&quot;:384.45,&quot;left&quot;:46.8,&quot;top&quot;:109.95,&quot;width&quot;:890.85}"/>
</p:tagLst>
</file>

<file path=ppt/tags/tag16.xml><?xml version="1.0" encoding="utf-8"?>
<p:tagLst xmlns:p="http://schemas.openxmlformats.org/presentationml/2006/main">
  <p:tag name="KSO_WM_DIAGRAM_VIRTUALLY_FRAME" val="{&quot;height&quot;:384.45,&quot;left&quot;:46.8,&quot;top&quot;:109.95,&quot;width&quot;:890.85}"/>
</p:tagLst>
</file>

<file path=ppt/tags/tag17.xml><?xml version="1.0" encoding="utf-8"?>
<p:tagLst xmlns:p="http://schemas.openxmlformats.org/presentationml/2006/main">
  <p:tag name="KSO_WM_DIAGRAM_VIRTUALLY_FRAME" val="{&quot;height&quot;:384.45,&quot;left&quot;:46.8,&quot;top&quot;:109.95,&quot;width&quot;:890.85}"/>
</p:tagLst>
</file>

<file path=ppt/tags/tag18.xml><?xml version="1.0" encoding="utf-8"?>
<p:tagLst xmlns:p="http://schemas.openxmlformats.org/presentationml/2006/main">
  <p:tag name="KSO_WM_DIAGRAM_VIRTUALLY_FRAME" val="{&quot;height&quot;:384.45,&quot;left&quot;:46.8,&quot;top&quot;:109.95,&quot;width&quot;:890.85}"/>
</p:tagLst>
</file>

<file path=ppt/tags/tag19.xml><?xml version="1.0" encoding="utf-8"?>
<p:tagLst xmlns:p="http://schemas.openxmlformats.org/presentationml/2006/main">
  <p:tag name="KSO_WM_DIAGRAM_VIRTUALLY_FRAME" val="{&quot;height&quot;:384.45,&quot;left&quot;:46.8,&quot;top&quot;:109.95,&quot;width&quot;:890.85}"/>
</p:tagLst>
</file>

<file path=ppt/tags/tag20.xml><?xml version="1.0" encoding="utf-8"?>
<p:tagLst xmlns:p="http://schemas.openxmlformats.org/presentationml/2006/main">
  <p:tag name="KSO_WM_DIAGRAM_VIRTUALLY_FRAME" val="{&quot;height&quot;:384.45,&quot;left&quot;:46.8,&quot;top&quot;:109.95,&quot;width&quot;:890.85}"/>
</p:tagLst>
</file>

<file path=ppt/tags/tag21.xml><?xml version="1.0" encoding="utf-8"?>
<p:tagLst xmlns:p="http://schemas.openxmlformats.org/presentationml/2006/main">
  <p:tag name="KSO_WM_DIAGRAM_VIRTUALLY_FRAME" val="{&quot;height&quot;:384.45,&quot;left&quot;:46.8,&quot;top&quot;:109.95,&quot;width&quot;:890.85}"/>
</p:tagLst>
</file>

<file path=ppt/tags/tag22.xml><?xml version="1.0" encoding="utf-8"?>
<p:tagLst xmlns:p="http://schemas.openxmlformats.org/presentationml/2006/main">
  <p:tag name="KSO_WM_DIAGRAM_VIRTUALLY_FRAME" val="{&quot;height&quot;:384.45,&quot;left&quot;:46.8,&quot;top&quot;:109.95,&quot;width&quot;:890.85}"/>
</p:tagLst>
</file>

<file path=ppt/tags/tag23.xml><?xml version="1.0" encoding="utf-8"?>
<p:tagLst xmlns:p="http://schemas.openxmlformats.org/presentationml/2006/main">
  <p:tag name="KSO_WM_DIAGRAM_VIRTUALLY_FRAME" val="{&quot;height&quot;:384.45,&quot;left&quot;:46.8,&quot;top&quot;:109.95,&quot;width&quot;:890.85}"/>
</p:tagLst>
</file>

<file path=ppt/tags/tag24.xml><?xml version="1.0" encoding="utf-8"?>
<p:tagLst xmlns:p="http://schemas.openxmlformats.org/presentationml/2006/main">
  <p:tag name="KSO_WM_DIAGRAM_VIRTUALLY_FRAME" val="{&quot;height&quot;:384.45,&quot;left&quot;:46.8,&quot;top&quot;:109.95,&quot;width&quot;:890.85}"/>
</p:tagLst>
</file>

<file path=ppt/tags/tag25.xml><?xml version="1.0" encoding="utf-8"?>
<p:tagLst xmlns:p="http://schemas.openxmlformats.org/presentationml/2006/main">
  <p:tag name="KSO_WM_DIAGRAM_VIRTUALLY_FRAME" val="{&quot;height&quot;:384.45,&quot;left&quot;:46.8,&quot;top&quot;:109.95,&quot;width&quot;:890.85}"/>
</p:tagLst>
</file>

<file path=ppt/tags/tag26.xml><?xml version="1.0" encoding="utf-8"?>
<p:tagLst xmlns:p="http://schemas.openxmlformats.org/presentationml/2006/main">
  <p:tag name="KSO_WM_DIAGRAM_VIRTUALLY_FRAME" val="{&quot;height&quot;:384.45,&quot;left&quot;:46.8,&quot;top&quot;:109.95,&quot;width&quot;:890.85}"/>
</p:tagLst>
</file>

<file path=ppt/tags/tag27.xml><?xml version="1.0" encoding="utf-8"?>
<p:tagLst xmlns:p="http://schemas.openxmlformats.org/presentationml/2006/main">
  <p:tag name="KSO_WM_DIAGRAM_VIRTUALLY_FRAME" val="{&quot;height&quot;:384.45,&quot;left&quot;:46.8,&quot;top&quot;:109.95,&quot;width&quot;:890.85}"/>
</p:tagLst>
</file>

<file path=ppt/tags/tag28.xml><?xml version="1.0" encoding="utf-8"?>
<p:tagLst xmlns:p="http://schemas.openxmlformats.org/presentationml/2006/main">
  <p:tag name="KSO_WM_DIAGRAM_VIRTUALLY_FRAME" val="{&quot;height&quot;:384.45,&quot;left&quot;:46.8,&quot;top&quot;:109.95,&quot;width&quot;:890.85}"/>
</p:tagLst>
</file>

<file path=ppt/tags/tag29.xml><?xml version="1.0" encoding="utf-8"?>
<p:tagLst xmlns:p="http://schemas.openxmlformats.org/presentationml/2006/main">
  <p:tag name="KSO_WM_DIAGRAM_VIRTUALLY_FRAME" val="{&quot;height&quot;:384.45,&quot;left&quot;:46.8,&quot;top&quot;:109.95,&quot;width&quot;:890.85}"/>
</p:tagLst>
</file>

<file path=ppt/tags/tag30.xml><?xml version="1.0" encoding="utf-8"?>
<p:tagLst xmlns:p="http://schemas.openxmlformats.org/presentationml/2006/main">
  <p:tag name="KSO_WM_DIAGRAM_VIRTUALLY_FRAME" val="{&quot;height&quot;:384.45,&quot;left&quot;:46.8,&quot;top&quot;:109.95,&quot;width&quot;:890.8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23771</Words>
  <Application>WPS Presentation</Application>
  <PresentationFormat>On-screen Show (16:9)</PresentationFormat>
  <Paragraphs>1873</Paragraphs>
  <Slides>44</Slides>
  <Notes>26</Notes>
  <HiddenSlides>0</HiddenSlides>
  <MMClips>0</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44</vt:i4>
      </vt:variant>
    </vt:vector>
  </HeadingPairs>
  <TitlesOfParts>
    <vt:vector size="71" baseType="lpstr">
      <vt:lpstr>Arial</vt:lpstr>
      <vt:lpstr>SimSun</vt:lpstr>
      <vt:lpstr>Wingdings</vt:lpstr>
      <vt:lpstr>Aptos</vt:lpstr>
      <vt:lpstr>Helvetica Neue</vt:lpstr>
      <vt:lpstr>Aptos</vt:lpstr>
      <vt:lpstr>Aptos</vt:lpstr>
      <vt:lpstr>Aptos Display</vt:lpstr>
      <vt:lpstr>Aptos Display</vt:lpstr>
      <vt:lpstr>Aptos Display</vt:lpstr>
      <vt:lpstr>Aptos</vt:lpstr>
      <vt:lpstr>Arial</vt:lpstr>
      <vt:lpstr>Arial</vt:lpstr>
      <vt:lpstr>Aptos Mono</vt:lpstr>
      <vt:lpstr>Aptos Mono</vt:lpstr>
      <vt:lpstr>Aptos Mono</vt:lpstr>
      <vt:lpstr>Arial</vt:lpstr>
      <vt:lpstr>Microsoft YaHei</vt:lpstr>
      <vt:lpstr>汉仪旗黑</vt:lpstr>
      <vt:lpstr>Arial Unicode MS</vt:lpstr>
      <vt:lpstr>Courier New</vt:lpstr>
      <vt:lpstr>Courier New</vt:lpstr>
      <vt:lpstr>Courier New</vt:lpstr>
      <vt:lpstr>Calibri</vt:lpstr>
      <vt:lpstr>汉仪书宋二KW</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NDHU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OpenEvolve-based Optimization for Yelp Review Agent Crew</dc:title>
  <dc:creator>Vinh Vo</dc:creator>
  <dc:subject>OpenEvolve Yelp Review Agent Crew</dc:subject>
  <cp:lastModifiedBy>WPS_1775806947</cp:lastModifiedBy>
  <cp:revision>170</cp:revision>
  <dcterms:created xsi:type="dcterms:W3CDTF">2026-06-22T14:57:34Z</dcterms:created>
  <dcterms:modified xsi:type="dcterms:W3CDTF">2026-06-22T14:57:34Z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1033-12.1.25867.25867</vt:lpwstr>
  </property>
  <property fmtid="{D5CDD505-2E9C-101B-9397-08002B2CF9AE}" pid="3" name="ICV">
    <vt:lpwstr>A677043659712EDE004C366A0BA9D311_42</vt:lpwstr>
  </property>
</Properties>
</file>